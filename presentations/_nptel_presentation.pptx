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3.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Time</c:v>
                </c:pt>
              </c:strCache>
            </c:strRef>
          </c:tx>
          <c:spPr>
            <a:solidFill>
              <a:schemeClr val="accent1"/>
            </a:solidFill>
            <a:ln w="9525" cap="flat">
              <a:solidFill>
                <a:srgbClr val="F9F9F9"/>
              </a:solidFill>
              <a:prstDash val="solid"/>
              <a:round/>
            </a:ln>
            <a:effectLst/>
          </c:spPr>
          <c:dPt>
            <c:idx val="0"/>
            <c:bubble3D val="0"/>
            <c:spPr>
              <a:solidFill>
                <a:srgbClr val="1E4E8C"/>
              </a:solidFill>
              <a:effectLst/>
            </c:spPr>
          </c:dPt>
          <c:dPt>
            <c:idx val="1"/>
            <c:bubble3D val="0"/>
            <c:spPr>
              <a:solidFill>
                <a:srgbClr val="F97316"/>
              </a:solidFill>
              <a:effectLst/>
            </c:spPr>
          </c:dPt>
          <c:dPt>
            <c:idx val="2"/>
            <c:bubble3D val="0"/>
            <c:spPr>
              <a:solidFill>
                <a:srgbClr val="2E7CD6"/>
              </a:solidFill>
              <a:effectLst/>
            </c:spPr>
          </c:dPt>
          <c:dPt>
            <c:idx val="3"/>
            <c:bubble3D val="0"/>
            <c:spPr>
              <a:solidFill>
                <a:srgbClr val="0B2A4A"/>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Video Lectures</c:v>
                </c:pt>
                <c:pt idx="1">
                  <c:v>Quiz</c:v>
                </c:pt>
                <c:pt idx="2">
                  <c:v>Reading</c:v>
                </c:pt>
                <c:pt idx="3">
                  <c:v>Discussion</c:v>
                </c:pt>
              </c:strCache>
            </c:strRef>
          </c:cat>
          <c:val>
            <c:numRef>
              <c:f>Sheet1!$B$2:$B$5</c:f>
              <c:numCache>
                <c:ptCount val="4"/>
                <c:pt idx="0">
                  <c:v>4</c:v>
                </c:pt>
                <c:pt idx="1">
                  <c:v>1</c:v>
                </c:pt>
                <c:pt idx="2">
                  <c:v>1.5</c:v>
                </c:pt>
                <c:pt idx="3">
                  <c:v>0.5</c:v>
                </c:pt>
              </c:numCache>
            </c:numRef>
          </c:val>
        </c:ser>
        <c:firstSliceAng val="0"/>
        <c:holeSize val="55"/>
      </c:doughnutChart>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A4A"/>
                </a:solidFill>
                <a:latin typeface="Arial"/>
              </a:defRPr>
            </a:pPr>
            <a:r>
              <a:rPr sz="1200" b="0" i="0" u="none" strike="noStrike">
                <a:solidFill>
                  <a:srgbClr val="0B2A4A"/>
                </a:solidFill>
                <a:latin typeface="Arial"/>
              </a:rPr>
              <a:t>NPTEL Impact on Interview Scores (out of 100)</a:t>
            </a:r>
          </a:p>
        </c:rich>
      </c:tx>
      <c:layout/>
      <c:overlay val="0"/>
    </c:title>
    <c:autoTitleDeleted val="0"/>
    <c:plotArea>
      <c:layout/>
      <c:barChart>
        <c:barDir val="bar"/>
        <c:grouping val="clustered"/>
        <c:varyColors val="0"/>
        <c:ser>
          <c:idx val="0"/>
          <c:order val="0"/>
          <c:tx>
            <c:strRef>
              <c:f>Sheet1!$B$1</c:f>
              <c:strCache>
                <c:ptCount val="1"/>
                <c:pt idx="0">
                  <c:v>Interview Score</c:v>
                </c:pt>
              </c:strCache>
            </c:strRef>
          </c:tx>
          <c:spPr>
            <a:solidFill>
              <a:srgbClr val="1E4E8C"/>
            </a:solidFill>
            <a:effectLst/>
          </c:spPr>
          <c:invertIfNegative val="0"/>
          <c:dLbls>
            <c:numFmt formatCode="#,##0" sourceLinked="0"/>
            <c:txPr>
              <a:bodyPr/>
              <a:lstStyle/>
              <a:p>
                <a:pPr>
                  <a:defRPr b="0" i="0" strike="noStrike" sz="1000" u="none">
                    <a:solidFill>
                      <a:srgbClr val="0B2A4A"/>
                    </a:solidFill>
                    <a:latin typeface="Arial"/>
                  </a:defRPr>
                </a:pPr>
              </a:p>
            </c:txPr>
            <c:showLegendKey val="0"/>
            <c:showVal val="1"/>
            <c:showCatName val="0"/>
            <c:showSerName val="0"/>
            <c:showPercent val="0"/>
            <c:showBubbleSize val="0"/>
            <c:showLeaderLines val="0"/>
          </c:dLbls>
          <c:cat>
            <c:multiLvlStrRef>
              <c:f>Sheet1!$A$2:$A$6</c:f>
              <c:multiLvlStrCache>
                <c:ptCount val="5"/>
                <c:lvl>
                  <c:pt idx="0">
                    <c:v>Aptitude</c:v>
                  </c:pt>
                  <c:pt idx="1">
                    <c:v>Coding</c:v>
                  </c:pt>
                  <c:pt idx="2">
                    <c:v>Core Sub.</c:v>
                  </c:pt>
                  <c:pt idx="3">
                    <c:v>Domain</c:v>
                  </c:pt>
                  <c:pt idx="4">
                    <c:v>HR</c:v>
                  </c:pt>
                </c:lvl>
              </c:multiLvlStrCache>
            </c:multiLvlStrRef>
          </c:cat>
          <c:val>
            <c:numRef>
              <c:f>Sheet1!$B$2:$B$6</c:f>
              <c:numCache>
                <c:formatCode>General</c:formatCode>
                <c:ptCount val="5"/>
                <c:pt idx="0">
                  <c:v>75</c:v>
                </c:pt>
                <c:pt idx="1">
                  <c:v>80</c:v>
                </c:pt>
                <c:pt idx="2">
                  <c:v>88</c:v>
                </c:pt>
                <c:pt idx="3">
                  <c:v>92</c:v>
                </c:pt>
                <c:pt idx="4">
                  <c:v>85</c:v>
                </c:pt>
              </c:numCache>
            </c:numRef>
          </c:val>
        </c:ser>
        <c:dLbls>
          <c:numFmt formatCode="#,##0" sourceLinked="0"/>
          <c:txPr>
            <a:bodyPr/>
            <a:lstStyle/>
            <a:p>
              <a:pPr>
                <a:defRPr b="0" i="0" strike="noStrike" sz="1000" u="none">
                  <a:solidFill>
                    <a:srgbClr val="0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A4A"/>
                </a:solidFill>
                <a:latin typeface="Arial"/>
              </a:defRPr>
            </a:pPr>
            <a:r>
              <a:rPr sz="1200" b="0" i="0" u="none" strike="noStrike">
                <a:solidFill>
                  <a:srgbClr val="0B2A4A"/>
                </a:solidFill>
                <a:latin typeface="Arial"/>
              </a:rPr>
              <a:t>Industry Demand Index (2026)</a:t>
            </a:r>
          </a:p>
        </c:rich>
      </c:tx>
      <c:layout/>
      <c:overlay val="0"/>
    </c:title>
    <c:autoTitleDeleted val="0"/>
    <c:plotArea>
      <c:layout/>
      <c:barChart>
        <c:barDir val="col"/>
        <c:grouping val="clustered"/>
        <c:varyColors val="0"/>
        <c:ser>
          <c:idx val="0"/>
          <c:order val="0"/>
          <c:tx>
            <c:strRef>
              <c:f>Sheet1!$B$1</c:f>
              <c:strCache>
                <c:ptCount val="1"/>
                <c:pt idx="0">
                  <c:v>Demand Index 2026</c:v>
                </c:pt>
              </c:strCache>
            </c:strRef>
          </c:tx>
          <c:spPr>
            <a:solidFill>
              <a:srgbClr val="1E4E8C"/>
            </a:solidFill>
            <a:effectLst/>
          </c:spPr>
          <c:invertIfNegative val="0"/>
          <c:dLbls>
            <c:numFmt formatCode="#,##0" sourceLinked="0"/>
            <c:txPr>
              <a:bodyPr/>
              <a:lstStyle/>
              <a:p>
                <a:pPr>
                  <a:defRPr b="0" i="0" strike="noStrike" sz="1000" u="none">
                    <a:solidFill>
                      <a:srgbClr val="0B2A4A"/>
                    </a:solidFill>
                    <a:latin typeface="Arial"/>
                  </a:defRPr>
                </a:pPr>
              </a:p>
            </c:txPr>
            <c:showLegendKey val="0"/>
            <c:showVal val="1"/>
            <c:showCatName val="0"/>
            <c:showSerName val="0"/>
            <c:showPercent val="0"/>
            <c:showBubbleSize val="0"/>
            <c:showLeaderLines val="0"/>
          </c:dLbls>
          <c:dPt>
            <c:idx val="0"/>
            <c:invertIfNegative val="0"/>
            <c:bubble3D val="0"/>
            <c:spPr>
              <a:solidFill>
                <a:srgbClr val="1E4E8C"/>
              </a:solidFill>
              <a:effectLst/>
            </c:spPr>
          </c:dPt>
          <c:dPt>
            <c:idx val="1"/>
            <c:invertIfNegative val="0"/>
            <c:bubble3D val="0"/>
            <c:spPr>
              <a:solidFill>
                <a:srgbClr val="1E4E8C"/>
              </a:solidFill>
              <a:effectLst/>
            </c:spPr>
          </c:dPt>
          <c:dPt>
            <c:idx val="2"/>
            <c:invertIfNegative val="0"/>
            <c:bubble3D val="0"/>
            <c:spPr>
              <a:solidFill>
                <a:srgbClr val="1E4E8C"/>
              </a:solidFill>
              <a:effectLst/>
            </c:spPr>
          </c:dPt>
          <c:dPt>
            <c:idx val="3"/>
            <c:invertIfNegative val="0"/>
            <c:bubble3D val="0"/>
            <c:spPr>
              <a:solidFill>
                <a:srgbClr val="1E4E8C"/>
              </a:solidFill>
              <a:effectLst/>
            </c:spPr>
          </c:dPt>
          <c:dPt>
            <c:idx val="4"/>
            <c:invertIfNegative val="0"/>
            <c:bubble3D val="0"/>
            <c:spPr>
              <a:solidFill>
                <a:srgbClr val="1E4E8C"/>
              </a:solidFill>
              <a:effectLst/>
            </c:spPr>
          </c:dPt>
          <c:cat>
            <c:multiLvlStrRef>
              <c:f>Sheet1!$A$2:$A$6</c:f>
              <c:multiLvlStrCache>
                <c:ptCount val="5"/>
                <c:lvl>
                  <c:pt idx="0">
                    <c:v>Gen AI</c:v>
                  </c:pt>
                  <c:pt idx="1">
                    <c:v>ML Ops</c:v>
                  </c:pt>
                  <c:pt idx="2">
                    <c:v>Data Sci</c:v>
                  </c:pt>
                  <c:pt idx="3">
                    <c:v>Cyber Sec</c:v>
                  </c:pt>
                  <c:pt idx="4">
                    <c:v>IoT</c:v>
                  </c:pt>
                </c:lvl>
              </c:multiLvlStrCache>
            </c:multiLvlStrRef>
          </c:cat>
          <c:val>
            <c:numRef>
              <c:f>Sheet1!$B$2:$B$6</c:f>
              <c:numCache>
                <c:formatCode>General</c:formatCode>
                <c:ptCount val="5"/>
                <c:pt idx="0">
                  <c:v>95</c:v>
                </c:pt>
                <c:pt idx="1">
                  <c:v>88</c:v>
                </c:pt>
                <c:pt idx="2">
                  <c:v>82</c:v>
                </c:pt>
                <c:pt idx="3">
                  <c:v>75</c:v>
                </c:pt>
                <c:pt idx="4">
                  <c:v>68</c:v>
                </c:pt>
              </c:numCache>
            </c:numRef>
          </c:val>
        </c:ser>
        <c:dLbls>
          <c:numFmt formatCode="#,##0" sourceLinked="0"/>
          <c:txPr>
            <a:bodyPr/>
            <a:lstStyle/>
            <a:p>
              <a:pPr>
                <a:defRPr b="0" i="0" strike="noStrike" sz="1000" u="none">
                  <a:solidFill>
                    <a:srgbClr val="0B2A4A"/>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and outline why NPTEL matters for every engineering student today. Emphasize that this session will motivate students to complete at least one NPTEL certification every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quick walkthrough of the agenda. Tell the audience the session moves from what NPTEL is to how it directly benefits their career. Encourage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NPTEL simply: 'National Programme on Technology Enhanced Learning.' It is an MHRD/MoE initiative delivered by the IITs and IISc. Emphasize that content is free and the certification is exam-based.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founding mission: IITs cannot admit every aspirant, but IIT knowledge can reach every aspirant through NPTEL. Highlight the equity and industry-alignment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NPTEL is not just a website — it is a whole ecosystem. Explain the role of SWAYAM as the delivery platform and the Local Chapter as the college-side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scale: 30M+ enrollments make NPTEL the largest MOOC platform in India. Explain that this scale means recruiters recognize the certifications.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breadth: NPTEL is not just for computer science students. Every engineering discipline has world-class courses, and multidisciplinary domains bridge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a few flagship courses by name. Encourage students to visit nptel.ac.in every semester and shortlist courses aligned with their branch and career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steps. Emphasize that the process is designed for busy students — a few hours a week is enough to complete a course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down a typical week: about 7 hours of committed time yields a certificate. Compare this to time already spent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'best of N-1' rule — students can miss one bad week without penalty. Encourage them to attempt every single assignment for maximum internal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forum is one of the best-kept secrets. Even shy students should post — TAs from top IITs actively respond and clarify.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certificate requires clearing both internal (assignments) and final exam thresholds. Nudge students to plan exam-city choice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six-step certification journey and the four scoring bands. Encourage students to aim for at least Elite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recruiters especially value Elite and Gold. Encourage students to push for the highest band they can — small effort difference, big career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domain certificate is essentially a 'mini-specialization'. Pair well with placement pitches — e.g., 'AI Domain Certified by IIT.'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Tell students this is arguably the most important section — completing NPTEL can now count directly toward their B.Tech degree via ABC.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SWAYAM is the government's flagship platform; NPTEL runs on it. All NPTEL certificates are SWAYAM-credit eligible.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every student in India can create an ABC ID via DigiLocker. Once created, all future SWAYAM/NPTEL credits automatically flow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7-step flow slowly. Emphasize the flow ends in credits counting toward degree — this is the powerful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concrete example to show tangible impact — a real course, a real 3 credits, a real reduction in on-campus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colleges with an active Local Chapter unlock all these benefits. Encourage students to check who their SPOC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slide. Cover all ten benefits quickly, then anchor on one: recruiters absolutely notice NPTEL certifications during shortlisting.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NPTEL directly with paid GATE coaching. IIT professors, no cost, and syllabus is largely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Convince students that NPTEL is not academic decoration — it is direct fuel for placement season. Give an example of a student whose NPTEL cert opened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stark visual contrast. Resume is the first filter; NPTEL certificates get you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mock LinkedIn profile. Emphasize that verified certificates on LinkedIn multiply recruiter InMails.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NPTEL Alumni portal: only Elite certified students get access to exclusive internship listings from industry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Industry Associates program is the bridge. Companies like TCS, WITCH, Bosch, and Cadence use NPTEL scores as a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recruiters emphasize soft skills as much as technical skills. NPTEL offers many soft-skill courses that also carry certificates.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focused NPTEL learners get significantly higher scores across categories, especially domain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Recognition programs give students an identity beyond their grade. Encourage them to aim to become an Evangelist or NPTEL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15 most in-demand NPTEL courses. Tell students to align at least one every semester with career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students on 4 focus tracks. Show that Gen-AI is the top-demand track today — NPTEL offers strong Gen-AI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semester-wise plan. Students should aim for at least one Elite certificate every semester per this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practical tips from students who scored Elite Gold. The habit — not intensity — is what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presentation with these 5 anchors. If they remember only these, they will remember the right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open at least one link on their phone right now. Encourage them to bookmark all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call to action. Ask every student in the room to make a public commitment — 'one course, this semester.' Follow up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energy. Thank the audience, invite Q&amp;A, and remind them enrollment is one click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1.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slideLayout" Target="../slideLayouts/slideLayout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image" Target="../media/image-33-13.png"/><Relationship Id="rId14" Type="http://schemas.openxmlformats.org/officeDocument/2006/relationships/image" Target="../media/image-33-14.png"/><Relationship Id="rId15" Type="http://schemas.openxmlformats.org/officeDocument/2006/relationships/image" Target="../media/image-33-15.png"/><Relationship Id="rId16" Type="http://schemas.openxmlformats.org/officeDocument/2006/relationships/slideLayout" Target="../slideLayouts/slideLayout1.xml"/><Relationship Id="rId1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5" Type="http://schemas.openxmlformats.org/officeDocument/2006/relationships/chart" Target="/ppt/charts/chart3.xml"/><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97316"/>
          </a:solidFill>
          <a:ln w="12700">
            <a:solidFill>
              <a:srgbClr val="F97316"/>
            </a:solidFill>
            <a:prstDash val="solid"/>
          </a:ln>
        </p:spPr>
      </p:sp>
      <p:sp>
        <p:nvSpPr>
          <p:cNvPr id="3" name="Shape 1"/>
          <p:cNvSpPr/>
          <p:nvPr/>
        </p:nvSpPr>
        <p:spPr>
          <a:xfrm>
            <a:off x="6858000" y="-1371600"/>
            <a:ext cx="3657600" cy="3657600"/>
          </a:xfrm>
          <a:prstGeom prst="ellipse">
            <a:avLst/>
          </a:prstGeom>
          <a:solidFill>
            <a:srgbClr val="2E7CD6">
              <a:alpha val="30000"/>
            </a:srgbClr>
          </a:solidFill>
          <a:ln w="12700">
            <a:solidFill>
              <a:srgbClr val="2E7CD6">
                <a:alpha val="30000"/>
              </a:srgbClr>
            </a:solidFill>
            <a:prstDash val="solid"/>
          </a:ln>
        </p:spPr>
      </p:sp>
      <p:sp>
        <p:nvSpPr>
          <p:cNvPr id="4" name="Shape 2"/>
          <p:cNvSpPr/>
          <p:nvPr/>
        </p:nvSpPr>
        <p:spPr>
          <a:xfrm>
            <a:off x="7498080" y="3291840"/>
            <a:ext cx="2377440" cy="2377440"/>
          </a:xfrm>
          <a:prstGeom prst="ellipse">
            <a:avLst/>
          </a:prstGeom>
          <a:solidFill>
            <a:srgbClr val="F97316">
              <a:alpha val="40000"/>
            </a:srgbClr>
          </a:solidFill>
          <a:ln w="12700">
            <a:solidFill>
              <a:srgbClr val="F97316">
                <a:alpha val="40000"/>
              </a:srgbClr>
            </a:solidFill>
            <a:prstDash val="solid"/>
          </a:ln>
        </p:spPr>
      </p:sp>
      <p:sp>
        <p:nvSpPr>
          <p:cNvPr id="5" name="Text 3"/>
          <p:cNvSpPr/>
          <p:nvPr/>
        </p:nvSpPr>
        <p:spPr>
          <a:xfrm>
            <a:off x="822960" y="640080"/>
            <a:ext cx="5486400" cy="548640"/>
          </a:xfrm>
          <a:prstGeom prst="rect">
            <a:avLst/>
          </a:prstGeom>
          <a:noFill/>
          <a:ln/>
        </p:spPr>
        <p:txBody>
          <a:bodyPr wrap="square" lIns="0" tIns="0" rIns="0" bIns="0" rtlCol="0" anchor="ctr"/>
          <a:lstStyle/>
          <a:p>
            <a:pPr indent="0" marL="0">
              <a:buNone/>
            </a:pPr>
            <a:r>
              <a:rPr lang="en-US" sz="1400" b="1" spc="800" kern="0" dirty="0">
                <a:solidFill>
                  <a:srgbClr val="F97316"/>
                </a:solidFill>
                <a:latin typeface="Segoe UI" pitchFamily="34" charset="0"/>
                <a:ea typeface="Segoe UI" pitchFamily="34" charset="-122"/>
                <a:cs typeface="Segoe UI" pitchFamily="34" charset="-120"/>
              </a:rPr>
              <a:t>NPTEL</a:t>
            </a:r>
            <a:endParaRPr lang="en-US" sz="1400" dirty="0"/>
          </a:p>
        </p:txBody>
      </p:sp>
      <p:sp>
        <p:nvSpPr>
          <p:cNvPr id="6" name="Text 4"/>
          <p:cNvSpPr/>
          <p:nvPr/>
        </p:nvSpPr>
        <p:spPr>
          <a:xfrm>
            <a:off x="822960" y="1097280"/>
            <a:ext cx="7315200" cy="1828800"/>
          </a:xfrm>
          <a:prstGeom prst="rect">
            <a:avLst/>
          </a:prstGeom>
          <a:noFill/>
          <a:ln/>
        </p:spPr>
        <p:txBody>
          <a:bodyPr wrap="square" lIns="0" tIns="0" rIns="0" bIns="0" rtlCol="0" anchor="ctr"/>
          <a:lstStyle/>
          <a:p>
            <a:pPr indent="0" marL="0">
              <a:buNone/>
            </a:pPr>
            <a:r>
              <a:rPr lang="en-US" sz="4400" b="1" dirty="0">
                <a:solidFill>
                  <a:srgbClr val="FFFFFF"/>
                </a:solidFill>
                <a:latin typeface="Segoe UI" pitchFamily="34" charset="0"/>
                <a:ea typeface="Segoe UI" pitchFamily="34" charset="-122"/>
                <a:cs typeface="Segoe UI" pitchFamily="34" charset="-120"/>
              </a:rPr>
              <a:t>Enhancing Self-Learning</a:t>
            </a:r>
            <a:endParaRPr lang="en-US" sz="4400" dirty="0"/>
          </a:p>
          <a:p>
            <a:pPr indent="0" marL="0">
              <a:buNone/>
            </a:pPr>
            <a:r>
              <a:rPr lang="en-US" sz="4400" b="1" dirty="0">
                <a:solidFill>
                  <a:srgbClr val="FFFFFF"/>
                </a:solidFill>
                <a:latin typeface="Segoe UI" pitchFamily="34" charset="0"/>
                <a:ea typeface="Segoe UI" pitchFamily="34" charset="-122"/>
                <a:cs typeface="Segoe UI" pitchFamily="34" charset="-120"/>
              </a:rPr>
              <a:t>&amp; Skill Development</a:t>
            </a:r>
            <a:endParaRPr lang="en-US" sz="4400" dirty="0"/>
          </a:p>
        </p:txBody>
      </p:sp>
      <p:sp>
        <p:nvSpPr>
          <p:cNvPr id="7" name="Text 5"/>
          <p:cNvSpPr/>
          <p:nvPr/>
        </p:nvSpPr>
        <p:spPr>
          <a:xfrm>
            <a:off x="822960" y="2834640"/>
            <a:ext cx="7315200" cy="548640"/>
          </a:xfrm>
          <a:prstGeom prst="rect">
            <a:avLst/>
          </a:prstGeom>
          <a:noFill/>
          <a:ln/>
        </p:spPr>
        <p:txBody>
          <a:bodyPr wrap="square" lIns="0" tIns="0" rIns="0" bIns="0" rtlCol="0" anchor="ctr"/>
          <a:lstStyle/>
          <a:p>
            <a:pPr indent="0" marL="0">
              <a:buNone/>
            </a:pPr>
            <a:r>
              <a:rPr lang="en-US" sz="2800" i="1" dirty="0">
                <a:solidFill>
                  <a:srgbClr val="E8F1FB"/>
                </a:solidFill>
                <a:latin typeface="Segoe UI" pitchFamily="34" charset="0"/>
                <a:ea typeface="Segoe UI" pitchFamily="34" charset="-122"/>
                <a:cs typeface="Segoe UI" pitchFamily="34" charset="-120"/>
              </a:rPr>
              <a:t>through NPTEL</a:t>
            </a:r>
            <a:endParaRPr lang="en-US" sz="2800" dirty="0"/>
          </a:p>
        </p:txBody>
      </p:sp>
      <p:sp>
        <p:nvSpPr>
          <p:cNvPr id="8" name="Shape 6"/>
          <p:cNvSpPr/>
          <p:nvPr/>
        </p:nvSpPr>
        <p:spPr>
          <a:xfrm>
            <a:off x="822960" y="3566160"/>
            <a:ext cx="731520" cy="45720"/>
          </a:xfrm>
          <a:prstGeom prst="rect">
            <a:avLst/>
          </a:prstGeom>
          <a:solidFill>
            <a:srgbClr val="F97316"/>
          </a:solidFill>
          <a:ln w="12700">
            <a:solidFill>
              <a:srgbClr val="F97316"/>
            </a:solidFill>
            <a:prstDash val="solid"/>
          </a:ln>
        </p:spPr>
      </p:sp>
      <p:sp>
        <p:nvSpPr>
          <p:cNvPr id="9" name="Text 7"/>
          <p:cNvSpPr/>
          <p:nvPr/>
        </p:nvSpPr>
        <p:spPr>
          <a:xfrm>
            <a:off x="822960" y="3703320"/>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A Seminar for B.Tech Students, Faculty &amp; TPO</a:t>
            </a:r>
            <a:endParaRPr lang="en-US" sz="1400" dirty="0"/>
          </a:p>
        </p:txBody>
      </p:sp>
      <p:sp>
        <p:nvSpPr>
          <p:cNvPr id="10" name="Text 8"/>
          <p:cNvSpPr/>
          <p:nvPr/>
        </p:nvSpPr>
        <p:spPr>
          <a:xfrm>
            <a:off x="822960" y="4069080"/>
            <a:ext cx="7315200" cy="365760"/>
          </a:xfrm>
          <a:prstGeom prst="rect">
            <a:avLst/>
          </a:prstGeom>
          <a:noFill/>
          <a:ln/>
        </p:spPr>
        <p:txBody>
          <a:bodyPr wrap="square" lIns="0" tIns="0" rIns="0" bIns="0" rtlCol="0" anchor="ctr"/>
          <a:lstStyle/>
          <a:p>
            <a:pPr indent="0" marL="0">
              <a:buNone/>
            </a:pPr>
            <a:r>
              <a:rPr lang="en-US" sz="1100" dirty="0">
                <a:solidFill>
                  <a:srgbClr val="E8F1FB"/>
                </a:solidFill>
                <a:latin typeface="Segoe UI" pitchFamily="34" charset="0"/>
                <a:ea typeface="Segoe UI" pitchFamily="34" charset="-122"/>
                <a:cs typeface="Segoe UI" pitchFamily="34" charset="-120"/>
              </a:rPr>
              <a:t>SWAYAM  •  Academic Bank of Credits  •  Employability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WHAT WE WILL COVER</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Agenda</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a:t>
            </a:r>
            <a:endParaRPr lang="en-US" sz="900" dirty="0"/>
          </a:p>
        </p:txBody>
      </p:sp>
      <p:sp>
        <p:nvSpPr>
          <p:cNvPr id="9" name="Shape 7"/>
          <p:cNvSpPr/>
          <p:nvPr/>
        </p:nvSpPr>
        <p:spPr>
          <a:xfrm>
            <a:off x="45720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457200" y="1371600"/>
            <a:ext cx="73152" cy="1417320"/>
          </a:xfrm>
          <a:prstGeom prst="rect">
            <a:avLst/>
          </a:prstGeom>
          <a:solidFill>
            <a:srgbClr val="F97316"/>
          </a:solidFill>
          <a:ln w="12700">
            <a:solidFill>
              <a:srgbClr val="F97316"/>
            </a:solidFill>
            <a:prstDash val="solid"/>
          </a:ln>
        </p:spPr>
      </p:sp>
      <p:sp>
        <p:nvSpPr>
          <p:cNvPr id="11" name="Text 9"/>
          <p:cNvSpPr/>
          <p:nvPr/>
        </p:nvSpPr>
        <p:spPr>
          <a:xfrm>
            <a:off x="640080" y="1481328"/>
            <a:ext cx="731520" cy="365760"/>
          </a:xfrm>
          <a:prstGeom prst="rect">
            <a:avLst/>
          </a:prstGeom>
          <a:noFill/>
          <a:ln/>
        </p:spPr>
        <p:txBody>
          <a:bodyPr wrap="square" lIns="0" tIns="0" rIns="0" bIns="0" rtlCol="0" anchor="ctr"/>
          <a:lstStyle/>
          <a:p>
            <a:pPr indent="0" marL="0">
              <a:buNone/>
            </a:pPr>
            <a:r>
              <a:rPr lang="en-US" sz="2200" b="1" dirty="0">
                <a:solidFill>
                  <a:srgbClr val="F97316"/>
                </a:solidFill>
                <a:latin typeface="Segoe UI" pitchFamily="34" charset="0"/>
                <a:ea typeface="Segoe UI" pitchFamily="34" charset="-122"/>
                <a:cs typeface="Segoe UI" pitchFamily="34" charset="-120"/>
              </a:rPr>
              <a:t>01</a:t>
            </a:r>
            <a:endParaRPr lang="en-US" sz="2200" dirty="0"/>
          </a:p>
        </p:txBody>
      </p:sp>
      <p:sp>
        <p:nvSpPr>
          <p:cNvPr id="12" name="Text 10"/>
          <p:cNvSpPr/>
          <p:nvPr/>
        </p:nvSpPr>
        <p:spPr>
          <a:xfrm>
            <a:off x="640080" y="1874520"/>
            <a:ext cx="2377440" cy="36576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Understanding NPTEL</a:t>
            </a:r>
            <a:endParaRPr lang="en-US" sz="1400" dirty="0"/>
          </a:p>
        </p:txBody>
      </p:sp>
      <p:sp>
        <p:nvSpPr>
          <p:cNvPr id="13" name="Text 11"/>
          <p:cNvSpPr/>
          <p:nvPr/>
        </p:nvSpPr>
        <p:spPr>
          <a:xfrm>
            <a:off x="640080" y="2240280"/>
            <a:ext cx="2377440" cy="45720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What, why, ecosystem, scale</a:t>
            </a:r>
            <a:endParaRPr lang="en-US" sz="1000" dirty="0"/>
          </a:p>
        </p:txBody>
      </p:sp>
      <p:sp>
        <p:nvSpPr>
          <p:cNvPr id="14" name="Shape 12"/>
          <p:cNvSpPr/>
          <p:nvPr/>
        </p:nvSpPr>
        <p:spPr>
          <a:xfrm>
            <a:off x="324612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5" name="Shape 13"/>
          <p:cNvSpPr/>
          <p:nvPr/>
        </p:nvSpPr>
        <p:spPr>
          <a:xfrm>
            <a:off x="3246120" y="1371600"/>
            <a:ext cx="73152" cy="1417320"/>
          </a:xfrm>
          <a:prstGeom prst="rect">
            <a:avLst/>
          </a:prstGeom>
          <a:solidFill>
            <a:srgbClr val="F97316"/>
          </a:solidFill>
          <a:ln w="12700">
            <a:solidFill>
              <a:srgbClr val="F97316"/>
            </a:solidFill>
            <a:prstDash val="solid"/>
          </a:ln>
        </p:spPr>
      </p:sp>
      <p:sp>
        <p:nvSpPr>
          <p:cNvPr id="16" name="Text 14"/>
          <p:cNvSpPr/>
          <p:nvPr/>
        </p:nvSpPr>
        <p:spPr>
          <a:xfrm>
            <a:off x="3429000" y="1481328"/>
            <a:ext cx="731520" cy="365760"/>
          </a:xfrm>
          <a:prstGeom prst="rect">
            <a:avLst/>
          </a:prstGeom>
          <a:noFill/>
          <a:ln/>
        </p:spPr>
        <p:txBody>
          <a:bodyPr wrap="square" lIns="0" tIns="0" rIns="0" bIns="0" rtlCol="0" anchor="ctr"/>
          <a:lstStyle/>
          <a:p>
            <a:pPr indent="0" marL="0">
              <a:buNone/>
            </a:pPr>
            <a:r>
              <a:rPr lang="en-US" sz="2200" b="1" dirty="0">
                <a:solidFill>
                  <a:srgbClr val="F97316"/>
                </a:solidFill>
                <a:latin typeface="Segoe UI" pitchFamily="34" charset="0"/>
                <a:ea typeface="Segoe UI" pitchFamily="34" charset="-122"/>
                <a:cs typeface="Segoe UI" pitchFamily="34" charset="-120"/>
              </a:rPr>
              <a:t>02</a:t>
            </a:r>
            <a:endParaRPr lang="en-US" sz="2200" dirty="0"/>
          </a:p>
        </p:txBody>
      </p:sp>
      <p:sp>
        <p:nvSpPr>
          <p:cNvPr id="17" name="Text 15"/>
          <p:cNvSpPr/>
          <p:nvPr/>
        </p:nvSpPr>
        <p:spPr>
          <a:xfrm>
            <a:off x="3429000" y="1874520"/>
            <a:ext cx="2377440" cy="36576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How Learning Works</a:t>
            </a:r>
            <a:endParaRPr lang="en-US" sz="1400" dirty="0"/>
          </a:p>
        </p:txBody>
      </p:sp>
      <p:sp>
        <p:nvSpPr>
          <p:cNvPr id="18" name="Text 16"/>
          <p:cNvSpPr/>
          <p:nvPr/>
        </p:nvSpPr>
        <p:spPr>
          <a:xfrm>
            <a:off x="3429000" y="2240280"/>
            <a:ext cx="2377440" cy="45720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Courses, videos, assignments, exams</a:t>
            </a:r>
            <a:endParaRPr lang="en-US" sz="1000" dirty="0"/>
          </a:p>
        </p:txBody>
      </p:sp>
      <p:sp>
        <p:nvSpPr>
          <p:cNvPr id="19" name="Shape 17"/>
          <p:cNvSpPr/>
          <p:nvPr/>
        </p:nvSpPr>
        <p:spPr>
          <a:xfrm>
            <a:off x="603504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0" name="Shape 18"/>
          <p:cNvSpPr/>
          <p:nvPr/>
        </p:nvSpPr>
        <p:spPr>
          <a:xfrm>
            <a:off x="6035040" y="1371600"/>
            <a:ext cx="73152" cy="1417320"/>
          </a:xfrm>
          <a:prstGeom prst="rect">
            <a:avLst/>
          </a:prstGeom>
          <a:solidFill>
            <a:srgbClr val="F97316"/>
          </a:solidFill>
          <a:ln w="12700">
            <a:solidFill>
              <a:srgbClr val="F97316"/>
            </a:solidFill>
            <a:prstDash val="solid"/>
          </a:ln>
        </p:spPr>
      </p:sp>
      <p:sp>
        <p:nvSpPr>
          <p:cNvPr id="21" name="Text 19"/>
          <p:cNvSpPr/>
          <p:nvPr/>
        </p:nvSpPr>
        <p:spPr>
          <a:xfrm>
            <a:off x="6217920" y="1481328"/>
            <a:ext cx="731520" cy="365760"/>
          </a:xfrm>
          <a:prstGeom prst="rect">
            <a:avLst/>
          </a:prstGeom>
          <a:noFill/>
          <a:ln/>
        </p:spPr>
        <p:txBody>
          <a:bodyPr wrap="square" lIns="0" tIns="0" rIns="0" bIns="0" rtlCol="0" anchor="ctr"/>
          <a:lstStyle/>
          <a:p>
            <a:pPr indent="0" marL="0">
              <a:buNone/>
            </a:pPr>
            <a:r>
              <a:rPr lang="en-US" sz="2200" b="1" dirty="0">
                <a:solidFill>
                  <a:srgbClr val="F97316"/>
                </a:solidFill>
                <a:latin typeface="Segoe UI" pitchFamily="34" charset="0"/>
                <a:ea typeface="Segoe UI" pitchFamily="34" charset="-122"/>
                <a:cs typeface="Segoe UI" pitchFamily="34" charset="-120"/>
              </a:rPr>
              <a:t>03</a:t>
            </a:r>
            <a:endParaRPr lang="en-US" sz="2200" dirty="0"/>
          </a:p>
        </p:txBody>
      </p:sp>
      <p:sp>
        <p:nvSpPr>
          <p:cNvPr id="22" name="Text 20"/>
          <p:cNvSpPr/>
          <p:nvPr/>
        </p:nvSpPr>
        <p:spPr>
          <a:xfrm>
            <a:off x="6217920" y="1874520"/>
            <a:ext cx="2377440" cy="36576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Certificates &amp; Credits</a:t>
            </a:r>
            <a:endParaRPr lang="en-US" sz="1400" dirty="0"/>
          </a:p>
        </p:txBody>
      </p:sp>
      <p:sp>
        <p:nvSpPr>
          <p:cNvPr id="23" name="Text 21"/>
          <p:cNvSpPr/>
          <p:nvPr/>
        </p:nvSpPr>
        <p:spPr>
          <a:xfrm>
            <a:off x="6217920" y="2240280"/>
            <a:ext cx="2377440" cy="45720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Types, SWAYAM, ABC, transfer</a:t>
            </a:r>
            <a:endParaRPr lang="en-US" sz="1000" dirty="0"/>
          </a:p>
        </p:txBody>
      </p:sp>
      <p:sp>
        <p:nvSpPr>
          <p:cNvPr id="24" name="Shape 22"/>
          <p:cNvSpPr/>
          <p:nvPr/>
        </p:nvSpPr>
        <p:spPr>
          <a:xfrm>
            <a:off x="457200" y="29718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5" name="Shape 23"/>
          <p:cNvSpPr/>
          <p:nvPr/>
        </p:nvSpPr>
        <p:spPr>
          <a:xfrm>
            <a:off x="457200" y="2971800"/>
            <a:ext cx="73152" cy="1417320"/>
          </a:xfrm>
          <a:prstGeom prst="rect">
            <a:avLst/>
          </a:prstGeom>
          <a:solidFill>
            <a:srgbClr val="F97316"/>
          </a:solidFill>
          <a:ln w="12700">
            <a:solidFill>
              <a:srgbClr val="F97316"/>
            </a:solidFill>
            <a:prstDash val="solid"/>
          </a:ln>
        </p:spPr>
      </p:sp>
      <p:sp>
        <p:nvSpPr>
          <p:cNvPr id="26" name="Text 24"/>
          <p:cNvSpPr/>
          <p:nvPr/>
        </p:nvSpPr>
        <p:spPr>
          <a:xfrm>
            <a:off x="640080" y="3081528"/>
            <a:ext cx="731520" cy="365760"/>
          </a:xfrm>
          <a:prstGeom prst="rect">
            <a:avLst/>
          </a:prstGeom>
          <a:noFill/>
          <a:ln/>
        </p:spPr>
        <p:txBody>
          <a:bodyPr wrap="square" lIns="0" tIns="0" rIns="0" bIns="0" rtlCol="0" anchor="ctr"/>
          <a:lstStyle/>
          <a:p>
            <a:pPr indent="0" marL="0">
              <a:buNone/>
            </a:pPr>
            <a:r>
              <a:rPr lang="en-US" sz="2200" b="1" dirty="0">
                <a:solidFill>
                  <a:srgbClr val="F97316"/>
                </a:solidFill>
                <a:latin typeface="Segoe UI" pitchFamily="34" charset="0"/>
                <a:ea typeface="Segoe UI" pitchFamily="34" charset="-122"/>
                <a:cs typeface="Segoe UI" pitchFamily="34" charset="-120"/>
              </a:rPr>
              <a:t>04</a:t>
            </a:r>
            <a:endParaRPr lang="en-US" sz="2200" dirty="0"/>
          </a:p>
        </p:txBody>
      </p:sp>
      <p:sp>
        <p:nvSpPr>
          <p:cNvPr id="27" name="Text 25"/>
          <p:cNvSpPr/>
          <p:nvPr/>
        </p:nvSpPr>
        <p:spPr>
          <a:xfrm>
            <a:off x="640080" y="3474720"/>
            <a:ext cx="2377440" cy="36576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Career Advantages</a:t>
            </a:r>
            <a:endParaRPr lang="en-US" sz="1400" dirty="0"/>
          </a:p>
        </p:txBody>
      </p:sp>
      <p:sp>
        <p:nvSpPr>
          <p:cNvPr id="28" name="Text 26"/>
          <p:cNvSpPr/>
          <p:nvPr/>
        </p:nvSpPr>
        <p:spPr>
          <a:xfrm>
            <a:off x="640080" y="3840480"/>
            <a:ext cx="2377440" cy="45720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GATE, placements, resume, LinkedIn</a:t>
            </a:r>
            <a:endParaRPr lang="en-US" sz="1000" dirty="0"/>
          </a:p>
        </p:txBody>
      </p:sp>
      <p:sp>
        <p:nvSpPr>
          <p:cNvPr id="29" name="Shape 27"/>
          <p:cNvSpPr/>
          <p:nvPr/>
        </p:nvSpPr>
        <p:spPr>
          <a:xfrm>
            <a:off x="3246120" y="29718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0" name="Shape 28"/>
          <p:cNvSpPr/>
          <p:nvPr/>
        </p:nvSpPr>
        <p:spPr>
          <a:xfrm>
            <a:off x="3246120" y="2971800"/>
            <a:ext cx="73152" cy="1417320"/>
          </a:xfrm>
          <a:prstGeom prst="rect">
            <a:avLst/>
          </a:prstGeom>
          <a:solidFill>
            <a:srgbClr val="F97316"/>
          </a:solidFill>
          <a:ln w="12700">
            <a:solidFill>
              <a:srgbClr val="F97316"/>
            </a:solidFill>
            <a:prstDash val="solid"/>
          </a:ln>
        </p:spPr>
      </p:sp>
      <p:sp>
        <p:nvSpPr>
          <p:cNvPr id="31" name="Text 29"/>
          <p:cNvSpPr/>
          <p:nvPr/>
        </p:nvSpPr>
        <p:spPr>
          <a:xfrm>
            <a:off x="3429000" y="3081528"/>
            <a:ext cx="731520" cy="365760"/>
          </a:xfrm>
          <a:prstGeom prst="rect">
            <a:avLst/>
          </a:prstGeom>
          <a:noFill/>
          <a:ln/>
        </p:spPr>
        <p:txBody>
          <a:bodyPr wrap="square" lIns="0" tIns="0" rIns="0" bIns="0" rtlCol="0" anchor="ctr"/>
          <a:lstStyle/>
          <a:p>
            <a:pPr indent="0" marL="0">
              <a:buNone/>
            </a:pPr>
            <a:r>
              <a:rPr lang="en-US" sz="2200" b="1" dirty="0">
                <a:solidFill>
                  <a:srgbClr val="F97316"/>
                </a:solidFill>
                <a:latin typeface="Segoe UI" pitchFamily="34" charset="0"/>
                <a:ea typeface="Segoe UI" pitchFamily="34" charset="-122"/>
                <a:cs typeface="Segoe UI" pitchFamily="34" charset="-120"/>
              </a:rPr>
              <a:t>05</a:t>
            </a:r>
            <a:endParaRPr lang="en-US" sz="2200" dirty="0"/>
          </a:p>
        </p:txBody>
      </p:sp>
      <p:sp>
        <p:nvSpPr>
          <p:cNvPr id="32" name="Text 30"/>
          <p:cNvSpPr/>
          <p:nvPr/>
        </p:nvSpPr>
        <p:spPr>
          <a:xfrm>
            <a:off x="3429000" y="3474720"/>
            <a:ext cx="2377440" cy="36576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In-Demand Domains</a:t>
            </a:r>
            <a:endParaRPr lang="en-US" sz="1400" dirty="0"/>
          </a:p>
        </p:txBody>
      </p:sp>
      <p:sp>
        <p:nvSpPr>
          <p:cNvPr id="33" name="Text 31"/>
          <p:cNvSpPr/>
          <p:nvPr/>
        </p:nvSpPr>
        <p:spPr>
          <a:xfrm>
            <a:off x="3429000" y="3840480"/>
            <a:ext cx="2377440" cy="45720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AI, ML, Cloud, VLSI, IoT, more</a:t>
            </a:r>
            <a:endParaRPr lang="en-US" sz="1000" dirty="0"/>
          </a:p>
        </p:txBody>
      </p:sp>
      <p:sp>
        <p:nvSpPr>
          <p:cNvPr id="34" name="Shape 32"/>
          <p:cNvSpPr/>
          <p:nvPr/>
        </p:nvSpPr>
        <p:spPr>
          <a:xfrm>
            <a:off x="6035040" y="29718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5" name="Shape 33"/>
          <p:cNvSpPr/>
          <p:nvPr/>
        </p:nvSpPr>
        <p:spPr>
          <a:xfrm>
            <a:off x="6035040" y="2971800"/>
            <a:ext cx="73152" cy="1417320"/>
          </a:xfrm>
          <a:prstGeom prst="rect">
            <a:avLst/>
          </a:prstGeom>
          <a:solidFill>
            <a:srgbClr val="F97316"/>
          </a:solidFill>
          <a:ln w="12700">
            <a:solidFill>
              <a:srgbClr val="F97316"/>
            </a:solidFill>
            <a:prstDash val="solid"/>
          </a:ln>
        </p:spPr>
      </p:sp>
      <p:sp>
        <p:nvSpPr>
          <p:cNvPr id="36" name="Text 34"/>
          <p:cNvSpPr/>
          <p:nvPr/>
        </p:nvSpPr>
        <p:spPr>
          <a:xfrm>
            <a:off x="6217920" y="3081528"/>
            <a:ext cx="731520" cy="365760"/>
          </a:xfrm>
          <a:prstGeom prst="rect">
            <a:avLst/>
          </a:prstGeom>
          <a:noFill/>
          <a:ln/>
        </p:spPr>
        <p:txBody>
          <a:bodyPr wrap="square" lIns="0" tIns="0" rIns="0" bIns="0" rtlCol="0" anchor="ctr"/>
          <a:lstStyle/>
          <a:p>
            <a:pPr indent="0" marL="0">
              <a:buNone/>
            </a:pPr>
            <a:r>
              <a:rPr lang="en-US" sz="2200" b="1" dirty="0">
                <a:solidFill>
                  <a:srgbClr val="F97316"/>
                </a:solidFill>
                <a:latin typeface="Segoe UI" pitchFamily="34" charset="0"/>
                <a:ea typeface="Segoe UI" pitchFamily="34" charset="-122"/>
                <a:cs typeface="Segoe UI" pitchFamily="34" charset="-120"/>
              </a:rPr>
              <a:t>06</a:t>
            </a:r>
            <a:endParaRPr lang="en-US" sz="2200" dirty="0"/>
          </a:p>
        </p:txBody>
      </p:sp>
      <p:sp>
        <p:nvSpPr>
          <p:cNvPr id="37" name="Text 35"/>
          <p:cNvSpPr/>
          <p:nvPr/>
        </p:nvSpPr>
        <p:spPr>
          <a:xfrm>
            <a:off x="6217920" y="3474720"/>
            <a:ext cx="2377440" cy="36576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Your Action Plan</a:t>
            </a:r>
            <a:endParaRPr lang="en-US" sz="1400" dirty="0"/>
          </a:p>
        </p:txBody>
      </p:sp>
      <p:sp>
        <p:nvSpPr>
          <p:cNvPr id="38" name="Text 36"/>
          <p:cNvSpPr/>
          <p:nvPr/>
        </p:nvSpPr>
        <p:spPr>
          <a:xfrm>
            <a:off x="6217920" y="3840480"/>
            <a:ext cx="2377440" cy="45720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Roadmap, tips, call to action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INTRODUCTION</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What is NPTEL?</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a:t>
            </a:r>
            <a:endParaRPr lang="en-US" sz="900" dirty="0"/>
          </a:p>
        </p:txBody>
      </p:sp>
      <p:sp>
        <p:nvSpPr>
          <p:cNvPr id="9" name="Shape 7"/>
          <p:cNvSpPr/>
          <p:nvPr/>
        </p:nvSpPr>
        <p:spPr>
          <a:xfrm>
            <a:off x="457200" y="1280160"/>
            <a:ext cx="4114800" cy="3291840"/>
          </a:xfrm>
          <a:prstGeom prst="roundRect">
            <a:avLst>
              <a:gd name="adj" fmla="val 3333"/>
            </a:avLst>
          </a:prstGeom>
          <a:solidFill>
            <a:srgbClr val="0B2A4A"/>
          </a:solidFill>
          <a:ln w="12700">
            <a:solidFill>
              <a:srgbClr val="0B2A4A"/>
            </a:solidFill>
            <a:prstDash val="solid"/>
          </a:ln>
          <a:effectLst>
            <a:outerShdw sx="100000" sy="100000" kx="0" ky="0" algn="bl" rotWithShape="0" blurRad="127000" dist="25400" dir="5400000">
              <a:srgbClr val="000000">
                <a:alpha val="10000"/>
              </a:srgbClr>
            </a:outerShdw>
          </a:effectLst>
        </p:spPr>
      </p:sp>
      <p:sp>
        <p:nvSpPr>
          <p:cNvPr id="10" name="Text 8"/>
          <p:cNvSpPr/>
          <p:nvPr/>
        </p:nvSpPr>
        <p:spPr>
          <a:xfrm>
            <a:off x="685800" y="1463040"/>
            <a:ext cx="3657600" cy="1005840"/>
          </a:xfrm>
          <a:prstGeom prst="rect">
            <a:avLst/>
          </a:prstGeom>
          <a:noFill/>
          <a:ln/>
        </p:spPr>
        <p:txBody>
          <a:bodyPr wrap="square" lIns="0" tIns="0" rIns="0" bIns="0"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National Programme on Technology Enhanced Learning</a:t>
            </a:r>
            <a:endParaRPr lang="en-US" sz="2000" dirty="0"/>
          </a:p>
        </p:txBody>
      </p:sp>
      <p:sp>
        <p:nvSpPr>
          <p:cNvPr id="11" name="Shape 9"/>
          <p:cNvSpPr/>
          <p:nvPr/>
        </p:nvSpPr>
        <p:spPr>
          <a:xfrm>
            <a:off x="685800" y="2606040"/>
            <a:ext cx="457200" cy="45720"/>
          </a:xfrm>
          <a:prstGeom prst="rect">
            <a:avLst/>
          </a:prstGeom>
          <a:solidFill>
            <a:srgbClr val="F97316"/>
          </a:solidFill>
          <a:ln w="12700">
            <a:solidFill>
              <a:srgbClr val="F97316"/>
            </a:solidFill>
            <a:prstDash val="solid"/>
          </a:ln>
        </p:spPr>
      </p:sp>
      <p:sp>
        <p:nvSpPr>
          <p:cNvPr id="12" name="Text 10"/>
          <p:cNvSpPr/>
          <p:nvPr/>
        </p:nvSpPr>
        <p:spPr>
          <a:xfrm>
            <a:off x="685800" y="2743200"/>
            <a:ext cx="3657600" cy="914400"/>
          </a:xfrm>
          <a:prstGeom prst="rect">
            <a:avLst/>
          </a:prstGeom>
          <a:noFill/>
          <a:ln/>
        </p:spPr>
        <p:txBody>
          <a:bodyPr wrap="square" lIns="0" tIns="0" rIns="0" bIns="0" rtlCol="0" anchor="ctr"/>
          <a:lstStyle/>
          <a:p>
            <a:pPr indent="0" marL="0">
              <a:buNone/>
            </a:pPr>
            <a:r>
              <a:rPr lang="en-US" sz="1300" dirty="0">
                <a:solidFill>
                  <a:srgbClr val="E8F1FB"/>
                </a:solidFill>
                <a:latin typeface="Segoe UI" pitchFamily="34" charset="0"/>
                <a:ea typeface="Segoe UI" pitchFamily="34" charset="-122"/>
                <a:cs typeface="Segoe UI" pitchFamily="34" charset="-120"/>
              </a:rPr>
              <a:t>India's largest online learning platform, created by the IITs and IISc.</a:t>
            </a:r>
            <a:endParaRPr lang="en-US" sz="1300" dirty="0"/>
          </a:p>
        </p:txBody>
      </p:sp>
      <p:sp>
        <p:nvSpPr>
          <p:cNvPr id="13" name="Text 11"/>
          <p:cNvSpPr/>
          <p:nvPr/>
        </p:nvSpPr>
        <p:spPr>
          <a:xfrm>
            <a:off x="685800" y="3931920"/>
            <a:ext cx="3657600" cy="365760"/>
          </a:xfrm>
          <a:prstGeom prst="rect">
            <a:avLst/>
          </a:prstGeom>
          <a:noFill/>
          <a:ln/>
        </p:spPr>
        <p:txBody>
          <a:bodyPr wrap="square" lIns="0" tIns="0" rIns="0" bIns="0" rtlCol="0" anchor="ctr"/>
          <a:lstStyle/>
          <a:p>
            <a:pPr indent="0" marL="0">
              <a:buNone/>
            </a:pPr>
            <a:r>
              <a:rPr lang="en-US" sz="1200" b="1" i="1" dirty="0">
                <a:solidFill>
                  <a:srgbClr val="F97316"/>
                </a:solidFill>
                <a:latin typeface="Segoe UI" pitchFamily="34" charset="0"/>
                <a:ea typeface="Segoe UI" pitchFamily="34" charset="-122"/>
                <a:cs typeface="Segoe UI" pitchFamily="34" charset="-120"/>
              </a:rPr>
              <a:t>Free • Certified • World-class</a:t>
            </a:r>
            <a:endParaRPr lang="en-US" sz="1200" dirty="0"/>
          </a:p>
        </p:txBody>
      </p:sp>
      <p:sp>
        <p:nvSpPr>
          <p:cNvPr id="14" name="Shape 12"/>
          <p:cNvSpPr/>
          <p:nvPr/>
        </p:nvSpPr>
        <p:spPr>
          <a:xfrm>
            <a:off x="4937760" y="1280160"/>
            <a:ext cx="502920" cy="502920"/>
          </a:xfrm>
          <a:prstGeom prst="ellipse">
            <a:avLst/>
          </a:prstGeom>
          <a:solidFill>
            <a:srgbClr val="E8F1FB"/>
          </a:solidFill>
          <a:ln w="12700">
            <a:solidFill>
              <a:srgbClr val="E8F1FB"/>
            </a:solidFill>
            <a:prstDash val="solid"/>
          </a:ln>
        </p:spPr>
      </p:sp>
      <p:pic>
        <p:nvPicPr>
          <p:cNvPr id="15" name="Image 0" descr="preencoded.png">    </p:cNvPr>
          <p:cNvPicPr>
            <a:picLocks noChangeAspect="1"/>
          </p:cNvPicPr>
          <p:nvPr/>
        </p:nvPicPr>
        <p:blipFill>
          <a:blip r:embed="rId1"/>
          <a:stretch>
            <a:fillRect/>
          </a:stretch>
        </p:blipFill>
        <p:spPr>
          <a:xfrm>
            <a:off x="5048402" y="1390802"/>
            <a:ext cx="281635" cy="281635"/>
          </a:xfrm>
          <a:prstGeom prst="rect">
            <a:avLst/>
          </a:prstGeom>
        </p:spPr>
      </p:pic>
      <p:sp>
        <p:nvSpPr>
          <p:cNvPr id="16" name="Text 13"/>
          <p:cNvSpPr/>
          <p:nvPr/>
        </p:nvSpPr>
        <p:spPr>
          <a:xfrm>
            <a:off x="5577840" y="1298448"/>
            <a:ext cx="329184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Run by 7 IITs + IISc</a:t>
            </a:r>
            <a:endParaRPr lang="en-US" sz="1400" dirty="0"/>
          </a:p>
        </p:txBody>
      </p:sp>
      <p:sp>
        <p:nvSpPr>
          <p:cNvPr id="17" name="Text 14"/>
          <p:cNvSpPr/>
          <p:nvPr/>
        </p:nvSpPr>
        <p:spPr>
          <a:xfrm>
            <a:off x="5577840" y="1600200"/>
            <a:ext cx="329184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Bengaluru consortium</a:t>
            </a:r>
            <a:endParaRPr lang="en-US" sz="1100" dirty="0"/>
          </a:p>
        </p:txBody>
      </p:sp>
      <p:sp>
        <p:nvSpPr>
          <p:cNvPr id="18" name="Shape 15"/>
          <p:cNvSpPr/>
          <p:nvPr/>
        </p:nvSpPr>
        <p:spPr>
          <a:xfrm>
            <a:off x="4937760" y="2057400"/>
            <a:ext cx="502920" cy="502920"/>
          </a:xfrm>
          <a:prstGeom prst="ellipse">
            <a:avLst/>
          </a:prstGeom>
          <a:solidFill>
            <a:srgbClr val="E8F1FB"/>
          </a:solidFill>
          <a:ln w="12700">
            <a:solidFill>
              <a:srgbClr val="E8F1FB"/>
            </a:solidFill>
            <a:prstDash val="solid"/>
          </a:ln>
        </p:spPr>
      </p:sp>
      <p:pic>
        <p:nvPicPr>
          <p:cNvPr id="19" name="Image 1" descr="preencoded.png">    </p:cNvPr>
          <p:cNvPicPr>
            <a:picLocks noChangeAspect="1"/>
          </p:cNvPicPr>
          <p:nvPr/>
        </p:nvPicPr>
        <p:blipFill>
          <a:blip r:embed="rId2"/>
          <a:stretch>
            <a:fillRect/>
          </a:stretch>
        </p:blipFill>
        <p:spPr>
          <a:xfrm>
            <a:off x="5048402" y="2168042"/>
            <a:ext cx="281635" cy="281635"/>
          </a:xfrm>
          <a:prstGeom prst="rect">
            <a:avLst/>
          </a:prstGeom>
        </p:spPr>
      </p:pic>
      <p:sp>
        <p:nvSpPr>
          <p:cNvPr id="20" name="Text 16"/>
          <p:cNvSpPr/>
          <p:nvPr/>
        </p:nvSpPr>
        <p:spPr>
          <a:xfrm>
            <a:off x="5577840" y="2075688"/>
            <a:ext cx="329184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Video-based courses</a:t>
            </a:r>
            <a:endParaRPr lang="en-US" sz="1400" dirty="0"/>
          </a:p>
        </p:txBody>
      </p:sp>
      <p:sp>
        <p:nvSpPr>
          <p:cNvPr id="21" name="Text 17"/>
          <p:cNvSpPr/>
          <p:nvPr/>
        </p:nvSpPr>
        <p:spPr>
          <a:xfrm>
            <a:off x="5577840" y="2377440"/>
            <a:ext cx="329184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Taught by IIT professors</a:t>
            </a:r>
            <a:endParaRPr lang="en-US" sz="1100" dirty="0"/>
          </a:p>
        </p:txBody>
      </p:sp>
      <p:sp>
        <p:nvSpPr>
          <p:cNvPr id="22" name="Shape 18"/>
          <p:cNvSpPr/>
          <p:nvPr/>
        </p:nvSpPr>
        <p:spPr>
          <a:xfrm>
            <a:off x="4937760" y="2834640"/>
            <a:ext cx="502920" cy="502920"/>
          </a:xfrm>
          <a:prstGeom prst="ellipse">
            <a:avLst/>
          </a:prstGeom>
          <a:solidFill>
            <a:srgbClr val="E8F1FB"/>
          </a:solidFill>
          <a:ln w="12700">
            <a:solidFill>
              <a:srgbClr val="E8F1FB"/>
            </a:solidFill>
            <a:prstDash val="solid"/>
          </a:ln>
        </p:spPr>
      </p:sp>
      <p:pic>
        <p:nvPicPr>
          <p:cNvPr id="23" name="Image 2" descr="preencoded.png">    </p:cNvPr>
          <p:cNvPicPr>
            <a:picLocks noChangeAspect="1"/>
          </p:cNvPicPr>
          <p:nvPr/>
        </p:nvPicPr>
        <p:blipFill>
          <a:blip r:embed="rId3"/>
          <a:stretch>
            <a:fillRect/>
          </a:stretch>
        </p:blipFill>
        <p:spPr>
          <a:xfrm>
            <a:off x="5048402" y="2945282"/>
            <a:ext cx="281635" cy="281635"/>
          </a:xfrm>
          <a:prstGeom prst="rect">
            <a:avLst/>
          </a:prstGeom>
        </p:spPr>
      </p:pic>
      <p:sp>
        <p:nvSpPr>
          <p:cNvPr id="24" name="Text 19"/>
          <p:cNvSpPr/>
          <p:nvPr/>
        </p:nvSpPr>
        <p:spPr>
          <a:xfrm>
            <a:off x="5577840" y="2852928"/>
            <a:ext cx="329184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Industry-recognized certificates</a:t>
            </a:r>
            <a:endParaRPr lang="en-US" sz="1400" dirty="0"/>
          </a:p>
        </p:txBody>
      </p:sp>
      <p:sp>
        <p:nvSpPr>
          <p:cNvPr id="25" name="Text 20"/>
          <p:cNvSpPr/>
          <p:nvPr/>
        </p:nvSpPr>
        <p:spPr>
          <a:xfrm>
            <a:off x="5577840" y="3154680"/>
            <a:ext cx="329184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Post proctored exam</a:t>
            </a:r>
            <a:endParaRPr lang="en-US" sz="1100" dirty="0"/>
          </a:p>
        </p:txBody>
      </p:sp>
      <p:sp>
        <p:nvSpPr>
          <p:cNvPr id="26" name="Shape 21"/>
          <p:cNvSpPr/>
          <p:nvPr/>
        </p:nvSpPr>
        <p:spPr>
          <a:xfrm>
            <a:off x="4937760" y="3611880"/>
            <a:ext cx="502920" cy="502920"/>
          </a:xfrm>
          <a:prstGeom prst="ellipse">
            <a:avLst/>
          </a:prstGeom>
          <a:solidFill>
            <a:srgbClr val="E8F1FB"/>
          </a:solidFill>
          <a:ln w="12700">
            <a:solidFill>
              <a:srgbClr val="E8F1FB"/>
            </a:solidFill>
            <a:prstDash val="solid"/>
          </a:ln>
        </p:spPr>
      </p:sp>
      <p:pic>
        <p:nvPicPr>
          <p:cNvPr id="27" name="Image 3" descr="preencoded.png">    </p:cNvPr>
          <p:cNvPicPr>
            <a:picLocks noChangeAspect="1"/>
          </p:cNvPicPr>
          <p:nvPr/>
        </p:nvPicPr>
        <p:blipFill>
          <a:blip r:embed="rId4"/>
          <a:stretch>
            <a:fillRect/>
          </a:stretch>
        </p:blipFill>
        <p:spPr>
          <a:xfrm>
            <a:off x="5048402" y="3722522"/>
            <a:ext cx="281635" cy="281635"/>
          </a:xfrm>
          <a:prstGeom prst="rect">
            <a:avLst/>
          </a:prstGeom>
        </p:spPr>
      </p:pic>
      <p:sp>
        <p:nvSpPr>
          <p:cNvPr id="28" name="Text 22"/>
          <p:cNvSpPr/>
          <p:nvPr/>
        </p:nvSpPr>
        <p:spPr>
          <a:xfrm>
            <a:off x="5577840" y="3630168"/>
            <a:ext cx="329184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Open to everyone</a:t>
            </a:r>
            <a:endParaRPr lang="en-US" sz="1400" dirty="0"/>
          </a:p>
        </p:txBody>
      </p:sp>
      <p:sp>
        <p:nvSpPr>
          <p:cNvPr id="29" name="Text 23"/>
          <p:cNvSpPr/>
          <p:nvPr/>
        </p:nvSpPr>
        <p:spPr>
          <a:xfrm>
            <a:off x="5577840" y="3931920"/>
            <a:ext cx="329184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Anytime, anywhere, free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MISSION</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Why IITs Created NPTEL</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4</a:t>
            </a:r>
            <a:endParaRPr lang="en-US" sz="900" dirty="0"/>
          </a:p>
        </p:txBody>
      </p:sp>
      <p:sp>
        <p:nvSpPr>
          <p:cNvPr id="9" name="Shape 7"/>
          <p:cNvSpPr/>
          <p:nvPr/>
        </p:nvSpPr>
        <p:spPr>
          <a:xfrm>
            <a:off x="434340" y="1371600"/>
            <a:ext cx="1965960" cy="2743200"/>
          </a:xfrm>
          <a:prstGeom prst="roundRect">
            <a:avLst>
              <a:gd name="adj" fmla="val 372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434340" y="1371600"/>
            <a:ext cx="1965960" cy="73152"/>
          </a:xfrm>
          <a:prstGeom prst="rect">
            <a:avLst/>
          </a:prstGeom>
          <a:solidFill>
            <a:srgbClr val="F97316"/>
          </a:solidFill>
          <a:ln w="12700">
            <a:solidFill>
              <a:srgbClr val="F97316"/>
            </a:solidFill>
            <a:prstDash val="solid"/>
          </a:ln>
        </p:spPr>
      </p:sp>
      <p:sp>
        <p:nvSpPr>
          <p:cNvPr id="11" name="Shape 9"/>
          <p:cNvSpPr/>
          <p:nvPr/>
        </p:nvSpPr>
        <p:spPr>
          <a:xfrm>
            <a:off x="1005840" y="1691640"/>
            <a:ext cx="822960" cy="822960"/>
          </a:xfrm>
          <a:prstGeom prst="ellipse">
            <a:avLst/>
          </a:prstGeom>
          <a:solidFill>
            <a:srgbClr val="E8F1FB"/>
          </a:solidFill>
          <a:ln w="12700">
            <a:solidFill>
              <a:srgbClr val="E8F1FB"/>
            </a:solidFill>
            <a:prstDash val="solid"/>
          </a:ln>
        </p:spPr>
      </p:sp>
      <p:pic>
        <p:nvPicPr>
          <p:cNvPr id="12" name="Image 0" descr="preencoded.png">    </p:cNvPr>
          <p:cNvPicPr>
            <a:picLocks noChangeAspect="1"/>
          </p:cNvPicPr>
          <p:nvPr/>
        </p:nvPicPr>
        <p:blipFill>
          <a:blip r:embed="rId1"/>
          <a:stretch>
            <a:fillRect/>
          </a:stretch>
        </p:blipFill>
        <p:spPr>
          <a:xfrm>
            <a:off x="1186891" y="1872691"/>
            <a:ext cx="460858" cy="460858"/>
          </a:xfrm>
          <a:prstGeom prst="rect">
            <a:avLst/>
          </a:prstGeom>
        </p:spPr>
      </p:pic>
      <p:sp>
        <p:nvSpPr>
          <p:cNvPr id="13" name="Text 10"/>
          <p:cNvSpPr/>
          <p:nvPr/>
        </p:nvSpPr>
        <p:spPr>
          <a:xfrm>
            <a:off x="571500" y="2651760"/>
            <a:ext cx="1691640" cy="64008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Quality Education for All</a:t>
            </a:r>
            <a:endParaRPr lang="en-US" sz="1400" dirty="0"/>
          </a:p>
        </p:txBody>
      </p:sp>
      <p:sp>
        <p:nvSpPr>
          <p:cNvPr id="14" name="Text 11"/>
          <p:cNvSpPr/>
          <p:nvPr/>
        </p:nvSpPr>
        <p:spPr>
          <a:xfrm>
            <a:off x="571500" y="3291840"/>
            <a:ext cx="1691640" cy="731520"/>
          </a:xfrm>
          <a:prstGeom prst="rect">
            <a:avLst/>
          </a:prstGeom>
          <a:noFill/>
          <a:ln/>
        </p:spPr>
        <p:txBody>
          <a:bodyPr wrap="square" lIns="0" tIns="0" rIns="0" bIns="0" rtlCol="0" anchor="ctr"/>
          <a:lstStyle/>
          <a:p>
            <a:pPr algn="ctr" indent="0" marL="0">
              <a:buNone/>
            </a:pPr>
            <a:r>
              <a:rPr lang="en-US" sz="1050" dirty="0">
                <a:solidFill>
                  <a:srgbClr val="6B7280"/>
                </a:solidFill>
                <a:latin typeface="Segoe UI" pitchFamily="34" charset="0"/>
                <a:ea typeface="Segoe UI" pitchFamily="34" charset="-122"/>
                <a:cs typeface="Segoe UI" pitchFamily="34" charset="-120"/>
              </a:rPr>
              <a:t>Bring IIT-grade teaching to every student.</a:t>
            </a:r>
            <a:endParaRPr lang="en-US" sz="1050" dirty="0"/>
          </a:p>
        </p:txBody>
      </p:sp>
      <p:sp>
        <p:nvSpPr>
          <p:cNvPr id="15" name="Shape 12"/>
          <p:cNvSpPr/>
          <p:nvPr/>
        </p:nvSpPr>
        <p:spPr>
          <a:xfrm>
            <a:off x="2537460" y="1371600"/>
            <a:ext cx="1965960" cy="2743200"/>
          </a:xfrm>
          <a:prstGeom prst="roundRect">
            <a:avLst>
              <a:gd name="adj" fmla="val 372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6" name="Shape 13"/>
          <p:cNvSpPr/>
          <p:nvPr/>
        </p:nvSpPr>
        <p:spPr>
          <a:xfrm>
            <a:off x="2537460" y="1371600"/>
            <a:ext cx="1965960" cy="73152"/>
          </a:xfrm>
          <a:prstGeom prst="rect">
            <a:avLst/>
          </a:prstGeom>
          <a:solidFill>
            <a:srgbClr val="F97316"/>
          </a:solidFill>
          <a:ln w="12700">
            <a:solidFill>
              <a:srgbClr val="F97316"/>
            </a:solidFill>
            <a:prstDash val="solid"/>
          </a:ln>
        </p:spPr>
      </p:sp>
      <p:sp>
        <p:nvSpPr>
          <p:cNvPr id="17" name="Shape 14"/>
          <p:cNvSpPr/>
          <p:nvPr/>
        </p:nvSpPr>
        <p:spPr>
          <a:xfrm>
            <a:off x="3108960" y="1691640"/>
            <a:ext cx="822960" cy="822960"/>
          </a:xfrm>
          <a:prstGeom prst="ellipse">
            <a:avLst/>
          </a:prstGeom>
          <a:solidFill>
            <a:srgbClr val="E8F1FB"/>
          </a:solidFill>
          <a:ln w="12700">
            <a:solidFill>
              <a:srgbClr val="E8F1FB"/>
            </a:solidFill>
            <a:prstDash val="solid"/>
          </a:ln>
        </p:spPr>
      </p:sp>
      <p:pic>
        <p:nvPicPr>
          <p:cNvPr id="18" name="Image 1" descr="preencoded.png">    </p:cNvPr>
          <p:cNvPicPr>
            <a:picLocks noChangeAspect="1"/>
          </p:cNvPicPr>
          <p:nvPr/>
        </p:nvPicPr>
        <p:blipFill>
          <a:blip r:embed="rId2"/>
          <a:stretch>
            <a:fillRect/>
          </a:stretch>
        </p:blipFill>
        <p:spPr>
          <a:xfrm>
            <a:off x="3290011" y="1872691"/>
            <a:ext cx="460858" cy="460858"/>
          </a:xfrm>
          <a:prstGeom prst="rect">
            <a:avLst/>
          </a:prstGeom>
        </p:spPr>
      </p:pic>
      <p:sp>
        <p:nvSpPr>
          <p:cNvPr id="19" name="Text 15"/>
          <p:cNvSpPr/>
          <p:nvPr/>
        </p:nvSpPr>
        <p:spPr>
          <a:xfrm>
            <a:off x="2674620" y="2651760"/>
            <a:ext cx="1691640" cy="64008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Bridge the Access Gap</a:t>
            </a:r>
            <a:endParaRPr lang="en-US" sz="1400" dirty="0"/>
          </a:p>
        </p:txBody>
      </p:sp>
      <p:sp>
        <p:nvSpPr>
          <p:cNvPr id="20" name="Text 16"/>
          <p:cNvSpPr/>
          <p:nvPr/>
        </p:nvSpPr>
        <p:spPr>
          <a:xfrm>
            <a:off x="2674620" y="3291840"/>
            <a:ext cx="1691640" cy="731520"/>
          </a:xfrm>
          <a:prstGeom prst="rect">
            <a:avLst/>
          </a:prstGeom>
          <a:noFill/>
          <a:ln/>
        </p:spPr>
        <p:txBody>
          <a:bodyPr wrap="square" lIns="0" tIns="0" rIns="0" bIns="0" rtlCol="0" anchor="ctr"/>
          <a:lstStyle/>
          <a:p>
            <a:pPr algn="ctr" indent="0" marL="0">
              <a:buNone/>
            </a:pPr>
            <a:r>
              <a:rPr lang="en-US" sz="1050" dirty="0">
                <a:solidFill>
                  <a:srgbClr val="6B7280"/>
                </a:solidFill>
                <a:latin typeface="Segoe UI" pitchFamily="34" charset="0"/>
                <a:ea typeface="Segoe UI" pitchFamily="34" charset="-122"/>
                <a:cs typeface="Segoe UI" pitchFamily="34" charset="-120"/>
              </a:rPr>
              <a:t>Reach Tier-2 and Tier-3 colleges.</a:t>
            </a:r>
            <a:endParaRPr lang="en-US" sz="1050" dirty="0"/>
          </a:p>
        </p:txBody>
      </p:sp>
      <p:sp>
        <p:nvSpPr>
          <p:cNvPr id="21" name="Shape 17"/>
          <p:cNvSpPr/>
          <p:nvPr/>
        </p:nvSpPr>
        <p:spPr>
          <a:xfrm>
            <a:off x="4640580" y="1371600"/>
            <a:ext cx="1965960" cy="2743200"/>
          </a:xfrm>
          <a:prstGeom prst="roundRect">
            <a:avLst>
              <a:gd name="adj" fmla="val 372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2" name="Shape 18"/>
          <p:cNvSpPr/>
          <p:nvPr/>
        </p:nvSpPr>
        <p:spPr>
          <a:xfrm>
            <a:off x="4640580" y="1371600"/>
            <a:ext cx="1965960" cy="73152"/>
          </a:xfrm>
          <a:prstGeom prst="rect">
            <a:avLst/>
          </a:prstGeom>
          <a:solidFill>
            <a:srgbClr val="F97316"/>
          </a:solidFill>
          <a:ln w="12700">
            <a:solidFill>
              <a:srgbClr val="F97316"/>
            </a:solidFill>
            <a:prstDash val="solid"/>
          </a:ln>
        </p:spPr>
      </p:sp>
      <p:sp>
        <p:nvSpPr>
          <p:cNvPr id="23" name="Shape 19"/>
          <p:cNvSpPr/>
          <p:nvPr/>
        </p:nvSpPr>
        <p:spPr>
          <a:xfrm>
            <a:off x="5212080" y="1691640"/>
            <a:ext cx="822960" cy="822960"/>
          </a:xfrm>
          <a:prstGeom prst="ellipse">
            <a:avLst/>
          </a:prstGeom>
          <a:solidFill>
            <a:srgbClr val="E8F1FB"/>
          </a:solidFill>
          <a:ln w="12700">
            <a:solidFill>
              <a:srgbClr val="E8F1FB"/>
            </a:solidFill>
            <a:prstDash val="solid"/>
          </a:ln>
        </p:spPr>
      </p:sp>
      <p:pic>
        <p:nvPicPr>
          <p:cNvPr id="24" name="Image 2" descr="preencoded.png">    </p:cNvPr>
          <p:cNvPicPr>
            <a:picLocks noChangeAspect="1"/>
          </p:cNvPicPr>
          <p:nvPr/>
        </p:nvPicPr>
        <p:blipFill>
          <a:blip r:embed="rId3"/>
          <a:stretch>
            <a:fillRect/>
          </a:stretch>
        </p:blipFill>
        <p:spPr>
          <a:xfrm>
            <a:off x="5393131" y="1872691"/>
            <a:ext cx="460858" cy="460858"/>
          </a:xfrm>
          <a:prstGeom prst="rect">
            <a:avLst/>
          </a:prstGeom>
        </p:spPr>
      </p:pic>
      <p:sp>
        <p:nvSpPr>
          <p:cNvPr id="25" name="Text 20"/>
          <p:cNvSpPr/>
          <p:nvPr/>
        </p:nvSpPr>
        <p:spPr>
          <a:xfrm>
            <a:off x="4777740" y="2651760"/>
            <a:ext cx="1691640" cy="64008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Meet Industry Skill Demand</a:t>
            </a:r>
            <a:endParaRPr lang="en-US" sz="1400" dirty="0"/>
          </a:p>
        </p:txBody>
      </p:sp>
      <p:sp>
        <p:nvSpPr>
          <p:cNvPr id="26" name="Text 21"/>
          <p:cNvSpPr/>
          <p:nvPr/>
        </p:nvSpPr>
        <p:spPr>
          <a:xfrm>
            <a:off x="4777740" y="3291840"/>
            <a:ext cx="1691640" cy="731520"/>
          </a:xfrm>
          <a:prstGeom prst="rect">
            <a:avLst/>
          </a:prstGeom>
          <a:noFill/>
          <a:ln/>
        </p:spPr>
        <p:txBody>
          <a:bodyPr wrap="square" lIns="0" tIns="0" rIns="0" bIns="0" rtlCol="0" anchor="ctr"/>
          <a:lstStyle/>
          <a:p>
            <a:pPr algn="ctr" indent="0" marL="0">
              <a:buNone/>
            </a:pPr>
            <a:r>
              <a:rPr lang="en-US" sz="1050" dirty="0">
                <a:solidFill>
                  <a:srgbClr val="6B7280"/>
                </a:solidFill>
                <a:latin typeface="Segoe UI" pitchFamily="34" charset="0"/>
                <a:ea typeface="Segoe UI" pitchFamily="34" charset="-122"/>
                <a:cs typeface="Segoe UI" pitchFamily="34" charset="-120"/>
              </a:rPr>
              <a:t>Align curriculum with real-world needs.</a:t>
            </a:r>
            <a:endParaRPr lang="en-US" sz="1050" dirty="0"/>
          </a:p>
        </p:txBody>
      </p:sp>
      <p:sp>
        <p:nvSpPr>
          <p:cNvPr id="27" name="Shape 22"/>
          <p:cNvSpPr/>
          <p:nvPr/>
        </p:nvSpPr>
        <p:spPr>
          <a:xfrm>
            <a:off x="6743700" y="1371600"/>
            <a:ext cx="1965960" cy="2743200"/>
          </a:xfrm>
          <a:prstGeom prst="roundRect">
            <a:avLst>
              <a:gd name="adj" fmla="val 372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8" name="Shape 23"/>
          <p:cNvSpPr/>
          <p:nvPr/>
        </p:nvSpPr>
        <p:spPr>
          <a:xfrm>
            <a:off x="6743700" y="1371600"/>
            <a:ext cx="1965960" cy="73152"/>
          </a:xfrm>
          <a:prstGeom prst="rect">
            <a:avLst/>
          </a:prstGeom>
          <a:solidFill>
            <a:srgbClr val="F97316"/>
          </a:solidFill>
          <a:ln w="12700">
            <a:solidFill>
              <a:srgbClr val="F97316"/>
            </a:solidFill>
            <a:prstDash val="solid"/>
          </a:ln>
        </p:spPr>
      </p:sp>
      <p:sp>
        <p:nvSpPr>
          <p:cNvPr id="29" name="Shape 24"/>
          <p:cNvSpPr/>
          <p:nvPr/>
        </p:nvSpPr>
        <p:spPr>
          <a:xfrm>
            <a:off x="7315200" y="1691640"/>
            <a:ext cx="822960" cy="822960"/>
          </a:xfrm>
          <a:prstGeom prst="ellipse">
            <a:avLst/>
          </a:prstGeom>
          <a:solidFill>
            <a:srgbClr val="E8F1FB"/>
          </a:solidFill>
          <a:ln w="12700">
            <a:solidFill>
              <a:srgbClr val="E8F1FB"/>
            </a:solidFill>
            <a:prstDash val="solid"/>
          </a:ln>
        </p:spPr>
      </p:sp>
      <p:pic>
        <p:nvPicPr>
          <p:cNvPr id="30" name="Image 3" descr="preencoded.png">    </p:cNvPr>
          <p:cNvPicPr>
            <a:picLocks noChangeAspect="1"/>
          </p:cNvPicPr>
          <p:nvPr/>
        </p:nvPicPr>
        <p:blipFill>
          <a:blip r:embed="rId4"/>
          <a:stretch>
            <a:fillRect/>
          </a:stretch>
        </p:blipFill>
        <p:spPr>
          <a:xfrm>
            <a:off x="7496251" y="1872691"/>
            <a:ext cx="460858" cy="460858"/>
          </a:xfrm>
          <a:prstGeom prst="rect">
            <a:avLst/>
          </a:prstGeom>
        </p:spPr>
      </p:pic>
      <p:sp>
        <p:nvSpPr>
          <p:cNvPr id="31" name="Text 25"/>
          <p:cNvSpPr/>
          <p:nvPr/>
        </p:nvSpPr>
        <p:spPr>
          <a:xfrm>
            <a:off x="6880860" y="2651760"/>
            <a:ext cx="1691640" cy="64008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Encourage Self-Learning</a:t>
            </a:r>
            <a:endParaRPr lang="en-US" sz="1400" dirty="0"/>
          </a:p>
        </p:txBody>
      </p:sp>
      <p:sp>
        <p:nvSpPr>
          <p:cNvPr id="32" name="Text 26"/>
          <p:cNvSpPr/>
          <p:nvPr/>
        </p:nvSpPr>
        <p:spPr>
          <a:xfrm>
            <a:off x="6880860" y="3291840"/>
            <a:ext cx="1691640" cy="731520"/>
          </a:xfrm>
          <a:prstGeom prst="rect">
            <a:avLst/>
          </a:prstGeom>
          <a:noFill/>
          <a:ln/>
        </p:spPr>
        <p:txBody>
          <a:bodyPr wrap="square" lIns="0" tIns="0" rIns="0" bIns="0" rtlCol="0" anchor="ctr"/>
          <a:lstStyle/>
          <a:p>
            <a:pPr algn="ctr" indent="0" marL="0">
              <a:buNone/>
            </a:pPr>
            <a:r>
              <a:rPr lang="en-US" sz="1050" dirty="0">
                <a:solidFill>
                  <a:srgbClr val="6B7280"/>
                </a:solidFill>
                <a:latin typeface="Segoe UI" pitchFamily="34" charset="0"/>
                <a:ea typeface="Segoe UI" pitchFamily="34" charset="-122"/>
                <a:cs typeface="Segoe UI" pitchFamily="34" charset="-120"/>
              </a:rPr>
              <a:t>Empower lifelong learners.</a:t>
            </a:r>
            <a:endParaRPr lang="en-US" sz="1050" dirty="0"/>
          </a:p>
        </p:txBody>
      </p:sp>
      <p:sp>
        <p:nvSpPr>
          <p:cNvPr id="33" name="Text 27"/>
          <p:cNvSpPr/>
          <p:nvPr/>
        </p:nvSpPr>
        <p:spPr>
          <a:xfrm>
            <a:off x="457200" y="4343400"/>
            <a:ext cx="8229600" cy="365760"/>
          </a:xfrm>
          <a:prstGeom prst="rect">
            <a:avLst/>
          </a:prstGeom>
          <a:noFill/>
          <a:ln/>
        </p:spPr>
        <p:txBody>
          <a:bodyPr wrap="square" lIns="0" tIns="0" rIns="0" bIns="0" rtlCol="0" anchor="ctr"/>
          <a:lstStyle/>
          <a:p>
            <a:pPr algn="ctr" indent="0" marL="0">
              <a:buNone/>
            </a:pPr>
            <a:r>
              <a:rPr lang="en-US" sz="1400" i="1" dirty="0">
                <a:solidFill>
                  <a:srgbClr val="F97316"/>
                </a:solidFill>
                <a:latin typeface="Segoe UI" pitchFamily="34" charset="0"/>
                <a:ea typeface="Segoe UI" pitchFamily="34" charset="-122"/>
                <a:cs typeface="Segoe UI" pitchFamily="34" charset="-120"/>
              </a:rPr>
              <a:t>Democratize world-class engineering education.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HOW IT FITS TOGETHER</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The NPTEL Ecosystem</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5</a:t>
            </a:r>
            <a:endParaRPr lang="en-US" sz="900" dirty="0"/>
          </a:p>
        </p:txBody>
      </p:sp>
      <p:sp>
        <p:nvSpPr>
          <p:cNvPr id="9" name="Shape 7"/>
          <p:cNvSpPr/>
          <p:nvPr/>
        </p:nvSpPr>
        <p:spPr>
          <a:xfrm>
            <a:off x="3886200" y="2240280"/>
            <a:ext cx="1371600" cy="1371600"/>
          </a:xfrm>
          <a:prstGeom prst="ellipse">
            <a:avLst/>
          </a:prstGeom>
          <a:solidFill>
            <a:srgbClr val="0B2A4A"/>
          </a:solidFill>
          <a:ln w="38100">
            <a:solidFill>
              <a:srgbClr val="F97316"/>
            </a:solidFill>
            <a:prstDash val="solid"/>
          </a:ln>
          <a:effectLst>
            <a:outerShdw sx="100000" sy="100000" kx="0" ky="0" algn="bl" rotWithShape="0" blurRad="127000" dist="25400" dir="5400000">
              <a:srgbClr val="000000">
                <a:alpha val="10000"/>
              </a:srgbClr>
            </a:outerShdw>
          </a:effectLst>
        </p:spPr>
      </p:sp>
      <p:sp>
        <p:nvSpPr>
          <p:cNvPr id="10" name="Text 8"/>
          <p:cNvSpPr/>
          <p:nvPr/>
        </p:nvSpPr>
        <p:spPr>
          <a:xfrm>
            <a:off x="3886200" y="2606040"/>
            <a:ext cx="13716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NPTEL</a:t>
            </a:r>
            <a:endParaRPr lang="en-US" sz="1600" dirty="0"/>
          </a:p>
        </p:txBody>
      </p:sp>
      <p:sp>
        <p:nvSpPr>
          <p:cNvPr id="11" name="Text 9"/>
          <p:cNvSpPr/>
          <p:nvPr/>
        </p:nvSpPr>
        <p:spPr>
          <a:xfrm>
            <a:off x="3886200" y="2971800"/>
            <a:ext cx="1371600" cy="274320"/>
          </a:xfrm>
          <a:prstGeom prst="rect">
            <a:avLst/>
          </a:prstGeom>
          <a:noFill/>
          <a:ln/>
        </p:spPr>
        <p:txBody>
          <a:bodyPr wrap="square" lIns="0" tIns="0" rIns="0" bIns="0" rtlCol="0" anchor="ctr"/>
          <a:lstStyle/>
          <a:p>
            <a:pPr algn="ctr" indent="0" marL="0">
              <a:buNone/>
            </a:pPr>
            <a:r>
              <a:rPr lang="en-US" sz="1000" dirty="0">
                <a:solidFill>
                  <a:srgbClr val="F97316"/>
                </a:solidFill>
                <a:latin typeface="Segoe UI" pitchFamily="34" charset="0"/>
                <a:ea typeface="Segoe UI" pitchFamily="34" charset="-122"/>
                <a:cs typeface="Segoe UI" pitchFamily="34" charset="-120"/>
              </a:rPr>
              <a:t>Ecosystem</a:t>
            </a:r>
            <a:endParaRPr lang="en-US" sz="1000" dirty="0"/>
          </a:p>
        </p:txBody>
      </p:sp>
      <p:sp>
        <p:nvSpPr>
          <p:cNvPr id="12" name="Shape 10"/>
          <p:cNvSpPr/>
          <p:nvPr/>
        </p:nvSpPr>
        <p:spPr>
          <a:xfrm>
            <a:off x="4572000" y="2926080"/>
            <a:ext cx="0" cy="-1593342"/>
          </a:xfrm>
          <a:prstGeom prst="line">
            <a:avLst/>
          </a:prstGeom>
          <a:noFill/>
          <a:ln w="12700">
            <a:solidFill>
              <a:srgbClr val="E5E7EB"/>
            </a:solidFill>
            <a:prstDash val="dash"/>
          </a:ln>
        </p:spPr>
      </p:sp>
      <p:sp>
        <p:nvSpPr>
          <p:cNvPr id="13" name="Shape 11"/>
          <p:cNvSpPr/>
          <p:nvPr/>
        </p:nvSpPr>
        <p:spPr>
          <a:xfrm>
            <a:off x="4023360" y="875538"/>
            <a:ext cx="1463040" cy="914400"/>
          </a:xfrm>
          <a:prstGeom prst="roundRect">
            <a:avLst>
              <a:gd name="adj" fmla="val 8000"/>
            </a:avLst>
          </a:prstGeom>
          <a:solidFill>
            <a:srgbClr val="F1F6FC"/>
          </a:solidFill>
          <a:ln w="12700">
            <a:solidFill>
              <a:srgbClr val="2E7CD6"/>
            </a:solidFill>
            <a:prstDash val="solid"/>
          </a:ln>
        </p:spPr>
      </p:sp>
      <p:sp>
        <p:nvSpPr>
          <p:cNvPr id="14" name="Shape 12"/>
          <p:cNvSpPr/>
          <p:nvPr/>
        </p:nvSpPr>
        <p:spPr>
          <a:xfrm>
            <a:off x="4526280" y="966978"/>
            <a:ext cx="457200" cy="457200"/>
          </a:xfrm>
          <a:prstGeom prst="ellipse">
            <a:avLst/>
          </a:prstGeom>
          <a:solidFill>
            <a:srgbClr val="FFFFFF"/>
          </a:solidFill>
          <a:ln w="12700">
            <a:solidFill>
              <a:srgbClr val="FFFFFF"/>
            </a:solidFill>
            <a:prstDash val="solid"/>
          </a:ln>
        </p:spPr>
      </p:sp>
      <p:pic>
        <p:nvPicPr>
          <p:cNvPr id="15" name="Image 0" descr="preencoded.png">    </p:cNvPr>
          <p:cNvPicPr>
            <a:picLocks noChangeAspect="1"/>
          </p:cNvPicPr>
          <p:nvPr/>
        </p:nvPicPr>
        <p:blipFill>
          <a:blip r:embed="rId1"/>
          <a:stretch>
            <a:fillRect/>
          </a:stretch>
        </p:blipFill>
        <p:spPr>
          <a:xfrm>
            <a:off x="4626864" y="1067562"/>
            <a:ext cx="256032" cy="256032"/>
          </a:xfrm>
          <a:prstGeom prst="rect">
            <a:avLst/>
          </a:prstGeom>
        </p:spPr>
      </p:pic>
      <p:sp>
        <p:nvSpPr>
          <p:cNvPr id="16" name="Text 13"/>
          <p:cNvSpPr/>
          <p:nvPr/>
        </p:nvSpPr>
        <p:spPr>
          <a:xfrm>
            <a:off x="4023360" y="1442466"/>
            <a:ext cx="1463040" cy="320040"/>
          </a:xfrm>
          <a:prstGeom prst="rect">
            <a:avLst/>
          </a:prstGeom>
          <a:noFill/>
          <a:ln/>
        </p:spPr>
        <p:txBody>
          <a:bodyPr wrap="square" lIns="0" tIns="0" rIns="0" bIns="0" rtlCol="0" anchor="ctr"/>
          <a:lstStyle/>
          <a:p>
            <a:pPr algn="ctr" indent="0" marL="0">
              <a:buNone/>
            </a:pPr>
            <a:r>
              <a:rPr lang="en-US" sz="1000" b="1" dirty="0">
                <a:solidFill>
                  <a:srgbClr val="0B2A4A"/>
                </a:solidFill>
                <a:latin typeface="Segoe UI" pitchFamily="34" charset="0"/>
                <a:ea typeface="Segoe UI" pitchFamily="34" charset="-122"/>
                <a:cs typeface="Segoe UI" pitchFamily="34" charset="-120"/>
              </a:rPr>
              <a:t>IITs + IISc</a:t>
            </a:r>
            <a:endParaRPr lang="en-US" sz="1000" dirty="0"/>
          </a:p>
        </p:txBody>
      </p:sp>
      <p:sp>
        <p:nvSpPr>
          <p:cNvPr id="17" name="Shape 14"/>
          <p:cNvSpPr/>
          <p:nvPr/>
        </p:nvSpPr>
        <p:spPr>
          <a:xfrm>
            <a:off x="4572000" y="2926080"/>
            <a:ext cx="1623382" cy="-796671"/>
          </a:xfrm>
          <a:prstGeom prst="line">
            <a:avLst/>
          </a:prstGeom>
          <a:noFill/>
          <a:ln w="12700">
            <a:solidFill>
              <a:srgbClr val="E5E7EB"/>
            </a:solidFill>
            <a:prstDash val="dash"/>
          </a:ln>
        </p:spPr>
      </p:sp>
      <p:sp>
        <p:nvSpPr>
          <p:cNvPr id="18" name="Shape 15"/>
          <p:cNvSpPr/>
          <p:nvPr/>
        </p:nvSpPr>
        <p:spPr>
          <a:xfrm>
            <a:off x="5646742" y="1672209"/>
            <a:ext cx="1463040" cy="914400"/>
          </a:xfrm>
          <a:prstGeom prst="roundRect">
            <a:avLst>
              <a:gd name="adj" fmla="val 8000"/>
            </a:avLst>
          </a:prstGeom>
          <a:solidFill>
            <a:srgbClr val="F1F6FC"/>
          </a:solidFill>
          <a:ln w="12700">
            <a:solidFill>
              <a:srgbClr val="2E7CD6"/>
            </a:solidFill>
            <a:prstDash val="solid"/>
          </a:ln>
        </p:spPr>
      </p:sp>
      <p:sp>
        <p:nvSpPr>
          <p:cNvPr id="19" name="Shape 16"/>
          <p:cNvSpPr/>
          <p:nvPr/>
        </p:nvSpPr>
        <p:spPr>
          <a:xfrm>
            <a:off x="6149662" y="1763649"/>
            <a:ext cx="457200" cy="457200"/>
          </a:xfrm>
          <a:prstGeom prst="ellipse">
            <a:avLst/>
          </a:prstGeom>
          <a:solidFill>
            <a:srgbClr val="FFFFFF"/>
          </a:solidFill>
          <a:ln w="12700">
            <a:solidFill>
              <a:srgbClr val="FFFFFF"/>
            </a:solidFill>
            <a:prstDash val="solid"/>
          </a:ln>
        </p:spPr>
      </p:sp>
      <p:pic>
        <p:nvPicPr>
          <p:cNvPr id="20" name="Image 1" descr="preencoded.png">    </p:cNvPr>
          <p:cNvPicPr>
            <a:picLocks noChangeAspect="1"/>
          </p:cNvPicPr>
          <p:nvPr/>
        </p:nvPicPr>
        <p:blipFill>
          <a:blip r:embed="rId2"/>
          <a:stretch>
            <a:fillRect/>
          </a:stretch>
        </p:blipFill>
        <p:spPr>
          <a:xfrm>
            <a:off x="6250246" y="1864233"/>
            <a:ext cx="256032" cy="256032"/>
          </a:xfrm>
          <a:prstGeom prst="rect">
            <a:avLst/>
          </a:prstGeom>
        </p:spPr>
      </p:pic>
      <p:sp>
        <p:nvSpPr>
          <p:cNvPr id="21" name="Text 17"/>
          <p:cNvSpPr/>
          <p:nvPr/>
        </p:nvSpPr>
        <p:spPr>
          <a:xfrm>
            <a:off x="5646742" y="2239137"/>
            <a:ext cx="1463040" cy="320040"/>
          </a:xfrm>
          <a:prstGeom prst="rect">
            <a:avLst/>
          </a:prstGeom>
          <a:noFill/>
          <a:ln/>
        </p:spPr>
        <p:txBody>
          <a:bodyPr wrap="square" lIns="0" tIns="0" rIns="0" bIns="0" rtlCol="0" anchor="ctr"/>
          <a:lstStyle/>
          <a:p>
            <a:pPr algn="ctr" indent="0" marL="0">
              <a:buNone/>
            </a:pPr>
            <a:r>
              <a:rPr lang="en-US" sz="1000" b="1" dirty="0">
                <a:solidFill>
                  <a:srgbClr val="0B2A4A"/>
                </a:solidFill>
                <a:latin typeface="Segoe UI" pitchFamily="34" charset="0"/>
                <a:ea typeface="Segoe UI" pitchFamily="34" charset="-122"/>
                <a:cs typeface="Segoe UI" pitchFamily="34" charset="-120"/>
              </a:rPr>
              <a:t>SWAYAM Platform</a:t>
            </a:r>
            <a:endParaRPr lang="en-US" sz="1000" dirty="0"/>
          </a:p>
        </p:txBody>
      </p:sp>
      <p:sp>
        <p:nvSpPr>
          <p:cNvPr id="22" name="Shape 18"/>
          <p:cNvSpPr/>
          <p:nvPr/>
        </p:nvSpPr>
        <p:spPr>
          <a:xfrm>
            <a:off x="4572000" y="2926080"/>
            <a:ext cx="1623382" cy="796671"/>
          </a:xfrm>
          <a:prstGeom prst="line">
            <a:avLst/>
          </a:prstGeom>
          <a:noFill/>
          <a:ln w="12700">
            <a:solidFill>
              <a:srgbClr val="E5E7EB"/>
            </a:solidFill>
            <a:prstDash val="dash"/>
          </a:ln>
        </p:spPr>
      </p:sp>
      <p:sp>
        <p:nvSpPr>
          <p:cNvPr id="23" name="Shape 19"/>
          <p:cNvSpPr/>
          <p:nvPr/>
        </p:nvSpPr>
        <p:spPr>
          <a:xfrm>
            <a:off x="5646742" y="3265551"/>
            <a:ext cx="1463040" cy="914400"/>
          </a:xfrm>
          <a:prstGeom prst="roundRect">
            <a:avLst>
              <a:gd name="adj" fmla="val 8000"/>
            </a:avLst>
          </a:prstGeom>
          <a:solidFill>
            <a:srgbClr val="F1F6FC"/>
          </a:solidFill>
          <a:ln w="12700">
            <a:solidFill>
              <a:srgbClr val="2E7CD6"/>
            </a:solidFill>
            <a:prstDash val="solid"/>
          </a:ln>
        </p:spPr>
      </p:sp>
      <p:sp>
        <p:nvSpPr>
          <p:cNvPr id="24" name="Shape 20"/>
          <p:cNvSpPr/>
          <p:nvPr/>
        </p:nvSpPr>
        <p:spPr>
          <a:xfrm>
            <a:off x="6149662" y="3356991"/>
            <a:ext cx="457200" cy="457200"/>
          </a:xfrm>
          <a:prstGeom prst="ellipse">
            <a:avLst/>
          </a:prstGeom>
          <a:solidFill>
            <a:srgbClr val="FFFFFF"/>
          </a:solidFill>
          <a:ln w="12700">
            <a:solidFill>
              <a:srgbClr val="FFFFFF"/>
            </a:solidFill>
            <a:prstDash val="solid"/>
          </a:ln>
        </p:spPr>
      </p:sp>
      <p:pic>
        <p:nvPicPr>
          <p:cNvPr id="25" name="Image 2" descr="preencoded.png">    </p:cNvPr>
          <p:cNvPicPr>
            <a:picLocks noChangeAspect="1"/>
          </p:cNvPicPr>
          <p:nvPr/>
        </p:nvPicPr>
        <p:blipFill>
          <a:blip r:embed="rId3"/>
          <a:stretch>
            <a:fillRect/>
          </a:stretch>
        </p:blipFill>
        <p:spPr>
          <a:xfrm>
            <a:off x="6250246" y="3457575"/>
            <a:ext cx="256032" cy="256032"/>
          </a:xfrm>
          <a:prstGeom prst="rect">
            <a:avLst/>
          </a:prstGeom>
        </p:spPr>
      </p:pic>
      <p:sp>
        <p:nvSpPr>
          <p:cNvPr id="26" name="Text 21"/>
          <p:cNvSpPr/>
          <p:nvPr/>
        </p:nvSpPr>
        <p:spPr>
          <a:xfrm>
            <a:off x="5646742" y="3832479"/>
            <a:ext cx="1463040" cy="320040"/>
          </a:xfrm>
          <a:prstGeom prst="rect">
            <a:avLst/>
          </a:prstGeom>
          <a:noFill/>
          <a:ln/>
        </p:spPr>
        <p:txBody>
          <a:bodyPr wrap="square" lIns="0" tIns="0" rIns="0" bIns="0" rtlCol="0" anchor="ctr"/>
          <a:lstStyle/>
          <a:p>
            <a:pPr algn="ctr" indent="0" marL="0">
              <a:buNone/>
            </a:pPr>
            <a:r>
              <a:rPr lang="en-US" sz="1000" b="1" dirty="0">
                <a:solidFill>
                  <a:srgbClr val="0B2A4A"/>
                </a:solidFill>
                <a:latin typeface="Segoe UI" pitchFamily="34" charset="0"/>
                <a:ea typeface="Segoe UI" pitchFamily="34" charset="-122"/>
                <a:cs typeface="Segoe UI" pitchFamily="34" charset="-120"/>
              </a:rPr>
              <a:t>Certification</a:t>
            </a:r>
            <a:endParaRPr lang="en-US" sz="1000" dirty="0"/>
          </a:p>
        </p:txBody>
      </p:sp>
      <p:sp>
        <p:nvSpPr>
          <p:cNvPr id="27" name="Shape 22"/>
          <p:cNvSpPr/>
          <p:nvPr/>
        </p:nvSpPr>
        <p:spPr>
          <a:xfrm>
            <a:off x="4572000" y="2926080"/>
            <a:ext cx="0" cy="1593342"/>
          </a:xfrm>
          <a:prstGeom prst="line">
            <a:avLst/>
          </a:prstGeom>
          <a:noFill/>
          <a:ln w="12700">
            <a:solidFill>
              <a:srgbClr val="E5E7EB"/>
            </a:solidFill>
            <a:prstDash val="dash"/>
          </a:ln>
        </p:spPr>
      </p:sp>
      <p:sp>
        <p:nvSpPr>
          <p:cNvPr id="28" name="Shape 23"/>
          <p:cNvSpPr/>
          <p:nvPr/>
        </p:nvSpPr>
        <p:spPr>
          <a:xfrm>
            <a:off x="4023360" y="4062222"/>
            <a:ext cx="1463040" cy="914400"/>
          </a:xfrm>
          <a:prstGeom prst="roundRect">
            <a:avLst>
              <a:gd name="adj" fmla="val 8000"/>
            </a:avLst>
          </a:prstGeom>
          <a:solidFill>
            <a:srgbClr val="F1F6FC"/>
          </a:solidFill>
          <a:ln w="12700">
            <a:solidFill>
              <a:srgbClr val="2E7CD6"/>
            </a:solidFill>
            <a:prstDash val="solid"/>
          </a:ln>
        </p:spPr>
      </p:sp>
      <p:sp>
        <p:nvSpPr>
          <p:cNvPr id="29" name="Shape 24"/>
          <p:cNvSpPr/>
          <p:nvPr/>
        </p:nvSpPr>
        <p:spPr>
          <a:xfrm>
            <a:off x="4526280" y="4153662"/>
            <a:ext cx="457200" cy="457200"/>
          </a:xfrm>
          <a:prstGeom prst="ellipse">
            <a:avLst/>
          </a:prstGeom>
          <a:solidFill>
            <a:srgbClr val="FFFFFF"/>
          </a:solidFill>
          <a:ln w="12700">
            <a:solidFill>
              <a:srgbClr val="FFFFFF"/>
            </a:solidFill>
            <a:prstDash val="solid"/>
          </a:ln>
        </p:spPr>
      </p:sp>
      <p:pic>
        <p:nvPicPr>
          <p:cNvPr id="30" name="Image 3" descr="preencoded.png">    </p:cNvPr>
          <p:cNvPicPr>
            <a:picLocks noChangeAspect="1"/>
          </p:cNvPicPr>
          <p:nvPr/>
        </p:nvPicPr>
        <p:blipFill>
          <a:blip r:embed="rId4"/>
          <a:stretch>
            <a:fillRect/>
          </a:stretch>
        </p:blipFill>
        <p:spPr>
          <a:xfrm>
            <a:off x="4626864" y="4254246"/>
            <a:ext cx="256032" cy="256032"/>
          </a:xfrm>
          <a:prstGeom prst="rect">
            <a:avLst/>
          </a:prstGeom>
        </p:spPr>
      </p:pic>
      <p:sp>
        <p:nvSpPr>
          <p:cNvPr id="31" name="Text 25"/>
          <p:cNvSpPr/>
          <p:nvPr/>
        </p:nvSpPr>
        <p:spPr>
          <a:xfrm>
            <a:off x="4023360" y="4629150"/>
            <a:ext cx="1463040" cy="320040"/>
          </a:xfrm>
          <a:prstGeom prst="rect">
            <a:avLst/>
          </a:prstGeom>
          <a:noFill/>
          <a:ln/>
        </p:spPr>
        <p:txBody>
          <a:bodyPr wrap="square" lIns="0" tIns="0" rIns="0" bIns="0" rtlCol="0" anchor="ctr"/>
          <a:lstStyle/>
          <a:p>
            <a:pPr algn="ctr" indent="0" marL="0">
              <a:buNone/>
            </a:pPr>
            <a:r>
              <a:rPr lang="en-US" sz="1000" b="1" dirty="0">
                <a:solidFill>
                  <a:srgbClr val="0B2A4A"/>
                </a:solidFill>
                <a:latin typeface="Segoe UI" pitchFamily="34" charset="0"/>
                <a:ea typeface="Segoe UI" pitchFamily="34" charset="-122"/>
                <a:cs typeface="Segoe UI" pitchFamily="34" charset="-120"/>
              </a:rPr>
              <a:t>Local Chapter</a:t>
            </a:r>
            <a:endParaRPr lang="en-US" sz="1000" dirty="0"/>
          </a:p>
        </p:txBody>
      </p:sp>
      <p:sp>
        <p:nvSpPr>
          <p:cNvPr id="32" name="Shape 26"/>
          <p:cNvSpPr/>
          <p:nvPr/>
        </p:nvSpPr>
        <p:spPr>
          <a:xfrm>
            <a:off x="4572000" y="2926080"/>
            <a:ext cx="-1623382" cy="796671"/>
          </a:xfrm>
          <a:prstGeom prst="line">
            <a:avLst/>
          </a:prstGeom>
          <a:noFill/>
          <a:ln w="12700">
            <a:solidFill>
              <a:srgbClr val="E5E7EB"/>
            </a:solidFill>
            <a:prstDash val="dash"/>
          </a:ln>
        </p:spPr>
      </p:sp>
      <p:sp>
        <p:nvSpPr>
          <p:cNvPr id="33" name="Shape 27"/>
          <p:cNvSpPr/>
          <p:nvPr/>
        </p:nvSpPr>
        <p:spPr>
          <a:xfrm>
            <a:off x="2399978" y="3265551"/>
            <a:ext cx="1463040" cy="914400"/>
          </a:xfrm>
          <a:prstGeom prst="roundRect">
            <a:avLst>
              <a:gd name="adj" fmla="val 8000"/>
            </a:avLst>
          </a:prstGeom>
          <a:solidFill>
            <a:srgbClr val="F1F6FC"/>
          </a:solidFill>
          <a:ln w="12700">
            <a:solidFill>
              <a:srgbClr val="2E7CD6"/>
            </a:solidFill>
            <a:prstDash val="solid"/>
          </a:ln>
        </p:spPr>
      </p:sp>
      <p:sp>
        <p:nvSpPr>
          <p:cNvPr id="34" name="Shape 28"/>
          <p:cNvSpPr/>
          <p:nvPr/>
        </p:nvSpPr>
        <p:spPr>
          <a:xfrm>
            <a:off x="2902898" y="3356991"/>
            <a:ext cx="457200" cy="457200"/>
          </a:xfrm>
          <a:prstGeom prst="ellipse">
            <a:avLst/>
          </a:prstGeom>
          <a:solidFill>
            <a:srgbClr val="FFFFFF"/>
          </a:solidFill>
          <a:ln w="12700">
            <a:solidFill>
              <a:srgbClr val="FFFFFF"/>
            </a:solidFill>
            <a:prstDash val="solid"/>
          </a:ln>
        </p:spPr>
      </p:sp>
      <p:pic>
        <p:nvPicPr>
          <p:cNvPr id="35" name="Image 4" descr="preencoded.png">    </p:cNvPr>
          <p:cNvPicPr>
            <a:picLocks noChangeAspect="1"/>
          </p:cNvPicPr>
          <p:nvPr/>
        </p:nvPicPr>
        <p:blipFill>
          <a:blip r:embed="rId5"/>
          <a:stretch>
            <a:fillRect/>
          </a:stretch>
        </p:blipFill>
        <p:spPr>
          <a:xfrm>
            <a:off x="3003482" y="3457575"/>
            <a:ext cx="256032" cy="256032"/>
          </a:xfrm>
          <a:prstGeom prst="rect">
            <a:avLst/>
          </a:prstGeom>
        </p:spPr>
      </p:pic>
      <p:sp>
        <p:nvSpPr>
          <p:cNvPr id="36" name="Text 29"/>
          <p:cNvSpPr/>
          <p:nvPr/>
        </p:nvSpPr>
        <p:spPr>
          <a:xfrm>
            <a:off x="2399978" y="3832479"/>
            <a:ext cx="1463040" cy="320040"/>
          </a:xfrm>
          <a:prstGeom prst="rect">
            <a:avLst/>
          </a:prstGeom>
          <a:noFill/>
          <a:ln/>
        </p:spPr>
        <p:txBody>
          <a:bodyPr wrap="square" lIns="0" tIns="0" rIns="0" bIns="0" rtlCol="0" anchor="ctr"/>
          <a:lstStyle/>
          <a:p>
            <a:pPr algn="ctr" indent="0" marL="0">
              <a:buNone/>
            </a:pPr>
            <a:r>
              <a:rPr lang="en-US" sz="1000" b="1" dirty="0">
                <a:solidFill>
                  <a:srgbClr val="0B2A4A"/>
                </a:solidFill>
                <a:latin typeface="Segoe UI" pitchFamily="34" charset="0"/>
                <a:ea typeface="Segoe UI" pitchFamily="34" charset="-122"/>
                <a:cs typeface="Segoe UI" pitchFamily="34" charset="-120"/>
              </a:rPr>
              <a:t>Industry Partners</a:t>
            </a:r>
            <a:endParaRPr lang="en-US" sz="1000" dirty="0"/>
          </a:p>
        </p:txBody>
      </p:sp>
      <p:sp>
        <p:nvSpPr>
          <p:cNvPr id="37" name="Shape 30"/>
          <p:cNvSpPr/>
          <p:nvPr/>
        </p:nvSpPr>
        <p:spPr>
          <a:xfrm>
            <a:off x="4572000" y="2926080"/>
            <a:ext cx="-1623382" cy="-796671"/>
          </a:xfrm>
          <a:prstGeom prst="line">
            <a:avLst/>
          </a:prstGeom>
          <a:noFill/>
          <a:ln w="12700">
            <a:solidFill>
              <a:srgbClr val="E5E7EB"/>
            </a:solidFill>
            <a:prstDash val="dash"/>
          </a:ln>
        </p:spPr>
      </p:sp>
      <p:sp>
        <p:nvSpPr>
          <p:cNvPr id="38" name="Shape 31"/>
          <p:cNvSpPr/>
          <p:nvPr/>
        </p:nvSpPr>
        <p:spPr>
          <a:xfrm>
            <a:off x="2399978" y="1672209"/>
            <a:ext cx="1463040" cy="914400"/>
          </a:xfrm>
          <a:prstGeom prst="roundRect">
            <a:avLst>
              <a:gd name="adj" fmla="val 8000"/>
            </a:avLst>
          </a:prstGeom>
          <a:solidFill>
            <a:srgbClr val="F1F6FC"/>
          </a:solidFill>
          <a:ln w="12700">
            <a:solidFill>
              <a:srgbClr val="2E7CD6"/>
            </a:solidFill>
            <a:prstDash val="solid"/>
          </a:ln>
        </p:spPr>
      </p:sp>
      <p:sp>
        <p:nvSpPr>
          <p:cNvPr id="39" name="Shape 32"/>
          <p:cNvSpPr/>
          <p:nvPr/>
        </p:nvSpPr>
        <p:spPr>
          <a:xfrm>
            <a:off x="2902898" y="1763649"/>
            <a:ext cx="457200" cy="457200"/>
          </a:xfrm>
          <a:prstGeom prst="ellipse">
            <a:avLst/>
          </a:prstGeom>
          <a:solidFill>
            <a:srgbClr val="FFFFFF"/>
          </a:solidFill>
          <a:ln w="12700">
            <a:solidFill>
              <a:srgbClr val="FFFFFF"/>
            </a:solidFill>
            <a:prstDash val="solid"/>
          </a:ln>
        </p:spPr>
      </p:sp>
      <p:pic>
        <p:nvPicPr>
          <p:cNvPr id="40" name="Image 5" descr="preencoded.png">    </p:cNvPr>
          <p:cNvPicPr>
            <a:picLocks noChangeAspect="1"/>
          </p:cNvPicPr>
          <p:nvPr/>
        </p:nvPicPr>
        <p:blipFill>
          <a:blip r:embed="rId6"/>
          <a:stretch>
            <a:fillRect/>
          </a:stretch>
        </p:blipFill>
        <p:spPr>
          <a:xfrm>
            <a:off x="3003482" y="1864233"/>
            <a:ext cx="256032" cy="256032"/>
          </a:xfrm>
          <a:prstGeom prst="rect">
            <a:avLst/>
          </a:prstGeom>
        </p:spPr>
      </p:pic>
      <p:sp>
        <p:nvSpPr>
          <p:cNvPr id="41" name="Text 33"/>
          <p:cNvSpPr/>
          <p:nvPr/>
        </p:nvSpPr>
        <p:spPr>
          <a:xfrm>
            <a:off x="2399978" y="2239137"/>
            <a:ext cx="1463040" cy="320040"/>
          </a:xfrm>
          <a:prstGeom prst="rect">
            <a:avLst/>
          </a:prstGeom>
          <a:noFill/>
          <a:ln/>
        </p:spPr>
        <p:txBody>
          <a:bodyPr wrap="square" lIns="0" tIns="0" rIns="0" bIns="0" rtlCol="0" anchor="ctr"/>
          <a:lstStyle/>
          <a:p>
            <a:pPr algn="ctr" indent="0" marL="0">
              <a:buNone/>
            </a:pPr>
            <a:r>
              <a:rPr lang="en-US" sz="1000" b="1" dirty="0">
                <a:solidFill>
                  <a:srgbClr val="0B2A4A"/>
                </a:solidFill>
                <a:latin typeface="Segoe UI" pitchFamily="34" charset="0"/>
                <a:ea typeface="Segoe UI" pitchFamily="34" charset="-122"/>
                <a:cs typeface="Segoe UI" pitchFamily="34" charset="-120"/>
              </a:rPr>
              <a:t>Learners (30M+)</a:t>
            </a:r>
            <a:endParaRPr lang="en-US" sz="1000" dirty="0"/>
          </a:p>
        </p:txBody>
      </p:sp>
      <p:sp>
        <p:nvSpPr>
          <p:cNvPr id="42" name="Text 34"/>
          <p:cNvSpPr/>
          <p:nvPr/>
        </p:nvSpPr>
        <p:spPr>
          <a:xfrm>
            <a:off x="457200" y="1234440"/>
            <a:ext cx="8229600" cy="320040"/>
          </a:xfrm>
          <a:prstGeom prst="rect">
            <a:avLst/>
          </a:prstGeom>
          <a:noFill/>
          <a:ln/>
        </p:spPr>
        <p:txBody>
          <a:bodyPr wrap="square" lIns="0" tIns="0" rIns="0" bIns="0" rtlCol="0" anchor="ctr"/>
          <a:lstStyle/>
          <a:p>
            <a:pPr algn="ctr" indent="0" marL="0">
              <a:buNone/>
            </a:pPr>
            <a:r>
              <a:rPr lang="en-US" sz="1200" i="1" dirty="0">
                <a:solidFill>
                  <a:srgbClr val="6B7280"/>
                </a:solidFill>
                <a:latin typeface="Segoe UI" pitchFamily="34" charset="0"/>
                <a:ea typeface="Segoe UI" pitchFamily="34" charset="-122"/>
                <a:cs typeface="Segoe UI" pitchFamily="34" charset="-120"/>
              </a:rPr>
              <a:t>A collaboration of academia, government, industry and 30M+ learners.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NPTEL AT A GLANCE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Segoe UI" pitchFamily="34" charset="0"/>
                <a:ea typeface="Segoe UI" pitchFamily="34" charset="-122"/>
                <a:cs typeface="Segoe UI" pitchFamily="34" charset="-120"/>
              </a:rPr>
              <a:t>Numbers That Prove Its Impact</a:t>
            </a:r>
            <a:endParaRPr lang="en-US" sz="2600" dirty="0"/>
          </a:p>
        </p:txBody>
      </p:sp>
      <p:sp>
        <p:nvSpPr>
          <p:cNvPr id="5" name="Shape 3"/>
          <p:cNvSpPr/>
          <p:nvPr/>
        </p:nvSpPr>
        <p:spPr>
          <a:xfrm>
            <a:off x="457200" y="1097280"/>
            <a:ext cx="548640" cy="45720"/>
          </a:xfrm>
          <a:prstGeom prst="rect">
            <a:avLst/>
          </a:prstGeom>
          <a:solidFill>
            <a:srgbClr val="F97316"/>
          </a:solidFill>
          <a:ln w="12700">
            <a:solidFill>
              <a:srgbClr val="F97316"/>
            </a:solidFill>
            <a:prstDash val="solid"/>
          </a:ln>
        </p:spPr>
      </p:sp>
      <p:sp>
        <p:nvSpPr>
          <p:cNvPr id="6" name="Shape 4"/>
          <p:cNvSpPr/>
          <p:nvPr/>
        </p:nvSpPr>
        <p:spPr>
          <a:xfrm>
            <a:off x="457200" y="1417320"/>
            <a:ext cx="2651760" cy="1417320"/>
          </a:xfrm>
          <a:prstGeom prst="roundRect">
            <a:avLst>
              <a:gd name="adj" fmla="val 5161"/>
            </a:avLst>
          </a:prstGeom>
          <a:solidFill>
            <a:srgbClr val="1E4E8C"/>
          </a:solidFill>
          <a:ln w="12700">
            <a:solidFill>
              <a:srgbClr val="2E7CD6"/>
            </a:solidFill>
            <a:prstDash val="solid"/>
          </a:ln>
        </p:spPr>
      </p:sp>
      <p:sp>
        <p:nvSpPr>
          <p:cNvPr id="7" name="Shape 5"/>
          <p:cNvSpPr/>
          <p:nvPr/>
        </p:nvSpPr>
        <p:spPr>
          <a:xfrm>
            <a:off x="640080" y="1737360"/>
            <a:ext cx="777240" cy="777240"/>
          </a:xfrm>
          <a:prstGeom prst="ellipse">
            <a:avLst/>
          </a:prstGeom>
          <a:solidFill>
            <a:srgbClr val="F97316"/>
          </a:solidFill>
          <a:ln w="12700">
            <a:solidFill>
              <a:srgbClr val="F97316"/>
            </a:solidFill>
            <a:prstDash val="solid"/>
          </a:ln>
        </p:spPr>
      </p:sp>
      <p:pic>
        <p:nvPicPr>
          <p:cNvPr id="8" name="Image 0" descr="preencoded.png">    </p:cNvPr>
          <p:cNvPicPr>
            <a:picLocks noChangeAspect="1"/>
          </p:cNvPicPr>
          <p:nvPr/>
        </p:nvPicPr>
        <p:blipFill>
          <a:blip r:embed="rId1"/>
          <a:stretch>
            <a:fillRect/>
          </a:stretch>
        </p:blipFill>
        <p:spPr>
          <a:xfrm>
            <a:off x="811073" y="1908353"/>
            <a:ext cx="435254" cy="435254"/>
          </a:xfrm>
          <a:prstGeom prst="rect">
            <a:avLst/>
          </a:prstGeom>
        </p:spPr>
      </p:pic>
      <p:sp>
        <p:nvSpPr>
          <p:cNvPr id="9" name="Text 6"/>
          <p:cNvSpPr/>
          <p:nvPr/>
        </p:nvSpPr>
        <p:spPr>
          <a:xfrm>
            <a:off x="1508760" y="1645920"/>
            <a:ext cx="1508760" cy="594360"/>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600+</a:t>
            </a:r>
            <a:endParaRPr lang="en-US" sz="2800" dirty="0"/>
          </a:p>
        </p:txBody>
      </p:sp>
      <p:sp>
        <p:nvSpPr>
          <p:cNvPr id="10" name="Text 7"/>
          <p:cNvSpPr/>
          <p:nvPr/>
        </p:nvSpPr>
        <p:spPr>
          <a:xfrm>
            <a:off x="1508760" y="2240280"/>
            <a:ext cx="1508760" cy="457200"/>
          </a:xfrm>
          <a:prstGeom prst="rect">
            <a:avLst/>
          </a:prstGeom>
          <a:noFill/>
          <a:ln/>
        </p:spPr>
        <p:txBody>
          <a:bodyPr wrap="square" lIns="0" tIns="0" rIns="0" bIns="0" rtlCol="0" anchor="ctr"/>
          <a:lstStyle/>
          <a:p>
            <a:pPr indent="0" marL="0">
              <a:buNone/>
            </a:pPr>
            <a:r>
              <a:rPr lang="en-US" sz="1050" dirty="0">
                <a:solidFill>
                  <a:srgbClr val="E8F1FB"/>
                </a:solidFill>
                <a:latin typeface="Segoe UI" pitchFamily="34" charset="0"/>
                <a:ea typeface="Segoe UI" pitchFamily="34" charset="-122"/>
                <a:cs typeface="Segoe UI" pitchFamily="34" charset="-120"/>
              </a:rPr>
              <a:t>Courses Every Semester</a:t>
            </a:r>
            <a:endParaRPr lang="en-US" sz="1050" dirty="0"/>
          </a:p>
        </p:txBody>
      </p:sp>
      <p:sp>
        <p:nvSpPr>
          <p:cNvPr id="11" name="Shape 8"/>
          <p:cNvSpPr/>
          <p:nvPr/>
        </p:nvSpPr>
        <p:spPr>
          <a:xfrm>
            <a:off x="3246120" y="1417320"/>
            <a:ext cx="2651760" cy="1417320"/>
          </a:xfrm>
          <a:prstGeom prst="roundRect">
            <a:avLst>
              <a:gd name="adj" fmla="val 5161"/>
            </a:avLst>
          </a:prstGeom>
          <a:solidFill>
            <a:srgbClr val="1E4E8C"/>
          </a:solidFill>
          <a:ln w="12700">
            <a:solidFill>
              <a:srgbClr val="2E7CD6"/>
            </a:solidFill>
            <a:prstDash val="solid"/>
          </a:ln>
        </p:spPr>
      </p:sp>
      <p:sp>
        <p:nvSpPr>
          <p:cNvPr id="12" name="Shape 9"/>
          <p:cNvSpPr/>
          <p:nvPr/>
        </p:nvSpPr>
        <p:spPr>
          <a:xfrm>
            <a:off x="3429000" y="1737360"/>
            <a:ext cx="777240" cy="777240"/>
          </a:xfrm>
          <a:prstGeom prst="ellipse">
            <a:avLst/>
          </a:prstGeom>
          <a:solidFill>
            <a:srgbClr val="F97316"/>
          </a:solidFill>
          <a:ln w="12700">
            <a:solidFill>
              <a:srgbClr val="F97316"/>
            </a:solidFill>
            <a:prstDash val="solid"/>
          </a:ln>
        </p:spPr>
      </p:sp>
      <p:pic>
        <p:nvPicPr>
          <p:cNvPr id="13" name="Image 1" descr="preencoded.png">    </p:cNvPr>
          <p:cNvPicPr>
            <a:picLocks noChangeAspect="1"/>
          </p:cNvPicPr>
          <p:nvPr/>
        </p:nvPicPr>
        <p:blipFill>
          <a:blip r:embed="rId2"/>
          <a:stretch>
            <a:fillRect/>
          </a:stretch>
        </p:blipFill>
        <p:spPr>
          <a:xfrm>
            <a:off x="3599993" y="1908353"/>
            <a:ext cx="435254" cy="435254"/>
          </a:xfrm>
          <a:prstGeom prst="rect">
            <a:avLst/>
          </a:prstGeom>
        </p:spPr>
      </p:pic>
      <p:sp>
        <p:nvSpPr>
          <p:cNvPr id="14" name="Text 10"/>
          <p:cNvSpPr/>
          <p:nvPr/>
        </p:nvSpPr>
        <p:spPr>
          <a:xfrm>
            <a:off x="4297680" y="1645920"/>
            <a:ext cx="1508760" cy="594360"/>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30M+</a:t>
            </a:r>
            <a:endParaRPr lang="en-US" sz="2800" dirty="0"/>
          </a:p>
        </p:txBody>
      </p:sp>
      <p:sp>
        <p:nvSpPr>
          <p:cNvPr id="15" name="Text 11"/>
          <p:cNvSpPr/>
          <p:nvPr/>
        </p:nvSpPr>
        <p:spPr>
          <a:xfrm>
            <a:off x="4297680" y="2240280"/>
            <a:ext cx="1508760" cy="457200"/>
          </a:xfrm>
          <a:prstGeom prst="rect">
            <a:avLst/>
          </a:prstGeom>
          <a:noFill/>
          <a:ln/>
        </p:spPr>
        <p:txBody>
          <a:bodyPr wrap="square" lIns="0" tIns="0" rIns="0" bIns="0" rtlCol="0" anchor="ctr"/>
          <a:lstStyle/>
          <a:p>
            <a:pPr indent="0" marL="0">
              <a:buNone/>
            </a:pPr>
            <a:r>
              <a:rPr lang="en-US" sz="1050" dirty="0">
                <a:solidFill>
                  <a:srgbClr val="E8F1FB"/>
                </a:solidFill>
                <a:latin typeface="Segoe UI" pitchFamily="34" charset="0"/>
                <a:ea typeface="Segoe UI" pitchFamily="34" charset="-122"/>
                <a:cs typeface="Segoe UI" pitchFamily="34" charset="-120"/>
              </a:rPr>
              <a:t>Enrollments Till Date</a:t>
            </a:r>
            <a:endParaRPr lang="en-US" sz="1050" dirty="0"/>
          </a:p>
        </p:txBody>
      </p:sp>
      <p:sp>
        <p:nvSpPr>
          <p:cNvPr id="16" name="Shape 12"/>
          <p:cNvSpPr/>
          <p:nvPr/>
        </p:nvSpPr>
        <p:spPr>
          <a:xfrm>
            <a:off x="6035040" y="1417320"/>
            <a:ext cx="2651760" cy="1417320"/>
          </a:xfrm>
          <a:prstGeom prst="roundRect">
            <a:avLst>
              <a:gd name="adj" fmla="val 5161"/>
            </a:avLst>
          </a:prstGeom>
          <a:solidFill>
            <a:srgbClr val="1E4E8C"/>
          </a:solidFill>
          <a:ln w="12700">
            <a:solidFill>
              <a:srgbClr val="2E7CD6"/>
            </a:solidFill>
            <a:prstDash val="solid"/>
          </a:ln>
        </p:spPr>
      </p:sp>
      <p:sp>
        <p:nvSpPr>
          <p:cNvPr id="17" name="Shape 13"/>
          <p:cNvSpPr/>
          <p:nvPr/>
        </p:nvSpPr>
        <p:spPr>
          <a:xfrm>
            <a:off x="6217920" y="1737360"/>
            <a:ext cx="777240" cy="777240"/>
          </a:xfrm>
          <a:prstGeom prst="ellipse">
            <a:avLst/>
          </a:prstGeom>
          <a:solidFill>
            <a:srgbClr val="F97316"/>
          </a:solidFill>
          <a:ln w="12700">
            <a:solidFill>
              <a:srgbClr val="F97316"/>
            </a:solidFill>
            <a:prstDash val="solid"/>
          </a:ln>
        </p:spPr>
      </p:sp>
      <p:pic>
        <p:nvPicPr>
          <p:cNvPr id="18" name="Image 2" descr="preencoded.png">    </p:cNvPr>
          <p:cNvPicPr>
            <a:picLocks noChangeAspect="1"/>
          </p:cNvPicPr>
          <p:nvPr/>
        </p:nvPicPr>
        <p:blipFill>
          <a:blip r:embed="rId3"/>
          <a:stretch>
            <a:fillRect/>
          </a:stretch>
        </p:blipFill>
        <p:spPr>
          <a:xfrm>
            <a:off x="6388913" y="1908353"/>
            <a:ext cx="435254" cy="435254"/>
          </a:xfrm>
          <a:prstGeom prst="rect">
            <a:avLst/>
          </a:prstGeom>
        </p:spPr>
      </p:pic>
      <p:sp>
        <p:nvSpPr>
          <p:cNvPr id="19" name="Text 14"/>
          <p:cNvSpPr/>
          <p:nvPr/>
        </p:nvSpPr>
        <p:spPr>
          <a:xfrm>
            <a:off x="7086600" y="1645920"/>
            <a:ext cx="1508760" cy="594360"/>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800+</a:t>
            </a:r>
            <a:endParaRPr lang="en-US" sz="2800" dirty="0"/>
          </a:p>
        </p:txBody>
      </p:sp>
      <p:sp>
        <p:nvSpPr>
          <p:cNvPr id="20" name="Text 15"/>
          <p:cNvSpPr/>
          <p:nvPr/>
        </p:nvSpPr>
        <p:spPr>
          <a:xfrm>
            <a:off x="7086600" y="2240280"/>
            <a:ext cx="1508760" cy="457200"/>
          </a:xfrm>
          <a:prstGeom prst="rect">
            <a:avLst/>
          </a:prstGeom>
          <a:noFill/>
          <a:ln/>
        </p:spPr>
        <p:txBody>
          <a:bodyPr wrap="square" lIns="0" tIns="0" rIns="0" bIns="0" rtlCol="0" anchor="ctr"/>
          <a:lstStyle/>
          <a:p>
            <a:pPr indent="0" marL="0">
              <a:buNone/>
            </a:pPr>
            <a:r>
              <a:rPr lang="en-US" sz="1050" dirty="0">
                <a:solidFill>
                  <a:srgbClr val="E8F1FB"/>
                </a:solidFill>
                <a:latin typeface="Segoe UI" pitchFamily="34" charset="0"/>
                <a:ea typeface="Segoe UI" pitchFamily="34" charset="-122"/>
                <a:cs typeface="Segoe UI" pitchFamily="34" charset="-120"/>
              </a:rPr>
              <a:t>IIT / IISc Faculty</a:t>
            </a:r>
            <a:endParaRPr lang="en-US" sz="1050" dirty="0"/>
          </a:p>
        </p:txBody>
      </p:sp>
      <p:sp>
        <p:nvSpPr>
          <p:cNvPr id="21" name="Shape 16"/>
          <p:cNvSpPr/>
          <p:nvPr/>
        </p:nvSpPr>
        <p:spPr>
          <a:xfrm>
            <a:off x="457200" y="2971800"/>
            <a:ext cx="2651760" cy="1417320"/>
          </a:xfrm>
          <a:prstGeom prst="roundRect">
            <a:avLst>
              <a:gd name="adj" fmla="val 5161"/>
            </a:avLst>
          </a:prstGeom>
          <a:solidFill>
            <a:srgbClr val="1E4E8C"/>
          </a:solidFill>
          <a:ln w="12700">
            <a:solidFill>
              <a:srgbClr val="2E7CD6"/>
            </a:solidFill>
            <a:prstDash val="solid"/>
          </a:ln>
        </p:spPr>
      </p:sp>
      <p:sp>
        <p:nvSpPr>
          <p:cNvPr id="22" name="Shape 17"/>
          <p:cNvSpPr/>
          <p:nvPr/>
        </p:nvSpPr>
        <p:spPr>
          <a:xfrm>
            <a:off x="640080" y="3291840"/>
            <a:ext cx="777240" cy="777240"/>
          </a:xfrm>
          <a:prstGeom prst="ellipse">
            <a:avLst/>
          </a:prstGeom>
          <a:solidFill>
            <a:srgbClr val="F97316"/>
          </a:solidFill>
          <a:ln w="12700">
            <a:solidFill>
              <a:srgbClr val="F97316"/>
            </a:solidFill>
            <a:prstDash val="solid"/>
          </a:ln>
        </p:spPr>
      </p:sp>
      <p:pic>
        <p:nvPicPr>
          <p:cNvPr id="23" name="Image 3" descr="preencoded.png">    </p:cNvPr>
          <p:cNvPicPr>
            <a:picLocks noChangeAspect="1"/>
          </p:cNvPicPr>
          <p:nvPr/>
        </p:nvPicPr>
        <p:blipFill>
          <a:blip r:embed="rId4"/>
          <a:stretch>
            <a:fillRect/>
          </a:stretch>
        </p:blipFill>
        <p:spPr>
          <a:xfrm>
            <a:off x="811073" y="3462833"/>
            <a:ext cx="435254" cy="435254"/>
          </a:xfrm>
          <a:prstGeom prst="rect">
            <a:avLst/>
          </a:prstGeom>
        </p:spPr>
      </p:pic>
      <p:sp>
        <p:nvSpPr>
          <p:cNvPr id="24" name="Text 18"/>
          <p:cNvSpPr/>
          <p:nvPr/>
        </p:nvSpPr>
        <p:spPr>
          <a:xfrm>
            <a:off x="1508760" y="3200400"/>
            <a:ext cx="1508760" cy="594360"/>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5000+</a:t>
            </a:r>
            <a:endParaRPr lang="en-US" sz="2800" dirty="0"/>
          </a:p>
        </p:txBody>
      </p:sp>
      <p:sp>
        <p:nvSpPr>
          <p:cNvPr id="25" name="Text 19"/>
          <p:cNvSpPr/>
          <p:nvPr/>
        </p:nvSpPr>
        <p:spPr>
          <a:xfrm>
            <a:off x="1508760" y="3794760"/>
            <a:ext cx="1508760" cy="457200"/>
          </a:xfrm>
          <a:prstGeom prst="rect">
            <a:avLst/>
          </a:prstGeom>
          <a:noFill/>
          <a:ln/>
        </p:spPr>
        <p:txBody>
          <a:bodyPr wrap="square" lIns="0" tIns="0" rIns="0" bIns="0" rtlCol="0" anchor="ctr"/>
          <a:lstStyle/>
          <a:p>
            <a:pPr indent="0" marL="0">
              <a:buNone/>
            </a:pPr>
            <a:r>
              <a:rPr lang="en-US" sz="1050" dirty="0">
                <a:solidFill>
                  <a:srgbClr val="E8F1FB"/>
                </a:solidFill>
                <a:latin typeface="Segoe UI" pitchFamily="34" charset="0"/>
                <a:ea typeface="Segoe UI" pitchFamily="34" charset="-122"/>
                <a:cs typeface="Segoe UI" pitchFamily="34" charset="-120"/>
              </a:rPr>
              <a:t>Local Chapters (Colleges)</a:t>
            </a:r>
            <a:endParaRPr lang="en-US" sz="1050" dirty="0"/>
          </a:p>
        </p:txBody>
      </p:sp>
      <p:sp>
        <p:nvSpPr>
          <p:cNvPr id="26" name="Shape 20"/>
          <p:cNvSpPr/>
          <p:nvPr/>
        </p:nvSpPr>
        <p:spPr>
          <a:xfrm>
            <a:off x="3246120" y="2971800"/>
            <a:ext cx="2651760" cy="1417320"/>
          </a:xfrm>
          <a:prstGeom prst="roundRect">
            <a:avLst>
              <a:gd name="adj" fmla="val 5161"/>
            </a:avLst>
          </a:prstGeom>
          <a:solidFill>
            <a:srgbClr val="1E4E8C"/>
          </a:solidFill>
          <a:ln w="12700">
            <a:solidFill>
              <a:srgbClr val="2E7CD6"/>
            </a:solidFill>
            <a:prstDash val="solid"/>
          </a:ln>
        </p:spPr>
      </p:sp>
      <p:sp>
        <p:nvSpPr>
          <p:cNvPr id="27" name="Shape 21"/>
          <p:cNvSpPr/>
          <p:nvPr/>
        </p:nvSpPr>
        <p:spPr>
          <a:xfrm>
            <a:off x="3429000" y="3291840"/>
            <a:ext cx="777240" cy="777240"/>
          </a:xfrm>
          <a:prstGeom prst="ellipse">
            <a:avLst/>
          </a:prstGeom>
          <a:solidFill>
            <a:srgbClr val="F97316"/>
          </a:solidFill>
          <a:ln w="12700">
            <a:solidFill>
              <a:srgbClr val="F97316"/>
            </a:solidFill>
            <a:prstDash val="solid"/>
          </a:ln>
        </p:spPr>
      </p:sp>
      <p:pic>
        <p:nvPicPr>
          <p:cNvPr id="28" name="Image 4" descr="preencoded.png">    </p:cNvPr>
          <p:cNvPicPr>
            <a:picLocks noChangeAspect="1"/>
          </p:cNvPicPr>
          <p:nvPr/>
        </p:nvPicPr>
        <p:blipFill>
          <a:blip r:embed="rId5"/>
          <a:stretch>
            <a:fillRect/>
          </a:stretch>
        </p:blipFill>
        <p:spPr>
          <a:xfrm>
            <a:off x="3599993" y="3462833"/>
            <a:ext cx="435254" cy="435254"/>
          </a:xfrm>
          <a:prstGeom prst="rect">
            <a:avLst/>
          </a:prstGeom>
        </p:spPr>
      </p:pic>
      <p:sp>
        <p:nvSpPr>
          <p:cNvPr id="29" name="Text 22"/>
          <p:cNvSpPr/>
          <p:nvPr/>
        </p:nvSpPr>
        <p:spPr>
          <a:xfrm>
            <a:off x="4297680" y="3200400"/>
            <a:ext cx="1508760" cy="594360"/>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60+</a:t>
            </a:r>
            <a:endParaRPr lang="en-US" sz="2800" dirty="0"/>
          </a:p>
        </p:txBody>
      </p:sp>
      <p:sp>
        <p:nvSpPr>
          <p:cNvPr id="30" name="Text 23"/>
          <p:cNvSpPr/>
          <p:nvPr/>
        </p:nvSpPr>
        <p:spPr>
          <a:xfrm>
            <a:off x="4297680" y="3794760"/>
            <a:ext cx="1508760" cy="457200"/>
          </a:xfrm>
          <a:prstGeom prst="rect">
            <a:avLst/>
          </a:prstGeom>
          <a:noFill/>
          <a:ln/>
        </p:spPr>
        <p:txBody>
          <a:bodyPr wrap="square" lIns="0" tIns="0" rIns="0" bIns="0" rtlCol="0" anchor="ctr"/>
          <a:lstStyle/>
          <a:p>
            <a:pPr indent="0" marL="0">
              <a:buNone/>
            </a:pPr>
            <a:r>
              <a:rPr lang="en-US" sz="1050" dirty="0">
                <a:solidFill>
                  <a:srgbClr val="E8F1FB"/>
                </a:solidFill>
                <a:latin typeface="Segoe UI" pitchFamily="34" charset="0"/>
                <a:ea typeface="Segoe UI" pitchFamily="34" charset="-122"/>
                <a:cs typeface="Segoe UI" pitchFamily="34" charset="-120"/>
              </a:rPr>
              <a:t>Domain Certifications</a:t>
            </a:r>
            <a:endParaRPr lang="en-US" sz="1050" dirty="0"/>
          </a:p>
        </p:txBody>
      </p:sp>
      <p:sp>
        <p:nvSpPr>
          <p:cNvPr id="31" name="Shape 24"/>
          <p:cNvSpPr/>
          <p:nvPr/>
        </p:nvSpPr>
        <p:spPr>
          <a:xfrm>
            <a:off x="6035040" y="2971800"/>
            <a:ext cx="2651760" cy="1417320"/>
          </a:xfrm>
          <a:prstGeom prst="roundRect">
            <a:avLst>
              <a:gd name="adj" fmla="val 5161"/>
            </a:avLst>
          </a:prstGeom>
          <a:solidFill>
            <a:srgbClr val="1E4E8C"/>
          </a:solidFill>
          <a:ln w="12700">
            <a:solidFill>
              <a:srgbClr val="2E7CD6"/>
            </a:solidFill>
            <a:prstDash val="solid"/>
          </a:ln>
        </p:spPr>
      </p:sp>
      <p:sp>
        <p:nvSpPr>
          <p:cNvPr id="32" name="Shape 25"/>
          <p:cNvSpPr/>
          <p:nvPr/>
        </p:nvSpPr>
        <p:spPr>
          <a:xfrm>
            <a:off x="6217920" y="3291840"/>
            <a:ext cx="777240" cy="777240"/>
          </a:xfrm>
          <a:prstGeom prst="ellipse">
            <a:avLst/>
          </a:prstGeom>
          <a:solidFill>
            <a:srgbClr val="F97316"/>
          </a:solidFill>
          <a:ln w="12700">
            <a:solidFill>
              <a:srgbClr val="F97316"/>
            </a:solidFill>
            <a:prstDash val="solid"/>
          </a:ln>
        </p:spPr>
      </p:sp>
      <p:pic>
        <p:nvPicPr>
          <p:cNvPr id="33" name="Image 5" descr="preencoded.png">    </p:cNvPr>
          <p:cNvPicPr>
            <a:picLocks noChangeAspect="1"/>
          </p:cNvPicPr>
          <p:nvPr/>
        </p:nvPicPr>
        <p:blipFill>
          <a:blip r:embed="rId6"/>
          <a:stretch>
            <a:fillRect/>
          </a:stretch>
        </p:blipFill>
        <p:spPr>
          <a:xfrm>
            <a:off x="6388913" y="3462833"/>
            <a:ext cx="435254" cy="435254"/>
          </a:xfrm>
          <a:prstGeom prst="rect">
            <a:avLst/>
          </a:prstGeom>
        </p:spPr>
      </p:pic>
      <p:sp>
        <p:nvSpPr>
          <p:cNvPr id="34" name="Text 26"/>
          <p:cNvSpPr/>
          <p:nvPr/>
        </p:nvSpPr>
        <p:spPr>
          <a:xfrm>
            <a:off x="7086600" y="3200400"/>
            <a:ext cx="1508760" cy="594360"/>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Free</a:t>
            </a:r>
            <a:endParaRPr lang="en-US" sz="2800" dirty="0"/>
          </a:p>
        </p:txBody>
      </p:sp>
      <p:sp>
        <p:nvSpPr>
          <p:cNvPr id="35" name="Text 27"/>
          <p:cNvSpPr/>
          <p:nvPr/>
        </p:nvSpPr>
        <p:spPr>
          <a:xfrm>
            <a:off x="7086600" y="3794760"/>
            <a:ext cx="1508760" cy="457200"/>
          </a:xfrm>
          <a:prstGeom prst="rect">
            <a:avLst/>
          </a:prstGeom>
          <a:noFill/>
          <a:ln/>
        </p:spPr>
        <p:txBody>
          <a:bodyPr wrap="square" lIns="0" tIns="0" rIns="0" bIns="0" rtlCol="0" anchor="ctr"/>
          <a:lstStyle/>
          <a:p>
            <a:pPr indent="0" marL="0">
              <a:buNone/>
            </a:pPr>
            <a:r>
              <a:rPr lang="en-US" sz="1050" dirty="0">
                <a:solidFill>
                  <a:srgbClr val="E8F1FB"/>
                </a:solidFill>
                <a:latin typeface="Segoe UI" pitchFamily="34" charset="0"/>
                <a:ea typeface="Segoe UI" pitchFamily="34" charset="-122"/>
                <a:cs typeface="Segoe UI" pitchFamily="34" charset="-120"/>
              </a:rPr>
              <a:t>Course Access</a:t>
            </a:r>
            <a:endParaRPr lang="en-US" sz="1050" dirty="0"/>
          </a:p>
        </p:txBody>
      </p:sp>
      <p:sp>
        <p:nvSpPr>
          <p:cNvPr id="36" name="Shape 28"/>
          <p:cNvSpPr/>
          <p:nvPr/>
        </p:nvSpPr>
        <p:spPr>
          <a:xfrm>
            <a:off x="0" y="4887468"/>
            <a:ext cx="9144000" cy="256032"/>
          </a:xfrm>
          <a:prstGeom prst="rect">
            <a:avLst/>
          </a:prstGeom>
          <a:solidFill>
            <a:srgbClr val="F1F6FC"/>
          </a:solidFill>
          <a:ln w="12700">
            <a:solidFill>
              <a:srgbClr val="F1F6FC"/>
            </a:solidFill>
            <a:prstDash val="solid"/>
          </a:ln>
        </p:spPr>
      </p:sp>
      <p:sp>
        <p:nvSpPr>
          <p:cNvPr id="37" name="Text 29"/>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38" name="Text 30"/>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WHAT YOU CAN LEARN</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Course Categories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7</a:t>
            </a:r>
            <a:endParaRPr lang="en-US" sz="900" dirty="0"/>
          </a:p>
        </p:txBody>
      </p:sp>
      <p:sp>
        <p:nvSpPr>
          <p:cNvPr id="9" name="Shape 7"/>
          <p:cNvSpPr/>
          <p:nvPr/>
        </p:nvSpPr>
        <p:spPr>
          <a:xfrm>
            <a:off x="45720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457200" y="1371600"/>
            <a:ext cx="73152" cy="1417320"/>
          </a:xfrm>
          <a:prstGeom prst="rect">
            <a:avLst/>
          </a:prstGeom>
          <a:solidFill>
            <a:srgbClr val="F97316"/>
          </a:solidFill>
          <a:ln w="12700">
            <a:solidFill>
              <a:srgbClr val="F97316"/>
            </a:solidFill>
            <a:prstDash val="solid"/>
          </a:ln>
        </p:spPr>
      </p:sp>
      <p:sp>
        <p:nvSpPr>
          <p:cNvPr id="11" name="Shape 9"/>
          <p:cNvSpPr/>
          <p:nvPr/>
        </p:nvSpPr>
        <p:spPr>
          <a:xfrm>
            <a:off x="685800" y="1691640"/>
            <a:ext cx="777240" cy="77724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856793" y="1862633"/>
            <a:ext cx="435254" cy="435254"/>
          </a:xfrm>
          <a:prstGeom prst="rect">
            <a:avLst/>
          </a:prstGeom>
        </p:spPr>
      </p:pic>
      <p:sp>
        <p:nvSpPr>
          <p:cNvPr id="13" name="Text 10"/>
          <p:cNvSpPr/>
          <p:nvPr/>
        </p:nvSpPr>
        <p:spPr>
          <a:xfrm>
            <a:off x="1554480" y="1645920"/>
            <a:ext cx="1463040" cy="41148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Core Engineering</a:t>
            </a:r>
            <a:endParaRPr lang="en-US" sz="1400" dirty="0"/>
          </a:p>
        </p:txBody>
      </p:sp>
      <p:sp>
        <p:nvSpPr>
          <p:cNvPr id="14" name="Text 11"/>
          <p:cNvSpPr/>
          <p:nvPr/>
        </p:nvSpPr>
        <p:spPr>
          <a:xfrm>
            <a:off x="1554480" y="2057400"/>
            <a:ext cx="14630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CSE • ECE • EEE • Mech • Civil</a:t>
            </a:r>
            <a:endParaRPr lang="en-US" sz="1050" dirty="0"/>
          </a:p>
        </p:txBody>
      </p:sp>
      <p:sp>
        <p:nvSpPr>
          <p:cNvPr id="15" name="Shape 12"/>
          <p:cNvSpPr/>
          <p:nvPr/>
        </p:nvSpPr>
        <p:spPr>
          <a:xfrm>
            <a:off x="324612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6" name="Shape 13"/>
          <p:cNvSpPr/>
          <p:nvPr/>
        </p:nvSpPr>
        <p:spPr>
          <a:xfrm>
            <a:off x="3246120" y="1371600"/>
            <a:ext cx="73152" cy="1417320"/>
          </a:xfrm>
          <a:prstGeom prst="rect">
            <a:avLst/>
          </a:prstGeom>
          <a:solidFill>
            <a:srgbClr val="F97316"/>
          </a:solidFill>
          <a:ln w="12700">
            <a:solidFill>
              <a:srgbClr val="F97316"/>
            </a:solidFill>
            <a:prstDash val="solid"/>
          </a:ln>
        </p:spPr>
      </p:sp>
      <p:sp>
        <p:nvSpPr>
          <p:cNvPr id="17" name="Shape 14"/>
          <p:cNvSpPr/>
          <p:nvPr/>
        </p:nvSpPr>
        <p:spPr>
          <a:xfrm>
            <a:off x="3474720" y="1691640"/>
            <a:ext cx="777240" cy="777240"/>
          </a:xfrm>
          <a:prstGeom prst="ellipse">
            <a:avLst/>
          </a:prstGeom>
          <a:solidFill>
            <a:srgbClr val="FFFFFF"/>
          </a:solidFill>
          <a:ln w="12700">
            <a:solidFill>
              <a:srgbClr val="FFFFFF"/>
            </a:solidFill>
            <a:prstDash val="solid"/>
          </a:ln>
        </p:spPr>
      </p:sp>
      <p:pic>
        <p:nvPicPr>
          <p:cNvPr id="18" name="Image 1" descr="preencoded.png">    </p:cNvPr>
          <p:cNvPicPr>
            <a:picLocks noChangeAspect="1"/>
          </p:cNvPicPr>
          <p:nvPr/>
        </p:nvPicPr>
        <p:blipFill>
          <a:blip r:embed="rId2"/>
          <a:stretch>
            <a:fillRect/>
          </a:stretch>
        </p:blipFill>
        <p:spPr>
          <a:xfrm>
            <a:off x="3645713" y="1862633"/>
            <a:ext cx="435254" cy="435254"/>
          </a:xfrm>
          <a:prstGeom prst="rect">
            <a:avLst/>
          </a:prstGeom>
        </p:spPr>
      </p:pic>
      <p:sp>
        <p:nvSpPr>
          <p:cNvPr id="19" name="Text 15"/>
          <p:cNvSpPr/>
          <p:nvPr/>
        </p:nvSpPr>
        <p:spPr>
          <a:xfrm>
            <a:off x="4343400" y="1645920"/>
            <a:ext cx="1463040" cy="41148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Mathematics &amp; Sciences</a:t>
            </a:r>
            <a:endParaRPr lang="en-US" sz="1400" dirty="0"/>
          </a:p>
        </p:txBody>
      </p:sp>
      <p:sp>
        <p:nvSpPr>
          <p:cNvPr id="20" name="Text 16"/>
          <p:cNvSpPr/>
          <p:nvPr/>
        </p:nvSpPr>
        <p:spPr>
          <a:xfrm>
            <a:off x="4343400" y="2057400"/>
            <a:ext cx="14630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Physics • Chemistry • Stats</a:t>
            </a:r>
            <a:endParaRPr lang="en-US" sz="1050" dirty="0"/>
          </a:p>
        </p:txBody>
      </p:sp>
      <p:sp>
        <p:nvSpPr>
          <p:cNvPr id="21" name="Shape 17"/>
          <p:cNvSpPr/>
          <p:nvPr/>
        </p:nvSpPr>
        <p:spPr>
          <a:xfrm>
            <a:off x="603504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2" name="Shape 18"/>
          <p:cNvSpPr/>
          <p:nvPr/>
        </p:nvSpPr>
        <p:spPr>
          <a:xfrm>
            <a:off x="6035040" y="1371600"/>
            <a:ext cx="73152" cy="1417320"/>
          </a:xfrm>
          <a:prstGeom prst="rect">
            <a:avLst/>
          </a:prstGeom>
          <a:solidFill>
            <a:srgbClr val="F97316"/>
          </a:solidFill>
          <a:ln w="12700">
            <a:solidFill>
              <a:srgbClr val="F97316"/>
            </a:solidFill>
            <a:prstDash val="solid"/>
          </a:ln>
        </p:spPr>
      </p:sp>
      <p:sp>
        <p:nvSpPr>
          <p:cNvPr id="23" name="Shape 19"/>
          <p:cNvSpPr/>
          <p:nvPr/>
        </p:nvSpPr>
        <p:spPr>
          <a:xfrm>
            <a:off x="6263640" y="1691640"/>
            <a:ext cx="777240" cy="777240"/>
          </a:xfrm>
          <a:prstGeom prst="ellipse">
            <a:avLst/>
          </a:prstGeom>
          <a:solidFill>
            <a:srgbClr val="FFFFFF"/>
          </a:solidFill>
          <a:ln w="12700">
            <a:solidFill>
              <a:srgbClr val="FFFFFF"/>
            </a:solidFill>
            <a:prstDash val="solid"/>
          </a:ln>
        </p:spPr>
      </p:sp>
      <p:pic>
        <p:nvPicPr>
          <p:cNvPr id="24" name="Image 2" descr="preencoded.png">    </p:cNvPr>
          <p:cNvPicPr>
            <a:picLocks noChangeAspect="1"/>
          </p:cNvPicPr>
          <p:nvPr/>
        </p:nvPicPr>
        <p:blipFill>
          <a:blip r:embed="rId3"/>
          <a:stretch>
            <a:fillRect/>
          </a:stretch>
        </p:blipFill>
        <p:spPr>
          <a:xfrm>
            <a:off x="6434633" y="1862633"/>
            <a:ext cx="435254" cy="435254"/>
          </a:xfrm>
          <a:prstGeom prst="rect">
            <a:avLst/>
          </a:prstGeom>
        </p:spPr>
      </p:pic>
      <p:sp>
        <p:nvSpPr>
          <p:cNvPr id="25" name="Text 20"/>
          <p:cNvSpPr/>
          <p:nvPr/>
        </p:nvSpPr>
        <p:spPr>
          <a:xfrm>
            <a:off x="7132320" y="1645920"/>
            <a:ext cx="1463040" cy="41148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Management &amp; Humanities</a:t>
            </a:r>
            <a:endParaRPr lang="en-US" sz="1400" dirty="0"/>
          </a:p>
        </p:txBody>
      </p:sp>
      <p:sp>
        <p:nvSpPr>
          <p:cNvPr id="26" name="Text 21"/>
          <p:cNvSpPr/>
          <p:nvPr/>
        </p:nvSpPr>
        <p:spPr>
          <a:xfrm>
            <a:off x="7132320" y="2057400"/>
            <a:ext cx="14630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MBA • Economics • Ethics</a:t>
            </a:r>
            <a:endParaRPr lang="en-US" sz="1050" dirty="0"/>
          </a:p>
        </p:txBody>
      </p:sp>
      <p:sp>
        <p:nvSpPr>
          <p:cNvPr id="27" name="Shape 22"/>
          <p:cNvSpPr/>
          <p:nvPr/>
        </p:nvSpPr>
        <p:spPr>
          <a:xfrm>
            <a:off x="45720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8" name="Shape 23"/>
          <p:cNvSpPr/>
          <p:nvPr/>
        </p:nvSpPr>
        <p:spPr>
          <a:xfrm>
            <a:off x="457200" y="2926080"/>
            <a:ext cx="73152" cy="1417320"/>
          </a:xfrm>
          <a:prstGeom prst="rect">
            <a:avLst/>
          </a:prstGeom>
          <a:solidFill>
            <a:srgbClr val="F97316"/>
          </a:solidFill>
          <a:ln w="12700">
            <a:solidFill>
              <a:srgbClr val="F97316"/>
            </a:solidFill>
            <a:prstDash val="solid"/>
          </a:ln>
        </p:spPr>
      </p:sp>
      <p:sp>
        <p:nvSpPr>
          <p:cNvPr id="29" name="Shape 24"/>
          <p:cNvSpPr/>
          <p:nvPr/>
        </p:nvSpPr>
        <p:spPr>
          <a:xfrm>
            <a:off x="685800" y="3246120"/>
            <a:ext cx="777240" cy="777240"/>
          </a:xfrm>
          <a:prstGeom prst="ellipse">
            <a:avLst/>
          </a:prstGeom>
          <a:solidFill>
            <a:srgbClr val="FFFFFF"/>
          </a:solidFill>
          <a:ln w="12700">
            <a:solidFill>
              <a:srgbClr val="FFFFFF"/>
            </a:solidFill>
            <a:prstDash val="solid"/>
          </a:ln>
        </p:spPr>
      </p:sp>
      <p:pic>
        <p:nvPicPr>
          <p:cNvPr id="30" name="Image 3" descr="preencoded.png">    </p:cNvPr>
          <p:cNvPicPr>
            <a:picLocks noChangeAspect="1"/>
          </p:cNvPicPr>
          <p:nvPr/>
        </p:nvPicPr>
        <p:blipFill>
          <a:blip r:embed="rId4"/>
          <a:stretch>
            <a:fillRect/>
          </a:stretch>
        </p:blipFill>
        <p:spPr>
          <a:xfrm>
            <a:off x="856793" y="3417113"/>
            <a:ext cx="435254" cy="435254"/>
          </a:xfrm>
          <a:prstGeom prst="rect">
            <a:avLst/>
          </a:prstGeom>
        </p:spPr>
      </p:pic>
      <p:sp>
        <p:nvSpPr>
          <p:cNvPr id="31" name="Text 25"/>
          <p:cNvSpPr/>
          <p:nvPr/>
        </p:nvSpPr>
        <p:spPr>
          <a:xfrm>
            <a:off x="1554480" y="3200400"/>
            <a:ext cx="1463040" cy="41148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Emerging Technologies</a:t>
            </a:r>
            <a:endParaRPr lang="en-US" sz="1400" dirty="0"/>
          </a:p>
        </p:txBody>
      </p:sp>
      <p:sp>
        <p:nvSpPr>
          <p:cNvPr id="32" name="Text 26"/>
          <p:cNvSpPr/>
          <p:nvPr/>
        </p:nvSpPr>
        <p:spPr>
          <a:xfrm>
            <a:off x="1554480" y="3611880"/>
            <a:ext cx="14630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AI • ML • Cloud • IoT • VLSI</a:t>
            </a:r>
            <a:endParaRPr lang="en-US" sz="1050" dirty="0"/>
          </a:p>
        </p:txBody>
      </p:sp>
      <p:sp>
        <p:nvSpPr>
          <p:cNvPr id="33" name="Shape 27"/>
          <p:cNvSpPr/>
          <p:nvPr/>
        </p:nvSpPr>
        <p:spPr>
          <a:xfrm>
            <a:off x="324612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4" name="Shape 28"/>
          <p:cNvSpPr/>
          <p:nvPr/>
        </p:nvSpPr>
        <p:spPr>
          <a:xfrm>
            <a:off x="3246120" y="2926080"/>
            <a:ext cx="73152" cy="1417320"/>
          </a:xfrm>
          <a:prstGeom prst="rect">
            <a:avLst/>
          </a:prstGeom>
          <a:solidFill>
            <a:srgbClr val="F97316"/>
          </a:solidFill>
          <a:ln w="12700">
            <a:solidFill>
              <a:srgbClr val="F97316"/>
            </a:solidFill>
            <a:prstDash val="solid"/>
          </a:ln>
        </p:spPr>
      </p:sp>
      <p:sp>
        <p:nvSpPr>
          <p:cNvPr id="35" name="Shape 29"/>
          <p:cNvSpPr/>
          <p:nvPr/>
        </p:nvSpPr>
        <p:spPr>
          <a:xfrm>
            <a:off x="3474720" y="3246120"/>
            <a:ext cx="777240" cy="777240"/>
          </a:xfrm>
          <a:prstGeom prst="ellipse">
            <a:avLst/>
          </a:prstGeom>
          <a:solidFill>
            <a:srgbClr val="FFFFFF"/>
          </a:solidFill>
          <a:ln w="12700">
            <a:solidFill>
              <a:srgbClr val="FFFFFF"/>
            </a:solidFill>
            <a:prstDash val="solid"/>
          </a:ln>
        </p:spPr>
      </p:sp>
      <p:pic>
        <p:nvPicPr>
          <p:cNvPr id="36" name="Image 4" descr="preencoded.png">    </p:cNvPr>
          <p:cNvPicPr>
            <a:picLocks noChangeAspect="1"/>
          </p:cNvPicPr>
          <p:nvPr/>
        </p:nvPicPr>
        <p:blipFill>
          <a:blip r:embed="rId5"/>
          <a:stretch>
            <a:fillRect/>
          </a:stretch>
        </p:blipFill>
        <p:spPr>
          <a:xfrm>
            <a:off x="3645713" y="3417113"/>
            <a:ext cx="435254" cy="435254"/>
          </a:xfrm>
          <a:prstGeom prst="rect">
            <a:avLst/>
          </a:prstGeom>
        </p:spPr>
      </p:pic>
      <p:sp>
        <p:nvSpPr>
          <p:cNvPr id="37" name="Text 30"/>
          <p:cNvSpPr/>
          <p:nvPr/>
        </p:nvSpPr>
        <p:spPr>
          <a:xfrm>
            <a:off x="4343400" y="3200400"/>
            <a:ext cx="1463040" cy="41148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Soft Skills &amp; Communication</a:t>
            </a:r>
            <a:endParaRPr lang="en-US" sz="1400" dirty="0"/>
          </a:p>
        </p:txBody>
      </p:sp>
      <p:sp>
        <p:nvSpPr>
          <p:cNvPr id="38" name="Text 31"/>
          <p:cNvSpPr/>
          <p:nvPr/>
        </p:nvSpPr>
        <p:spPr>
          <a:xfrm>
            <a:off x="4343400" y="3611880"/>
            <a:ext cx="14630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English • Aptitude • Writing</a:t>
            </a:r>
            <a:endParaRPr lang="en-US" sz="1050" dirty="0"/>
          </a:p>
        </p:txBody>
      </p:sp>
      <p:sp>
        <p:nvSpPr>
          <p:cNvPr id="39" name="Shape 32"/>
          <p:cNvSpPr/>
          <p:nvPr/>
        </p:nvSpPr>
        <p:spPr>
          <a:xfrm>
            <a:off x="603504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40" name="Shape 33"/>
          <p:cNvSpPr/>
          <p:nvPr/>
        </p:nvSpPr>
        <p:spPr>
          <a:xfrm>
            <a:off x="6035040" y="2926080"/>
            <a:ext cx="73152" cy="1417320"/>
          </a:xfrm>
          <a:prstGeom prst="rect">
            <a:avLst/>
          </a:prstGeom>
          <a:solidFill>
            <a:srgbClr val="F97316"/>
          </a:solidFill>
          <a:ln w="12700">
            <a:solidFill>
              <a:srgbClr val="F97316"/>
            </a:solidFill>
            <a:prstDash val="solid"/>
          </a:ln>
        </p:spPr>
      </p:sp>
      <p:sp>
        <p:nvSpPr>
          <p:cNvPr id="41" name="Shape 34"/>
          <p:cNvSpPr/>
          <p:nvPr/>
        </p:nvSpPr>
        <p:spPr>
          <a:xfrm>
            <a:off x="6263640" y="3246120"/>
            <a:ext cx="777240" cy="777240"/>
          </a:xfrm>
          <a:prstGeom prst="ellipse">
            <a:avLst/>
          </a:prstGeom>
          <a:solidFill>
            <a:srgbClr val="FFFFFF"/>
          </a:solidFill>
          <a:ln w="12700">
            <a:solidFill>
              <a:srgbClr val="FFFFFF"/>
            </a:solidFill>
            <a:prstDash val="solid"/>
          </a:ln>
        </p:spPr>
      </p:sp>
      <p:pic>
        <p:nvPicPr>
          <p:cNvPr id="42" name="Image 5" descr="preencoded.png">    </p:cNvPr>
          <p:cNvPicPr>
            <a:picLocks noChangeAspect="1"/>
          </p:cNvPicPr>
          <p:nvPr/>
        </p:nvPicPr>
        <p:blipFill>
          <a:blip r:embed="rId6"/>
          <a:stretch>
            <a:fillRect/>
          </a:stretch>
        </p:blipFill>
        <p:spPr>
          <a:xfrm>
            <a:off x="6434633" y="3417113"/>
            <a:ext cx="435254" cy="435254"/>
          </a:xfrm>
          <a:prstGeom prst="rect">
            <a:avLst/>
          </a:prstGeom>
        </p:spPr>
      </p:pic>
      <p:sp>
        <p:nvSpPr>
          <p:cNvPr id="43" name="Text 35"/>
          <p:cNvSpPr/>
          <p:nvPr/>
        </p:nvSpPr>
        <p:spPr>
          <a:xfrm>
            <a:off x="7132320" y="3200400"/>
            <a:ext cx="1463040" cy="41148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Domain / Multidisciplinary</a:t>
            </a:r>
            <a:endParaRPr lang="en-US" sz="1400" dirty="0"/>
          </a:p>
        </p:txBody>
      </p:sp>
      <p:sp>
        <p:nvSpPr>
          <p:cNvPr id="44" name="Text 36"/>
          <p:cNvSpPr/>
          <p:nvPr/>
        </p:nvSpPr>
        <p:spPr>
          <a:xfrm>
            <a:off x="7132320" y="3611880"/>
            <a:ext cx="14630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Robotics • EV • Industry 4.0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WHAT STUDENTS LOVE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Popular Engineering Courses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743200"/>
                <a:gridCol w="1828800"/>
                <a:gridCol w="1645920"/>
                <a:gridCol w="1828800"/>
              </a:tblGrid>
              <a:tr h="457200">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Course</a:t>
                      </a:r>
                      <a:endParaRPr lang="en-US" sz="12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2A4A"/>
                    </a:solidFill>
                  </a:tcPr>
                </a:tc>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Discipline</a:t>
                      </a:r>
                      <a:endParaRPr lang="en-US" sz="12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2A4A"/>
                    </a:solidFill>
                  </a:tcPr>
                </a:tc>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Duration</a:t>
                      </a:r>
                      <a:endParaRPr lang="en-US" sz="12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2A4A"/>
                    </a:solidFill>
                  </a:tcPr>
                </a:tc>
                <a:tc>
                  <a:txBody>
                    <a:bodyPr/>
                    <a:lstStyle/>
                    <a:p>
                      <a:pPr algn="l" indent="0" marL="0">
                        <a:buNone/>
                      </a:pPr>
                      <a:r>
                        <a:rPr lang="en-US" sz="1200" b="1" dirty="0">
                          <a:solidFill>
                            <a:srgbClr val="FFFFFF"/>
                          </a:solidFill>
                          <a:latin typeface="Segoe UI" pitchFamily="34" charset="0"/>
                          <a:ea typeface="Segoe UI" pitchFamily="34" charset="-122"/>
                          <a:cs typeface="Segoe UI" pitchFamily="34" charset="-120"/>
                        </a:rPr>
                        <a:t>Institute</a:t>
                      </a:r>
                      <a:endParaRPr lang="en-US" sz="12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2A4A"/>
                    </a:solidFill>
                  </a:tcPr>
                </a:tc>
              </a:tr>
              <a:tr h="45720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Python for Data Science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CSE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8 weeks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IIT Madras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Cloud Computing</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CSE / IT</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12 weeks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IIT Kharagpur</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r>
              <a:tr h="45720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Deep Learning</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AI / CSE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12 weeks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IIT Ropar</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Introduction to IoT</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ECE / CSE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12 weeks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IIT Kharagpur</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r>
              <a:tr h="45720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VLSI Design</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ECE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12 weeks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IIT Kanpur</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Electric Vehicles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EEE / Mech</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8 weeks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IIT Madras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r>
            </a:tbl>
          </a:graphicData>
        </a:graphic>
      </p:graphicFrame>
      <p:sp>
        <p:nvSpPr>
          <p:cNvPr id="10" name="Text 7"/>
          <p:cNvSpPr/>
          <p:nvPr/>
        </p:nvSpPr>
        <p:spPr>
          <a:xfrm>
            <a:off x="548640" y="4572000"/>
            <a:ext cx="8046720" cy="274320"/>
          </a:xfrm>
          <a:prstGeom prst="rect">
            <a:avLst/>
          </a:prstGeom>
          <a:noFill/>
          <a:ln/>
        </p:spPr>
        <p:txBody>
          <a:bodyPr wrap="square" lIns="0" tIns="0" rIns="0" bIns="0" rtlCol="0" anchor="ctr"/>
          <a:lstStyle/>
          <a:p>
            <a:pPr algn="ctr" indent="0" marL="0">
              <a:buNone/>
            </a:pPr>
            <a:r>
              <a:rPr lang="en-US" sz="1100" i="1" dirty="0">
                <a:solidFill>
                  <a:srgbClr val="F97316"/>
                </a:solidFill>
                <a:latin typeface="Segoe UI" pitchFamily="34" charset="0"/>
                <a:ea typeface="Segoe UI" pitchFamily="34" charset="-122"/>
                <a:cs typeface="Segoe UI" pitchFamily="34" charset="-120"/>
              </a:rPr>
              <a:t>Every semester, hundreds of new courses go live on nptel.ac.in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END-TO-END JOURNEY</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How NPTEL Learning Works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9</a:t>
            </a:r>
            <a:endParaRPr lang="en-US" sz="900" dirty="0"/>
          </a:p>
        </p:txBody>
      </p:sp>
      <p:sp>
        <p:nvSpPr>
          <p:cNvPr id="9" name="Shape 7"/>
          <p:cNvSpPr/>
          <p:nvPr/>
        </p:nvSpPr>
        <p:spPr>
          <a:xfrm>
            <a:off x="512064" y="1828800"/>
            <a:ext cx="1097280" cy="1554480"/>
          </a:xfrm>
          <a:prstGeom prst="roundRect">
            <a:avLst>
              <a:gd name="adj" fmla="val 6667"/>
            </a:avLst>
          </a:prstGeom>
          <a:solidFill>
            <a:srgbClr val="F1F6FC"/>
          </a:solidFill>
          <a:ln w="6350">
            <a:solidFill>
              <a:srgbClr val="2E7CD6"/>
            </a:solidFill>
            <a:prstDash val="solid"/>
          </a:ln>
        </p:spPr>
      </p:sp>
      <p:sp>
        <p:nvSpPr>
          <p:cNvPr id="10" name="Shape 8"/>
          <p:cNvSpPr/>
          <p:nvPr/>
        </p:nvSpPr>
        <p:spPr>
          <a:xfrm>
            <a:off x="763524" y="2011680"/>
            <a:ext cx="594360" cy="594360"/>
          </a:xfrm>
          <a:prstGeom prst="ellipse">
            <a:avLst/>
          </a:prstGeom>
          <a:solidFill>
            <a:srgbClr val="0B2A4A"/>
          </a:solidFill>
          <a:ln w="12700">
            <a:solidFill>
              <a:srgbClr val="0B2A4A"/>
            </a:solidFill>
            <a:prstDash val="solid"/>
          </a:ln>
        </p:spPr>
      </p:sp>
      <p:pic>
        <p:nvPicPr>
          <p:cNvPr id="11" name="Image 0" descr="preencoded.png">    </p:cNvPr>
          <p:cNvPicPr>
            <a:picLocks noChangeAspect="1"/>
          </p:cNvPicPr>
          <p:nvPr/>
        </p:nvPicPr>
        <p:blipFill>
          <a:blip r:embed="rId1"/>
          <a:stretch>
            <a:fillRect/>
          </a:stretch>
        </p:blipFill>
        <p:spPr>
          <a:xfrm>
            <a:off x="894283" y="2142439"/>
            <a:ext cx="332842" cy="332842"/>
          </a:xfrm>
          <a:prstGeom prst="rect">
            <a:avLst/>
          </a:prstGeom>
        </p:spPr>
      </p:pic>
      <p:sp>
        <p:nvSpPr>
          <p:cNvPr id="12" name="Text 9"/>
          <p:cNvSpPr/>
          <p:nvPr/>
        </p:nvSpPr>
        <p:spPr>
          <a:xfrm>
            <a:off x="512064" y="2743200"/>
            <a:ext cx="1097280" cy="32004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Enroll</a:t>
            </a:r>
            <a:endParaRPr lang="en-US" sz="1100" dirty="0"/>
          </a:p>
        </p:txBody>
      </p:sp>
      <p:sp>
        <p:nvSpPr>
          <p:cNvPr id="13" name="Text 10"/>
          <p:cNvSpPr/>
          <p:nvPr/>
        </p:nvSpPr>
        <p:spPr>
          <a:xfrm>
            <a:off x="512064" y="3035808"/>
            <a:ext cx="1097280" cy="274320"/>
          </a:xfrm>
          <a:prstGeom prst="rect">
            <a:avLst/>
          </a:prstGeom>
          <a:noFill/>
          <a:ln/>
        </p:spPr>
        <p:txBody>
          <a:bodyPr wrap="square" lIns="0" tIns="0" rIns="0" bIns="0" rtlCol="0" anchor="ctr"/>
          <a:lstStyle/>
          <a:p>
            <a:pPr algn="ctr" indent="0" marL="0">
              <a:buNone/>
            </a:pPr>
            <a:r>
              <a:rPr lang="en-US" sz="900" dirty="0">
                <a:solidFill>
                  <a:srgbClr val="F97316"/>
                </a:solidFill>
                <a:latin typeface="Segoe UI" pitchFamily="34" charset="0"/>
                <a:ea typeface="Segoe UI" pitchFamily="34" charset="-122"/>
                <a:cs typeface="Segoe UI" pitchFamily="34" charset="-120"/>
              </a:rPr>
              <a:t>Step 1</a:t>
            </a:r>
            <a:endParaRPr lang="en-US" sz="900" dirty="0"/>
          </a:p>
        </p:txBody>
      </p:sp>
      <p:sp>
        <p:nvSpPr>
          <p:cNvPr id="14" name="Shape 11"/>
          <p:cNvSpPr/>
          <p:nvPr/>
        </p:nvSpPr>
        <p:spPr>
          <a:xfrm rot="5400000">
            <a:off x="1613916" y="2523744"/>
            <a:ext cx="73152" cy="164592"/>
          </a:xfrm>
          <a:prstGeom prst="rtTriangle">
            <a:avLst/>
          </a:prstGeom>
          <a:solidFill>
            <a:srgbClr val="F97316"/>
          </a:solidFill>
          <a:ln w="12700">
            <a:solidFill>
              <a:srgbClr val="F97316"/>
            </a:solidFill>
            <a:prstDash val="solid"/>
          </a:ln>
        </p:spPr>
      </p:sp>
      <p:sp>
        <p:nvSpPr>
          <p:cNvPr id="15" name="Shape 12"/>
          <p:cNvSpPr/>
          <p:nvPr/>
        </p:nvSpPr>
        <p:spPr>
          <a:xfrm>
            <a:off x="1682496" y="1828800"/>
            <a:ext cx="1097280" cy="1554480"/>
          </a:xfrm>
          <a:prstGeom prst="roundRect">
            <a:avLst>
              <a:gd name="adj" fmla="val 6667"/>
            </a:avLst>
          </a:prstGeom>
          <a:solidFill>
            <a:srgbClr val="F1F6FC"/>
          </a:solidFill>
          <a:ln w="6350">
            <a:solidFill>
              <a:srgbClr val="2E7CD6"/>
            </a:solidFill>
            <a:prstDash val="solid"/>
          </a:ln>
        </p:spPr>
      </p:sp>
      <p:sp>
        <p:nvSpPr>
          <p:cNvPr id="16" name="Shape 13"/>
          <p:cNvSpPr/>
          <p:nvPr/>
        </p:nvSpPr>
        <p:spPr>
          <a:xfrm>
            <a:off x="1933956" y="2011680"/>
            <a:ext cx="594360" cy="594360"/>
          </a:xfrm>
          <a:prstGeom prst="ellipse">
            <a:avLst/>
          </a:prstGeom>
          <a:solidFill>
            <a:srgbClr val="0B2A4A"/>
          </a:solidFill>
          <a:ln w="12700">
            <a:solidFill>
              <a:srgbClr val="0B2A4A"/>
            </a:solidFill>
            <a:prstDash val="solid"/>
          </a:ln>
        </p:spPr>
      </p:sp>
      <p:pic>
        <p:nvPicPr>
          <p:cNvPr id="17" name="Image 1" descr="preencoded.png">    </p:cNvPr>
          <p:cNvPicPr>
            <a:picLocks noChangeAspect="1"/>
          </p:cNvPicPr>
          <p:nvPr/>
        </p:nvPicPr>
        <p:blipFill>
          <a:blip r:embed="rId2"/>
          <a:stretch>
            <a:fillRect/>
          </a:stretch>
        </p:blipFill>
        <p:spPr>
          <a:xfrm>
            <a:off x="2064715" y="2142439"/>
            <a:ext cx="332842" cy="332842"/>
          </a:xfrm>
          <a:prstGeom prst="rect">
            <a:avLst/>
          </a:prstGeom>
        </p:spPr>
      </p:pic>
      <p:sp>
        <p:nvSpPr>
          <p:cNvPr id="18" name="Text 14"/>
          <p:cNvSpPr/>
          <p:nvPr/>
        </p:nvSpPr>
        <p:spPr>
          <a:xfrm>
            <a:off x="1682496" y="2743200"/>
            <a:ext cx="1097280" cy="32004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Watch Lectures</a:t>
            </a:r>
            <a:endParaRPr lang="en-US" sz="1100" dirty="0"/>
          </a:p>
        </p:txBody>
      </p:sp>
      <p:sp>
        <p:nvSpPr>
          <p:cNvPr id="19" name="Text 15"/>
          <p:cNvSpPr/>
          <p:nvPr/>
        </p:nvSpPr>
        <p:spPr>
          <a:xfrm>
            <a:off x="1682496" y="3035808"/>
            <a:ext cx="1097280" cy="274320"/>
          </a:xfrm>
          <a:prstGeom prst="rect">
            <a:avLst/>
          </a:prstGeom>
          <a:noFill/>
          <a:ln/>
        </p:spPr>
        <p:txBody>
          <a:bodyPr wrap="square" lIns="0" tIns="0" rIns="0" bIns="0" rtlCol="0" anchor="ctr"/>
          <a:lstStyle/>
          <a:p>
            <a:pPr algn="ctr" indent="0" marL="0">
              <a:buNone/>
            </a:pPr>
            <a:r>
              <a:rPr lang="en-US" sz="900" dirty="0">
                <a:solidFill>
                  <a:srgbClr val="F97316"/>
                </a:solidFill>
                <a:latin typeface="Segoe UI" pitchFamily="34" charset="0"/>
                <a:ea typeface="Segoe UI" pitchFamily="34" charset="-122"/>
                <a:cs typeface="Segoe UI" pitchFamily="34" charset="-120"/>
              </a:rPr>
              <a:t>Step 2</a:t>
            </a:r>
            <a:endParaRPr lang="en-US" sz="900" dirty="0"/>
          </a:p>
        </p:txBody>
      </p:sp>
      <p:sp>
        <p:nvSpPr>
          <p:cNvPr id="20" name="Shape 16"/>
          <p:cNvSpPr/>
          <p:nvPr/>
        </p:nvSpPr>
        <p:spPr>
          <a:xfrm rot="5400000">
            <a:off x="2784348" y="2523744"/>
            <a:ext cx="73152" cy="164592"/>
          </a:xfrm>
          <a:prstGeom prst="rtTriangle">
            <a:avLst/>
          </a:prstGeom>
          <a:solidFill>
            <a:srgbClr val="F97316"/>
          </a:solidFill>
          <a:ln w="12700">
            <a:solidFill>
              <a:srgbClr val="F97316"/>
            </a:solidFill>
            <a:prstDash val="solid"/>
          </a:ln>
        </p:spPr>
      </p:sp>
      <p:sp>
        <p:nvSpPr>
          <p:cNvPr id="21" name="Shape 17"/>
          <p:cNvSpPr/>
          <p:nvPr/>
        </p:nvSpPr>
        <p:spPr>
          <a:xfrm>
            <a:off x="2852928" y="1828800"/>
            <a:ext cx="1097280" cy="1554480"/>
          </a:xfrm>
          <a:prstGeom prst="roundRect">
            <a:avLst>
              <a:gd name="adj" fmla="val 6667"/>
            </a:avLst>
          </a:prstGeom>
          <a:solidFill>
            <a:srgbClr val="F1F6FC"/>
          </a:solidFill>
          <a:ln w="6350">
            <a:solidFill>
              <a:srgbClr val="2E7CD6"/>
            </a:solidFill>
            <a:prstDash val="solid"/>
          </a:ln>
        </p:spPr>
      </p:sp>
      <p:sp>
        <p:nvSpPr>
          <p:cNvPr id="22" name="Shape 18"/>
          <p:cNvSpPr/>
          <p:nvPr/>
        </p:nvSpPr>
        <p:spPr>
          <a:xfrm>
            <a:off x="3104388" y="2011680"/>
            <a:ext cx="594360" cy="594360"/>
          </a:xfrm>
          <a:prstGeom prst="ellipse">
            <a:avLst/>
          </a:prstGeom>
          <a:solidFill>
            <a:srgbClr val="0B2A4A"/>
          </a:solidFill>
          <a:ln w="12700">
            <a:solidFill>
              <a:srgbClr val="0B2A4A"/>
            </a:solidFill>
            <a:prstDash val="solid"/>
          </a:ln>
        </p:spPr>
      </p:sp>
      <p:pic>
        <p:nvPicPr>
          <p:cNvPr id="23" name="Image 2" descr="preencoded.png">    </p:cNvPr>
          <p:cNvPicPr>
            <a:picLocks noChangeAspect="1"/>
          </p:cNvPicPr>
          <p:nvPr/>
        </p:nvPicPr>
        <p:blipFill>
          <a:blip r:embed="rId3"/>
          <a:stretch>
            <a:fillRect/>
          </a:stretch>
        </p:blipFill>
        <p:spPr>
          <a:xfrm>
            <a:off x="3235147" y="2142439"/>
            <a:ext cx="332842" cy="332842"/>
          </a:xfrm>
          <a:prstGeom prst="rect">
            <a:avLst/>
          </a:prstGeom>
        </p:spPr>
      </p:pic>
      <p:sp>
        <p:nvSpPr>
          <p:cNvPr id="24" name="Text 19"/>
          <p:cNvSpPr/>
          <p:nvPr/>
        </p:nvSpPr>
        <p:spPr>
          <a:xfrm>
            <a:off x="2852928" y="2743200"/>
            <a:ext cx="1097280" cy="32004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Weekly Quiz</a:t>
            </a:r>
            <a:endParaRPr lang="en-US" sz="1100" dirty="0"/>
          </a:p>
        </p:txBody>
      </p:sp>
      <p:sp>
        <p:nvSpPr>
          <p:cNvPr id="25" name="Text 20"/>
          <p:cNvSpPr/>
          <p:nvPr/>
        </p:nvSpPr>
        <p:spPr>
          <a:xfrm>
            <a:off x="2852928" y="3035808"/>
            <a:ext cx="1097280" cy="274320"/>
          </a:xfrm>
          <a:prstGeom prst="rect">
            <a:avLst/>
          </a:prstGeom>
          <a:noFill/>
          <a:ln/>
        </p:spPr>
        <p:txBody>
          <a:bodyPr wrap="square" lIns="0" tIns="0" rIns="0" bIns="0" rtlCol="0" anchor="ctr"/>
          <a:lstStyle/>
          <a:p>
            <a:pPr algn="ctr" indent="0" marL="0">
              <a:buNone/>
            </a:pPr>
            <a:r>
              <a:rPr lang="en-US" sz="900" dirty="0">
                <a:solidFill>
                  <a:srgbClr val="F97316"/>
                </a:solidFill>
                <a:latin typeface="Segoe UI" pitchFamily="34" charset="0"/>
                <a:ea typeface="Segoe UI" pitchFamily="34" charset="-122"/>
                <a:cs typeface="Segoe UI" pitchFamily="34" charset="-120"/>
              </a:rPr>
              <a:t>Step 3</a:t>
            </a:r>
            <a:endParaRPr lang="en-US" sz="900" dirty="0"/>
          </a:p>
        </p:txBody>
      </p:sp>
      <p:sp>
        <p:nvSpPr>
          <p:cNvPr id="26" name="Shape 21"/>
          <p:cNvSpPr/>
          <p:nvPr/>
        </p:nvSpPr>
        <p:spPr>
          <a:xfrm rot="5400000">
            <a:off x="3954780" y="2523744"/>
            <a:ext cx="73152" cy="164592"/>
          </a:xfrm>
          <a:prstGeom prst="rtTriangle">
            <a:avLst/>
          </a:prstGeom>
          <a:solidFill>
            <a:srgbClr val="F97316"/>
          </a:solidFill>
          <a:ln w="12700">
            <a:solidFill>
              <a:srgbClr val="F97316"/>
            </a:solidFill>
            <a:prstDash val="solid"/>
          </a:ln>
        </p:spPr>
      </p:sp>
      <p:sp>
        <p:nvSpPr>
          <p:cNvPr id="27" name="Shape 22"/>
          <p:cNvSpPr/>
          <p:nvPr/>
        </p:nvSpPr>
        <p:spPr>
          <a:xfrm>
            <a:off x="4023360" y="1828800"/>
            <a:ext cx="1097280" cy="1554480"/>
          </a:xfrm>
          <a:prstGeom prst="roundRect">
            <a:avLst>
              <a:gd name="adj" fmla="val 6667"/>
            </a:avLst>
          </a:prstGeom>
          <a:solidFill>
            <a:srgbClr val="F1F6FC"/>
          </a:solidFill>
          <a:ln w="6350">
            <a:solidFill>
              <a:srgbClr val="2E7CD6"/>
            </a:solidFill>
            <a:prstDash val="solid"/>
          </a:ln>
        </p:spPr>
      </p:sp>
      <p:sp>
        <p:nvSpPr>
          <p:cNvPr id="28" name="Shape 23"/>
          <p:cNvSpPr/>
          <p:nvPr/>
        </p:nvSpPr>
        <p:spPr>
          <a:xfrm>
            <a:off x="4274820" y="2011680"/>
            <a:ext cx="594360" cy="594360"/>
          </a:xfrm>
          <a:prstGeom prst="ellipse">
            <a:avLst/>
          </a:prstGeom>
          <a:solidFill>
            <a:srgbClr val="0B2A4A"/>
          </a:solidFill>
          <a:ln w="12700">
            <a:solidFill>
              <a:srgbClr val="0B2A4A"/>
            </a:solidFill>
            <a:prstDash val="solid"/>
          </a:ln>
        </p:spPr>
      </p:sp>
      <p:pic>
        <p:nvPicPr>
          <p:cNvPr id="29" name="Image 3" descr="preencoded.png">    </p:cNvPr>
          <p:cNvPicPr>
            <a:picLocks noChangeAspect="1"/>
          </p:cNvPicPr>
          <p:nvPr/>
        </p:nvPicPr>
        <p:blipFill>
          <a:blip r:embed="rId4"/>
          <a:stretch>
            <a:fillRect/>
          </a:stretch>
        </p:blipFill>
        <p:spPr>
          <a:xfrm>
            <a:off x="4405579" y="2142439"/>
            <a:ext cx="332842" cy="332842"/>
          </a:xfrm>
          <a:prstGeom prst="rect">
            <a:avLst/>
          </a:prstGeom>
        </p:spPr>
      </p:pic>
      <p:sp>
        <p:nvSpPr>
          <p:cNvPr id="30" name="Text 24"/>
          <p:cNvSpPr/>
          <p:nvPr/>
        </p:nvSpPr>
        <p:spPr>
          <a:xfrm>
            <a:off x="4023360" y="2743200"/>
            <a:ext cx="1097280" cy="32004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Assignments</a:t>
            </a:r>
            <a:endParaRPr lang="en-US" sz="1100" dirty="0"/>
          </a:p>
        </p:txBody>
      </p:sp>
      <p:sp>
        <p:nvSpPr>
          <p:cNvPr id="31" name="Text 25"/>
          <p:cNvSpPr/>
          <p:nvPr/>
        </p:nvSpPr>
        <p:spPr>
          <a:xfrm>
            <a:off x="4023360" y="3035808"/>
            <a:ext cx="1097280" cy="274320"/>
          </a:xfrm>
          <a:prstGeom prst="rect">
            <a:avLst/>
          </a:prstGeom>
          <a:noFill/>
          <a:ln/>
        </p:spPr>
        <p:txBody>
          <a:bodyPr wrap="square" lIns="0" tIns="0" rIns="0" bIns="0" rtlCol="0" anchor="ctr"/>
          <a:lstStyle/>
          <a:p>
            <a:pPr algn="ctr" indent="0" marL="0">
              <a:buNone/>
            </a:pPr>
            <a:r>
              <a:rPr lang="en-US" sz="900" dirty="0">
                <a:solidFill>
                  <a:srgbClr val="F97316"/>
                </a:solidFill>
                <a:latin typeface="Segoe UI" pitchFamily="34" charset="0"/>
                <a:ea typeface="Segoe UI" pitchFamily="34" charset="-122"/>
                <a:cs typeface="Segoe UI" pitchFamily="34" charset="-120"/>
              </a:rPr>
              <a:t>Step 4</a:t>
            </a:r>
            <a:endParaRPr lang="en-US" sz="900" dirty="0"/>
          </a:p>
        </p:txBody>
      </p:sp>
      <p:sp>
        <p:nvSpPr>
          <p:cNvPr id="32" name="Shape 26"/>
          <p:cNvSpPr/>
          <p:nvPr/>
        </p:nvSpPr>
        <p:spPr>
          <a:xfrm rot="5400000">
            <a:off x="5125212" y="2523744"/>
            <a:ext cx="73152" cy="164592"/>
          </a:xfrm>
          <a:prstGeom prst="rtTriangle">
            <a:avLst/>
          </a:prstGeom>
          <a:solidFill>
            <a:srgbClr val="F97316"/>
          </a:solidFill>
          <a:ln w="12700">
            <a:solidFill>
              <a:srgbClr val="F97316"/>
            </a:solidFill>
            <a:prstDash val="solid"/>
          </a:ln>
        </p:spPr>
      </p:sp>
      <p:sp>
        <p:nvSpPr>
          <p:cNvPr id="33" name="Shape 27"/>
          <p:cNvSpPr/>
          <p:nvPr/>
        </p:nvSpPr>
        <p:spPr>
          <a:xfrm>
            <a:off x="5193792" y="1828800"/>
            <a:ext cx="1097280" cy="1554480"/>
          </a:xfrm>
          <a:prstGeom prst="roundRect">
            <a:avLst>
              <a:gd name="adj" fmla="val 6667"/>
            </a:avLst>
          </a:prstGeom>
          <a:solidFill>
            <a:srgbClr val="F1F6FC"/>
          </a:solidFill>
          <a:ln w="6350">
            <a:solidFill>
              <a:srgbClr val="2E7CD6"/>
            </a:solidFill>
            <a:prstDash val="solid"/>
          </a:ln>
        </p:spPr>
      </p:sp>
      <p:sp>
        <p:nvSpPr>
          <p:cNvPr id="34" name="Shape 28"/>
          <p:cNvSpPr/>
          <p:nvPr/>
        </p:nvSpPr>
        <p:spPr>
          <a:xfrm>
            <a:off x="5445252" y="2011680"/>
            <a:ext cx="594360" cy="594360"/>
          </a:xfrm>
          <a:prstGeom prst="ellipse">
            <a:avLst/>
          </a:prstGeom>
          <a:solidFill>
            <a:srgbClr val="0B2A4A"/>
          </a:solidFill>
          <a:ln w="12700">
            <a:solidFill>
              <a:srgbClr val="0B2A4A"/>
            </a:solidFill>
            <a:prstDash val="solid"/>
          </a:ln>
        </p:spPr>
      </p:sp>
      <p:pic>
        <p:nvPicPr>
          <p:cNvPr id="35" name="Image 4" descr="preencoded.png">    </p:cNvPr>
          <p:cNvPicPr>
            <a:picLocks noChangeAspect="1"/>
          </p:cNvPicPr>
          <p:nvPr/>
        </p:nvPicPr>
        <p:blipFill>
          <a:blip r:embed="rId5"/>
          <a:stretch>
            <a:fillRect/>
          </a:stretch>
        </p:blipFill>
        <p:spPr>
          <a:xfrm>
            <a:off x="5576011" y="2142439"/>
            <a:ext cx="332842" cy="332842"/>
          </a:xfrm>
          <a:prstGeom prst="rect">
            <a:avLst/>
          </a:prstGeom>
        </p:spPr>
      </p:pic>
      <p:sp>
        <p:nvSpPr>
          <p:cNvPr id="36" name="Text 29"/>
          <p:cNvSpPr/>
          <p:nvPr/>
        </p:nvSpPr>
        <p:spPr>
          <a:xfrm>
            <a:off x="5193792" y="2743200"/>
            <a:ext cx="1097280" cy="32004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Discussion</a:t>
            </a:r>
            <a:endParaRPr lang="en-US" sz="1100" dirty="0"/>
          </a:p>
        </p:txBody>
      </p:sp>
      <p:sp>
        <p:nvSpPr>
          <p:cNvPr id="37" name="Text 30"/>
          <p:cNvSpPr/>
          <p:nvPr/>
        </p:nvSpPr>
        <p:spPr>
          <a:xfrm>
            <a:off x="5193792" y="3035808"/>
            <a:ext cx="1097280" cy="274320"/>
          </a:xfrm>
          <a:prstGeom prst="rect">
            <a:avLst/>
          </a:prstGeom>
          <a:noFill/>
          <a:ln/>
        </p:spPr>
        <p:txBody>
          <a:bodyPr wrap="square" lIns="0" tIns="0" rIns="0" bIns="0" rtlCol="0" anchor="ctr"/>
          <a:lstStyle/>
          <a:p>
            <a:pPr algn="ctr" indent="0" marL="0">
              <a:buNone/>
            </a:pPr>
            <a:r>
              <a:rPr lang="en-US" sz="900" dirty="0">
                <a:solidFill>
                  <a:srgbClr val="F97316"/>
                </a:solidFill>
                <a:latin typeface="Segoe UI" pitchFamily="34" charset="0"/>
                <a:ea typeface="Segoe UI" pitchFamily="34" charset="-122"/>
                <a:cs typeface="Segoe UI" pitchFamily="34" charset="-120"/>
              </a:rPr>
              <a:t>Step 5</a:t>
            </a:r>
            <a:endParaRPr lang="en-US" sz="900" dirty="0"/>
          </a:p>
        </p:txBody>
      </p:sp>
      <p:sp>
        <p:nvSpPr>
          <p:cNvPr id="38" name="Shape 31"/>
          <p:cNvSpPr/>
          <p:nvPr/>
        </p:nvSpPr>
        <p:spPr>
          <a:xfrm rot="5400000">
            <a:off x="6295644" y="2523744"/>
            <a:ext cx="73152" cy="164592"/>
          </a:xfrm>
          <a:prstGeom prst="rtTriangle">
            <a:avLst/>
          </a:prstGeom>
          <a:solidFill>
            <a:srgbClr val="F97316"/>
          </a:solidFill>
          <a:ln w="12700">
            <a:solidFill>
              <a:srgbClr val="F97316"/>
            </a:solidFill>
            <a:prstDash val="solid"/>
          </a:ln>
        </p:spPr>
      </p:sp>
      <p:sp>
        <p:nvSpPr>
          <p:cNvPr id="39" name="Shape 32"/>
          <p:cNvSpPr/>
          <p:nvPr/>
        </p:nvSpPr>
        <p:spPr>
          <a:xfrm>
            <a:off x="6364224" y="1828800"/>
            <a:ext cx="1097280" cy="1554480"/>
          </a:xfrm>
          <a:prstGeom prst="roundRect">
            <a:avLst>
              <a:gd name="adj" fmla="val 6667"/>
            </a:avLst>
          </a:prstGeom>
          <a:solidFill>
            <a:srgbClr val="F1F6FC"/>
          </a:solidFill>
          <a:ln w="6350">
            <a:solidFill>
              <a:srgbClr val="2E7CD6"/>
            </a:solidFill>
            <a:prstDash val="solid"/>
          </a:ln>
        </p:spPr>
      </p:sp>
      <p:sp>
        <p:nvSpPr>
          <p:cNvPr id="40" name="Shape 33"/>
          <p:cNvSpPr/>
          <p:nvPr/>
        </p:nvSpPr>
        <p:spPr>
          <a:xfrm>
            <a:off x="6615684" y="2011680"/>
            <a:ext cx="594360" cy="594360"/>
          </a:xfrm>
          <a:prstGeom prst="ellipse">
            <a:avLst/>
          </a:prstGeom>
          <a:solidFill>
            <a:srgbClr val="0B2A4A"/>
          </a:solidFill>
          <a:ln w="12700">
            <a:solidFill>
              <a:srgbClr val="0B2A4A"/>
            </a:solidFill>
            <a:prstDash val="solid"/>
          </a:ln>
        </p:spPr>
      </p:sp>
      <p:pic>
        <p:nvPicPr>
          <p:cNvPr id="41" name="Image 5" descr="preencoded.png">    </p:cNvPr>
          <p:cNvPicPr>
            <a:picLocks noChangeAspect="1"/>
          </p:cNvPicPr>
          <p:nvPr/>
        </p:nvPicPr>
        <p:blipFill>
          <a:blip r:embed="rId6"/>
          <a:stretch>
            <a:fillRect/>
          </a:stretch>
        </p:blipFill>
        <p:spPr>
          <a:xfrm>
            <a:off x="6746443" y="2142439"/>
            <a:ext cx="332842" cy="332842"/>
          </a:xfrm>
          <a:prstGeom prst="rect">
            <a:avLst/>
          </a:prstGeom>
        </p:spPr>
      </p:pic>
      <p:sp>
        <p:nvSpPr>
          <p:cNvPr id="42" name="Text 34"/>
          <p:cNvSpPr/>
          <p:nvPr/>
        </p:nvSpPr>
        <p:spPr>
          <a:xfrm>
            <a:off x="6364224" y="2743200"/>
            <a:ext cx="1097280" cy="32004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Proctored Exam</a:t>
            </a:r>
            <a:endParaRPr lang="en-US" sz="1100" dirty="0"/>
          </a:p>
        </p:txBody>
      </p:sp>
      <p:sp>
        <p:nvSpPr>
          <p:cNvPr id="43" name="Text 35"/>
          <p:cNvSpPr/>
          <p:nvPr/>
        </p:nvSpPr>
        <p:spPr>
          <a:xfrm>
            <a:off x="6364224" y="3035808"/>
            <a:ext cx="1097280" cy="274320"/>
          </a:xfrm>
          <a:prstGeom prst="rect">
            <a:avLst/>
          </a:prstGeom>
          <a:noFill/>
          <a:ln/>
        </p:spPr>
        <p:txBody>
          <a:bodyPr wrap="square" lIns="0" tIns="0" rIns="0" bIns="0" rtlCol="0" anchor="ctr"/>
          <a:lstStyle/>
          <a:p>
            <a:pPr algn="ctr" indent="0" marL="0">
              <a:buNone/>
            </a:pPr>
            <a:r>
              <a:rPr lang="en-US" sz="900" dirty="0">
                <a:solidFill>
                  <a:srgbClr val="F97316"/>
                </a:solidFill>
                <a:latin typeface="Segoe UI" pitchFamily="34" charset="0"/>
                <a:ea typeface="Segoe UI" pitchFamily="34" charset="-122"/>
                <a:cs typeface="Segoe UI" pitchFamily="34" charset="-120"/>
              </a:rPr>
              <a:t>Step 6</a:t>
            </a:r>
            <a:endParaRPr lang="en-US" sz="900" dirty="0"/>
          </a:p>
        </p:txBody>
      </p:sp>
      <p:sp>
        <p:nvSpPr>
          <p:cNvPr id="44" name="Shape 36"/>
          <p:cNvSpPr/>
          <p:nvPr/>
        </p:nvSpPr>
        <p:spPr>
          <a:xfrm rot="5400000">
            <a:off x="7466076" y="2523744"/>
            <a:ext cx="73152" cy="164592"/>
          </a:xfrm>
          <a:prstGeom prst="rtTriangle">
            <a:avLst/>
          </a:prstGeom>
          <a:solidFill>
            <a:srgbClr val="F97316"/>
          </a:solidFill>
          <a:ln w="12700">
            <a:solidFill>
              <a:srgbClr val="F97316"/>
            </a:solidFill>
            <a:prstDash val="solid"/>
          </a:ln>
        </p:spPr>
      </p:sp>
      <p:sp>
        <p:nvSpPr>
          <p:cNvPr id="45" name="Shape 37"/>
          <p:cNvSpPr/>
          <p:nvPr/>
        </p:nvSpPr>
        <p:spPr>
          <a:xfrm>
            <a:off x="7534656" y="1828800"/>
            <a:ext cx="1097280" cy="1554480"/>
          </a:xfrm>
          <a:prstGeom prst="roundRect">
            <a:avLst>
              <a:gd name="adj" fmla="val 6667"/>
            </a:avLst>
          </a:prstGeom>
          <a:solidFill>
            <a:srgbClr val="F1F6FC"/>
          </a:solidFill>
          <a:ln w="6350">
            <a:solidFill>
              <a:srgbClr val="2E7CD6"/>
            </a:solidFill>
            <a:prstDash val="solid"/>
          </a:ln>
        </p:spPr>
      </p:sp>
      <p:sp>
        <p:nvSpPr>
          <p:cNvPr id="46" name="Shape 38"/>
          <p:cNvSpPr/>
          <p:nvPr/>
        </p:nvSpPr>
        <p:spPr>
          <a:xfrm>
            <a:off x="7786116" y="2011680"/>
            <a:ext cx="594360" cy="594360"/>
          </a:xfrm>
          <a:prstGeom prst="ellipse">
            <a:avLst/>
          </a:prstGeom>
          <a:solidFill>
            <a:srgbClr val="0B2A4A"/>
          </a:solidFill>
          <a:ln w="12700">
            <a:solidFill>
              <a:srgbClr val="0B2A4A"/>
            </a:solidFill>
            <a:prstDash val="solid"/>
          </a:ln>
        </p:spPr>
      </p:sp>
      <p:pic>
        <p:nvPicPr>
          <p:cNvPr id="47" name="Image 6" descr="preencoded.png">    </p:cNvPr>
          <p:cNvPicPr>
            <a:picLocks noChangeAspect="1"/>
          </p:cNvPicPr>
          <p:nvPr/>
        </p:nvPicPr>
        <p:blipFill>
          <a:blip r:embed="rId7"/>
          <a:stretch>
            <a:fillRect/>
          </a:stretch>
        </p:blipFill>
        <p:spPr>
          <a:xfrm>
            <a:off x="7916875" y="2142439"/>
            <a:ext cx="332842" cy="332842"/>
          </a:xfrm>
          <a:prstGeom prst="rect">
            <a:avLst/>
          </a:prstGeom>
        </p:spPr>
      </p:pic>
      <p:sp>
        <p:nvSpPr>
          <p:cNvPr id="48" name="Text 39"/>
          <p:cNvSpPr/>
          <p:nvPr/>
        </p:nvSpPr>
        <p:spPr>
          <a:xfrm>
            <a:off x="7534656" y="2743200"/>
            <a:ext cx="1097280" cy="32004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Certificate</a:t>
            </a:r>
            <a:endParaRPr lang="en-US" sz="1100" dirty="0"/>
          </a:p>
        </p:txBody>
      </p:sp>
      <p:sp>
        <p:nvSpPr>
          <p:cNvPr id="49" name="Text 40"/>
          <p:cNvSpPr/>
          <p:nvPr/>
        </p:nvSpPr>
        <p:spPr>
          <a:xfrm>
            <a:off x="7534656" y="3035808"/>
            <a:ext cx="1097280" cy="274320"/>
          </a:xfrm>
          <a:prstGeom prst="rect">
            <a:avLst/>
          </a:prstGeom>
          <a:noFill/>
          <a:ln/>
        </p:spPr>
        <p:txBody>
          <a:bodyPr wrap="square" lIns="0" tIns="0" rIns="0" bIns="0" rtlCol="0" anchor="ctr"/>
          <a:lstStyle/>
          <a:p>
            <a:pPr algn="ctr" indent="0" marL="0">
              <a:buNone/>
            </a:pPr>
            <a:r>
              <a:rPr lang="en-US" sz="900" dirty="0">
                <a:solidFill>
                  <a:srgbClr val="F97316"/>
                </a:solidFill>
                <a:latin typeface="Segoe UI" pitchFamily="34" charset="0"/>
                <a:ea typeface="Segoe UI" pitchFamily="34" charset="-122"/>
                <a:cs typeface="Segoe UI" pitchFamily="34" charset="-120"/>
              </a:rPr>
              <a:t>Step 7</a:t>
            </a:r>
            <a:endParaRPr lang="en-US" sz="900" dirty="0"/>
          </a:p>
        </p:txBody>
      </p:sp>
      <p:sp>
        <p:nvSpPr>
          <p:cNvPr id="50" name="Text 41"/>
          <p:cNvSpPr/>
          <p:nvPr/>
        </p:nvSpPr>
        <p:spPr>
          <a:xfrm>
            <a:off x="457200" y="3840480"/>
            <a:ext cx="8229600" cy="365760"/>
          </a:xfrm>
          <a:prstGeom prst="rect">
            <a:avLst/>
          </a:prstGeom>
          <a:noFill/>
          <a:ln/>
        </p:spPr>
        <p:txBody>
          <a:bodyPr wrap="square" lIns="0" tIns="0" rIns="0" bIns="0" rtlCol="0" anchor="ctr"/>
          <a:lstStyle/>
          <a:p>
            <a:pPr algn="ctr" indent="0" marL="0">
              <a:buNone/>
            </a:pPr>
            <a:r>
              <a:rPr lang="en-US" sz="1300" i="1" dirty="0">
                <a:solidFill>
                  <a:srgbClr val="6B7280"/>
                </a:solidFill>
                <a:latin typeface="Segoe UI" pitchFamily="34" charset="0"/>
                <a:ea typeface="Segoe UI" pitchFamily="34" charset="-122"/>
                <a:cs typeface="Segoe UI" pitchFamily="34" charset="-120"/>
              </a:rPr>
              <a:t>Weekly, self-paced learning with structured milestones.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YOUR TYPICAL WEEK</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Weekly Course Structure</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10</a:t>
            </a:r>
            <a:endParaRPr lang="en-US" sz="900" dirty="0"/>
          </a:p>
        </p:txBody>
      </p:sp>
      <p:graphicFrame>
        <p:nvGraphicFramePr>
          <p:cNvPr id="9" name="Chart 0" descr=""/>
          <p:cNvGraphicFramePr/>
          <p:nvPr/>
        </p:nvGraphicFramePr>
        <p:xfrm>
          <a:off x="365760" y="1280160"/>
          <a:ext cx="3840480" cy="347472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572000" y="1417320"/>
            <a:ext cx="457200" cy="457200"/>
          </a:xfrm>
          <a:prstGeom prst="ellipse">
            <a:avLst/>
          </a:prstGeom>
          <a:solidFill>
            <a:srgbClr val="F97316"/>
          </a:solidFill>
          <a:ln w="12700">
            <a:solidFill>
              <a:srgbClr val="F97316"/>
            </a:solidFill>
            <a:prstDash val="solid"/>
          </a:ln>
        </p:spPr>
      </p:sp>
      <p:sp>
        <p:nvSpPr>
          <p:cNvPr id="11" name="Text 8"/>
          <p:cNvSpPr/>
          <p:nvPr/>
        </p:nvSpPr>
        <p:spPr>
          <a:xfrm>
            <a:off x="457200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12" name="Text 9"/>
          <p:cNvSpPr/>
          <p:nvPr/>
        </p:nvSpPr>
        <p:spPr>
          <a:xfrm>
            <a:off x="5120640" y="1399032"/>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4 hrs Video Lectures</a:t>
            </a:r>
            <a:endParaRPr lang="en-US" sz="1300" dirty="0"/>
          </a:p>
        </p:txBody>
      </p:sp>
      <p:sp>
        <p:nvSpPr>
          <p:cNvPr id="13" name="Text 10"/>
          <p:cNvSpPr/>
          <p:nvPr/>
        </p:nvSpPr>
        <p:spPr>
          <a:xfrm>
            <a:off x="5120640" y="1673352"/>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IIT professors, HD quality</a:t>
            </a:r>
            <a:endParaRPr lang="en-US" sz="1050" dirty="0"/>
          </a:p>
        </p:txBody>
      </p:sp>
      <p:sp>
        <p:nvSpPr>
          <p:cNvPr id="14" name="Shape 11"/>
          <p:cNvSpPr/>
          <p:nvPr/>
        </p:nvSpPr>
        <p:spPr>
          <a:xfrm>
            <a:off x="4572000" y="2103120"/>
            <a:ext cx="457200" cy="457200"/>
          </a:xfrm>
          <a:prstGeom prst="ellipse">
            <a:avLst/>
          </a:prstGeom>
          <a:solidFill>
            <a:srgbClr val="F97316"/>
          </a:solidFill>
          <a:ln w="12700">
            <a:solidFill>
              <a:srgbClr val="F97316"/>
            </a:solidFill>
            <a:prstDash val="solid"/>
          </a:ln>
        </p:spPr>
      </p:sp>
      <p:sp>
        <p:nvSpPr>
          <p:cNvPr id="15" name="Text 12"/>
          <p:cNvSpPr/>
          <p:nvPr/>
        </p:nvSpPr>
        <p:spPr>
          <a:xfrm>
            <a:off x="4572000" y="2103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6" name="Text 13"/>
          <p:cNvSpPr/>
          <p:nvPr/>
        </p:nvSpPr>
        <p:spPr>
          <a:xfrm>
            <a:off x="5120640" y="2084832"/>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1 hr Weekly Quiz</a:t>
            </a:r>
            <a:endParaRPr lang="en-US" sz="1300" dirty="0"/>
          </a:p>
        </p:txBody>
      </p:sp>
      <p:sp>
        <p:nvSpPr>
          <p:cNvPr id="17" name="Text 14"/>
          <p:cNvSpPr/>
          <p:nvPr/>
        </p:nvSpPr>
        <p:spPr>
          <a:xfrm>
            <a:off x="5120640" y="2359152"/>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MCQ, submitted online</a:t>
            </a:r>
            <a:endParaRPr lang="en-US" sz="1050" dirty="0"/>
          </a:p>
        </p:txBody>
      </p:sp>
      <p:sp>
        <p:nvSpPr>
          <p:cNvPr id="18" name="Shape 15"/>
          <p:cNvSpPr/>
          <p:nvPr/>
        </p:nvSpPr>
        <p:spPr>
          <a:xfrm>
            <a:off x="4572000" y="2788920"/>
            <a:ext cx="457200" cy="457200"/>
          </a:xfrm>
          <a:prstGeom prst="ellipse">
            <a:avLst/>
          </a:prstGeom>
          <a:solidFill>
            <a:srgbClr val="F97316"/>
          </a:solidFill>
          <a:ln w="12700">
            <a:solidFill>
              <a:srgbClr val="F97316"/>
            </a:solidFill>
            <a:prstDash val="solid"/>
          </a:ln>
        </p:spPr>
      </p:sp>
      <p:sp>
        <p:nvSpPr>
          <p:cNvPr id="19" name="Text 16"/>
          <p:cNvSpPr/>
          <p:nvPr/>
        </p:nvSpPr>
        <p:spPr>
          <a:xfrm>
            <a:off x="4572000" y="2788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20" name="Text 17"/>
          <p:cNvSpPr/>
          <p:nvPr/>
        </p:nvSpPr>
        <p:spPr>
          <a:xfrm>
            <a:off x="5120640" y="2770632"/>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1.5 hrs Reading</a:t>
            </a:r>
            <a:endParaRPr lang="en-US" sz="1300" dirty="0"/>
          </a:p>
        </p:txBody>
      </p:sp>
      <p:sp>
        <p:nvSpPr>
          <p:cNvPr id="21" name="Text 18"/>
          <p:cNvSpPr/>
          <p:nvPr/>
        </p:nvSpPr>
        <p:spPr>
          <a:xfrm>
            <a:off x="5120640" y="3044952"/>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Notes and reference material</a:t>
            </a:r>
            <a:endParaRPr lang="en-US" sz="1050" dirty="0"/>
          </a:p>
        </p:txBody>
      </p:sp>
      <p:sp>
        <p:nvSpPr>
          <p:cNvPr id="22" name="Shape 19"/>
          <p:cNvSpPr/>
          <p:nvPr/>
        </p:nvSpPr>
        <p:spPr>
          <a:xfrm>
            <a:off x="4572000" y="3474720"/>
            <a:ext cx="457200" cy="457200"/>
          </a:xfrm>
          <a:prstGeom prst="ellipse">
            <a:avLst/>
          </a:prstGeom>
          <a:solidFill>
            <a:srgbClr val="F97316"/>
          </a:solidFill>
          <a:ln w="12700">
            <a:solidFill>
              <a:srgbClr val="F97316"/>
            </a:solidFill>
            <a:prstDash val="solid"/>
          </a:ln>
        </p:spPr>
      </p:sp>
      <p:sp>
        <p:nvSpPr>
          <p:cNvPr id="23" name="Text 20"/>
          <p:cNvSpPr/>
          <p:nvPr/>
        </p:nvSpPr>
        <p:spPr>
          <a:xfrm>
            <a:off x="457200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4" name="Text 21"/>
          <p:cNvSpPr/>
          <p:nvPr/>
        </p:nvSpPr>
        <p:spPr>
          <a:xfrm>
            <a:off x="5120640" y="3456432"/>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0.5 hr Discussion</a:t>
            </a:r>
            <a:endParaRPr lang="en-US" sz="1300" dirty="0"/>
          </a:p>
        </p:txBody>
      </p:sp>
      <p:sp>
        <p:nvSpPr>
          <p:cNvPr id="25" name="Text 22"/>
          <p:cNvSpPr/>
          <p:nvPr/>
        </p:nvSpPr>
        <p:spPr>
          <a:xfrm>
            <a:off x="5120640" y="3730752"/>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Ask, answer, learn together</a:t>
            </a:r>
            <a:endParaRPr lang="en-US" sz="1050" dirty="0"/>
          </a:p>
        </p:txBody>
      </p:sp>
      <p:sp>
        <p:nvSpPr>
          <p:cNvPr id="26" name="Text 23"/>
          <p:cNvSpPr/>
          <p:nvPr/>
        </p:nvSpPr>
        <p:spPr>
          <a:xfrm>
            <a:off x="4572000" y="4297680"/>
            <a:ext cx="4297680" cy="274320"/>
          </a:xfrm>
          <a:prstGeom prst="rect">
            <a:avLst/>
          </a:prstGeom>
          <a:noFill/>
          <a:ln/>
        </p:spPr>
        <p:txBody>
          <a:bodyPr wrap="square" lIns="0" tIns="0" rIns="0" bIns="0" rtlCol="0" anchor="ctr"/>
          <a:lstStyle/>
          <a:p>
            <a:pPr indent="0" marL="0">
              <a:buNone/>
            </a:pPr>
            <a:r>
              <a:rPr lang="en-US" sz="1200" i="1" dirty="0">
                <a:solidFill>
                  <a:srgbClr val="F97316"/>
                </a:solidFill>
                <a:latin typeface="Segoe UI" pitchFamily="34" charset="0"/>
                <a:ea typeface="Segoe UI" pitchFamily="34" charset="-122"/>
                <a:cs typeface="Segoe UI" pitchFamily="34" charset="-120"/>
              </a:rPr>
              <a:t>Approximately 7 hours per week per course.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WEEKLY PRACTICE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Assignments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11</a:t>
            </a:r>
            <a:endParaRPr lang="en-US" sz="900" dirty="0"/>
          </a:p>
        </p:txBody>
      </p:sp>
      <p:sp>
        <p:nvSpPr>
          <p:cNvPr id="9" name="Shape 7"/>
          <p:cNvSpPr/>
          <p:nvPr/>
        </p:nvSpPr>
        <p:spPr>
          <a:xfrm>
            <a:off x="822960" y="1554480"/>
            <a:ext cx="2011680" cy="2011680"/>
          </a:xfrm>
          <a:prstGeom prst="ellipse">
            <a:avLst/>
          </a:prstGeom>
          <a:solidFill>
            <a:srgbClr val="F1F6FC"/>
          </a:solidFill>
          <a:ln w="12700">
            <a:solidFill>
              <a:srgbClr val="F1F6FC"/>
            </a:solidFill>
            <a:prstDash val="solid"/>
          </a:ln>
        </p:spPr>
      </p:sp>
      <p:pic>
        <p:nvPicPr>
          <p:cNvPr id="10" name="Image 0" descr="preencoded.png">    </p:cNvPr>
          <p:cNvPicPr>
            <a:picLocks noChangeAspect="1"/>
          </p:cNvPicPr>
          <p:nvPr/>
        </p:nvPicPr>
        <p:blipFill>
          <a:blip r:embed="rId1"/>
          <a:stretch>
            <a:fillRect/>
          </a:stretch>
        </p:blipFill>
        <p:spPr>
          <a:xfrm>
            <a:off x="1265530" y="1997050"/>
            <a:ext cx="1126541" cy="1126541"/>
          </a:xfrm>
          <a:prstGeom prst="rect">
            <a:avLst/>
          </a:prstGeom>
        </p:spPr>
      </p:pic>
      <p:sp>
        <p:nvSpPr>
          <p:cNvPr id="11" name="Shape 8"/>
          <p:cNvSpPr/>
          <p:nvPr/>
        </p:nvSpPr>
        <p:spPr>
          <a:xfrm>
            <a:off x="3291840" y="1490472"/>
            <a:ext cx="182880" cy="182880"/>
          </a:xfrm>
          <a:prstGeom prst="ellipse">
            <a:avLst/>
          </a:prstGeom>
          <a:solidFill>
            <a:srgbClr val="F97316"/>
          </a:solidFill>
          <a:ln w="12700">
            <a:solidFill>
              <a:srgbClr val="F97316"/>
            </a:solidFill>
            <a:prstDash val="solid"/>
          </a:ln>
        </p:spPr>
      </p:sp>
      <p:sp>
        <p:nvSpPr>
          <p:cNvPr id="12" name="Text 9"/>
          <p:cNvSpPr/>
          <p:nvPr/>
        </p:nvSpPr>
        <p:spPr>
          <a:xfrm>
            <a:off x="3566160" y="1371600"/>
            <a:ext cx="548640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Released Every Week</a:t>
            </a:r>
            <a:endParaRPr lang="en-US" sz="1400" dirty="0"/>
          </a:p>
        </p:txBody>
      </p:sp>
      <p:sp>
        <p:nvSpPr>
          <p:cNvPr id="13" name="Text 10"/>
          <p:cNvSpPr/>
          <p:nvPr/>
        </p:nvSpPr>
        <p:spPr>
          <a:xfrm>
            <a:off x="3566160" y="1645920"/>
            <a:ext cx="548640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MCQs, fill-ups, numerical.</a:t>
            </a:r>
            <a:endParaRPr lang="en-US" sz="1100" dirty="0"/>
          </a:p>
        </p:txBody>
      </p:sp>
      <p:sp>
        <p:nvSpPr>
          <p:cNvPr id="14" name="Shape 11"/>
          <p:cNvSpPr/>
          <p:nvPr/>
        </p:nvSpPr>
        <p:spPr>
          <a:xfrm>
            <a:off x="3291840" y="2039112"/>
            <a:ext cx="182880" cy="182880"/>
          </a:xfrm>
          <a:prstGeom prst="ellipse">
            <a:avLst/>
          </a:prstGeom>
          <a:solidFill>
            <a:srgbClr val="F97316"/>
          </a:solidFill>
          <a:ln w="12700">
            <a:solidFill>
              <a:srgbClr val="F97316"/>
            </a:solidFill>
            <a:prstDash val="solid"/>
          </a:ln>
        </p:spPr>
      </p:sp>
      <p:sp>
        <p:nvSpPr>
          <p:cNvPr id="15" name="Text 12"/>
          <p:cNvSpPr/>
          <p:nvPr/>
        </p:nvSpPr>
        <p:spPr>
          <a:xfrm>
            <a:off x="3566160" y="1920240"/>
            <a:ext cx="548640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Open Book Style</a:t>
            </a:r>
            <a:endParaRPr lang="en-US" sz="1400" dirty="0"/>
          </a:p>
        </p:txBody>
      </p:sp>
      <p:sp>
        <p:nvSpPr>
          <p:cNvPr id="16" name="Text 13"/>
          <p:cNvSpPr/>
          <p:nvPr/>
        </p:nvSpPr>
        <p:spPr>
          <a:xfrm>
            <a:off x="3566160" y="2194560"/>
            <a:ext cx="548640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Solve using notes and videos.</a:t>
            </a:r>
            <a:endParaRPr lang="en-US" sz="1100" dirty="0"/>
          </a:p>
        </p:txBody>
      </p:sp>
      <p:sp>
        <p:nvSpPr>
          <p:cNvPr id="17" name="Shape 14"/>
          <p:cNvSpPr/>
          <p:nvPr/>
        </p:nvSpPr>
        <p:spPr>
          <a:xfrm>
            <a:off x="3291840" y="2587752"/>
            <a:ext cx="182880" cy="182880"/>
          </a:xfrm>
          <a:prstGeom prst="ellipse">
            <a:avLst/>
          </a:prstGeom>
          <a:solidFill>
            <a:srgbClr val="F97316"/>
          </a:solidFill>
          <a:ln w="12700">
            <a:solidFill>
              <a:srgbClr val="F97316"/>
            </a:solidFill>
            <a:prstDash val="solid"/>
          </a:ln>
        </p:spPr>
      </p:sp>
      <p:sp>
        <p:nvSpPr>
          <p:cNvPr id="18" name="Text 15"/>
          <p:cNvSpPr/>
          <p:nvPr/>
        </p:nvSpPr>
        <p:spPr>
          <a:xfrm>
            <a:off x="3566160" y="2468880"/>
            <a:ext cx="548640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Best of N-1 Rule</a:t>
            </a:r>
            <a:endParaRPr lang="en-US" sz="1400" dirty="0"/>
          </a:p>
        </p:txBody>
      </p:sp>
      <p:sp>
        <p:nvSpPr>
          <p:cNvPr id="19" name="Text 16"/>
          <p:cNvSpPr/>
          <p:nvPr/>
        </p:nvSpPr>
        <p:spPr>
          <a:xfrm>
            <a:off x="3566160" y="2743200"/>
            <a:ext cx="548640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Lowest week's score is dropped.</a:t>
            </a:r>
            <a:endParaRPr lang="en-US" sz="1100" dirty="0"/>
          </a:p>
        </p:txBody>
      </p:sp>
      <p:sp>
        <p:nvSpPr>
          <p:cNvPr id="20" name="Shape 17"/>
          <p:cNvSpPr/>
          <p:nvPr/>
        </p:nvSpPr>
        <p:spPr>
          <a:xfrm>
            <a:off x="3291840" y="3136392"/>
            <a:ext cx="182880" cy="182880"/>
          </a:xfrm>
          <a:prstGeom prst="ellipse">
            <a:avLst/>
          </a:prstGeom>
          <a:solidFill>
            <a:srgbClr val="F97316"/>
          </a:solidFill>
          <a:ln w="12700">
            <a:solidFill>
              <a:srgbClr val="F97316"/>
            </a:solidFill>
            <a:prstDash val="solid"/>
          </a:ln>
        </p:spPr>
      </p:sp>
      <p:sp>
        <p:nvSpPr>
          <p:cNvPr id="21" name="Text 18"/>
          <p:cNvSpPr/>
          <p:nvPr/>
        </p:nvSpPr>
        <p:spPr>
          <a:xfrm>
            <a:off x="3566160" y="3017520"/>
            <a:ext cx="548640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Counts 25% of Final</a:t>
            </a:r>
            <a:endParaRPr lang="en-US" sz="1400" dirty="0"/>
          </a:p>
        </p:txBody>
      </p:sp>
      <p:sp>
        <p:nvSpPr>
          <p:cNvPr id="22" name="Text 19"/>
          <p:cNvSpPr/>
          <p:nvPr/>
        </p:nvSpPr>
        <p:spPr>
          <a:xfrm>
            <a:off x="3566160" y="3291840"/>
            <a:ext cx="548640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Skipping assignments hurts you.</a:t>
            </a:r>
            <a:endParaRPr lang="en-US" sz="1100" dirty="0"/>
          </a:p>
        </p:txBody>
      </p:sp>
      <p:sp>
        <p:nvSpPr>
          <p:cNvPr id="23" name="Shape 20"/>
          <p:cNvSpPr/>
          <p:nvPr/>
        </p:nvSpPr>
        <p:spPr>
          <a:xfrm>
            <a:off x="3291840" y="3685032"/>
            <a:ext cx="182880" cy="182880"/>
          </a:xfrm>
          <a:prstGeom prst="ellipse">
            <a:avLst/>
          </a:prstGeom>
          <a:solidFill>
            <a:srgbClr val="F97316"/>
          </a:solidFill>
          <a:ln w="12700">
            <a:solidFill>
              <a:srgbClr val="F97316"/>
            </a:solidFill>
            <a:prstDash val="solid"/>
          </a:ln>
        </p:spPr>
      </p:sp>
      <p:sp>
        <p:nvSpPr>
          <p:cNvPr id="24" name="Text 21"/>
          <p:cNvSpPr/>
          <p:nvPr/>
        </p:nvSpPr>
        <p:spPr>
          <a:xfrm>
            <a:off x="3566160" y="3566160"/>
            <a:ext cx="5486400" cy="320040"/>
          </a:xfrm>
          <a:prstGeom prst="rect">
            <a:avLst/>
          </a:prstGeom>
          <a:noFill/>
          <a:ln/>
        </p:spPr>
        <p:txBody>
          <a:bodyPr wrap="square" lIns="0" tIns="0" rIns="0" bIns="0" rtlCol="0" anchor="ctr"/>
          <a:lstStyle/>
          <a:p>
            <a:pPr indent="0" marL="0">
              <a:buNone/>
            </a:pPr>
            <a:r>
              <a:rPr lang="en-US" sz="1400" b="1" dirty="0">
                <a:solidFill>
                  <a:srgbClr val="0B2A4A"/>
                </a:solidFill>
                <a:latin typeface="Segoe UI" pitchFamily="34" charset="0"/>
                <a:ea typeface="Segoe UI" pitchFamily="34" charset="-122"/>
                <a:cs typeface="Segoe UI" pitchFamily="34" charset="-120"/>
              </a:rPr>
              <a:t>Instant Feedback</a:t>
            </a:r>
            <a:endParaRPr lang="en-US" sz="1400" dirty="0"/>
          </a:p>
        </p:txBody>
      </p:sp>
      <p:sp>
        <p:nvSpPr>
          <p:cNvPr id="25" name="Text 22"/>
          <p:cNvSpPr/>
          <p:nvPr/>
        </p:nvSpPr>
        <p:spPr>
          <a:xfrm>
            <a:off x="3566160" y="3840480"/>
            <a:ext cx="5486400" cy="27432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Solutions posted next week.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COMMUNITY LEARNING</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Discussion Forum</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12</a:t>
            </a:r>
            <a:endParaRPr lang="en-US" sz="900" dirty="0"/>
          </a:p>
        </p:txBody>
      </p:sp>
      <p:sp>
        <p:nvSpPr>
          <p:cNvPr id="9" name="Shape 7"/>
          <p:cNvSpPr/>
          <p:nvPr/>
        </p:nvSpPr>
        <p:spPr>
          <a:xfrm>
            <a:off x="548640" y="1371600"/>
            <a:ext cx="548640" cy="548640"/>
          </a:xfrm>
          <a:prstGeom prst="ellipse">
            <a:avLst/>
          </a:prstGeom>
          <a:solidFill>
            <a:srgbClr val="E8F1FB"/>
          </a:solidFill>
          <a:ln w="12700">
            <a:solidFill>
              <a:srgbClr val="E8F1FB"/>
            </a:solidFill>
            <a:prstDash val="solid"/>
          </a:ln>
        </p:spPr>
      </p:sp>
      <p:pic>
        <p:nvPicPr>
          <p:cNvPr id="10" name="Image 0" descr="preencoded.png">    </p:cNvPr>
          <p:cNvPicPr>
            <a:picLocks noChangeAspect="1"/>
          </p:cNvPicPr>
          <p:nvPr/>
        </p:nvPicPr>
        <p:blipFill>
          <a:blip r:embed="rId1"/>
          <a:stretch>
            <a:fillRect/>
          </a:stretch>
        </p:blipFill>
        <p:spPr>
          <a:xfrm>
            <a:off x="669341" y="1492301"/>
            <a:ext cx="307238" cy="307238"/>
          </a:xfrm>
          <a:prstGeom prst="rect">
            <a:avLst/>
          </a:prstGeom>
        </p:spPr>
      </p:pic>
      <p:sp>
        <p:nvSpPr>
          <p:cNvPr id="11" name="Text 8"/>
          <p:cNvSpPr/>
          <p:nvPr/>
        </p:nvSpPr>
        <p:spPr>
          <a:xfrm>
            <a:off x="1280160" y="1389888"/>
            <a:ext cx="32004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Ask Doubts Anytime</a:t>
            </a:r>
            <a:endParaRPr lang="en-US" sz="1300" dirty="0"/>
          </a:p>
        </p:txBody>
      </p:sp>
      <p:sp>
        <p:nvSpPr>
          <p:cNvPr id="12" name="Text 9"/>
          <p:cNvSpPr/>
          <p:nvPr/>
        </p:nvSpPr>
        <p:spPr>
          <a:xfrm>
            <a:off x="1280160" y="169164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24×7 access to peers.</a:t>
            </a:r>
            <a:endParaRPr lang="en-US" sz="1050" dirty="0"/>
          </a:p>
        </p:txBody>
      </p:sp>
      <p:sp>
        <p:nvSpPr>
          <p:cNvPr id="13" name="Shape 10"/>
          <p:cNvSpPr/>
          <p:nvPr/>
        </p:nvSpPr>
        <p:spPr>
          <a:xfrm>
            <a:off x="548640" y="2148840"/>
            <a:ext cx="548640" cy="548640"/>
          </a:xfrm>
          <a:prstGeom prst="ellipse">
            <a:avLst/>
          </a:prstGeom>
          <a:solidFill>
            <a:srgbClr val="E8F1FB"/>
          </a:solidFill>
          <a:ln w="12700">
            <a:solidFill>
              <a:srgbClr val="E8F1FB"/>
            </a:solidFill>
            <a:prstDash val="solid"/>
          </a:ln>
        </p:spPr>
      </p:sp>
      <p:pic>
        <p:nvPicPr>
          <p:cNvPr id="14" name="Image 1" descr="preencoded.png">    </p:cNvPr>
          <p:cNvPicPr>
            <a:picLocks noChangeAspect="1"/>
          </p:cNvPicPr>
          <p:nvPr/>
        </p:nvPicPr>
        <p:blipFill>
          <a:blip r:embed="rId2"/>
          <a:stretch>
            <a:fillRect/>
          </a:stretch>
        </p:blipFill>
        <p:spPr>
          <a:xfrm>
            <a:off x="669341" y="2269541"/>
            <a:ext cx="307238" cy="307238"/>
          </a:xfrm>
          <a:prstGeom prst="rect">
            <a:avLst/>
          </a:prstGeom>
        </p:spPr>
      </p:pic>
      <p:sp>
        <p:nvSpPr>
          <p:cNvPr id="15" name="Text 11"/>
          <p:cNvSpPr/>
          <p:nvPr/>
        </p:nvSpPr>
        <p:spPr>
          <a:xfrm>
            <a:off x="1280160" y="2167128"/>
            <a:ext cx="32004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Answers From TAs</a:t>
            </a:r>
            <a:endParaRPr lang="en-US" sz="1300" dirty="0"/>
          </a:p>
        </p:txBody>
      </p:sp>
      <p:sp>
        <p:nvSpPr>
          <p:cNvPr id="16" name="Text 12"/>
          <p:cNvSpPr/>
          <p:nvPr/>
        </p:nvSpPr>
        <p:spPr>
          <a:xfrm>
            <a:off x="1280160" y="246888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IIT TAs monitor daily.</a:t>
            </a:r>
            <a:endParaRPr lang="en-US" sz="1050" dirty="0"/>
          </a:p>
        </p:txBody>
      </p:sp>
      <p:sp>
        <p:nvSpPr>
          <p:cNvPr id="17" name="Shape 13"/>
          <p:cNvSpPr/>
          <p:nvPr/>
        </p:nvSpPr>
        <p:spPr>
          <a:xfrm>
            <a:off x="548640" y="2926080"/>
            <a:ext cx="548640" cy="548640"/>
          </a:xfrm>
          <a:prstGeom prst="ellipse">
            <a:avLst/>
          </a:prstGeom>
          <a:solidFill>
            <a:srgbClr val="E8F1FB"/>
          </a:solidFill>
          <a:ln w="12700">
            <a:solidFill>
              <a:srgbClr val="E8F1FB"/>
            </a:solidFill>
            <a:prstDash val="solid"/>
          </a:ln>
        </p:spPr>
      </p:sp>
      <p:pic>
        <p:nvPicPr>
          <p:cNvPr id="18" name="Image 2" descr="preencoded.png">    </p:cNvPr>
          <p:cNvPicPr>
            <a:picLocks noChangeAspect="1"/>
          </p:cNvPicPr>
          <p:nvPr/>
        </p:nvPicPr>
        <p:blipFill>
          <a:blip r:embed="rId3"/>
          <a:stretch>
            <a:fillRect/>
          </a:stretch>
        </p:blipFill>
        <p:spPr>
          <a:xfrm>
            <a:off x="669341" y="3046781"/>
            <a:ext cx="307238" cy="307238"/>
          </a:xfrm>
          <a:prstGeom prst="rect">
            <a:avLst/>
          </a:prstGeom>
        </p:spPr>
      </p:pic>
      <p:sp>
        <p:nvSpPr>
          <p:cNvPr id="19" name="Text 14"/>
          <p:cNvSpPr/>
          <p:nvPr/>
        </p:nvSpPr>
        <p:spPr>
          <a:xfrm>
            <a:off x="1280160" y="2944368"/>
            <a:ext cx="32004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Share Resources</a:t>
            </a:r>
            <a:endParaRPr lang="en-US" sz="1300" dirty="0"/>
          </a:p>
        </p:txBody>
      </p:sp>
      <p:sp>
        <p:nvSpPr>
          <p:cNvPr id="20" name="Text 15"/>
          <p:cNvSpPr/>
          <p:nvPr/>
        </p:nvSpPr>
        <p:spPr>
          <a:xfrm>
            <a:off x="1280160" y="324612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Links, notes, references.</a:t>
            </a:r>
            <a:endParaRPr lang="en-US" sz="1050" dirty="0"/>
          </a:p>
        </p:txBody>
      </p:sp>
      <p:sp>
        <p:nvSpPr>
          <p:cNvPr id="21" name="Shape 16"/>
          <p:cNvSpPr/>
          <p:nvPr/>
        </p:nvSpPr>
        <p:spPr>
          <a:xfrm>
            <a:off x="548640" y="3703320"/>
            <a:ext cx="548640" cy="548640"/>
          </a:xfrm>
          <a:prstGeom prst="ellipse">
            <a:avLst/>
          </a:prstGeom>
          <a:solidFill>
            <a:srgbClr val="E8F1FB"/>
          </a:solidFill>
          <a:ln w="12700">
            <a:solidFill>
              <a:srgbClr val="E8F1FB"/>
            </a:solidFill>
            <a:prstDash val="solid"/>
          </a:ln>
        </p:spPr>
      </p:sp>
      <p:pic>
        <p:nvPicPr>
          <p:cNvPr id="22" name="Image 3" descr="preencoded.png">    </p:cNvPr>
          <p:cNvPicPr>
            <a:picLocks noChangeAspect="1"/>
          </p:cNvPicPr>
          <p:nvPr/>
        </p:nvPicPr>
        <p:blipFill>
          <a:blip r:embed="rId4"/>
          <a:stretch>
            <a:fillRect/>
          </a:stretch>
        </p:blipFill>
        <p:spPr>
          <a:xfrm>
            <a:off x="669341" y="3824021"/>
            <a:ext cx="307238" cy="307238"/>
          </a:xfrm>
          <a:prstGeom prst="rect">
            <a:avLst/>
          </a:prstGeom>
        </p:spPr>
      </p:pic>
      <p:sp>
        <p:nvSpPr>
          <p:cNvPr id="23" name="Text 17"/>
          <p:cNvSpPr/>
          <p:nvPr/>
        </p:nvSpPr>
        <p:spPr>
          <a:xfrm>
            <a:off x="1280160" y="3721608"/>
            <a:ext cx="32004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Peer Network</a:t>
            </a:r>
            <a:endParaRPr lang="en-US" sz="1300" dirty="0"/>
          </a:p>
        </p:txBody>
      </p:sp>
      <p:sp>
        <p:nvSpPr>
          <p:cNvPr id="24" name="Text 18"/>
          <p:cNvSpPr/>
          <p:nvPr/>
        </p:nvSpPr>
        <p:spPr>
          <a:xfrm>
            <a:off x="1280160" y="402336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Learn from 30M+ users.</a:t>
            </a:r>
            <a:endParaRPr lang="en-US" sz="1050" dirty="0"/>
          </a:p>
        </p:txBody>
      </p:sp>
      <p:sp>
        <p:nvSpPr>
          <p:cNvPr id="25" name="Shape 19"/>
          <p:cNvSpPr/>
          <p:nvPr/>
        </p:nvSpPr>
        <p:spPr>
          <a:xfrm>
            <a:off x="4937760" y="1371600"/>
            <a:ext cx="3840480" cy="3200400"/>
          </a:xfrm>
          <a:prstGeom prst="roundRect">
            <a:avLst>
              <a:gd name="adj" fmla="val 2857"/>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6" name="Shape 20"/>
          <p:cNvSpPr/>
          <p:nvPr/>
        </p:nvSpPr>
        <p:spPr>
          <a:xfrm>
            <a:off x="4937760" y="1371600"/>
            <a:ext cx="3840480" cy="365760"/>
          </a:xfrm>
          <a:prstGeom prst="rect">
            <a:avLst/>
          </a:prstGeom>
          <a:solidFill>
            <a:srgbClr val="0B2A4A"/>
          </a:solidFill>
          <a:ln w="12700">
            <a:solidFill>
              <a:srgbClr val="0B2A4A"/>
            </a:solidFill>
            <a:prstDash val="solid"/>
          </a:ln>
        </p:spPr>
      </p:sp>
      <p:sp>
        <p:nvSpPr>
          <p:cNvPr id="27" name="Text 21"/>
          <p:cNvSpPr/>
          <p:nvPr/>
        </p:nvSpPr>
        <p:spPr>
          <a:xfrm>
            <a:off x="5029200" y="1371600"/>
            <a:ext cx="3657600" cy="365760"/>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Course Forum</a:t>
            </a:r>
            <a:endParaRPr lang="en-US" sz="1100" dirty="0"/>
          </a:p>
        </p:txBody>
      </p:sp>
      <p:sp>
        <p:nvSpPr>
          <p:cNvPr id="28" name="Shape 22"/>
          <p:cNvSpPr/>
          <p:nvPr/>
        </p:nvSpPr>
        <p:spPr>
          <a:xfrm>
            <a:off x="5074920" y="1828800"/>
            <a:ext cx="2788920" cy="777240"/>
          </a:xfrm>
          <a:prstGeom prst="roundRect">
            <a:avLst>
              <a:gd name="adj" fmla="val 7059"/>
            </a:avLst>
          </a:prstGeom>
          <a:solidFill>
            <a:srgbClr val="F1F6FC"/>
          </a:solidFill>
          <a:ln w="12700">
            <a:solidFill>
              <a:srgbClr val="F1F6FC"/>
            </a:solidFill>
            <a:prstDash val="solid"/>
          </a:ln>
        </p:spPr>
      </p:sp>
      <p:sp>
        <p:nvSpPr>
          <p:cNvPr id="29" name="Text 23"/>
          <p:cNvSpPr/>
          <p:nvPr/>
        </p:nvSpPr>
        <p:spPr>
          <a:xfrm>
            <a:off x="5166360" y="1874520"/>
            <a:ext cx="2606040" cy="228600"/>
          </a:xfrm>
          <a:prstGeom prst="rect">
            <a:avLst/>
          </a:prstGeom>
          <a:noFill/>
          <a:ln/>
        </p:spPr>
        <p:txBody>
          <a:bodyPr wrap="square" lIns="0" tIns="0" rIns="0" bIns="0" rtlCol="0" anchor="ctr"/>
          <a:lstStyle/>
          <a:p>
            <a:pPr indent="0" marL="0">
              <a:buNone/>
            </a:pPr>
            <a:r>
              <a:rPr lang="en-US" sz="900" b="1" dirty="0">
                <a:solidFill>
                  <a:srgbClr val="1E4E8C"/>
                </a:solidFill>
                <a:latin typeface="Segoe UI" pitchFamily="34" charset="0"/>
                <a:ea typeface="Segoe UI" pitchFamily="34" charset="-122"/>
                <a:cs typeface="Segoe UI" pitchFamily="34" charset="-120"/>
              </a:rPr>
              <a:t>Priya (Learner)</a:t>
            </a:r>
            <a:endParaRPr lang="en-US" sz="900" dirty="0"/>
          </a:p>
        </p:txBody>
      </p:sp>
      <p:sp>
        <p:nvSpPr>
          <p:cNvPr id="30" name="Text 24"/>
          <p:cNvSpPr/>
          <p:nvPr/>
        </p:nvSpPr>
        <p:spPr>
          <a:xfrm>
            <a:off x="5166360" y="2103120"/>
            <a:ext cx="2606040" cy="457200"/>
          </a:xfrm>
          <a:prstGeom prst="rect">
            <a:avLst/>
          </a:prstGeom>
          <a:noFill/>
          <a:ln/>
        </p:spPr>
        <p:txBody>
          <a:bodyPr wrap="square" lIns="0" tIns="0" rIns="0" bIns="0" rtlCol="0" anchor="ctr"/>
          <a:lstStyle/>
          <a:p>
            <a:pPr indent="0" marL="0">
              <a:buNone/>
            </a:pPr>
            <a:r>
              <a:rPr lang="en-US" sz="1050" dirty="0">
                <a:solidFill>
                  <a:srgbClr val="1F2937"/>
                </a:solidFill>
                <a:latin typeface="Segoe UI" pitchFamily="34" charset="0"/>
                <a:ea typeface="Segoe UI" pitchFamily="34" charset="-122"/>
                <a:cs typeface="Segoe UI" pitchFamily="34" charset="-120"/>
              </a:rPr>
              <a:t>How is Week 4 Q3 solved?</a:t>
            </a:r>
            <a:endParaRPr lang="en-US" sz="1050" dirty="0"/>
          </a:p>
        </p:txBody>
      </p:sp>
      <p:sp>
        <p:nvSpPr>
          <p:cNvPr id="31" name="Shape 25"/>
          <p:cNvSpPr/>
          <p:nvPr/>
        </p:nvSpPr>
        <p:spPr>
          <a:xfrm>
            <a:off x="5852160" y="2743200"/>
            <a:ext cx="2788920" cy="777240"/>
          </a:xfrm>
          <a:prstGeom prst="roundRect">
            <a:avLst>
              <a:gd name="adj" fmla="val 7059"/>
            </a:avLst>
          </a:prstGeom>
          <a:solidFill>
            <a:srgbClr val="E8F1FB"/>
          </a:solidFill>
          <a:ln w="12700">
            <a:solidFill>
              <a:srgbClr val="E8F1FB"/>
            </a:solidFill>
            <a:prstDash val="solid"/>
          </a:ln>
        </p:spPr>
      </p:sp>
      <p:sp>
        <p:nvSpPr>
          <p:cNvPr id="32" name="Text 26"/>
          <p:cNvSpPr/>
          <p:nvPr/>
        </p:nvSpPr>
        <p:spPr>
          <a:xfrm>
            <a:off x="5943600" y="2788920"/>
            <a:ext cx="2606040" cy="228600"/>
          </a:xfrm>
          <a:prstGeom prst="rect">
            <a:avLst/>
          </a:prstGeom>
          <a:noFill/>
          <a:ln/>
        </p:spPr>
        <p:txBody>
          <a:bodyPr wrap="square" lIns="0" tIns="0" rIns="0" bIns="0" rtlCol="0" anchor="ctr"/>
          <a:lstStyle/>
          <a:p>
            <a:pPr indent="0" marL="0">
              <a:buNone/>
            </a:pPr>
            <a:r>
              <a:rPr lang="en-US" sz="900" b="1" dirty="0">
                <a:solidFill>
                  <a:srgbClr val="1E4E8C"/>
                </a:solidFill>
                <a:latin typeface="Segoe UI" pitchFamily="34" charset="0"/>
                <a:ea typeface="Segoe UI" pitchFamily="34" charset="-122"/>
                <a:cs typeface="Segoe UI" pitchFamily="34" charset="-120"/>
              </a:rPr>
              <a:t>Rahul (Peer)</a:t>
            </a:r>
            <a:endParaRPr lang="en-US" sz="900" dirty="0"/>
          </a:p>
        </p:txBody>
      </p:sp>
      <p:sp>
        <p:nvSpPr>
          <p:cNvPr id="33" name="Text 27"/>
          <p:cNvSpPr/>
          <p:nvPr/>
        </p:nvSpPr>
        <p:spPr>
          <a:xfrm>
            <a:off x="5943600" y="3017520"/>
            <a:ext cx="2606040" cy="457200"/>
          </a:xfrm>
          <a:prstGeom prst="rect">
            <a:avLst/>
          </a:prstGeom>
          <a:noFill/>
          <a:ln/>
        </p:spPr>
        <p:txBody>
          <a:bodyPr wrap="square" lIns="0" tIns="0" rIns="0" bIns="0" rtlCol="0" anchor="ctr"/>
          <a:lstStyle/>
          <a:p>
            <a:pPr indent="0" marL="0">
              <a:buNone/>
            </a:pPr>
            <a:r>
              <a:rPr lang="en-US" sz="1050" dirty="0">
                <a:solidFill>
                  <a:srgbClr val="1F2937"/>
                </a:solidFill>
                <a:latin typeface="Segoe UI" pitchFamily="34" charset="0"/>
                <a:ea typeface="Segoe UI" pitchFamily="34" charset="-122"/>
                <a:cs typeface="Segoe UI" pitchFamily="34" charset="-120"/>
              </a:rPr>
              <a:t>Use chain rule then simplify.</a:t>
            </a:r>
            <a:endParaRPr lang="en-US" sz="1050" dirty="0"/>
          </a:p>
        </p:txBody>
      </p:sp>
      <p:sp>
        <p:nvSpPr>
          <p:cNvPr id="34" name="Shape 28"/>
          <p:cNvSpPr/>
          <p:nvPr/>
        </p:nvSpPr>
        <p:spPr>
          <a:xfrm>
            <a:off x="5074920" y="3657600"/>
            <a:ext cx="2788920" cy="777240"/>
          </a:xfrm>
          <a:prstGeom prst="roundRect">
            <a:avLst>
              <a:gd name="adj" fmla="val 7059"/>
            </a:avLst>
          </a:prstGeom>
          <a:solidFill>
            <a:srgbClr val="FFF1E6"/>
          </a:solidFill>
          <a:ln w="12700">
            <a:solidFill>
              <a:srgbClr val="FFF1E6"/>
            </a:solidFill>
            <a:prstDash val="solid"/>
          </a:ln>
        </p:spPr>
      </p:sp>
      <p:sp>
        <p:nvSpPr>
          <p:cNvPr id="35" name="Text 29"/>
          <p:cNvSpPr/>
          <p:nvPr/>
        </p:nvSpPr>
        <p:spPr>
          <a:xfrm>
            <a:off x="5166360" y="3703320"/>
            <a:ext cx="2606040" cy="228600"/>
          </a:xfrm>
          <a:prstGeom prst="rect">
            <a:avLst/>
          </a:prstGeom>
          <a:noFill/>
          <a:ln/>
        </p:spPr>
        <p:txBody>
          <a:bodyPr wrap="square" lIns="0" tIns="0" rIns="0" bIns="0" rtlCol="0" anchor="ctr"/>
          <a:lstStyle/>
          <a:p>
            <a:pPr indent="0" marL="0">
              <a:buNone/>
            </a:pPr>
            <a:r>
              <a:rPr lang="en-US" sz="900" b="1" dirty="0">
                <a:solidFill>
                  <a:srgbClr val="F97316"/>
                </a:solidFill>
                <a:latin typeface="Segoe UI" pitchFamily="34" charset="0"/>
                <a:ea typeface="Segoe UI" pitchFamily="34" charset="-122"/>
                <a:cs typeface="Segoe UI" pitchFamily="34" charset="-120"/>
              </a:rPr>
              <a:t>Prof. TA (IIT-M)</a:t>
            </a:r>
            <a:endParaRPr lang="en-US" sz="900" dirty="0"/>
          </a:p>
        </p:txBody>
      </p:sp>
      <p:sp>
        <p:nvSpPr>
          <p:cNvPr id="36" name="Text 30"/>
          <p:cNvSpPr/>
          <p:nvPr/>
        </p:nvSpPr>
        <p:spPr>
          <a:xfrm>
            <a:off x="5166360" y="3931920"/>
            <a:ext cx="2606040" cy="457200"/>
          </a:xfrm>
          <a:prstGeom prst="rect">
            <a:avLst/>
          </a:prstGeom>
          <a:noFill/>
          <a:ln/>
        </p:spPr>
        <p:txBody>
          <a:bodyPr wrap="square" lIns="0" tIns="0" rIns="0" bIns="0" rtlCol="0" anchor="ctr"/>
          <a:lstStyle/>
          <a:p>
            <a:pPr indent="0" marL="0">
              <a:buNone/>
            </a:pPr>
            <a:r>
              <a:rPr lang="en-US" sz="1050" dirty="0">
                <a:solidFill>
                  <a:srgbClr val="1F2937"/>
                </a:solidFill>
                <a:latin typeface="Segoe UI" pitchFamily="34" charset="0"/>
                <a:ea typeface="Segoe UI" pitchFamily="34" charset="-122"/>
                <a:cs typeface="Segoe UI" pitchFamily="34" charset="-120"/>
              </a:rPr>
              <a:t>Correct — see video 4.2 at 8:15.</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FINAL ASSESSMENT</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Proctored Examination</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13</a:t>
            </a:r>
            <a:endParaRPr lang="en-US" sz="900" dirty="0"/>
          </a:p>
        </p:txBody>
      </p:sp>
      <p:sp>
        <p:nvSpPr>
          <p:cNvPr id="9" name="Shape 7"/>
          <p:cNvSpPr/>
          <p:nvPr/>
        </p:nvSpPr>
        <p:spPr>
          <a:xfrm>
            <a:off x="457200" y="1371600"/>
            <a:ext cx="4023360" cy="3200400"/>
          </a:xfrm>
          <a:prstGeom prst="roundRect">
            <a:avLst>
              <a:gd name="adj" fmla="val 2286"/>
            </a:avLst>
          </a:prstGeom>
          <a:solidFill>
            <a:srgbClr val="0B2A4A"/>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Text 8"/>
          <p:cNvSpPr/>
          <p:nvPr/>
        </p:nvSpPr>
        <p:spPr>
          <a:xfrm>
            <a:off x="685800" y="1554480"/>
            <a:ext cx="36576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EXAM SNAPSHOT</a:t>
            </a:r>
            <a:endParaRPr lang="en-US" sz="1000" dirty="0"/>
          </a:p>
        </p:txBody>
      </p:sp>
      <p:sp>
        <p:nvSpPr>
          <p:cNvPr id="11" name="Text 9"/>
          <p:cNvSpPr/>
          <p:nvPr/>
        </p:nvSpPr>
        <p:spPr>
          <a:xfrm>
            <a:off x="685800" y="1874520"/>
            <a:ext cx="3657600" cy="6400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At a designated center, under invigilation.</a:t>
            </a:r>
            <a:endParaRPr lang="en-US" sz="1600" dirty="0"/>
          </a:p>
        </p:txBody>
      </p:sp>
      <p:sp>
        <p:nvSpPr>
          <p:cNvPr id="12" name="Text 10"/>
          <p:cNvSpPr/>
          <p:nvPr/>
        </p:nvSpPr>
        <p:spPr>
          <a:xfrm>
            <a:off x="685800" y="2651760"/>
            <a:ext cx="1280160" cy="274320"/>
          </a:xfrm>
          <a:prstGeom prst="rect">
            <a:avLst/>
          </a:prstGeom>
          <a:noFill/>
          <a:ln/>
        </p:spPr>
        <p:txBody>
          <a:bodyPr wrap="square" lIns="0" tIns="0" rIns="0" bIns="0" rtlCol="0" anchor="ctr"/>
          <a:lstStyle/>
          <a:p>
            <a:pPr indent="0" marL="0">
              <a:buNone/>
            </a:pPr>
            <a:r>
              <a:rPr lang="en-US" sz="1100" dirty="0">
                <a:solidFill>
                  <a:srgbClr val="E8F1FB"/>
                </a:solidFill>
                <a:latin typeface="Segoe UI" pitchFamily="34" charset="0"/>
                <a:ea typeface="Segoe UI" pitchFamily="34" charset="-122"/>
                <a:cs typeface="Segoe UI" pitchFamily="34" charset="-120"/>
              </a:rPr>
              <a:t>Mode</a:t>
            </a:r>
            <a:endParaRPr lang="en-US" sz="1100" dirty="0"/>
          </a:p>
        </p:txBody>
      </p:sp>
      <p:sp>
        <p:nvSpPr>
          <p:cNvPr id="13" name="Text 11"/>
          <p:cNvSpPr/>
          <p:nvPr/>
        </p:nvSpPr>
        <p:spPr>
          <a:xfrm>
            <a:off x="2011680" y="2651760"/>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Offline, in-person</a:t>
            </a:r>
            <a:endParaRPr lang="en-US" sz="1100" dirty="0"/>
          </a:p>
        </p:txBody>
      </p:sp>
      <p:sp>
        <p:nvSpPr>
          <p:cNvPr id="14" name="Text 12"/>
          <p:cNvSpPr/>
          <p:nvPr/>
        </p:nvSpPr>
        <p:spPr>
          <a:xfrm>
            <a:off x="685800" y="2980944"/>
            <a:ext cx="1280160" cy="274320"/>
          </a:xfrm>
          <a:prstGeom prst="rect">
            <a:avLst/>
          </a:prstGeom>
          <a:noFill/>
          <a:ln/>
        </p:spPr>
        <p:txBody>
          <a:bodyPr wrap="square" lIns="0" tIns="0" rIns="0" bIns="0" rtlCol="0" anchor="ctr"/>
          <a:lstStyle/>
          <a:p>
            <a:pPr indent="0" marL="0">
              <a:buNone/>
            </a:pPr>
            <a:r>
              <a:rPr lang="en-US" sz="1100" dirty="0">
                <a:solidFill>
                  <a:srgbClr val="E8F1FB"/>
                </a:solidFill>
                <a:latin typeface="Segoe UI" pitchFamily="34" charset="0"/>
                <a:ea typeface="Segoe UI" pitchFamily="34" charset="-122"/>
                <a:cs typeface="Segoe UI" pitchFamily="34" charset="-120"/>
              </a:rPr>
              <a:t>Duration</a:t>
            </a:r>
            <a:endParaRPr lang="en-US" sz="1100" dirty="0"/>
          </a:p>
        </p:txBody>
      </p:sp>
      <p:sp>
        <p:nvSpPr>
          <p:cNvPr id="15" name="Text 13"/>
          <p:cNvSpPr/>
          <p:nvPr/>
        </p:nvSpPr>
        <p:spPr>
          <a:xfrm>
            <a:off x="2011680" y="2980944"/>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3 hours</a:t>
            </a:r>
            <a:endParaRPr lang="en-US" sz="1100" dirty="0"/>
          </a:p>
        </p:txBody>
      </p:sp>
      <p:sp>
        <p:nvSpPr>
          <p:cNvPr id="16" name="Text 14"/>
          <p:cNvSpPr/>
          <p:nvPr/>
        </p:nvSpPr>
        <p:spPr>
          <a:xfrm>
            <a:off x="685800" y="3310128"/>
            <a:ext cx="1280160" cy="274320"/>
          </a:xfrm>
          <a:prstGeom prst="rect">
            <a:avLst/>
          </a:prstGeom>
          <a:noFill/>
          <a:ln/>
        </p:spPr>
        <p:txBody>
          <a:bodyPr wrap="square" lIns="0" tIns="0" rIns="0" bIns="0" rtlCol="0" anchor="ctr"/>
          <a:lstStyle/>
          <a:p>
            <a:pPr indent="0" marL="0">
              <a:buNone/>
            </a:pPr>
            <a:r>
              <a:rPr lang="en-US" sz="1100" dirty="0">
                <a:solidFill>
                  <a:srgbClr val="E8F1FB"/>
                </a:solidFill>
                <a:latin typeface="Segoe UI" pitchFamily="34" charset="0"/>
                <a:ea typeface="Segoe UI" pitchFamily="34" charset="-122"/>
                <a:cs typeface="Segoe UI" pitchFamily="34" charset="-120"/>
              </a:rPr>
              <a:t>Fee</a:t>
            </a:r>
            <a:endParaRPr lang="en-US" sz="1100" dirty="0"/>
          </a:p>
        </p:txBody>
      </p:sp>
      <p:sp>
        <p:nvSpPr>
          <p:cNvPr id="17" name="Text 15"/>
          <p:cNvSpPr/>
          <p:nvPr/>
        </p:nvSpPr>
        <p:spPr>
          <a:xfrm>
            <a:off x="2011680" y="3310128"/>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₹1000 (approx.)</a:t>
            </a:r>
            <a:endParaRPr lang="en-US" sz="1100" dirty="0"/>
          </a:p>
        </p:txBody>
      </p:sp>
      <p:sp>
        <p:nvSpPr>
          <p:cNvPr id="18" name="Text 16"/>
          <p:cNvSpPr/>
          <p:nvPr/>
        </p:nvSpPr>
        <p:spPr>
          <a:xfrm>
            <a:off x="685800" y="3639312"/>
            <a:ext cx="1280160" cy="274320"/>
          </a:xfrm>
          <a:prstGeom prst="rect">
            <a:avLst/>
          </a:prstGeom>
          <a:noFill/>
          <a:ln/>
        </p:spPr>
        <p:txBody>
          <a:bodyPr wrap="square" lIns="0" tIns="0" rIns="0" bIns="0" rtlCol="0" anchor="ctr"/>
          <a:lstStyle/>
          <a:p>
            <a:pPr indent="0" marL="0">
              <a:buNone/>
            </a:pPr>
            <a:r>
              <a:rPr lang="en-US" sz="1100" dirty="0">
                <a:solidFill>
                  <a:srgbClr val="E8F1FB"/>
                </a:solidFill>
                <a:latin typeface="Segoe UI" pitchFamily="34" charset="0"/>
                <a:ea typeface="Segoe UI" pitchFamily="34" charset="-122"/>
                <a:cs typeface="Segoe UI" pitchFamily="34" charset="-120"/>
              </a:rPr>
              <a:t>Weightage</a:t>
            </a:r>
            <a:endParaRPr lang="en-US" sz="1100" dirty="0"/>
          </a:p>
        </p:txBody>
      </p:sp>
      <p:sp>
        <p:nvSpPr>
          <p:cNvPr id="19" name="Text 17"/>
          <p:cNvSpPr/>
          <p:nvPr/>
        </p:nvSpPr>
        <p:spPr>
          <a:xfrm>
            <a:off x="2011680" y="3639312"/>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75% of final score</a:t>
            </a:r>
            <a:endParaRPr lang="en-US" sz="1100" dirty="0"/>
          </a:p>
        </p:txBody>
      </p:sp>
      <p:sp>
        <p:nvSpPr>
          <p:cNvPr id="20" name="Text 18"/>
          <p:cNvSpPr/>
          <p:nvPr/>
        </p:nvSpPr>
        <p:spPr>
          <a:xfrm>
            <a:off x="685800" y="3968496"/>
            <a:ext cx="1280160" cy="274320"/>
          </a:xfrm>
          <a:prstGeom prst="rect">
            <a:avLst/>
          </a:prstGeom>
          <a:noFill/>
          <a:ln/>
        </p:spPr>
        <p:txBody>
          <a:bodyPr wrap="square" lIns="0" tIns="0" rIns="0" bIns="0" rtlCol="0" anchor="ctr"/>
          <a:lstStyle/>
          <a:p>
            <a:pPr indent="0" marL="0">
              <a:buNone/>
            </a:pPr>
            <a:r>
              <a:rPr lang="en-US" sz="1100" dirty="0">
                <a:solidFill>
                  <a:srgbClr val="E8F1FB"/>
                </a:solidFill>
                <a:latin typeface="Segoe UI" pitchFamily="34" charset="0"/>
                <a:ea typeface="Segoe UI" pitchFamily="34" charset="-122"/>
                <a:cs typeface="Segoe UI" pitchFamily="34" charset="-120"/>
              </a:rPr>
              <a:t>Result</a:t>
            </a:r>
            <a:endParaRPr lang="en-US" sz="1100" dirty="0"/>
          </a:p>
        </p:txBody>
      </p:sp>
      <p:sp>
        <p:nvSpPr>
          <p:cNvPr id="21" name="Text 19"/>
          <p:cNvSpPr/>
          <p:nvPr/>
        </p:nvSpPr>
        <p:spPr>
          <a:xfrm>
            <a:off x="2011680" y="3968496"/>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Weeks after exam</a:t>
            </a:r>
            <a:endParaRPr lang="en-US" sz="1100" dirty="0"/>
          </a:p>
        </p:txBody>
      </p:sp>
      <p:sp>
        <p:nvSpPr>
          <p:cNvPr id="22" name="Text 20"/>
          <p:cNvSpPr/>
          <p:nvPr/>
        </p:nvSpPr>
        <p:spPr>
          <a:xfrm>
            <a:off x="4754880" y="1371600"/>
            <a:ext cx="4114800" cy="365760"/>
          </a:xfrm>
          <a:prstGeom prst="rect">
            <a:avLst/>
          </a:prstGeom>
          <a:noFill/>
          <a:ln/>
        </p:spPr>
        <p:txBody>
          <a:bodyPr wrap="square" lIns="0" tIns="0" rIns="0" bIns="0" rtlCol="0" anchor="ctr"/>
          <a:lstStyle/>
          <a:p>
            <a:pPr indent="0" marL="0">
              <a:buNone/>
            </a:pPr>
            <a:r>
              <a:rPr lang="en-US" sz="1600" b="1" dirty="0">
                <a:solidFill>
                  <a:srgbClr val="0B2A4A"/>
                </a:solidFill>
                <a:latin typeface="Segoe UI" pitchFamily="34" charset="0"/>
                <a:ea typeface="Segoe UI" pitchFamily="34" charset="-122"/>
                <a:cs typeface="Segoe UI" pitchFamily="34" charset="-120"/>
              </a:rPr>
              <a:t>Final Score</a:t>
            </a:r>
            <a:endParaRPr lang="en-US" sz="1600" dirty="0"/>
          </a:p>
        </p:txBody>
      </p:sp>
      <p:sp>
        <p:nvSpPr>
          <p:cNvPr id="23" name="Shape 21"/>
          <p:cNvSpPr/>
          <p:nvPr/>
        </p:nvSpPr>
        <p:spPr>
          <a:xfrm>
            <a:off x="4754880" y="1737360"/>
            <a:ext cx="365760" cy="45720"/>
          </a:xfrm>
          <a:prstGeom prst="rect">
            <a:avLst/>
          </a:prstGeom>
          <a:solidFill>
            <a:srgbClr val="F97316"/>
          </a:solidFill>
          <a:ln w="12700">
            <a:solidFill>
              <a:srgbClr val="F97316"/>
            </a:solidFill>
            <a:prstDash val="solid"/>
          </a:ln>
        </p:spPr>
      </p:sp>
      <p:sp>
        <p:nvSpPr>
          <p:cNvPr id="24" name="Shape 22"/>
          <p:cNvSpPr/>
          <p:nvPr/>
        </p:nvSpPr>
        <p:spPr>
          <a:xfrm>
            <a:off x="4754880" y="1920240"/>
            <a:ext cx="4023360" cy="914400"/>
          </a:xfrm>
          <a:prstGeom prst="roundRect">
            <a:avLst>
              <a:gd name="adj" fmla="val 8000"/>
            </a:avLst>
          </a:prstGeom>
          <a:solidFill>
            <a:srgbClr val="F1F6FC"/>
          </a:solidFill>
          <a:ln w="6350">
            <a:solidFill>
              <a:srgbClr val="2E7CD6"/>
            </a:solidFill>
            <a:prstDash val="solid"/>
          </a:ln>
        </p:spPr>
      </p:sp>
      <p:sp>
        <p:nvSpPr>
          <p:cNvPr id="25" name="Text 23"/>
          <p:cNvSpPr/>
          <p:nvPr/>
        </p:nvSpPr>
        <p:spPr>
          <a:xfrm>
            <a:off x="4892040" y="2011680"/>
            <a:ext cx="822960" cy="457200"/>
          </a:xfrm>
          <a:prstGeom prst="rect">
            <a:avLst/>
          </a:prstGeom>
          <a:noFill/>
          <a:ln/>
        </p:spPr>
        <p:txBody>
          <a:bodyPr wrap="square" lIns="0" tIns="0" rIns="0" bIns="0" rtlCol="0" anchor="ctr"/>
          <a:lstStyle/>
          <a:p>
            <a:pPr algn="ctr" indent="0" marL="0">
              <a:buNone/>
            </a:pPr>
            <a:r>
              <a:rPr lang="en-US" sz="2200" b="1" dirty="0">
                <a:solidFill>
                  <a:srgbClr val="F97316"/>
                </a:solidFill>
                <a:latin typeface="Segoe UI" pitchFamily="34" charset="0"/>
                <a:ea typeface="Segoe UI" pitchFamily="34" charset="-122"/>
                <a:cs typeface="Segoe UI" pitchFamily="34" charset="-120"/>
              </a:rPr>
              <a:t>25%</a:t>
            </a:r>
            <a:endParaRPr lang="en-US" sz="2200" dirty="0"/>
          </a:p>
        </p:txBody>
      </p:sp>
      <p:sp>
        <p:nvSpPr>
          <p:cNvPr id="26" name="Text 24"/>
          <p:cNvSpPr/>
          <p:nvPr/>
        </p:nvSpPr>
        <p:spPr>
          <a:xfrm>
            <a:off x="4892040" y="2423160"/>
            <a:ext cx="822960" cy="274320"/>
          </a:xfrm>
          <a:prstGeom prst="rect">
            <a:avLst/>
          </a:prstGeom>
          <a:noFill/>
          <a:ln/>
        </p:spPr>
        <p:txBody>
          <a:bodyPr wrap="square" lIns="0" tIns="0" rIns="0" bIns="0" rtlCol="0" anchor="ctr"/>
          <a:lstStyle/>
          <a:p>
            <a:pPr algn="ctr" indent="0" marL="0">
              <a:buNone/>
            </a:pPr>
            <a:r>
              <a:rPr lang="en-US" sz="900" dirty="0">
                <a:solidFill>
                  <a:srgbClr val="6B7280"/>
                </a:solidFill>
                <a:latin typeface="Segoe UI" pitchFamily="34" charset="0"/>
                <a:ea typeface="Segoe UI" pitchFamily="34" charset="-122"/>
                <a:cs typeface="Segoe UI" pitchFamily="34" charset="-120"/>
              </a:rPr>
              <a:t>Assignments</a:t>
            </a:r>
            <a:endParaRPr lang="en-US" sz="900" dirty="0"/>
          </a:p>
        </p:txBody>
      </p:sp>
      <p:sp>
        <p:nvSpPr>
          <p:cNvPr id="27" name="Text 25"/>
          <p:cNvSpPr/>
          <p:nvPr/>
        </p:nvSpPr>
        <p:spPr>
          <a:xfrm>
            <a:off x="5760720" y="2148840"/>
            <a:ext cx="274320" cy="365760"/>
          </a:xfrm>
          <a:prstGeom prst="rect">
            <a:avLst/>
          </a:prstGeom>
          <a:noFill/>
          <a:ln/>
        </p:spPr>
        <p:txBody>
          <a:bodyPr wrap="square" lIns="0" tIns="0" rIns="0" bIns="0" rtlCol="0" anchor="ctr"/>
          <a:lstStyle/>
          <a:p>
            <a:pPr algn="ctr" indent="0" marL="0">
              <a:buNone/>
            </a:pPr>
            <a:r>
              <a:rPr lang="en-US" sz="2000" b="1" dirty="0">
                <a:solidFill>
                  <a:srgbClr val="0B2A4A"/>
                </a:solidFill>
                <a:latin typeface="Segoe UI" pitchFamily="34" charset="0"/>
                <a:ea typeface="Segoe UI" pitchFamily="34" charset="-122"/>
                <a:cs typeface="Segoe UI" pitchFamily="34" charset="-120"/>
              </a:rPr>
              <a:t>+</a:t>
            </a:r>
            <a:endParaRPr lang="en-US" sz="2000" dirty="0"/>
          </a:p>
        </p:txBody>
      </p:sp>
      <p:sp>
        <p:nvSpPr>
          <p:cNvPr id="28" name="Text 26"/>
          <p:cNvSpPr/>
          <p:nvPr/>
        </p:nvSpPr>
        <p:spPr>
          <a:xfrm>
            <a:off x="6126480" y="2011680"/>
            <a:ext cx="822960" cy="457200"/>
          </a:xfrm>
          <a:prstGeom prst="rect">
            <a:avLst/>
          </a:prstGeom>
          <a:noFill/>
          <a:ln/>
        </p:spPr>
        <p:txBody>
          <a:bodyPr wrap="square" lIns="0" tIns="0" rIns="0" bIns="0" rtlCol="0" anchor="ctr"/>
          <a:lstStyle/>
          <a:p>
            <a:pPr algn="ctr" indent="0" marL="0">
              <a:buNone/>
            </a:pPr>
            <a:r>
              <a:rPr lang="en-US" sz="2200" b="1" dirty="0">
                <a:solidFill>
                  <a:srgbClr val="F97316"/>
                </a:solidFill>
                <a:latin typeface="Segoe UI" pitchFamily="34" charset="0"/>
                <a:ea typeface="Segoe UI" pitchFamily="34" charset="-122"/>
                <a:cs typeface="Segoe UI" pitchFamily="34" charset="-120"/>
              </a:rPr>
              <a:t>75%</a:t>
            </a:r>
            <a:endParaRPr lang="en-US" sz="2200" dirty="0"/>
          </a:p>
        </p:txBody>
      </p:sp>
      <p:sp>
        <p:nvSpPr>
          <p:cNvPr id="29" name="Text 27"/>
          <p:cNvSpPr/>
          <p:nvPr/>
        </p:nvSpPr>
        <p:spPr>
          <a:xfrm>
            <a:off x="6126480" y="2423160"/>
            <a:ext cx="822960" cy="274320"/>
          </a:xfrm>
          <a:prstGeom prst="rect">
            <a:avLst/>
          </a:prstGeom>
          <a:noFill/>
          <a:ln/>
        </p:spPr>
        <p:txBody>
          <a:bodyPr wrap="square" lIns="0" tIns="0" rIns="0" bIns="0" rtlCol="0" anchor="ctr"/>
          <a:lstStyle/>
          <a:p>
            <a:pPr algn="ctr" indent="0" marL="0">
              <a:buNone/>
            </a:pPr>
            <a:r>
              <a:rPr lang="en-US" sz="900" dirty="0">
                <a:solidFill>
                  <a:srgbClr val="6B7280"/>
                </a:solidFill>
                <a:latin typeface="Segoe UI" pitchFamily="34" charset="0"/>
                <a:ea typeface="Segoe UI" pitchFamily="34" charset="-122"/>
                <a:cs typeface="Segoe UI" pitchFamily="34" charset="-120"/>
              </a:rPr>
              <a:t>Final Exam</a:t>
            </a:r>
            <a:endParaRPr lang="en-US" sz="900" dirty="0"/>
          </a:p>
        </p:txBody>
      </p:sp>
      <p:sp>
        <p:nvSpPr>
          <p:cNvPr id="30" name="Text 28"/>
          <p:cNvSpPr/>
          <p:nvPr/>
        </p:nvSpPr>
        <p:spPr>
          <a:xfrm>
            <a:off x="7040880" y="2148840"/>
            <a:ext cx="274320" cy="365760"/>
          </a:xfrm>
          <a:prstGeom prst="rect">
            <a:avLst/>
          </a:prstGeom>
          <a:noFill/>
          <a:ln/>
        </p:spPr>
        <p:txBody>
          <a:bodyPr wrap="square" lIns="0" tIns="0" rIns="0" bIns="0" rtlCol="0" anchor="ctr"/>
          <a:lstStyle/>
          <a:p>
            <a:pPr algn="ctr" indent="0" marL="0">
              <a:buNone/>
            </a:pPr>
            <a:r>
              <a:rPr lang="en-US" sz="2000" b="1" dirty="0">
                <a:solidFill>
                  <a:srgbClr val="0B2A4A"/>
                </a:solidFill>
                <a:latin typeface="Segoe UI" pitchFamily="34" charset="0"/>
                <a:ea typeface="Segoe UI" pitchFamily="34" charset="-122"/>
                <a:cs typeface="Segoe UI" pitchFamily="34" charset="-120"/>
              </a:rPr>
              <a:t>=</a:t>
            </a:r>
            <a:endParaRPr lang="en-US" sz="2000" dirty="0"/>
          </a:p>
        </p:txBody>
      </p:sp>
      <p:sp>
        <p:nvSpPr>
          <p:cNvPr id="31" name="Text 29"/>
          <p:cNvSpPr/>
          <p:nvPr/>
        </p:nvSpPr>
        <p:spPr>
          <a:xfrm>
            <a:off x="7406640" y="2011680"/>
            <a:ext cx="1280160" cy="457200"/>
          </a:xfrm>
          <a:prstGeom prst="rect">
            <a:avLst/>
          </a:prstGeom>
          <a:noFill/>
          <a:ln/>
        </p:spPr>
        <p:txBody>
          <a:bodyPr wrap="square" lIns="0" tIns="0" rIns="0" bIns="0" rtlCol="0" anchor="ctr"/>
          <a:lstStyle/>
          <a:p>
            <a:pPr algn="ctr" indent="0" marL="0">
              <a:buNone/>
            </a:pPr>
            <a:r>
              <a:rPr lang="en-US" sz="2200" b="1" dirty="0">
                <a:solidFill>
                  <a:srgbClr val="0B2A4A"/>
                </a:solidFill>
                <a:latin typeface="Segoe UI" pitchFamily="34" charset="0"/>
                <a:ea typeface="Segoe UI" pitchFamily="34" charset="-122"/>
                <a:cs typeface="Segoe UI" pitchFamily="34" charset="-120"/>
              </a:rPr>
              <a:t>100</a:t>
            </a:r>
            <a:endParaRPr lang="en-US" sz="2200" dirty="0"/>
          </a:p>
        </p:txBody>
      </p:sp>
      <p:sp>
        <p:nvSpPr>
          <p:cNvPr id="32" name="Text 30"/>
          <p:cNvSpPr/>
          <p:nvPr/>
        </p:nvSpPr>
        <p:spPr>
          <a:xfrm>
            <a:off x="7406640" y="2423160"/>
            <a:ext cx="1280160" cy="274320"/>
          </a:xfrm>
          <a:prstGeom prst="rect">
            <a:avLst/>
          </a:prstGeom>
          <a:noFill/>
          <a:ln/>
        </p:spPr>
        <p:txBody>
          <a:bodyPr wrap="square" lIns="0" tIns="0" rIns="0" bIns="0" rtlCol="0" anchor="ctr"/>
          <a:lstStyle/>
          <a:p>
            <a:pPr algn="ctr" indent="0" marL="0">
              <a:buNone/>
            </a:pPr>
            <a:r>
              <a:rPr lang="en-US" sz="900" dirty="0">
                <a:solidFill>
                  <a:srgbClr val="6B7280"/>
                </a:solidFill>
                <a:latin typeface="Segoe UI" pitchFamily="34" charset="0"/>
                <a:ea typeface="Segoe UI" pitchFamily="34" charset="-122"/>
                <a:cs typeface="Segoe UI" pitchFamily="34" charset="-120"/>
              </a:rPr>
              <a:t>Total</a:t>
            </a:r>
            <a:endParaRPr lang="en-US" sz="900" dirty="0"/>
          </a:p>
        </p:txBody>
      </p:sp>
      <p:sp>
        <p:nvSpPr>
          <p:cNvPr id="33" name="Text 31"/>
          <p:cNvSpPr/>
          <p:nvPr/>
        </p:nvSpPr>
        <p:spPr>
          <a:xfrm>
            <a:off x="4754880" y="3017520"/>
            <a:ext cx="4023360" cy="320040"/>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Minimum eligibility to earn certificate:</a:t>
            </a:r>
            <a:endParaRPr lang="en-US" sz="1100" dirty="0"/>
          </a:p>
        </p:txBody>
      </p:sp>
      <p:sp>
        <p:nvSpPr>
          <p:cNvPr id="34" name="Text 32"/>
          <p:cNvSpPr/>
          <p:nvPr/>
        </p:nvSpPr>
        <p:spPr>
          <a:xfrm>
            <a:off x="4754880" y="3337560"/>
            <a:ext cx="4023360" cy="32004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Assignments ≥ 10/25   •   Final Exam ≥ 30/75</a:t>
            </a:r>
            <a:endParaRPr lang="en-US" sz="1200" dirty="0"/>
          </a:p>
        </p:txBody>
      </p:sp>
      <p:sp>
        <p:nvSpPr>
          <p:cNvPr id="35" name="Shape 33"/>
          <p:cNvSpPr/>
          <p:nvPr/>
        </p:nvSpPr>
        <p:spPr>
          <a:xfrm>
            <a:off x="4754880" y="3794760"/>
            <a:ext cx="4023360" cy="822960"/>
          </a:xfrm>
          <a:prstGeom prst="roundRect">
            <a:avLst>
              <a:gd name="adj" fmla="val 6667"/>
            </a:avLst>
          </a:prstGeom>
          <a:solidFill>
            <a:srgbClr val="FFF1E6"/>
          </a:solidFill>
          <a:ln w="6350">
            <a:solidFill>
              <a:srgbClr val="F97316"/>
            </a:solidFill>
            <a:prstDash val="solid"/>
          </a:ln>
        </p:spPr>
      </p:sp>
      <p:sp>
        <p:nvSpPr>
          <p:cNvPr id="36" name="Text 34"/>
          <p:cNvSpPr/>
          <p:nvPr/>
        </p:nvSpPr>
        <p:spPr>
          <a:xfrm>
            <a:off x="4892040" y="3886200"/>
            <a:ext cx="3794760" cy="640080"/>
          </a:xfrm>
          <a:prstGeom prst="rect">
            <a:avLst/>
          </a:prstGeom>
          <a:noFill/>
          <a:ln/>
        </p:spPr>
        <p:txBody>
          <a:bodyPr wrap="square" lIns="0" tIns="0" rIns="0" bIns="0" rtlCol="0" anchor="ctr"/>
          <a:lstStyle/>
          <a:p>
            <a:pPr indent="0" marL="0">
              <a:buNone/>
            </a:pPr>
            <a:r>
              <a:rPr lang="en-US" sz="1100" i="1" dirty="0">
                <a:solidFill>
                  <a:srgbClr val="1F2937"/>
                </a:solidFill>
                <a:latin typeface="Segoe UI" pitchFamily="34" charset="0"/>
                <a:ea typeface="Segoe UI" pitchFamily="34" charset="-122"/>
                <a:cs typeface="Segoe UI" pitchFamily="34" charset="-120"/>
              </a:rPr>
              <a:t>Registration for the exam is separate. Register on time!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FROM LEARNER TO CERTIFIED</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Certification Process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14</a:t>
            </a:r>
            <a:endParaRPr lang="en-US" sz="900" dirty="0"/>
          </a:p>
        </p:txBody>
      </p:sp>
      <p:sp>
        <p:nvSpPr>
          <p:cNvPr id="9" name="Shape 7"/>
          <p:cNvSpPr/>
          <p:nvPr/>
        </p:nvSpPr>
        <p:spPr>
          <a:xfrm>
            <a:off x="548640" y="1463040"/>
            <a:ext cx="1234440" cy="1371600"/>
          </a:xfrm>
          <a:prstGeom prst="roundRect">
            <a:avLst>
              <a:gd name="adj" fmla="val 5926"/>
            </a:avLst>
          </a:prstGeom>
          <a:solidFill>
            <a:srgbClr val="F1F6FC"/>
          </a:solidFill>
          <a:ln w="6350">
            <a:solidFill>
              <a:srgbClr val="2E7CD6"/>
            </a:solidFill>
            <a:prstDash val="solid"/>
          </a:ln>
        </p:spPr>
      </p:sp>
      <p:sp>
        <p:nvSpPr>
          <p:cNvPr id="10" name="Shape 8"/>
          <p:cNvSpPr/>
          <p:nvPr/>
        </p:nvSpPr>
        <p:spPr>
          <a:xfrm>
            <a:off x="845820" y="1600200"/>
            <a:ext cx="640080" cy="640080"/>
          </a:xfrm>
          <a:prstGeom prst="ellipse">
            <a:avLst/>
          </a:prstGeom>
          <a:solidFill>
            <a:srgbClr val="0B2A4A"/>
          </a:solidFill>
          <a:ln w="12700">
            <a:solidFill>
              <a:srgbClr val="0B2A4A"/>
            </a:solidFill>
            <a:prstDash val="solid"/>
          </a:ln>
        </p:spPr>
      </p:sp>
      <p:pic>
        <p:nvPicPr>
          <p:cNvPr id="11" name="Image 0" descr="preencoded.png">    </p:cNvPr>
          <p:cNvPicPr>
            <a:picLocks noChangeAspect="1"/>
          </p:cNvPicPr>
          <p:nvPr/>
        </p:nvPicPr>
        <p:blipFill>
          <a:blip r:embed="rId1"/>
          <a:stretch>
            <a:fillRect/>
          </a:stretch>
        </p:blipFill>
        <p:spPr>
          <a:xfrm>
            <a:off x="986638" y="1741018"/>
            <a:ext cx="358445" cy="358445"/>
          </a:xfrm>
          <a:prstGeom prst="rect">
            <a:avLst/>
          </a:prstGeom>
        </p:spPr>
      </p:pic>
      <p:sp>
        <p:nvSpPr>
          <p:cNvPr id="12" name="Text 9"/>
          <p:cNvSpPr/>
          <p:nvPr/>
        </p:nvSpPr>
        <p:spPr>
          <a:xfrm>
            <a:off x="548640" y="2331720"/>
            <a:ext cx="1234440" cy="45720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Enroll</a:t>
            </a:r>
            <a:endParaRPr lang="en-US" sz="1100" dirty="0"/>
          </a:p>
        </p:txBody>
      </p:sp>
      <p:sp>
        <p:nvSpPr>
          <p:cNvPr id="13" name="Shape 10"/>
          <p:cNvSpPr/>
          <p:nvPr/>
        </p:nvSpPr>
        <p:spPr>
          <a:xfrm>
            <a:off x="1787652" y="2148840"/>
            <a:ext cx="118872" cy="0"/>
          </a:xfrm>
          <a:prstGeom prst="line">
            <a:avLst/>
          </a:prstGeom>
          <a:noFill/>
          <a:ln w="25400">
            <a:solidFill>
              <a:srgbClr val="F97316"/>
            </a:solidFill>
            <a:prstDash val="solid"/>
          </a:ln>
        </p:spPr>
      </p:sp>
      <p:sp>
        <p:nvSpPr>
          <p:cNvPr id="14" name="Shape 11"/>
          <p:cNvSpPr/>
          <p:nvPr/>
        </p:nvSpPr>
        <p:spPr>
          <a:xfrm>
            <a:off x="1911096" y="1463040"/>
            <a:ext cx="1234440" cy="1371600"/>
          </a:xfrm>
          <a:prstGeom prst="roundRect">
            <a:avLst>
              <a:gd name="adj" fmla="val 5926"/>
            </a:avLst>
          </a:prstGeom>
          <a:solidFill>
            <a:srgbClr val="F1F6FC"/>
          </a:solidFill>
          <a:ln w="6350">
            <a:solidFill>
              <a:srgbClr val="2E7CD6"/>
            </a:solidFill>
            <a:prstDash val="solid"/>
          </a:ln>
        </p:spPr>
      </p:sp>
      <p:sp>
        <p:nvSpPr>
          <p:cNvPr id="15" name="Shape 12"/>
          <p:cNvSpPr/>
          <p:nvPr/>
        </p:nvSpPr>
        <p:spPr>
          <a:xfrm>
            <a:off x="2208276" y="1600200"/>
            <a:ext cx="640080" cy="640080"/>
          </a:xfrm>
          <a:prstGeom prst="ellipse">
            <a:avLst/>
          </a:prstGeom>
          <a:solidFill>
            <a:srgbClr val="0B2A4A"/>
          </a:solidFill>
          <a:ln w="12700">
            <a:solidFill>
              <a:srgbClr val="0B2A4A"/>
            </a:solidFill>
            <a:prstDash val="solid"/>
          </a:ln>
        </p:spPr>
      </p:sp>
      <p:pic>
        <p:nvPicPr>
          <p:cNvPr id="16" name="Image 1" descr="preencoded.png">    </p:cNvPr>
          <p:cNvPicPr>
            <a:picLocks noChangeAspect="1"/>
          </p:cNvPicPr>
          <p:nvPr/>
        </p:nvPicPr>
        <p:blipFill>
          <a:blip r:embed="rId2"/>
          <a:stretch>
            <a:fillRect/>
          </a:stretch>
        </p:blipFill>
        <p:spPr>
          <a:xfrm>
            <a:off x="2349094" y="1741018"/>
            <a:ext cx="358445" cy="358445"/>
          </a:xfrm>
          <a:prstGeom prst="rect">
            <a:avLst/>
          </a:prstGeom>
        </p:spPr>
      </p:pic>
      <p:sp>
        <p:nvSpPr>
          <p:cNvPr id="17" name="Text 13"/>
          <p:cNvSpPr/>
          <p:nvPr/>
        </p:nvSpPr>
        <p:spPr>
          <a:xfrm>
            <a:off x="1911096" y="2331720"/>
            <a:ext cx="1234440" cy="45720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Complete Course</a:t>
            </a:r>
            <a:endParaRPr lang="en-US" sz="1100" dirty="0"/>
          </a:p>
        </p:txBody>
      </p:sp>
      <p:sp>
        <p:nvSpPr>
          <p:cNvPr id="18" name="Shape 14"/>
          <p:cNvSpPr/>
          <p:nvPr/>
        </p:nvSpPr>
        <p:spPr>
          <a:xfrm>
            <a:off x="3150108" y="2148840"/>
            <a:ext cx="118872" cy="0"/>
          </a:xfrm>
          <a:prstGeom prst="line">
            <a:avLst/>
          </a:prstGeom>
          <a:noFill/>
          <a:ln w="25400">
            <a:solidFill>
              <a:srgbClr val="F97316"/>
            </a:solidFill>
            <a:prstDash val="solid"/>
          </a:ln>
        </p:spPr>
      </p:sp>
      <p:sp>
        <p:nvSpPr>
          <p:cNvPr id="19" name="Shape 15"/>
          <p:cNvSpPr/>
          <p:nvPr/>
        </p:nvSpPr>
        <p:spPr>
          <a:xfrm>
            <a:off x="3273552" y="1463040"/>
            <a:ext cx="1234440" cy="1371600"/>
          </a:xfrm>
          <a:prstGeom prst="roundRect">
            <a:avLst>
              <a:gd name="adj" fmla="val 5926"/>
            </a:avLst>
          </a:prstGeom>
          <a:solidFill>
            <a:srgbClr val="F1F6FC"/>
          </a:solidFill>
          <a:ln w="6350">
            <a:solidFill>
              <a:srgbClr val="2E7CD6"/>
            </a:solidFill>
            <a:prstDash val="solid"/>
          </a:ln>
        </p:spPr>
      </p:sp>
      <p:sp>
        <p:nvSpPr>
          <p:cNvPr id="20" name="Shape 16"/>
          <p:cNvSpPr/>
          <p:nvPr/>
        </p:nvSpPr>
        <p:spPr>
          <a:xfrm>
            <a:off x="3570732" y="1600200"/>
            <a:ext cx="640080" cy="640080"/>
          </a:xfrm>
          <a:prstGeom prst="ellipse">
            <a:avLst/>
          </a:prstGeom>
          <a:solidFill>
            <a:srgbClr val="0B2A4A"/>
          </a:solidFill>
          <a:ln w="12700">
            <a:solidFill>
              <a:srgbClr val="0B2A4A"/>
            </a:solidFill>
            <a:prstDash val="solid"/>
          </a:ln>
        </p:spPr>
      </p:sp>
      <p:pic>
        <p:nvPicPr>
          <p:cNvPr id="21" name="Image 2" descr="preencoded.png">    </p:cNvPr>
          <p:cNvPicPr>
            <a:picLocks noChangeAspect="1"/>
          </p:cNvPicPr>
          <p:nvPr/>
        </p:nvPicPr>
        <p:blipFill>
          <a:blip r:embed="rId3"/>
          <a:stretch>
            <a:fillRect/>
          </a:stretch>
        </p:blipFill>
        <p:spPr>
          <a:xfrm>
            <a:off x="3711550" y="1741018"/>
            <a:ext cx="358445" cy="358445"/>
          </a:xfrm>
          <a:prstGeom prst="rect">
            <a:avLst/>
          </a:prstGeom>
        </p:spPr>
      </p:pic>
      <p:sp>
        <p:nvSpPr>
          <p:cNvPr id="22" name="Text 17"/>
          <p:cNvSpPr/>
          <p:nvPr/>
        </p:nvSpPr>
        <p:spPr>
          <a:xfrm>
            <a:off x="3273552" y="2331720"/>
            <a:ext cx="1234440" cy="45720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Pass Assignments</a:t>
            </a:r>
            <a:endParaRPr lang="en-US" sz="1100" dirty="0"/>
          </a:p>
        </p:txBody>
      </p:sp>
      <p:sp>
        <p:nvSpPr>
          <p:cNvPr id="23" name="Shape 18"/>
          <p:cNvSpPr/>
          <p:nvPr/>
        </p:nvSpPr>
        <p:spPr>
          <a:xfrm>
            <a:off x="4512564" y="2148840"/>
            <a:ext cx="118872" cy="0"/>
          </a:xfrm>
          <a:prstGeom prst="line">
            <a:avLst/>
          </a:prstGeom>
          <a:noFill/>
          <a:ln w="25400">
            <a:solidFill>
              <a:srgbClr val="F97316"/>
            </a:solidFill>
            <a:prstDash val="solid"/>
          </a:ln>
        </p:spPr>
      </p:sp>
      <p:sp>
        <p:nvSpPr>
          <p:cNvPr id="24" name="Shape 19"/>
          <p:cNvSpPr/>
          <p:nvPr/>
        </p:nvSpPr>
        <p:spPr>
          <a:xfrm>
            <a:off x="4636008" y="1463040"/>
            <a:ext cx="1234440" cy="1371600"/>
          </a:xfrm>
          <a:prstGeom prst="roundRect">
            <a:avLst>
              <a:gd name="adj" fmla="val 5926"/>
            </a:avLst>
          </a:prstGeom>
          <a:solidFill>
            <a:srgbClr val="F1F6FC"/>
          </a:solidFill>
          <a:ln w="6350">
            <a:solidFill>
              <a:srgbClr val="2E7CD6"/>
            </a:solidFill>
            <a:prstDash val="solid"/>
          </a:ln>
        </p:spPr>
      </p:sp>
      <p:sp>
        <p:nvSpPr>
          <p:cNvPr id="25" name="Shape 20"/>
          <p:cNvSpPr/>
          <p:nvPr/>
        </p:nvSpPr>
        <p:spPr>
          <a:xfrm>
            <a:off x="4933188" y="1600200"/>
            <a:ext cx="640080" cy="640080"/>
          </a:xfrm>
          <a:prstGeom prst="ellipse">
            <a:avLst/>
          </a:prstGeom>
          <a:solidFill>
            <a:srgbClr val="0B2A4A"/>
          </a:solidFill>
          <a:ln w="12700">
            <a:solidFill>
              <a:srgbClr val="0B2A4A"/>
            </a:solidFill>
            <a:prstDash val="solid"/>
          </a:ln>
        </p:spPr>
      </p:sp>
      <p:pic>
        <p:nvPicPr>
          <p:cNvPr id="26" name="Image 3" descr="preencoded.png">    </p:cNvPr>
          <p:cNvPicPr>
            <a:picLocks noChangeAspect="1"/>
          </p:cNvPicPr>
          <p:nvPr/>
        </p:nvPicPr>
        <p:blipFill>
          <a:blip r:embed="rId4"/>
          <a:stretch>
            <a:fillRect/>
          </a:stretch>
        </p:blipFill>
        <p:spPr>
          <a:xfrm>
            <a:off x="5074006" y="1741018"/>
            <a:ext cx="358445" cy="358445"/>
          </a:xfrm>
          <a:prstGeom prst="rect">
            <a:avLst/>
          </a:prstGeom>
        </p:spPr>
      </p:pic>
      <p:sp>
        <p:nvSpPr>
          <p:cNvPr id="27" name="Text 21"/>
          <p:cNvSpPr/>
          <p:nvPr/>
        </p:nvSpPr>
        <p:spPr>
          <a:xfrm>
            <a:off x="4636008" y="2331720"/>
            <a:ext cx="1234440" cy="45720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Register for Exam</a:t>
            </a:r>
            <a:endParaRPr lang="en-US" sz="1100" dirty="0"/>
          </a:p>
        </p:txBody>
      </p:sp>
      <p:sp>
        <p:nvSpPr>
          <p:cNvPr id="28" name="Shape 22"/>
          <p:cNvSpPr/>
          <p:nvPr/>
        </p:nvSpPr>
        <p:spPr>
          <a:xfrm>
            <a:off x="5875020" y="2148840"/>
            <a:ext cx="118872" cy="0"/>
          </a:xfrm>
          <a:prstGeom prst="line">
            <a:avLst/>
          </a:prstGeom>
          <a:noFill/>
          <a:ln w="25400">
            <a:solidFill>
              <a:srgbClr val="F97316"/>
            </a:solidFill>
            <a:prstDash val="solid"/>
          </a:ln>
        </p:spPr>
      </p:sp>
      <p:sp>
        <p:nvSpPr>
          <p:cNvPr id="29" name="Shape 23"/>
          <p:cNvSpPr/>
          <p:nvPr/>
        </p:nvSpPr>
        <p:spPr>
          <a:xfrm>
            <a:off x="5998464" y="1463040"/>
            <a:ext cx="1234440" cy="1371600"/>
          </a:xfrm>
          <a:prstGeom prst="roundRect">
            <a:avLst>
              <a:gd name="adj" fmla="val 5926"/>
            </a:avLst>
          </a:prstGeom>
          <a:solidFill>
            <a:srgbClr val="F1F6FC"/>
          </a:solidFill>
          <a:ln w="6350">
            <a:solidFill>
              <a:srgbClr val="2E7CD6"/>
            </a:solidFill>
            <a:prstDash val="solid"/>
          </a:ln>
        </p:spPr>
      </p:sp>
      <p:sp>
        <p:nvSpPr>
          <p:cNvPr id="30" name="Shape 24"/>
          <p:cNvSpPr/>
          <p:nvPr/>
        </p:nvSpPr>
        <p:spPr>
          <a:xfrm>
            <a:off x="6295644" y="1600200"/>
            <a:ext cx="640080" cy="640080"/>
          </a:xfrm>
          <a:prstGeom prst="ellipse">
            <a:avLst/>
          </a:prstGeom>
          <a:solidFill>
            <a:srgbClr val="0B2A4A"/>
          </a:solidFill>
          <a:ln w="12700">
            <a:solidFill>
              <a:srgbClr val="0B2A4A"/>
            </a:solidFill>
            <a:prstDash val="solid"/>
          </a:ln>
        </p:spPr>
      </p:sp>
      <p:pic>
        <p:nvPicPr>
          <p:cNvPr id="31" name="Image 4" descr="preencoded.png">    </p:cNvPr>
          <p:cNvPicPr>
            <a:picLocks noChangeAspect="1"/>
          </p:cNvPicPr>
          <p:nvPr/>
        </p:nvPicPr>
        <p:blipFill>
          <a:blip r:embed="rId5"/>
          <a:stretch>
            <a:fillRect/>
          </a:stretch>
        </p:blipFill>
        <p:spPr>
          <a:xfrm>
            <a:off x="6436462" y="1741018"/>
            <a:ext cx="358445" cy="358445"/>
          </a:xfrm>
          <a:prstGeom prst="rect">
            <a:avLst/>
          </a:prstGeom>
        </p:spPr>
      </p:pic>
      <p:sp>
        <p:nvSpPr>
          <p:cNvPr id="32" name="Text 25"/>
          <p:cNvSpPr/>
          <p:nvPr/>
        </p:nvSpPr>
        <p:spPr>
          <a:xfrm>
            <a:off x="5998464" y="2331720"/>
            <a:ext cx="1234440" cy="45720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Clear Proctored Exam</a:t>
            </a:r>
            <a:endParaRPr lang="en-US" sz="1100" dirty="0"/>
          </a:p>
        </p:txBody>
      </p:sp>
      <p:sp>
        <p:nvSpPr>
          <p:cNvPr id="33" name="Shape 26"/>
          <p:cNvSpPr/>
          <p:nvPr/>
        </p:nvSpPr>
        <p:spPr>
          <a:xfrm>
            <a:off x="7237476" y="2148840"/>
            <a:ext cx="118872" cy="0"/>
          </a:xfrm>
          <a:prstGeom prst="line">
            <a:avLst/>
          </a:prstGeom>
          <a:noFill/>
          <a:ln w="25400">
            <a:solidFill>
              <a:srgbClr val="F97316"/>
            </a:solidFill>
            <a:prstDash val="solid"/>
          </a:ln>
        </p:spPr>
      </p:sp>
      <p:sp>
        <p:nvSpPr>
          <p:cNvPr id="34" name="Shape 27"/>
          <p:cNvSpPr/>
          <p:nvPr/>
        </p:nvSpPr>
        <p:spPr>
          <a:xfrm>
            <a:off x="7360920" y="1463040"/>
            <a:ext cx="1234440" cy="1371600"/>
          </a:xfrm>
          <a:prstGeom prst="roundRect">
            <a:avLst>
              <a:gd name="adj" fmla="val 5926"/>
            </a:avLst>
          </a:prstGeom>
          <a:solidFill>
            <a:srgbClr val="F1F6FC"/>
          </a:solidFill>
          <a:ln w="6350">
            <a:solidFill>
              <a:srgbClr val="2E7CD6"/>
            </a:solidFill>
            <a:prstDash val="solid"/>
          </a:ln>
        </p:spPr>
      </p:sp>
      <p:sp>
        <p:nvSpPr>
          <p:cNvPr id="35" name="Shape 28"/>
          <p:cNvSpPr/>
          <p:nvPr/>
        </p:nvSpPr>
        <p:spPr>
          <a:xfrm>
            <a:off x="7658100" y="1600200"/>
            <a:ext cx="640080" cy="640080"/>
          </a:xfrm>
          <a:prstGeom prst="ellipse">
            <a:avLst/>
          </a:prstGeom>
          <a:solidFill>
            <a:srgbClr val="0B2A4A"/>
          </a:solidFill>
          <a:ln w="12700">
            <a:solidFill>
              <a:srgbClr val="0B2A4A"/>
            </a:solidFill>
            <a:prstDash val="solid"/>
          </a:ln>
        </p:spPr>
      </p:sp>
      <p:pic>
        <p:nvPicPr>
          <p:cNvPr id="36" name="Image 5" descr="preencoded.png">    </p:cNvPr>
          <p:cNvPicPr>
            <a:picLocks noChangeAspect="1"/>
          </p:cNvPicPr>
          <p:nvPr/>
        </p:nvPicPr>
        <p:blipFill>
          <a:blip r:embed="rId6"/>
          <a:stretch>
            <a:fillRect/>
          </a:stretch>
        </p:blipFill>
        <p:spPr>
          <a:xfrm>
            <a:off x="7798918" y="1741018"/>
            <a:ext cx="358445" cy="358445"/>
          </a:xfrm>
          <a:prstGeom prst="rect">
            <a:avLst/>
          </a:prstGeom>
        </p:spPr>
      </p:pic>
      <p:sp>
        <p:nvSpPr>
          <p:cNvPr id="37" name="Text 29"/>
          <p:cNvSpPr/>
          <p:nvPr/>
        </p:nvSpPr>
        <p:spPr>
          <a:xfrm>
            <a:off x="7360920" y="2331720"/>
            <a:ext cx="1234440" cy="45720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Receive Certificate</a:t>
            </a:r>
            <a:endParaRPr lang="en-US" sz="1100" dirty="0"/>
          </a:p>
        </p:txBody>
      </p:sp>
      <p:sp>
        <p:nvSpPr>
          <p:cNvPr id="38" name="Shape 30"/>
          <p:cNvSpPr/>
          <p:nvPr/>
        </p:nvSpPr>
        <p:spPr>
          <a:xfrm>
            <a:off x="434340" y="3291840"/>
            <a:ext cx="1965960" cy="960120"/>
          </a:xfrm>
          <a:prstGeom prst="roundRect">
            <a:avLst>
              <a:gd name="adj" fmla="val 7619"/>
            </a:avLst>
          </a:prstGeom>
          <a:solidFill>
            <a:srgbClr val="F97316"/>
          </a:solidFill>
          <a:ln w="12700">
            <a:solidFill>
              <a:srgbClr val="F97316"/>
            </a:solidFill>
            <a:prstDash val="solid"/>
          </a:ln>
        </p:spPr>
      </p:sp>
      <p:sp>
        <p:nvSpPr>
          <p:cNvPr id="39" name="Text 31"/>
          <p:cNvSpPr/>
          <p:nvPr/>
        </p:nvSpPr>
        <p:spPr>
          <a:xfrm>
            <a:off x="525780" y="342900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Elite + Gold</a:t>
            </a:r>
            <a:endParaRPr lang="en-US" sz="1200" dirty="0"/>
          </a:p>
        </p:txBody>
      </p:sp>
      <p:sp>
        <p:nvSpPr>
          <p:cNvPr id="40" name="Text 32"/>
          <p:cNvSpPr/>
          <p:nvPr/>
        </p:nvSpPr>
        <p:spPr>
          <a:xfrm>
            <a:off x="525780" y="3794760"/>
            <a:ext cx="17830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 90%</a:t>
            </a:r>
            <a:endParaRPr lang="en-US" sz="1500" dirty="0"/>
          </a:p>
        </p:txBody>
      </p:sp>
      <p:sp>
        <p:nvSpPr>
          <p:cNvPr id="41" name="Shape 33"/>
          <p:cNvSpPr/>
          <p:nvPr/>
        </p:nvSpPr>
        <p:spPr>
          <a:xfrm>
            <a:off x="2537460" y="3291840"/>
            <a:ext cx="1965960" cy="960120"/>
          </a:xfrm>
          <a:prstGeom prst="roundRect">
            <a:avLst>
              <a:gd name="adj" fmla="val 7619"/>
            </a:avLst>
          </a:prstGeom>
          <a:solidFill>
            <a:srgbClr val="2E7CD6"/>
          </a:solidFill>
          <a:ln w="12700">
            <a:solidFill>
              <a:srgbClr val="2E7CD6"/>
            </a:solidFill>
            <a:prstDash val="solid"/>
          </a:ln>
        </p:spPr>
      </p:sp>
      <p:sp>
        <p:nvSpPr>
          <p:cNvPr id="42" name="Text 34"/>
          <p:cNvSpPr/>
          <p:nvPr/>
        </p:nvSpPr>
        <p:spPr>
          <a:xfrm>
            <a:off x="2628900" y="342900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Elite + Silver</a:t>
            </a:r>
            <a:endParaRPr lang="en-US" sz="1200" dirty="0"/>
          </a:p>
        </p:txBody>
      </p:sp>
      <p:sp>
        <p:nvSpPr>
          <p:cNvPr id="43" name="Text 35"/>
          <p:cNvSpPr/>
          <p:nvPr/>
        </p:nvSpPr>
        <p:spPr>
          <a:xfrm>
            <a:off x="2628900" y="3794760"/>
            <a:ext cx="17830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 75%</a:t>
            </a:r>
            <a:endParaRPr lang="en-US" sz="1500" dirty="0"/>
          </a:p>
        </p:txBody>
      </p:sp>
      <p:sp>
        <p:nvSpPr>
          <p:cNvPr id="44" name="Shape 36"/>
          <p:cNvSpPr/>
          <p:nvPr/>
        </p:nvSpPr>
        <p:spPr>
          <a:xfrm>
            <a:off x="4640580" y="3291840"/>
            <a:ext cx="1965960" cy="960120"/>
          </a:xfrm>
          <a:prstGeom prst="roundRect">
            <a:avLst>
              <a:gd name="adj" fmla="val 7619"/>
            </a:avLst>
          </a:prstGeom>
          <a:solidFill>
            <a:srgbClr val="1E4E8C"/>
          </a:solidFill>
          <a:ln w="12700">
            <a:solidFill>
              <a:srgbClr val="1E4E8C"/>
            </a:solidFill>
            <a:prstDash val="solid"/>
          </a:ln>
        </p:spPr>
      </p:sp>
      <p:sp>
        <p:nvSpPr>
          <p:cNvPr id="45" name="Text 37"/>
          <p:cNvSpPr/>
          <p:nvPr/>
        </p:nvSpPr>
        <p:spPr>
          <a:xfrm>
            <a:off x="4732020" y="342900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Elite</a:t>
            </a:r>
            <a:endParaRPr lang="en-US" sz="1200" dirty="0"/>
          </a:p>
        </p:txBody>
      </p:sp>
      <p:sp>
        <p:nvSpPr>
          <p:cNvPr id="46" name="Text 38"/>
          <p:cNvSpPr/>
          <p:nvPr/>
        </p:nvSpPr>
        <p:spPr>
          <a:xfrm>
            <a:off x="4732020" y="3794760"/>
            <a:ext cx="17830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 60%</a:t>
            </a:r>
            <a:endParaRPr lang="en-US" sz="1500" dirty="0"/>
          </a:p>
        </p:txBody>
      </p:sp>
      <p:sp>
        <p:nvSpPr>
          <p:cNvPr id="47" name="Shape 39"/>
          <p:cNvSpPr/>
          <p:nvPr/>
        </p:nvSpPr>
        <p:spPr>
          <a:xfrm>
            <a:off x="6743700" y="3291840"/>
            <a:ext cx="1965960" cy="960120"/>
          </a:xfrm>
          <a:prstGeom prst="roundRect">
            <a:avLst>
              <a:gd name="adj" fmla="val 7619"/>
            </a:avLst>
          </a:prstGeom>
          <a:solidFill>
            <a:srgbClr val="0B2A4A"/>
          </a:solidFill>
          <a:ln w="12700">
            <a:solidFill>
              <a:srgbClr val="0B2A4A"/>
            </a:solidFill>
            <a:prstDash val="solid"/>
          </a:ln>
        </p:spPr>
      </p:sp>
      <p:sp>
        <p:nvSpPr>
          <p:cNvPr id="48" name="Text 40"/>
          <p:cNvSpPr/>
          <p:nvPr/>
        </p:nvSpPr>
        <p:spPr>
          <a:xfrm>
            <a:off x="6835140" y="342900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Successfully Completed</a:t>
            </a:r>
            <a:endParaRPr lang="en-US" sz="1200" dirty="0"/>
          </a:p>
        </p:txBody>
      </p:sp>
      <p:sp>
        <p:nvSpPr>
          <p:cNvPr id="49" name="Text 41"/>
          <p:cNvSpPr/>
          <p:nvPr/>
        </p:nvSpPr>
        <p:spPr>
          <a:xfrm>
            <a:off x="6835140" y="3794760"/>
            <a:ext cx="17830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40 – 59%</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CHOOSE YOUR RECOGNITION</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Types of NPTEL Certificates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15</a:t>
            </a:r>
            <a:endParaRPr lang="en-US" sz="900" dirty="0"/>
          </a:p>
        </p:txBody>
      </p:sp>
      <p:sp>
        <p:nvSpPr>
          <p:cNvPr id="9" name="Shape 7"/>
          <p:cNvSpPr/>
          <p:nvPr/>
        </p:nvSpPr>
        <p:spPr>
          <a:xfrm>
            <a:off x="434340" y="1417320"/>
            <a:ext cx="1965960" cy="2743200"/>
          </a:xfrm>
          <a:prstGeom prst="roundRect">
            <a:avLst>
              <a:gd name="adj" fmla="val 465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434340" y="1417320"/>
            <a:ext cx="1965960" cy="640080"/>
          </a:xfrm>
          <a:prstGeom prst="rect">
            <a:avLst/>
          </a:prstGeom>
          <a:solidFill>
            <a:srgbClr val="0B2A4A"/>
          </a:solidFill>
          <a:ln w="12700">
            <a:solidFill>
              <a:srgbClr val="0B2A4A"/>
            </a:solidFill>
            <a:prstDash val="solid"/>
          </a:ln>
        </p:spPr>
      </p:sp>
      <p:sp>
        <p:nvSpPr>
          <p:cNvPr id="11" name="Shape 9"/>
          <p:cNvSpPr/>
          <p:nvPr/>
        </p:nvSpPr>
        <p:spPr>
          <a:xfrm>
            <a:off x="1074420" y="2194560"/>
            <a:ext cx="685800" cy="685800"/>
          </a:xfrm>
          <a:prstGeom prst="ellipse">
            <a:avLst/>
          </a:prstGeom>
          <a:solidFill>
            <a:srgbClr val="F1F6FC"/>
          </a:solidFill>
          <a:ln w="12700">
            <a:solidFill>
              <a:srgbClr val="F1F6FC"/>
            </a:solidFill>
            <a:prstDash val="solid"/>
          </a:ln>
        </p:spPr>
      </p:sp>
      <p:pic>
        <p:nvPicPr>
          <p:cNvPr id="12" name="Image 0" descr="preencoded.png">    </p:cNvPr>
          <p:cNvPicPr>
            <a:picLocks noChangeAspect="1"/>
          </p:cNvPicPr>
          <p:nvPr/>
        </p:nvPicPr>
        <p:blipFill>
          <a:blip r:embed="rId1"/>
          <a:stretch>
            <a:fillRect/>
          </a:stretch>
        </p:blipFill>
        <p:spPr>
          <a:xfrm>
            <a:off x="1225296" y="2345436"/>
            <a:ext cx="384048" cy="384048"/>
          </a:xfrm>
          <a:prstGeom prst="rect">
            <a:avLst/>
          </a:prstGeom>
        </p:spPr>
      </p:pic>
      <p:sp>
        <p:nvSpPr>
          <p:cNvPr id="13" name="Text 10"/>
          <p:cNvSpPr/>
          <p:nvPr/>
        </p:nvSpPr>
        <p:spPr>
          <a:xfrm>
            <a:off x="571500" y="3017520"/>
            <a:ext cx="169164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Course Completion</a:t>
            </a:r>
            <a:endParaRPr lang="en-US" sz="1300" dirty="0"/>
          </a:p>
        </p:txBody>
      </p:sp>
      <p:sp>
        <p:nvSpPr>
          <p:cNvPr id="14" name="Text 11"/>
          <p:cNvSpPr/>
          <p:nvPr/>
        </p:nvSpPr>
        <p:spPr>
          <a:xfrm>
            <a:off x="571500" y="3383280"/>
            <a:ext cx="169164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Successfully finished a course.</a:t>
            </a:r>
            <a:endParaRPr lang="en-US" sz="1000" dirty="0"/>
          </a:p>
        </p:txBody>
      </p:sp>
      <p:sp>
        <p:nvSpPr>
          <p:cNvPr id="15" name="Shape 12"/>
          <p:cNvSpPr/>
          <p:nvPr/>
        </p:nvSpPr>
        <p:spPr>
          <a:xfrm>
            <a:off x="800100" y="3840480"/>
            <a:ext cx="1234440" cy="256032"/>
          </a:xfrm>
          <a:prstGeom prst="roundRect">
            <a:avLst>
              <a:gd name="adj" fmla="val 14286"/>
            </a:avLst>
          </a:prstGeom>
          <a:solidFill>
            <a:srgbClr val="FFF1E6"/>
          </a:solidFill>
          <a:ln w="12700">
            <a:solidFill>
              <a:srgbClr val="FFF1E6"/>
            </a:solidFill>
            <a:prstDash val="solid"/>
          </a:ln>
        </p:spPr>
      </p:sp>
      <p:sp>
        <p:nvSpPr>
          <p:cNvPr id="16" name="Text 13"/>
          <p:cNvSpPr/>
          <p:nvPr/>
        </p:nvSpPr>
        <p:spPr>
          <a:xfrm>
            <a:off x="800100" y="3840480"/>
            <a:ext cx="1234440" cy="256032"/>
          </a:xfrm>
          <a:prstGeom prst="rect">
            <a:avLst/>
          </a:prstGeom>
          <a:noFill/>
          <a:ln/>
        </p:spPr>
        <p:txBody>
          <a:bodyPr wrap="square" lIns="0" tIns="0" rIns="0" bIns="0" rtlCol="0" anchor="ctr"/>
          <a:lstStyle/>
          <a:p>
            <a:pPr algn="ctr" indent="0" marL="0">
              <a:buNone/>
            </a:pPr>
            <a:r>
              <a:rPr lang="en-US" sz="1000" b="1" dirty="0">
                <a:solidFill>
                  <a:srgbClr val="F97316"/>
                </a:solidFill>
                <a:latin typeface="Segoe UI" pitchFamily="34" charset="0"/>
                <a:ea typeface="Segoe UI" pitchFamily="34" charset="-122"/>
                <a:cs typeface="Segoe UI" pitchFamily="34" charset="-120"/>
              </a:rPr>
              <a:t>40 – 59 %</a:t>
            </a:r>
            <a:endParaRPr lang="en-US" sz="1000" dirty="0"/>
          </a:p>
        </p:txBody>
      </p:sp>
      <p:sp>
        <p:nvSpPr>
          <p:cNvPr id="17" name="Text 14"/>
          <p:cNvSpPr/>
          <p:nvPr/>
        </p:nvSpPr>
        <p:spPr>
          <a:xfrm>
            <a:off x="434340" y="1581912"/>
            <a:ext cx="1965960" cy="32004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Segoe UI" pitchFamily="34" charset="0"/>
                <a:ea typeface="Segoe UI" pitchFamily="34" charset="-122"/>
                <a:cs typeface="Segoe UI" pitchFamily="34" charset="-120"/>
              </a:rPr>
              <a:t>TIER 1</a:t>
            </a:r>
            <a:endParaRPr lang="en-US" sz="1100" dirty="0"/>
          </a:p>
        </p:txBody>
      </p:sp>
      <p:sp>
        <p:nvSpPr>
          <p:cNvPr id="18" name="Shape 15"/>
          <p:cNvSpPr/>
          <p:nvPr/>
        </p:nvSpPr>
        <p:spPr>
          <a:xfrm>
            <a:off x="2537460" y="1417320"/>
            <a:ext cx="1965960" cy="2743200"/>
          </a:xfrm>
          <a:prstGeom prst="roundRect">
            <a:avLst>
              <a:gd name="adj" fmla="val 465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9" name="Shape 16"/>
          <p:cNvSpPr/>
          <p:nvPr/>
        </p:nvSpPr>
        <p:spPr>
          <a:xfrm>
            <a:off x="2537460" y="1417320"/>
            <a:ext cx="1965960" cy="640080"/>
          </a:xfrm>
          <a:prstGeom prst="rect">
            <a:avLst/>
          </a:prstGeom>
          <a:solidFill>
            <a:srgbClr val="1E4E8C"/>
          </a:solidFill>
          <a:ln w="12700">
            <a:solidFill>
              <a:srgbClr val="1E4E8C"/>
            </a:solidFill>
            <a:prstDash val="solid"/>
          </a:ln>
        </p:spPr>
      </p:sp>
      <p:sp>
        <p:nvSpPr>
          <p:cNvPr id="20" name="Shape 17"/>
          <p:cNvSpPr/>
          <p:nvPr/>
        </p:nvSpPr>
        <p:spPr>
          <a:xfrm>
            <a:off x="3177540" y="2194560"/>
            <a:ext cx="685800" cy="685800"/>
          </a:xfrm>
          <a:prstGeom prst="ellipse">
            <a:avLst/>
          </a:prstGeom>
          <a:solidFill>
            <a:srgbClr val="F1F6FC"/>
          </a:solidFill>
          <a:ln w="12700">
            <a:solidFill>
              <a:srgbClr val="F1F6FC"/>
            </a:solidFill>
            <a:prstDash val="solid"/>
          </a:ln>
        </p:spPr>
      </p:sp>
      <p:pic>
        <p:nvPicPr>
          <p:cNvPr id="21" name="Image 1" descr="preencoded.png">    </p:cNvPr>
          <p:cNvPicPr>
            <a:picLocks noChangeAspect="1"/>
          </p:cNvPicPr>
          <p:nvPr/>
        </p:nvPicPr>
        <p:blipFill>
          <a:blip r:embed="rId2"/>
          <a:stretch>
            <a:fillRect/>
          </a:stretch>
        </p:blipFill>
        <p:spPr>
          <a:xfrm>
            <a:off x="3328416" y="2345436"/>
            <a:ext cx="384048" cy="384048"/>
          </a:xfrm>
          <a:prstGeom prst="rect">
            <a:avLst/>
          </a:prstGeom>
        </p:spPr>
      </p:pic>
      <p:sp>
        <p:nvSpPr>
          <p:cNvPr id="22" name="Text 18"/>
          <p:cNvSpPr/>
          <p:nvPr/>
        </p:nvSpPr>
        <p:spPr>
          <a:xfrm>
            <a:off x="2674620" y="3017520"/>
            <a:ext cx="169164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Elite</a:t>
            </a:r>
            <a:endParaRPr lang="en-US" sz="1300" dirty="0"/>
          </a:p>
        </p:txBody>
      </p:sp>
      <p:sp>
        <p:nvSpPr>
          <p:cNvPr id="23" name="Text 19"/>
          <p:cNvSpPr/>
          <p:nvPr/>
        </p:nvSpPr>
        <p:spPr>
          <a:xfrm>
            <a:off x="2674620" y="3383280"/>
            <a:ext cx="169164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Excellent performance.</a:t>
            </a:r>
            <a:endParaRPr lang="en-US" sz="1000" dirty="0"/>
          </a:p>
        </p:txBody>
      </p:sp>
      <p:sp>
        <p:nvSpPr>
          <p:cNvPr id="24" name="Shape 20"/>
          <p:cNvSpPr/>
          <p:nvPr/>
        </p:nvSpPr>
        <p:spPr>
          <a:xfrm>
            <a:off x="2903220" y="3840480"/>
            <a:ext cx="1234440" cy="256032"/>
          </a:xfrm>
          <a:prstGeom prst="roundRect">
            <a:avLst>
              <a:gd name="adj" fmla="val 14286"/>
            </a:avLst>
          </a:prstGeom>
          <a:solidFill>
            <a:srgbClr val="FFF1E6"/>
          </a:solidFill>
          <a:ln w="12700">
            <a:solidFill>
              <a:srgbClr val="FFF1E6"/>
            </a:solidFill>
            <a:prstDash val="solid"/>
          </a:ln>
        </p:spPr>
      </p:sp>
      <p:sp>
        <p:nvSpPr>
          <p:cNvPr id="25" name="Text 21"/>
          <p:cNvSpPr/>
          <p:nvPr/>
        </p:nvSpPr>
        <p:spPr>
          <a:xfrm>
            <a:off x="2903220" y="3840480"/>
            <a:ext cx="1234440" cy="256032"/>
          </a:xfrm>
          <a:prstGeom prst="rect">
            <a:avLst/>
          </a:prstGeom>
          <a:noFill/>
          <a:ln/>
        </p:spPr>
        <p:txBody>
          <a:bodyPr wrap="square" lIns="0" tIns="0" rIns="0" bIns="0" rtlCol="0" anchor="ctr"/>
          <a:lstStyle/>
          <a:p>
            <a:pPr algn="ctr" indent="0" marL="0">
              <a:buNone/>
            </a:pPr>
            <a:r>
              <a:rPr lang="en-US" sz="1000" b="1" dirty="0">
                <a:solidFill>
                  <a:srgbClr val="F97316"/>
                </a:solidFill>
                <a:latin typeface="Segoe UI" pitchFamily="34" charset="0"/>
                <a:ea typeface="Segoe UI" pitchFamily="34" charset="-122"/>
                <a:cs typeface="Segoe UI" pitchFamily="34" charset="-120"/>
              </a:rPr>
              <a:t>≥ 60 %</a:t>
            </a:r>
            <a:endParaRPr lang="en-US" sz="1000" dirty="0"/>
          </a:p>
        </p:txBody>
      </p:sp>
      <p:sp>
        <p:nvSpPr>
          <p:cNvPr id="26" name="Text 22"/>
          <p:cNvSpPr/>
          <p:nvPr/>
        </p:nvSpPr>
        <p:spPr>
          <a:xfrm>
            <a:off x="2537460" y="1581912"/>
            <a:ext cx="1965960" cy="32004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Segoe UI" pitchFamily="34" charset="0"/>
                <a:ea typeface="Segoe UI" pitchFamily="34" charset="-122"/>
                <a:cs typeface="Segoe UI" pitchFamily="34" charset="-120"/>
              </a:rPr>
              <a:t>TIER 2</a:t>
            </a:r>
            <a:endParaRPr lang="en-US" sz="1100" dirty="0"/>
          </a:p>
        </p:txBody>
      </p:sp>
      <p:sp>
        <p:nvSpPr>
          <p:cNvPr id="27" name="Shape 23"/>
          <p:cNvSpPr/>
          <p:nvPr/>
        </p:nvSpPr>
        <p:spPr>
          <a:xfrm>
            <a:off x="4640580" y="1417320"/>
            <a:ext cx="1965960" cy="2743200"/>
          </a:xfrm>
          <a:prstGeom prst="roundRect">
            <a:avLst>
              <a:gd name="adj" fmla="val 465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8" name="Shape 24"/>
          <p:cNvSpPr/>
          <p:nvPr/>
        </p:nvSpPr>
        <p:spPr>
          <a:xfrm>
            <a:off x="4640580" y="1417320"/>
            <a:ext cx="1965960" cy="640080"/>
          </a:xfrm>
          <a:prstGeom prst="rect">
            <a:avLst/>
          </a:prstGeom>
          <a:solidFill>
            <a:srgbClr val="2E7CD6"/>
          </a:solidFill>
          <a:ln w="12700">
            <a:solidFill>
              <a:srgbClr val="2E7CD6"/>
            </a:solidFill>
            <a:prstDash val="solid"/>
          </a:ln>
        </p:spPr>
      </p:sp>
      <p:sp>
        <p:nvSpPr>
          <p:cNvPr id="29" name="Shape 25"/>
          <p:cNvSpPr/>
          <p:nvPr/>
        </p:nvSpPr>
        <p:spPr>
          <a:xfrm>
            <a:off x="5280660" y="2194560"/>
            <a:ext cx="685800" cy="685800"/>
          </a:xfrm>
          <a:prstGeom prst="ellipse">
            <a:avLst/>
          </a:prstGeom>
          <a:solidFill>
            <a:srgbClr val="F1F6FC"/>
          </a:solidFill>
          <a:ln w="12700">
            <a:solidFill>
              <a:srgbClr val="F1F6FC"/>
            </a:solidFill>
            <a:prstDash val="solid"/>
          </a:ln>
        </p:spPr>
      </p:sp>
      <p:pic>
        <p:nvPicPr>
          <p:cNvPr id="30" name="Image 2" descr="preencoded.png">    </p:cNvPr>
          <p:cNvPicPr>
            <a:picLocks noChangeAspect="1"/>
          </p:cNvPicPr>
          <p:nvPr/>
        </p:nvPicPr>
        <p:blipFill>
          <a:blip r:embed="rId3"/>
          <a:stretch>
            <a:fillRect/>
          </a:stretch>
        </p:blipFill>
        <p:spPr>
          <a:xfrm>
            <a:off x="5431536" y="2345436"/>
            <a:ext cx="384048" cy="384048"/>
          </a:xfrm>
          <a:prstGeom prst="rect">
            <a:avLst/>
          </a:prstGeom>
        </p:spPr>
      </p:pic>
      <p:sp>
        <p:nvSpPr>
          <p:cNvPr id="31" name="Text 26"/>
          <p:cNvSpPr/>
          <p:nvPr/>
        </p:nvSpPr>
        <p:spPr>
          <a:xfrm>
            <a:off x="4777740" y="3017520"/>
            <a:ext cx="169164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Elite + Silver</a:t>
            </a:r>
            <a:endParaRPr lang="en-US" sz="1300" dirty="0"/>
          </a:p>
        </p:txBody>
      </p:sp>
      <p:sp>
        <p:nvSpPr>
          <p:cNvPr id="32" name="Text 27"/>
          <p:cNvSpPr/>
          <p:nvPr/>
        </p:nvSpPr>
        <p:spPr>
          <a:xfrm>
            <a:off x="4777740" y="3383280"/>
            <a:ext cx="169164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Distinction level.</a:t>
            </a:r>
            <a:endParaRPr lang="en-US" sz="1000" dirty="0"/>
          </a:p>
        </p:txBody>
      </p:sp>
      <p:sp>
        <p:nvSpPr>
          <p:cNvPr id="33" name="Shape 28"/>
          <p:cNvSpPr/>
          <p:nvPr/>
        </p:nvSpPr>
        <p:spPr>
          <a:xfrm>
            <a:off x="5006340" y="3840480"/>
            <a:ext cx="1234440" cy="256032"/>
          </a:xfrm>
          <a:prstGeom prst="roundRect">
            <a:avLst>
              <a:gd name="adj" fmla="val 14286"/>
            </a:avLst>
          </a:prstGeom>
          <a:solidFill>
            <a:srgbClr val="FFF1E6"/>
          </a:solidFill>
          <a:ln w="12700">
            <a:solidFill>
              <a:srgbClr val="FFF1E6"/>
            </a:solidFill>
            <a:prstDash val="solid"/>
          </a:ln>
        </p:spPr>
      </p:sp>
      <p:sp>
        <p:nvSpPr>
          <p:cNvPr id="34" name="Text 29"/>
          <p:cNvSpPr/>
          <p:nvPr/>
        </p:nvSpPr>
        <p:spPr>
          <a:xfrm>
            <a:off x="5006340" y="3840480"/>
            <a:ext cx="1234440" cy="256032"/>
          </a:xfrm>
          <a:prstGeom prst="rect">
            <a:avLst/>
          </a:prstGeom>
          <a:noFill/>
          <a:ln/>
        </p:spPr>
        <p:txBody>
          <a:bodyPr wrap="square" lIns="0" tIns="0" rIns="0" bIns="0" rtlCol="0" anchor="ctr"/>
          <a:lstStyle/>
          <a:p>
            <a:pPr algn="ctr" indent="0" marL="0">
              <a:buNone/>
            </a:pPr>
            <a:r>
              <a:rPr lang="en-US" sz="1000" b="1" dirty="0">
                <a:solidFill>
                  <a:srgbClr val="F97316"/>
                </a:solidFill>
                <a:latin typeface="Segoe UI" pitchFamily="34" charset="0"/>
                <a:ea typeface="Segoe UI" pitchFamily="34" charset="-122"/>
                <a:cs typeface="Segoe UI" pitchFamily="34" charset="-120"/>
              </a:rPr>
              <a:t>≥ 75 %</a:t>
            </a:r>
            <a:endParaRPr lang="en-US" sz="1000" dirty="0"/>
          </a:p>
        </p:txBody>
      </p:sp>
      <p:sp>
        <p:nvSpPr>
          <p:cNvPr id="35" name="Text 30"/>
          <p:cNvSpPr/>
          <p:nvPr/>
        </p:nvSpPr>
        <p:spPr>
          <a:xfrm>
            <a:off x="4640580" y="1581912"/>
            <a:ext cx="1965960" cy="32004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Segoe UI" pitchFamily="34" charset="0"/>
                <a:ea typeface="Segoe UI" pitchFamily="34" charset="-122"/>
                <a:cs typeface="Segoe UI" pitchFamily="34" charset="-120"/>
              </a:rPr>
              <a:t>TIER 3</a:t>
            </a:r>
            <a:endParaRPr lang="en-US" sz="1100" dirty="0"/>
          </a:p>
        </p:txBody>
      </p:sp>
      <p:sp>
        <p:nvSpPr>
          <p:cNvPr id="36" name="Shape 31"/>
          <p:cNvSpPr/>
          <p:nvPr/>
        </p:nvSpPr>
        <p:spPr>
          <a:xfrm>
            <a:off x="6743700" y="1417320"/>
            <a:ext cx="1965960" cy="2743200"/>
          </a:xfrm>
          <a:prstGeom prst="roundRect">
            <a:avLst>
              <a:gd name="adj" fmla="val 465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7" name="Shape 32"/>
          <p:cNvSpPr/>
          <p:nvPr/>
        </p:nvSpPr>
        <p:spPr>
          <a:xfrm>
            <a:off x="6743700" y="1417320"/>
            <a:ext cx="1965960" cy="640080"/>
          </a:xfrm>
          <a:prstGeom prst="rect">
            <a:avLst/>
          </a:prstGeom>
          <a:solidFill>
            <a:srgbClr val="F97316"/>
          </a:solidFill>
          <a:ln w="12700">
            <a:solidFill>
              <a:srgbClr val="F97316"/>
            </a:solidFill>
            <a:prstDash val="solid"/>
          </a:ln>
        </p:spPr>
      </p:sp>
      <p:sp>
        <p:nvSpPr>
          <p:cNvPr id="38" name="Shape 33"/>
          <p:cNvSpPr/>
          <p:nvPr/>
        </p:nvSpPr>
        <p:spPr>
          <a:xfrm>
            <a:off x="7383780" y="2194560"/>
            <a:ext cx="685800" cy="685800"/>
          </a:xfrm>
          <a:prstGeom prst="ellipse">
            <a:avLst/>
          </a:prstGeom>
          <a:solidFill>
            <a:srgbClr val="F1F6FC"/>
          </a:solidFill>
          <a:ln w="12700">
            <a:solidFill>
              <a:srgbClr val="F1F6FC"/>
            </a:solidFill>
            <a:prstDash val="solid"/>
          </a:ln>
        </p:spPr>
      </p:sp>
      <p:pic>
        <p:nvPicPr>
          <p:cNvPr id="39" name="Image 3" descr="preencoded.png">    </p:cNvPr>
          <p:cNvPicPr>
            <a:picLocks noChangeAspect="1"/>
          </p:cNvPicPr>
          <p:nvPr/>
        </p:nvPicPr>
        <p:blipFill>
          <a:blip r:embed="rId4"/>
          <a:stretch>
            <a:fillRect/>
          </a:stretch>
        </p:blipFill>
        <p:spPr>
          <a:xfrm>
            <a:off x="7534656" y="2345436"/>
            <a:ext cx="384048" cy="384048"/>
          </a:xfrm>
          <a:prstGeom prst="rect">
            <a:avLst/>
          </a:prstGeom>
        </p:spPr>
      </p:pic>
      <p:sp>
        <p:nvSpPr>
          <p:cNvPr id="40" name="Text 34"/>
          <p:cNvSpPr/>
          <p:nvPr/>
        </p:nvSpPr>
        <p:spPr>
          <a:xfrm>
            <a:off x="6880860" y="3017520"/>
            <a:ext cx="169164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Elite + Gold</a:t>
            </a:r>
            <a:endParaRPr lang="en-US" sz="1300" dirty="0"/>
          </a:p>
        </p:txBody>
      </p:sp>
      <p:sp>
        <p:nvSpPr>
          <p:cNvPr id="41" name="Text 35"/>
          <p:cNvSpPr/>
          <p:nvPr/>
        </p:nvSpPr>
        <p:spPr>
          <a:xfrm>
            <a:off x="6880860" y="3383280"/>
            <a:ext cx="169164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Top performer nationwide.</a:t>
            </a:r>
            <a:endParaRPr lang="en-US" sz="1000" dirty="0"/>
          </a:p>
        </p:txBody>
      </p:sp>
      <p:sp>
        <p:nvSpPr>
          <p:cNvPr id="42" name="Shape 36"/>
          <p:cNvSpPr/>
          <p:nvPr/>
        </p:nvSpPr>
        <p:spPr>
          <a:xfrm>
            <a:off x="7109460" y="3840480"/>
            <a:ext cx="1234440" cy="256032"/>
          </a:xfrm>
          <a:prstGeom prst="roundRect">
            <a:avLst>
              <a:gd name="adj" fmla="val 14286"/>
            </a:avLst>
          </a:prstGeom>
          <a:solidFill>
            <a:srgbClr val="FFF1E6"/>
          </a:solidFill>
          <a:ln w="12700">
            <a:solidFill>
              <a:srgbClr val="FFF1E6"/>
            </a:solidFill>
            <a:prstDash val="solid"/>
          </a:ln>
        </p:spPr>
      </p:sp>
      <p:sp>
        <p:nvSpPr>
          <p:cNvPr id="43" name="Text 37"/>
          <p:cNvSpPr/>
          <p:nvPr/>
        </p:nvSpPr>
        <p:spPr>
          <a:xfrm>
            <a:off x="7109460" y="3840480"/>
            <a:ext cx="1234440" cy="256032"/>
          </a:xfrm>
          <a:prstGeom prst="rect">
            <a:avLst/>
          </a:prstGeom>
          <a:noFill/>
          <a:ln/>
        </p:spPr>
        <p:txBody>
          <a:bodyPr wrap="square" lIns="0" tIns="0" rIns="0" bIns="0" rtlCol="0" anchor="ctr"/>
          <a:lstStyle/>
          <a:p>
            <a:pPr algn="ctr" indent="0" marL="0">
              <a:buNone/>
            </a:pPr>
            <a:r>
              <a:rPr lang="en-US" sz="1000" b="1" dirty="0">
                <a:solidFill>
                  <a:srgbClr val="F97316"/>
                </a:solidFill>
                <a:latin typeface="Segoe UI" pitchFamily="34" charset="0"/>
                <a:ea typeface="Segoe UI" pitchFamily="34" charset="-122"/>
                <a:cs typeface="Segoe UI" pitchFamily="34" charset="-120"/>
              </a:rPr>
              <a:t>≥ 90 %</a:t>
            </a:r>
            <a:endParaRPr lang="en-US" sz="1000" dirty="0"/>
          </a:p>
        </p:txBody>
      </p:sp>
      <p:sp>
        <p:nvSpPr>
          <p:cNvPr id="44" name="Text 38"/>
          <p:cNvSpPr/>
          <p:nvPr/>
        </p:nvSpPr>
        <p:spPr>
          <a:xfrm>
            <a:off x="6743700" y="1581912"/>
            <a:ext cx="1965960" cy="32004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Segoe UI" pitchFamily="34" charset="0"/>
                <a:ea typeface="Segoe UI" pitchFamily="34" charset="-122"/>
                <a:cs typeface="Segoe UI" pitchFamily="34" charset="-120"/>
              </a:rPr>
              <a:t>TIER 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BEYOND A SINGLE COURSE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Domain Certification</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16</a:t>
            </a:r>
            <a:endParaRPr lang="en-US" sz="900" dirty="0"/>
          </a:p>
        </p:txBody>
      </p:sp>
      <p:sp>
        <p:nvSpPr>
          <p:cNvPr id="9" name="Shape 7"/>
          <p:cNvSpPr/>
          <p:nvPr/>
        </p:nvSpPr>
        <p:spPr>
          <a:xfrm>
            <a:off x="457200" y="1371600"/>
            <a:ext cx="3840480" cy="3200400"/>
          </a:xfrm>
          <a:prstGeom prst="roundRect">
            <a:avLst>
              <a:gd name="adj" fmla="val 2857"/>
            </a:avLst>
          </a:prstGeom>
          <a:solidFill>
            <a:srgbClr val="0B2A4A"/>
          </a:solidFill>
          <a:ln w="12700">
            <a:solidFill>
              <a:srgbClr val="0B2A4A"/>
            </a:solidFill>
            <a:prstDash val="solid"/>
          </a:ln>
          <a:effectLst>
            <a:outerShdw sx="100000" sy="100000" kx="0" ky="0" algn="bl" rotWithShape="0" blurRad="127000" dist="25400" dir="5400000">
              <a:srgbClr val="000000">
                <a:alpha val="10000"/>
              </a:srgbClr>
            </a:outerShdw>
          </a:effectLst>
        </p:spPr>
      </p:sp>
      <p:sp>
        <p:nvSpPr>
          <p:cNvPr id="10" name="Text 8"/>
          <p:cNvSpPr/>
          <p:nvPr/>
        </p:nvSpPr>
        <p:spPr>
          <a:xfrm>
            <a:off x="685800" y="1554480"/>
            <a:ext cx="36576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What is it?</a:t>
            </a:r>
            <a:endParaRPr lang="en-US" sz="1200" dirty="0"/>
          </a:p>
        </p:txBody>
      </p:sp>
      <p:sp>
        <p:nvSpPr>
          <p:cNvPr id="11" name="Text 9"/>
          <p:cNvSpPr/>
          <p:nvPr/>
        </p:nvSpPr>
        <p:spPr>
          <a:xfrm>
            <a:off x="685800" y="1920240"/>
            <a:ext cx="3566160" cy="1371600"/>
          </a:xfrm>
          <a:prstGeom prst="rect">
            <a:avLst/>
          </a:prstGeom>
          <a:noFill/>
          <a:ln/>
        </p:spPr>
        <p:txBody>
          <a:bodyPr wrap="square" lIns="0" tIns="0" rIns="0" bIns="0" rtlCol="0" anchor="ctr"/>
          <a:lstStyle/>
          <a:p>
            <a:pPr indent="0" marL="0">
              <a:buNone/>
            </a:pPr>
            <a:r>
              <a:rPr lang="en-US" sz="1600" dirty="0">
                <a:solidFill>
                  <a:srgbClr val="FFFFFF"/>
                </a:solidFill>
                <a:latin typeface="Segoe UI" pitchFamily="34" charset="0"/>
                <a:ea typeface="Segoe UI" pitchFamily="34" charset="-122"/>
                <a:cs typeface="Segoe UI" pitchFamily="34" charset="-120"/>
              </a:rPr>
              <a:t>A specialization awarded when you clear 4 related NPTEL courses in one domain.</a:t>
            </a:r>
            <a:endParaRPr lang="en-US" sz="1600" dirty="0"/>
          </a:p>
        </p:txBody>
      </p:sp>
      <p:sp>
        <p:nvSpPr>
          <p:cNvPr id="12" name="Shape 10"/>
          <p:cNvSpPr/>
          <p:nvPr/>
        </p:nvSpPr>
        <p:spPr>
          <a:xfrm>
            <a:off x="685800" y="3291840"/>
            <a:ext cx="457200" cy="36576"/>
          </a:xfrm>
          <a:prstGeom prst="rect">
            <a:avLst/>
          </a:prstGeom>
          <a:solidFill>
            <a:srgbClr val="F97316"/>
          </a:solidFill>
          <a:ln w="12700">
            <a:solidFill>
              <a:srgbClr val="F97316"/>
            </a:solidFill>
            <a:prstDash val="solid"/>
          </a:ln>
        </p:spPr>
      </p:sp>
      <p:sp>
        <p:nvSpPr>
          <p:cNvPr id="13" name="Text 11"/>
          <p:cNvSpPr/>
          <p:nvPr/>
        </p:nvSpPr>
        <p:spPr>
          <a:xfrm>
            <a:off x="685800" y="3429000"/>
            <a:ext cx="3566160" cy="1005840"/>
          </a:xfrm>
          <a:prstGeom prst="rect">
            <a:avLst/>
          </a:prstGeom>
          <a:noFill/>
          <a:ln/>
        </p:spPr>
        <p:txBody>
          <a:bodyPr wrap="square" lIns="0" tIns="0" rIns="0" bIns="0" rtlCol="0" anchor="ctr"/>
          <a:lstStyle/>
          <a:p>
            <a:pPr indent="0" marL="0">
              <a:buNone/>
            </a:pPr>
            <a:r>
              <a:rPr lang="en-US" sz="1200" i="1" dirty="0">
                <a:solidFill>
                  <a:srgbClr val="E8F1FB"/>
                </a:solidFill>
                <a:latin typeface="Segoe UI" pitchFamily="34" charset="0"/>
                <a:ea typeface="Segoe UI" pitchFamily="34" charset="-122"/>
                <a:cs typeface="Segoe UI" pitchFamily="34" charset="-120"/>
              </a:rPr>
              <a:t>Signals to recruiters that you have deep domain expertise.</a:t>
            </a:r>
            <a:endParaRPr lang="en-US" sz="1200" dirty="0"/>
          </a:p>
        </p:txBody>
      </p:sp>
      <p:sp>
        <p:nvSpPr>
          <p:cNvPr id="14" name="Shape 12"/>
          <p:cNvSpPr/>
          <p:nvPr/>
        </p:nvSpPr>
        <p:spPr>
          <a:xfrm>
            <a:off x="4572000" y="1371600"/>
            <a:ext cx="2148840" cy="960120"/>
          </a:xfrm>
          <a:prstGeom prst="roundRect">
            <a:avLst>
              <a:gd name="adj" fmla="val 7619"/>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5" name="Shape 13"/>
          <p:cNvSpPr/>
          <p:nvPr/>
        </p:nvSpPr>
        <p:spPr>
          <a:xfrm>
            <a:off x="4709160" y="1554480"/>
            <a:ext cx="594360" cy="59436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1"/>
          <a:stretch>
            <a:fillRect/>
          </a:stretch>
        </p:blipFill>
        <p:spPr>
          <a:xfrm>
            <a:off x="4839919" y="1685239"/>
            <a:ext cx="332842" cy="332842"/>
          </a:xfrm>
          <a:prstGeom prst="rect">
            <a:avLst/>
          </a:prstGeom>
        </p:spPr>
      </p:pic>
      <p:sp>
        <p:nvSpPr>
          <p:cNvPr id="17" name="Text 14"/>
          <p:cNvSpPr/>
          <p:nvPr/>
        </p:nvSpPr>
        <p:spPr>
          <a:xfrm>
            <a:off x="5394960" y="1645920"/>
            <a:ext cx="1234440" cy="45720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AI / Machine Learning</a:t>
            </a:r>
            <a:endParaRPr lang="en-US" sz="1200" dirty="0"/>
          </a:p>
        </p:txBody>
      </p:sp>
      <p:sp>
        <p:nvSpPr>
          <p:cNvPr id="18" name="Shape 15"/>
          <p:cNvSpPr/>
          <p:nvPr/>
        </p:nvSpPr>
        <p:spPr>
          <a:xfrm>
            <a:off x="6858000" y="1371600"/>
            <a:ext cx="2148840" cy="960120"/>
          </a:xfrm>
          <a:prstGeom prst="roundRect">
            <a:avLst>
              <a:gd name="adj" fmla="val 7619"/>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9" name="Shape 16"/>
          <p:cNvSpPr/>
          <p:nvPr/>
        </p:nvSpPr>
        <p:spPr>
          <a:xfrm>
            <a:off x="6995160" y="1554480"/>
            <a:ext cx="594360" cy="594360"/>
          </a:xfrm>
          <a:prstGeom prst="ellipse">
            <a:avLst/>
          </a:prstGeom>
          <a:solidFill>
            <a:srgbClr val="FFFFFF"/>
          </a:solidFill>
          <a:ln w="12700">
            <a:solidFill>
              <a:srgbClr val="FFFFFF"/>
            </a:solidFill>
            <a:prstDash val="solid"/>
          </a:ln>
        </p:spPr>
      </p:sp>
      <p:pic>
        <p:nvPicPr>
          <p:cNvPr id="20" name="Image 1" descr="preencoded.png">    </p:cNvPr>
          <p:cNvPicPr>
            <a:picLocks noChangeAspect="1"/>
          </p:cNvPicPr>
          <p:nvPr/>
        </p:nvPicPr>
        <p:blipFill>
          <a:blip r:embed="rId2"/>
          <a:stretch>
            <a:fillRect/>
          </a:stretch>
        </p:blipFill>
        <p:spPr>
          <a:xfrm>
            <a:off x="7125919" y="1685239"/>
            <a:ext cx="332842" cy="332842"/>
          </a:xfrm>
          <a:prstGeom prst="rect">
            <a:avLst/>
          </a:prstGeom>
        </p:spPr>
      </p:pic>
      <p:sp>
        <p:nvSpPr>
          <p:cNvPr id="21" name="Text 17"/>
          <p:cNvSpPr/>
          <p:nvPr/>
        </p:nvSpPr>
        <p:spPr>
          <a:xfrm>
            <a:off x="7680960" y="1645920"/>
            <a:ext cx="1234440" cy="45720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Cloud Computing</a:t>
            </a:r>
            <a:endParaRPr lang="en-US" sz="1200" dirty="0"/>
          </a:p>
        </p:txBody>
      </p:sp>
      <p:sp>
        <p:nvSpPr>
          <p:cNvPr id="22" name="Shape 18"/>
          <p:cNvSpPr/>
          <p:nvPr/>
        </p:nvSpPr>
        <p:spPr>
          <a:xfrm>
            <a:off x="4572000" y="2441448"/>
            <a:ext cx="2148840" cy="960120"/>
          </a:xfrm>
          <a:prstGeom prst="roundRect">
            <a:avLst>
              <a:gd name="adj" fmla="val 7619"/>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3" name="Shape 19"/>
          <p:cNvSpPr/>
          <p:nvPr/>
        </p:nvSpPr>
        <p:spPr>
          <a:xfrm>
            <a:off x="4709160" y="2624328"/>
            <a:ext cx="594360" cy="594360"/>
          </a:xfrm>
          <a:prstGeom prst="ellipse">
            <a:avLst/>
          </a:prstGeom>
          <a:solidFill>
            <a:srgbClr val="FFFFFF"/>
          </a:solidFill>
          <a:ln w="12700">
            <a:solidFill>
              <a:srgbClr val="FFFFFF"/>
            </a:solidFill>
            <a:prstDash val="solid"/>
          </a:ln>
        </p:spPr>
      </p:sp>
      <p:pic>
        <p:nvPicPr>
          <p:cNvPr id="24" name="Image 2" descr="preencoded.png">    </p:cNvPr>
          <p:cNvPicPr>
            <a:picLocks noChangeAspect="1"/>
          </p:cNvPicPr>
          <p:nvPr/>
        </p:nvPicPr>
        <p:blipFill>
          <a:blip r:embed="rId3"/>
          <a:stretch>
            <a:fillRect/>
          </a:stretch>
        </p:blipFill>
        <p:spPr>
          <a:xfrm>
            <a:off x="4839919" y="2755087"/>
            <a:ext cx="332842" cy="332842"/>
          </a:xfrm>
          <a:prstGeom prst="rect">
            <a:avLst/>
          </a:prstGeom>
        </p:spPr>
      </p:pic>
      <p:sp>
        <p:nvSpPr>
          <p:cNvPr id="25" name="Text 20"/>
          <p:cNvSpPr/>
          <p:nvPr/>
        </p:nvSpPr>
        <p:spPr>
          <a:xfrm>
            <a:off x="5394960" y="2715768"/>
            <a:ext cx="1234440" cy="45720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Cyber Security</a:t>
            </a:r>
            <a:endParaRPr lang="en-US" sz="1200" dirty="0"/>
          </a:p>
        </p:txBody>
      </p:sp>
      <p:sp>
        <p:nvSpPr>
          <p:cNvPr id="26" name="Shape 21"/>
          <p:cNvSpPr/>
          <p:nvPr/>
        </p:nvSpPr>
        <p:spPr>
          <a:xfrm>
            <a:off x="6858000" y="2441448"/>
            <a:ext cx="2148840" cy="960120"/>
          </a:xfrm>
          <a:prstGeom prst="roundRect">
            <a:avLst>
              <a:gd name="adj" fmla="val 7619"/>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7" name="Shape 22"/>
          <p:cNvSpPr/>
          <p:nvPr/>
        </p:nvSpPr>
        <p:spPr>
          <a:xfrm>
            <a:off x="6995160" y="2624328"/>
            <a:ext cx="594360" cy="594360"/>
          </a:xfrm>
          <a:prstGeom prst="ellipse">
            <a:avLst/>
          </a:prstGeom>
          <a:solidFill>
            <a:srgbClr val="FFFFFF"/>
          </a:solidFill>
          <a:ln w="12700">
            <a:solidFill>
              <a:srgbClr val="FFFFFF"/>
            </a:solidFill>
            <a:prstDash val="solid"/>
          </a:ln>
        </p:spPr>
      </p:sp>
      <p:pic>
        <p:nvPicPr>
          <p:cNvPr id="28" name="Image 3" descr="preencoded.png">    </p:cNvPr>
          <p:cNvPicPr>
            <a:picLocks noChangeAspect="1"/>
          </p:cNvPicPr>
          <p:nvPr/>
        </p:nvPicPr>
        <p:blipFill>
          <a:blip r:embed="rId4"/>
          <a:stretch>
            <a:fillRect/>
          </a:stretch>
        </p:blipFill>
        <p:spPr>
          <a:xfrm>
            <a:off x="7125919" y="2755087"/>
            <a:ext cx="332842" cy="332842"/>
          </a:xfrm>
          <a:prstGeom prst="rect">
            <a:avLst/>
          </a:prstGeom>
        </p:spPr>
      </p:pic>
      <p:sp>
        <p:nvSpPr>
          <p:cNvPr id="29" name="Text 23"/>
          <p:cNvSpPr/>
          <p:nvPr/>
        </p:nvSpPr>
        <p:spPr>
          <a:xfrm>
            <a:off x="7680960" y="2715768"/>
            <a:ext cx="1234440" cy="45720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VLSI Design</a:t>
            </a:r>
            <a:endParaRPr lang="en-US" sz="1200" dirty="0"/>
          </a:p>
        </p:txBody>
      </p:sp>
      <p:sp>
        <p:nvSpPr>
          <p:cNvPr id="30" name="Shape 24"/>
          <p:cNvSpPr/>
          <p:nvPr/>
        </p:nvSpPr>
        <p:spPr>
          <a:xfrm>
            <a:off x="4572000" y="3511296"/>
            <a:ext cx="2148840" cy="960120"/>
          </a:xfrm>
          <a:prstGeom prst="roundRect">
            <a:avLst>
              <a:gd name="adj" fmla="val 7619"/>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1" name="Shape 25"/>
          <p:cNvSpPr/>
          <p:nvPr/>
        </p:nvSpPr>
        <p:spPr>
          <a:xfrm>
            <a:off x="4709160" y="3694176"/>
            <a:ext cx="594360" cy="594360"/>
          </a:xfrm>
          <a:prstGeom prst="ellipse">
            <a:avLst/>
          </a:prstGeom>
          <a:solidFill>
            <a:srgbClr val="FFFFFF"/>
          </a:solidFill>
          <a:ln w="12700">
            <a:solidFill>
              <a:srgbClr val="FFFFFF"/>
            </a:solidFill>
            <a:prstDash val="solid"/>
          </a:ln>
        </p:spPr>
      </p:sp>
      <p:pic>
        <p:nvPicPr>
          <p:cNvPr id="32" name="Image 4" descr="preencoded.png">    </p:cNvPr>
          <p:cNvPicPr>
            <a:picLocks noChangeAspect="1"/>
          </p:cNvPicPr>
          <p:nvPr/>
        </p:nvPicPr>
        <p:blipFill>
          <a:blip r:embed="rId5"/>
          <a:stretch>
            <a:fillRect/>
          </a:stretch>
        </p:blipFill>
        <p:spPr>
          <a:xfrm>
            <a:off x="4839919" y="3824935"/>
            <a:ext cx="332842" cy="332842"/>
          </a:xfrm>
          <a:prstGeom prst="rect">
            <a:avLst/>
          </a:prstGeom>
        </p:spPr>
      </p:pic>
      <p:sp>
        <p:nvSpPr>
          <p:cNvPr id="33" name="Text 26"/>
          <p:cNvSpPr/>
          <p:nvPr/>
        </p:nvSpPr>
        <p:spPr>
          <a:xfrm>
            <a:off x="5394960" y="3785616"/>
            <a:ext cx="1234440" cy="45720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Data Science</a:t>
            </a:r>
            <a:endParaRPr lang="en-US" sz="1200" dirty="0"/>
          </a:p>
        </p:txBody>
      </p:sp>
      <p:sp>
        <p:nvSpPr>
          <p:cNvPr id="34" name="Shape 27"/>
          <p:cNvSpPr/>
          <p:nvPr/>
        </p:nvSpPr>
        <p:spPr>
          <a:xfrm>
            <a:off x="6858000" y="3511296"/>
            <a:ext cx="2148840" cy="960120"/>
          </a:xfrm>
          <a:prstGeom prst="roundRect">
            <a:avLst>
              <a:gd name="adj" fmla="val 7619"/>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5" name="Shape 28"/>
          <p:cNvSpPr/>
          <p:nvPr/>
        </p:nvSpPr>
        <p:spPr>
          <a:xfrm>
            <a:off x="6995160" y="3694176"/>
            <a:ext cx="594360" cy="594360"/>
          </a:xfrm>
          <a:prstGeom prst="ellipse">
            <a:avLst/>
          </a:prstGeom>
          <a:solidFill>
            <a:srgbClr val="FFFFFF"/>
          </a:solidFill>
          <a:ln w="12700">
            <a:solidFill>
              <a:srgbClr val="FFFFFF"/>
            </a:solidFill>
            <a:prstDash val="solid"/>
          </a:ln>
        </p:spPr>
      </p:sp>
      <p:pic>
        <p:nvPicPr>
          <p:cNvPr id="36" name="Image 5" descr="preencoded.png">    </p:cNvPr>
          <p:cNvPicPr>
            <a:picLocks noChangeAspect="1"/>
          </p:cNvPicPr>
          <p:nvPr/>
        </p:nvPicPr>
        <p:blipFill>
          <a:blip r:embed="rId6"/>
          <a:stretch>
            <a:fillRect/>
          </a:stretch>
        </p:blipFill>
        <p:spPr>
          <a:xfrm>
            <a:off x="7125919" y="3824935"/>
            <a:ext cx="332842" cy="332842"/>
          </a:xfrm>
          <a:prstGeom prst="rect">
            <a:avLst/>
          </a:prstGeom>
        </p:spPr>
      </p:pic>
      <p:sp>
        <p:nvSpPr>
          <p:cNvPr id="37" name="Text 29"/>
          <p:cNvSpPr/>
          <p:nvPr/>
        </p:nvSpPr>
        <p:spPr>
          <a:xfrm>
            <a:off x="7680960" y="3785616"/>
            <a:ext cx="1234440" cy="45720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Robotics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97316"/>
          </a:solidFill>
          <a:ln w="12700">
            <a:solidFill>
              <a:srgbClr val="F97316"/>
            </a:solidFill>
            <a:prstDash val="solid"/>
          </a:ln>
        </p:spPr>
      </p:sp>
      <p:sp>
        <p:nvSpPr>
          <p:cNvPr id="3" name="Shape 1"/>
          <p:cNvSpPr/>
          <p:nvPr/>
        </p:nvSpPr>
        <p:spPr>
          <a:xfrm>
            <a:off x="-1371600" y="3200400"/>
            <a:ext cx="3657600" cy="3657600"/>
          </a:xfrm>
          <a:prstGeom prst="ellipse">
            <a:avLst/>
          </a:prstGeom>
          <a:solidFill>
            <a:srgbClr val="2E7CD6">
              <a:alpha val="25000"/>
            </a:srgbClr>
          </a:solidFill>
          <a:ln w="12700">
            <a:solidFill>
              <a:srgbClr val="2E7CD6">
                <a:alpha val="25000"/>
              </a:srgbClr>
            </a:solidFill>
            <a:prstDash val="solid"/>
          </a:ln>
        </p:spPr>
      </p:sp>
      <p:sp>
        <p:nvSpPr>
          <p:cNvPr id="4" name="Text 2"/>
          <p:cNvSpPr/>
          <p:nvPr/>
        </p:nvSpPr>
        <p:spPr>
          <a:xfrm>
            <a:off x="914400" y="1371600"/>
            <a:ext cx="7315200" cy="365760"/>
          </a:xfrm>
          <a:prstGeom prst="rect">
            <a:avLst/>
          </a:prstGeom>
          <a:noFill/>
          <a:ln/>
        </p:spPr>
        <p:txBody>
          <a:bodyPr wrap="square" lIns="0" tIns="0" rIns="0" bIns="0" rtlCol="0" anchor="ctr"/>
          <a:lstStyle/>
          <a:p>
            <a:pPr indent="0" marL="0">
              <a:buNone/>
            </a:pPr>
            <a:r>
              <a:rPr lang="en-US" sz="1200" b="1" spc="800" kern="0" dirty="0">
                <a:solidFill>
                  <a:srgbClr val="F97316"/>
                </a:solidFill>
                <a:latin typeface="Segoe UI" pitchFamily="34" charset="0"/>
                <a:ea typeface="Segoe UI" pitchFamily="34" charset="-122"/>
                <a:cs typeface="Segoe UI" pitchFamily="34" charset="-120"/>
              </a:rPr>
              <a:t>SECTION 03</a:t>
            </a:r>
            <a:endParaRPr lang="en-US" sz="1200" dirty="0"/>
          </a:p>
        </p:txBody>
      </p:sp>
      <p:sp>
        <p:nvSpPr>
          <p:cNvPr id="5" name="Text 3"/>
          <p:cNvSpPr/>
          <p:nvPr/>
        </p:nvSpPr>
        <p:spPr>
          <a:xfrm>
            <a:off x="914400" y="173736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Academic Credit System</a:t>
            </a:r>
            <a:endParaRPr lang="en-US" sz="4000" dirty="0"/>
          </a:p>
        </p:txBody>
      </p:sp>
      <p:sp>
        <p:nvSpPr>
          <p:cNvPr id="6" name="Shape 4"/>
          <p:cNvSpPr/>
          <p:nvPr/>
        </p:nvSpPr>
        <p:spPr>
          <a:xfrm>
            <a:off x="914400" y="2651760"/>
            <a:ext cx="731520" cy="45720"/>
          </a:xfrm>
          <a:prstGeom prst="rect">
            <a:avLst/>
          </a:prstGeom>
          <a:solidFill>
            <a:srgbClr val="F97316"/>
          </a:solidFill>
          <a:ln w="12700">
            <a:solidFill>
              <a:srgbClr val="F97316"/>
            </a:solidFill>
            <a:prstDash val="solid"/>
          </a:ln>
        </p:spPr>
      </p:sp>
      <p:sp>
        <p:nvSpPr>
          <p:cNvPr id="7" name="Text 5"/>
          <p:cNvSpPr/>
          <p:nvPr/>
        </p:nvSpPr>
        <p:spPr>
          <a:xfrm>
            <a:off x="914400" y="2834640"/>
            <a:ext cx="7315200" cy="457200"/>
          </a:xfrm>
          <a:prstGeom prst="rect">
            <a:avLst/>
          </a:prstGeom>
          <a:noFill/>
          <a:ln/>
        </p:spPr>
        <p:txBody>
          <a:bodyPr wrap="square" lIns="0" tIns="0" rIns="0" bIns="0" rtlCol="0" anchor="ctr"/>
          <a:lstStyle/>
          <a:p>
            <a:pPr indent="0" marL="0">
              <a:buNone/>
            </a:pPr>
            <a:r>
              <a:rPr lang="en-US" sz="1600" i="1" dirty="0">
                <a:solidFill>
                  <a:srgbClr val="E8F1FB"/>
                </a:solidFill>
                <a:latin typeface="Segoe UI" pitchFamily="34" charset="0"/>
                <a:ea typeface="Segoe UI" pitchFamily="34" charset="-122"/>
                <a:cs typeface="Segoe UI" pitchFamily="34" charset="-120"/>
              </a:rPr>
              <a:t>Earn NPTEL credits. Store them in ABC. Transfer to your degree.</a:t>
            </a:r>
            <a:endParaRPr lang="en-US" sz="1600" dirty="0"/>
          </a:p>
        </p:txBody>
      </p:sp>
      <p:sp>
        <p:nvSpPr>
          <p:cNvPr id="8" name="Shape 6"/>
          <p:cNvSpPr/>
          <p:nvPr/>
        </p:nvSpPr>
        <p:spPr>
          <a:xfrm>
            <a:off x="914400" y="3749040"/>
            <a:ext cx="1645920" cy="365760"/>
          </a:xfrm>
          <a:prstGeom prst="roundRect">
            <a:avLst>
              <a:gd name="adj" fmla="val 50000"/>
            </a:avLst>
          </a:prstGeom>
          <a:solidFill>
            <a:srgbClr val="1E4E8C"/>
          </a:solidFill>
          <a:ln w="12700">
            <a:solidFill>
              <a:srgbClr val="2E7CD6"/>
            </a:solidFill>
            <a:prstDash val="solid"/>
          </a:ln>
        </p:spPr>
      </p:sp>
      <p:sp>
        <p:nvSpPr>
          <p:cNvPr id="9" name="Text 7"/>
          <p:cNvSpPr/>
          <p:nvPr/>
        </p:nvSpPr>
        <p:spPr>
          <a:xfrm>
            <a:off x="914400" y="3749040"/>
            <a:ext cx="1645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UGC Regulations</a:t>
            </a:r>
            <a:endParaRPr lang="en-US" sz="1000" dirty="0"/>
          </a:p>
        </p:txBody>
      </p:sp>
      <p:sp>
        <p:nvSpPr>
          <p:cNvPr id="10" name="Shape 8"/>
          <p:cNvSpPr/>
          <p:nvPr/>
        </p:nvSpPr>
        <p:spPr>
          <a:xfrm>
            <a:off x="2697480" y="3749040"/>
            <a:ext cx="1746504" cy="365760"/>
          </a:xfrm>
          <a:prstGeom prst="roundRect">
            <a:avLst>
              <a:gd name="adj" fmla="val 50000"/>
            </a:avLst>
          </a:prstGeom>
          <a:solidFill>
            <a:srgbClr val="1E4E8C"/>
          </a:solidFill>
          <a:ln w="12700">
            <a:solidFill>
              <a:srgbClr val="2E7CD6"/>
            </a:solidFill>
            <a:prstDash val="solid"/>
          </a:ln>
        </p:spPr>
      </p:sp>
      <p:sp>
        <p:nvSpPr>
          <p:cNvPr id="11" name="Text 9"/>
          <p:cNvSpPr/>
          <p:nvPr/>
        </p:nvSpPr>
        <p:spPr>
          <a:xfrm>
            <a:off x="2697480" y="3749040"/>
            <a:ext cx="1746504"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AICTE Guidelines</a:t>
            </a:r>
            <a:endParaRPr lang="en-US" sz="1000" dirty="0"/>
          </a:p>
        </p:txBody>
      </p:sp>
      <p:sp>
        <p:nvSpPr>
          <p:cNvPr id="12" name="Shape 10"/>
          <p:cNvSpPr/>
          <p:nvPr/>
        </p:nvSpPr>
        <p:spPr>
          <a:xfrm>
            <a:off x="4581144" y="3749040"/>
            <a:ext cx="740664" cy="365760"/>
          </a:xfrm>
          <a:prstGeom prst="roundRect">
            <a:avLst>
              <a:gd name="adj" fmla="val 50000"/>
            </a:avLst>
          </a:prstGeom>
          <a:solidFill>
            <a:srgbClr val="1E4E8C"/>
          </a:solidFill>
          <a:ln w="12700">
            <a:solidFill>
              <a:srgbClr val="2E7CD6"/>
            </a:solidFill>
            <a:prstDash val="solid"/>
          </a:ln>
        </p:spPr>
      </p:sp>
      <p:sp>
        <p:nvSpPr>
          <p:cNvPr id="13" name="Text 11"/>
          <p:cNvSpPr/>
          <p:nvPr/>
        </p:nvSpPr>
        <p:spPr>
          <a:xfrm>
            <a:off x="4581144" y="3749040"/>
            <a:ext cx="740664"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SWAYAM</a:t>
            </a:r>
            <a:endParaRPr lang="en-US" sz="1000" dirty="0"/>
          </a:p>
        </p:txBody>
      </p:sp>
      <p:sp>
        <p:nvSpPr>
          <p:cNvPr id="14" name="Shape 12"/>
          <p:cNvSpPr/>
          <p:nvPr/>
        </p:nvSpPr>
        <p:spPr>
          <a:xfrm>
            <a:off x="5458968" y="3749040"/>
            <a:ext cx="1947672" cy="365760"/>
          </a:xfrm>
          <a:prstGeom prst="roundRect">
            <a:avLst>
              <a:gd name="adj" fmla="val 50000"/>
            </a:avLst>
          </a:prstGeom>
          <a:solidFill>
            <a:srgbClr val="1E4E8C"/>
          </a:solidFill>
          <a:ln w="12700">
            <a:solidFill>
              <a:srgbClr val="2E7CD6"/>
            </a:solidFill>
            <a:prstDash val="solid"/>
          </a:ln>
        </p:spPr>
      </p:sp>
      <p:sp>
        <p:nvSpPr>
          <p:cNvPr id="15" name="Text 13"/>
          <p:cNvSpPr/>
          <p:nvPr/>
        </p:nvSpPr>
        <p:spPr>
          <a:xfrm>
            <a:off x="5458968" y="3749040"/>
            <a:ext cx="1947672"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ABC via DigiLocker</a:t>
            </a:r>
            <a:endParaRPr lang="en-US" sz="1000" dirty="0"/>
          </a:p>
        </p:txBody>
      </p:sp>
      <p:sp>
        <p:nvSpPr>
          <p:cNvPr id="16" name="Text 14"/>
          <p:cNvSpPr/>
          <p:nvPr/>
        </p:nvSpPr>
        <p:spPr>
          <a:xfrm>
            <a:off x="8229600" y="4686300"/>
            <a:ext cx="548640" cy="365760"/>
          </a:xfrm>
          <a:prstGeom prst="rect">
            <a:avLst/>
          </a:prstGeom>
          <a:noFill/>
          <a:ln/>
        </p:spPr>
        <p:txBody>
          <a:bodyPr wrap="square" lIns="0" tIns="0" rIns="0" bIns="0" rtlCol="0" anchor="ctr"/>
          <a:lstStyle/>
          <a:p>
            <a:pPr algn="r" indent="0" marL="0">
              <a:buNone/>
            </a:pPr>
            <a:r>
              <a:rPr lang="en-US" sz="1200" b="1" dirty="0">
                <a:solidFill>
                  <a:srgbClr val="F97316"/>
                </a:solidFill>
                <a:latin typeface="Segoe UI" pitchFamily="34" charset="0"/>
                <a:ea typeface="Segoe UI" pitchFamily="34" charset="-122"/>
                <a:cs typeface="Segoe U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GOVERNMENT MOOC PORTAL</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SWAYAM Platform</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18</a:t>
            </a:r>
            <a:endParaRPr lang="en-US" sz="900" dirty="0"/>
          </a:p>
        </p:txBody>
      </p:sp>
      <p:sp>
        <p:nvSpPr>
          <p:cNvPr id="9" name="Shape 7"/>
          <p:cNvSpPr/>
          <p:nvPr/>
        </p:nvSpPr>
        <p:spPr>
          <a:xfrm>
            <a:off x="731520" y="1463040"/>
            <a:ext cx="1463040" cy="1463040"/>
          </a:xfrm>
          <a:prstGeom prst="ellipse">
            <a:avLst/>
          </a:prstGeom>
          <a:solidFill>
            <a:srgbClr val="F1F6FC"/>
          </a:solidFill>
          <a:ln w="12700">
            <a:solidFill>
              <a:srgbClr val="F1F6FC"/>
            </a:solidFill>
            <a:prstDash val="solid"/>
          </a:ln>
        </p:spPr>
      </p:sp>
      <p:pic>
        <p:nvPicPr>
          <p:cNvPr id="10" name="Image 0" descr="preencoded.png">    </p:cNvPr>
          <p:cNvPicPr>
            <a:picLocks noChangeAspect="1"/>
          </p:cNvPicPr>
          <p:nvPr/>
        </p:nvPicPr>
        <p:blipFill>
          <a:blip r:embed="rId1"/>
          <a:stretch>
            <a:fillRect/>
          </a:stretch>
        </p:blipFill>
        <p:spPr>
          <a:xfrm>
            <a:off x="1053389" y="1784909"/>
            <a:ext cx="819302" cy="819302"/>
          </a:xfrm>
          <a:prstGeom prst="rect">
            <a:avLst/>
          </a:prstGeom>
        </p:spPr>
      </p:pic>
      <p:sp>
        <p:nvSpPr>
          <p:cNvPr id="11" name="Text 8"/>
          <p:cNvSpPr/>
          <p:nvPr/>
        </p:nvSpPr>
        <p:spPr>
          <a:xfrm>
            <a:off x="548640" y="3108960"/>
            <a:ext cx="1828800" cy="365760"/>
          </a:xfrm>
          <a:prstGeom prst="rect">
            <a:avLst/>
          </a:prstGeom>
          <a:noFill/>
          <a:ln/>
        </p:spPr>
        <p:txBody>
          <a:bodyPr wrap="square" lIns="0" tIns="0" rIns="0" bIns="0" rtlCol="0" anchor="ctr"/>
          <a:lstStyle/>
          <a:p>
            <a:pPr algn="ctr" indent="0" marL="0">
              <a:buNone/>
            </a:pPr>
            <a:r>
              <a:rPr lang="en-US" sz="1600" b="1" dirty="0">
                <a:solidFill>
                  <a:srgbClr val="0B2A4A"/>
                </a:solidFill>
                <a:latin typeface="Segoe UI" pitchFamily="34" charset="0"/>
                <a:ea typeface="Segoe UI" pitchFamily="34" charset="-122"/>
                <a:cs typeface="Segoe UI" pitchFamily="34" charset="-120"/>
              </a:rPr>
              <a:t>SWAYAM</a:t>
            </a:r>
            <a:endParaRPr lang="en-US" sz="1600" dirty="0"/>
          </a:p>
        </p:txBody>
      </p:sp>
      <p:sp>
        <p:nvSpPr>
          <p:cNvPr id="12" name="Text 9"/>
          <p:cNvSpPr/>
          <p:nvPr/>
        </p:nvSpPr>
        <p:spPr>
          <a:xfrm>
            <a:off x="365760" y="3474720"/>
            <a:ext cx="2194560" cy="640080"/>
          </a:xfrm>
          <a:prstGeom prst="rect">
            <a:avLst/>
          </a:prstGeom>
          <a:noFill/>
          <a:ln/>
        </p:spPr>
        <p:txBody>
          <a:bodyPr wrap="square" lIns="0" tIns="0" rIns="0" bIns="0" rtlCol="0" anchor="ctr"/>
          <a:lstStyle/>
          <a:p>
            <a:pPr algn="ctr" indent="0" marL="0">
              <a:buNone/>
            </a:pPr>
            <a:r>
              <a:rPr lang="en-US" sz="1000" i="1" dirty="0">
                <a:solidFill>
                  <a:srgbClr val="6B7280"/>
                </a:solidFill>
                <a:latin typeface="Segoe UI" pitchFamily="34" charset="0"/>
                <a:ea typeface="Segoe UI" pitchFamily="34" charset="-122"/>
                <a:cs typeface="Segoe UI" pitchFamily="34" charset="-120"/>
              </a:rPr>
              <a:t>Study Webs of Active Learning for Young Aspiring Minds</a:t>
            </a:r>
            <a:endParaRPr lang="en-US" sz="1000" dirty="0"/>
          </a:p>
        </p:txBody>
      </p:sp>
      <p:sp>
        <p:nvSpPr>
          <p:cNvPr id="13" name="Shape 10"/>
          <p:cNvSpPr/>
          <p:nvPr/>
        </p:nvSpPr>
        <p:spPr>
          <a:xfrm>
            <a:off x="3108960" y="1371600"/>
            <a:ext cx="502920" cy="502920"/>
          </a:xfrm>
          <a:prstGeom prst="ellipse">
            <a:avLst/>
          </a:prstGeom>
          <a:solidFill>
            <a:srgbClr val="E8F1FB"/>
          </a:solidFill>
          <a:ln w="12700">
            <a:solidFill>
              <a:srgbClr val="E8F1FB"/>
            </a:solidFill>
            <a:prstDash val="solid"/>
          </a:ln>
        </p:spPr>
      </p:sp>
      <p:pic>
        <p:nvPicPr>
          <p:cNvPr id="14" name="Image 1" descr="preencoded.png">    </p:cNvPr>
          <p:cNvPicPr>
            <a:picLocks noChangeAspect="1"/>
          </p:cNvPicPr>
          <p:nvPr/>
        </p:nvPicPr>
        <p:blipFill>
          <a:blip r:embed="rId2"/>
          <a:stretch>
            <a:fillRect/>
          </a:stretch>
        </p:blipFill>
        <p:spPr>
          <a:xfrm>
            <a:off x="3219602" y="1482242"/>
            <a:ext cx="281635" cy="281635"/>
          </a:xfrm>
          <a:prstGeom prst="rect">
            <a:avLst/>
          </a:prstGeom>
        </p:spPr>
      </p:pic>
      <p:sp>
        <p:nvSpPr>
          <p:cNvPr id="15" name="Text 11"/>
          <p:cNvSpPr/>
          <p:nvPr/>
        </p:nvSpPr>
        <p:spPr>
          <a:xfrm>
            <a:off x="3749040" y="1389888"/>
            <a:ext cx="50292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Government of India Platform</a:t>
            </a:r>
            <a:endParaRPr lang="en-US" sz="1300" dirty="0"/>
          </a:p>
        </p:txBody>
      </p:sp>
      <p:sp>
        <p:nvSpPr>
          <p:cNvPr id="16" name="Text 12"/>
          <p:cNvSpPr/>
          <p:nvPr/>
        </p:nvSpPr>
        <p:spPr>
          <a:xfrm>
            <a:off x="3749040" y="1691640"/>
            <a:ext cx="50292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MoE-owned, national in scope.</a:t>
            </a:r>
            <a:endParaRPr lang="en-US" sz="1050" dirty="0"/>
          </a:p>
        </p:txBody>
      </p:sp>
      <p:sp>
        <p:nvSpPr>
          <p:cNvPr id="17" name="Shape 13"/>
          <p:cNvSpPr/>
          <p:nvPr/>
        </p:nvSpPr>
        <p:spPr>
          <a:xfrm>
            <a:off x="3108960" y="2011680"/>
            <a:ext cx="502920" cy="502920"/>
          </a:xfrm>
          <a:prstGeom prst="ellipse">
            <a:avLst/>
          </a:prstGeom>
          <a:solidFill>
            <a:srgbClr val="E8F1FB"/>
          </a:solidFill>
          <a:ln w="12700">
            <a:solidFill>
              <a:srgbClr val="E8F1FB"/>
            </a:solidFill>
            <a:prstDash val="solid"/>
          </a:ln>
        </p:spPr>
      </p:sp>
      <p:pic>
        <p:nvPicPr>
          <p:cNvPr id="18" name="Image 2" descr="preencoded.png">    </p:cNvPr>
          <p:cNvPicPr>
            <a:picLocks noChangeAspect="1"/>
          </p:cNvPicPr>
          <p:nvPr/>
        </p:nvPicPr>
        <p:blipFill>
          <a:blip r:embed="rId3"/>
          <a:stretch>
            <a:fillRect/>
          </a:stretch>
        </p:blipFill>
        <p:spPr>
          <a:xfrm>
            <a:off x="3219602" y="2122322"/>
            <a:ext cx="281635" cy="281635"/>
          </a:xfrm>
          <a:prstGeom prst="rect">
            <a:avLst/>
          </a:prstGeom>
        </p:spPr>
      </p:pic>
      <p:sp>
        <p:nvSpPr>
          <p:cNvPr id="19" name="Text 14"/>
          <p:cNvSpPr/>
          <p:nvPr/>
        </p:nvSpPr>
        <p:spPr>
          <a:xfrm>
            <a:off x="3749040" y="2029968"/>
            <a:ext cx="50292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Hosts NPTEL Courses</a:t>
            </a:r>
            <a:endParaRPr lang="en-US" sz="1300" dirty="0"/>
          </a:p>
        </p:txBody>
      </p:sp>
      <p:sp>
        <p:nvSpPr>
          <p:cNvPr id="20" name="Text 15"/>
          <p:cNvSpPr/>
          <p:nvPr/>
        </p:nvSpPr>
        <p:spPr>
          <a:xfrm>
            <a:off x="3749040" y="2331720"/>
            <a:ext cx="50292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NPTEL is delivered via SWAYAM.</a:t>
            </a:r>
            <a:endParaRPr lang="en-US" sz="1050" dirty="0"/>
          </a:p>
        </p:txBody>
      </p:sp>
      <p:sp>
        <p:nvSpPr>
          <p:cNvPr id="21" name="Shape 16"/>
          <p:cNvSpPr/>
          <p:nvPr/>
        </p:nvSpPr>
        <p:spPr>
          <a:xfrm>
            <a:off x="3108960" y="2651760"/>
            <a:ext cx="502920" cy="502920"/>
          </a:xfrm>
          <a:prstGeom prst="ellipse">
            <a:avLst/>
          </a:prstGeom>
          <a:solidFill>
            <a:srgbClr val="E8F1FB"/>
          </a:solidFill>
          <a:ln w="12700">
            <a:solidFill>
              <a:srgbClr val="E8F1FB"/>
            </a:solidFill>
            <a:prstDash val="solid"/>
          </a:ln>
        </p:spPr>
      </p:sp>
      <p:pic>
        <p:nvPicPr>
          <p:cNvPr id="22" name="Image 3" descr="preencoded.png">    </p:cNvPr>
          <p:cNvPicPr>
            <a:picLocks noChangeAspect="1"/>
          </p:cNvPicPr>
          <p:nvPr/>
        </p:nvPicPr>
        <p:blipFill>
          <a:blip r:embed="rId4"/>
          <a:stretch>
            <a:fillRect/>
          </a:stretch>
        </p:blipFill>
        <p:spPr>
          <a:xfrm>
            <a:off x="3219602" y="2762402"/>
            <a:ext cx="281635" cy="281635"/>
          </a:xfrm>
          <a:prstGeom prst="rect">
            <a:avLst/>
          </a:prstGeom>
        </p:spPr>
      </p:pic>
      <p:sp>
        <p:nvSpPr>
          <p:cNvPr id="23" name="Text 17"/>
          <p:cNvSpPr/>
          <p:nvPr/>
        </p:nvSpPr>
        <p:spPr>
          <a:xfrm>
            <a:off x="3749040" y="2670048"/>
            <a:ext cx="50292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UGC &amp; AICTE Approved</a:t>
            </a:r>
            <a:endParaRPr lang="en-US" sz="1300" dirty="0"/>
          </a:p>
        </p:txBody>
      </p:sp>
      <p:sp>
        <p:nvSpPr>
          <p:cNvPr id="24" name="Text 18"/>
          <p:cNvSpPr/>
          <p:nvPr/>
        </p:nvSpPr>
        <p:spPr>
          <a:xfrm>
            <a:off x="3749040" y="2971800"/>
            <a:ext cx="50292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Recognized for credit transfer.</a:t>
            </a:r>
            <a:endParaRPr lang="en-US" sz="1050" dirty="0"/>
          </a:p>
        </p:txBody>
      </p:sp>
      <p:sp>
        <p:nvSpPr>
          <p:cNvPr id="25" name="Shape 19"/>
          <p:cNvSpPr/>
          <p:nvPr/>
        </p:nvSpPr>
        <p:spPr>
          <a:xfrm>
            <a:off x="3108960" y="3291840"/>
            <a:ext cx="502920" cy="502920"/>
          </a:xfrm>
          <a:prstGeom prst="ellipse">
            <a:avLst/>
          </a:prstGeom>
          <a:solidFill>
            <a:srgbClr val="E8F1FB"/>
          </a:solidFill>
          <a:ln w="12700">
            <a:solidFill>
              <a:srgbClr val="E8F1FB"/>
            </a:solidFill>
            <a:prstDash val="solid"/>
          </a:ln>
        </p:spPr>
      </p:sp>
      <p:pic>
        <p:nvPicPr>
          <p:cNvPr id="26" name="Image 4" descr="preencoded.png">    </p:cNvPr>
          <p:cNvPicPr>
            <a:picLocks noChangeAspect="1"/>
          </p:cNvPicPr>
          <p:nvPr/>
        </p:nvPicPr>
        <p:blipFill>
          <a:blip r:embed="rId5"/>
          <a:stretch>
            <a:fillRect/>
          </a:stretch>
        </p:blipFill>
        <p:spPr>
          <a:xfrm>
            <a:off x="3219602" y="3402482"/>
            <a:ext cx="281635" cy="281635"/>
          </a:xfrm>
          <a:prstGeom prst="rect">
            <a:avLst/>
          </a:prstGeom>
        </p:spPr>
      </p:pic>
      <p:sp>
        <p:nvSpPr>
          <p:cNvPr id="27" name="Text 20"/>
          <p:cNvSpPr/>
          <p:nvPr/>
        </p:nvSpPr>
        <p:spPr>
          <a:xfrm>
            <a:off x="3749040" y="3310128"/>
            <a:ext cx="50292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Same Certificate Value</a:t>
            </a:r>
            <a:endParaRPr lang="en-US" sz="1300" dirty="0"/>
          </a:p>
        </p:txBody>
      </p:sp>
      <p:sp>
        <p:nvSpPr>
          <p:cNvPr id="28" name="Text 21"/>
          <p:cNvSpPr/>
          <p:nvPr/>
        </p:nvSpPr>
        <p:spPr>
          <a:xfrm>
            <a:off x="3749040" y="3611880"/>
            <a:ext cx="50292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As on-campus courses.</a:t>
            </a:r>
            <a:endParaRPr lang="en-US" sz="1050" dirty="0"/>
          </a:p>
        </p:txBody>
      </p:sp>
      <p:sp>
        <p:nvSpPr>
          <p:cNvPr id="29" name="Shape 22"/>
          <p:cNvSpPr/>
          <p:nvPr/>
        </p:nvSpPr>
        <p:spPr>
          <a:xfrm>
            <a:off x="3108960" y="3931920"/>
            <a:ext cx="502920" cy="502920"/>
          </a:xfrm>
          <a:prstGeom prst="ellipse">
            <a:avLst/>
          </a:prstGeom>
          <a:solidFill>
            <a:srgbClr val="E8F1FB"/>
          </a:solidFill>
          <a:ln w="12700">
            <a:solidFill>
              <a:srgbClr val="E8F1FB"/>
            </a:solidFill>
            <a:prstDash val="solid"/>
          </a:ln>
        </p:spPr>
      </p:sp>
      <p:pic>
        <p:nvPicPr>
          <p:cNvPr id="30" name="Image 5" descr="preencoded.png">    </p:cNvPr>
          <p:cNvPicPr>
            <a:picLocks noChangeAspect="1"/>
          </p:cNvPicPr>
          <p:nvPr/>
        </p:nvPicPr>
        <p:blipFill>
          <a:blip r:embed="rId6"/>
          <a:stretch>
            <a:fillRect/>
          </a:stretch>
        </p:blipFill>
        <p:spPr>
          <a:xfrm>
            <a:off x="3219602" y="4042562"/>
            <a:ext cx="281635" cy="281635"/>
          </a:xfrm>
          <a:prstGeom prst="rect">
            <a:avLst/>
          </a:prstGeom>
        </p:spPr>
      </p:pic>
      <p:sp>
        <p:nvSpPr>
          <p:cNvPr id="31" name="Text 23"/>
          <p:cNvSpPr/>
          <p:nvPr/>
        </p:nvSpPr>
        <p:spPr>
          <a:xfrm>
            <a:off x="3749040" y="3950208"/>
            <a:ext cx="50292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Free Learning</a:t>
            </a:r>
            <a:endParaRPr lang="en-US" sz="1300" dirty="0"/>
          </a:p>
        </p:txBody>
      </p:sp>
      <p:sp>
        <p:nvSpPr>
          <p:cNvPr id="32" name="Text 24"/>
          <p:cNvSpPr/>
          <p:nvPr/>
        </p:nvSpPr>
        <p:spPr>
          <a:xfrm>
            <a:off x="3749040" y="4251960"/>
            <a:ext cx="50292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Only exam fee is paid.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YOUR CREDIT WALLET</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Academic Bank of Credits (ABC)</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19</a:t>
            </a:r>
            <a:endParaRPr lang="en-US" sz="900" dirty="0"/>
          </a:p>
        </p:txBody>
      </p:sp>
      <p:sp>
        <p:nvSpPr>
          <p:cNvPr id="9" name="Shape 7"/>
          <p:cNvSpPr/>
          <p:nvPr/>
        </p:nvSpPr>
        <p:spPr>
          <a:xfrm>
            <a:off x="457200" y="1371600"/>
            <a:ext cx="4114800" cy="3200400"/>
          </a:xfrm>
          <a:prstGeom prst="roundRect">
            <a:avLst>
              <a:gd name="adj" fmla="val 3429"/>
            </a:avLst>
          </a:prstGeom>
          <a:solidFill>
            <a:srgbClr val="0B2A4A"/>
          </a:solidFill>
          <a:ln w="12700">
            <a:solidFill>
              <a:srgbClr val="0B2A4A"/>
            </a:solidFill>
            <a:prstDash val="solid"/>
          </a:ln>
          <a:effectLst>
            <a:outerShdw sx="100000" sy="100000" kx="0" ky="0" algn="bl" rotWithShape="0" blurRad="127000" dist="25400" dir="5400000">
              <a:srgbClr val="000000">
                <a:alpha val="10000"/>
              </a:srgbClr>
            </a:outerShdw>
          </a:effectLst>
        </p:spPr>
      </p:sp>
      <p:sp>
        <p:nvSpPr>
          <p:cNvPr id="10" name="Text 8"/>
          <p:cNvSpPr/>
          <p:nvPr/>
        </p:nvSpPr>
        <p:spPr>
          <a:xfrm>
            <a:off x="685800" y="1554480"/>
            <a:ext cx="36576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What is ABC?</a:t>
            </a:r>
            <a:endParaRPr lang="en-US" sz="1200" dirty="0"/>
          </a:p>
        </p:txBody>
      </p:sp>
      <p:sp>
        <p:nvSpPr>
          <p:cNvPr id="11" name="Text 9"/>
          <p:cNvSpPr/>
          <p:nvPr/>
        </p:nvSpPr>
        <p:spPr>
          <a:xfrm>
            <a:off x="685800" y="1920240"/>
            <a:ext cx="3657600" cy="128016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A digital bank that stores academic credits earned from any recognized institution.</a:t>
            </a:r>
            <a:endParaRPr lang="en-US" sz="1500" dirty="0"/>
          </a:p>
        </p:txBody>
      </p:sp>
      <p:sp>
        <p:nvSpPr>
          <p:cNvPr id="12" name="Shape 10"/>
          <p:cNvSpPr/>
          <p:nvPr/>
        </p:nvSpPr>
        <p:spPr>
          <a:xfrm>
            <a:off x="685800" y="3154680"/>
            <a:ext cx="365760" cy="36576"/>
          </a:xfrm>
          <a:prstGeom prst="rect">
            <a:avLst/>
          </a:prstGeom>
          <a:solidFill>
            <a:srgbClr val="F97316"/>
          </a:solidFill>
          <a:ln w="12700">
            <a:solidFill>
              <a:srgbClr val="F97316"/>
            </a:solidFill>
            <a:prstDash val="solid"/>
          </a:ln>
        </p:spPr>
      </p:sp>
      <p:sp>
        <p:nvSpPr>
          <p:cNvPr id="13" name="Text 11"/>
          <p:cNvSpPr/>
          <p:nvPr/>
        </p:nvSpPr>
        <p:spPr>
          <a:xfrm>
            <a:off x="685800" y="3291840"/>
            <a:ext cx="3566160" cy="320040"/>
          </a:xfrm>
          <a:prstGeom prst="rect">
            <a:avLst/>
          </a:prstGeom>
          <a:noFill/>
          <a:ln/>
        </p:spPr>
        <p:txBody>
          <a:bodyPr wrap="square" lIns="0" tIns="0" rIns="0" bIns="0" rtlCol="0" anchor="ctr"/>
          <a:lstStyle/>
          <a:p>
            <a:pPr indent="0" marL="0">
              <a:buNone/>
            </a:pPr>
            <a:r>
              <a:rPr lang="en-US" sz="1200" i="1" dirty="0">
                <a:solidFill>
                  <a:srgbClr val="E8F1FB"/>
                </a:solidFill>
                <a:latin typeface="Segoe UI" pitchFamily="34" charset="0"/>
                <a:ea typeface="Segoe UI" pitchFamily="34" charset="-122"/>
                <a:cs typeface="Segoe UI" pitchFamily="34" charset="-120"/>
              </a:rPr>
              <a:t>Accessible via DigiLocker.</a:t>
            </a:r>
            <a:endParaRPr lang="en-US" sz="1200" dirty="0"/>
          </a:p>
        </p:txBody>
      </p:sp>
      <p:sp>
        <p:nvSpPr>
          <p:cNvPr id="14" name="Shape 12"/>
          <p:cNvSpPr/>
          <p:nvPr/>
        </p:nvSpPr>
        <p:spPr>
          <a:xfrm>
            <a:off x="685800" y="3749040"/>
            <a:ext cx="2286000" cy="548640"/>
          </a:xfrm>
          <a:prstGeom prst="roundRect">
            <a:avLst>
              <a:gd name="adj" fmla="val 50000"/>
            </a:avLst>
          </a:prstGeom>
          <a:solidFill>
            <a:srgbClr val="F97316"/>
          </a:solidFill>
          <a:ln w="12700">
            <a:solidFill>
              <a:srgbClr val="F97316"/>
            </a:solidFill>
            <a:prstDash val="solid"/>
          </a:ln>
        </p:spPr>
      </p:sp>
      <p:sp>
        <p:nvSpPr>
          <p:cNvPr id="15" name="Text 13"/>
          <p:cNvSpPr/>
          <p:nvPr/>
        </p:nvSpPr>
        <p:spPr>
          <a:xfrm>
            <a:off x="685800" y="3749040"/>
            <a:ext cx="22860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Linked to DigiLocker ID</a:t>
            </a:r>
            <a:endParaRPr lang="en-US" sz="1100" dirty="0"/>
          </a:p>
        </p:txBody>
      </p:sp>
      <p:sp>
        <p:nvSpPr>
          <p:cNvPr id="16" name="Shape 14"/>
          <p:cNvSpPr/>
          <p:nvPr/>
        </p:nvSpPr>
        <p:spPr>
          <a:xfrm>
            <a:off x="4800600" y="1371600"/>
            <a:ext cx="1965960" cy="1508760"/>
          </a:xfrm>
          <a:prstGeom prst="roundRect">
            <a:avLst>
              <a:gd name="adj" fmla="val 4848"/>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7" name="Shape 15"/>
          <p:cNvSpPr/>
          <p:nvPr/>
        </p:nvSpPr>
        <p:spPr>
          <a:xfrm>
            <a:off x="4800600" y="1371600"/>
            <a:ext cx="73152" cy="1508760"/>
          </a:xfrm>
          <a:prstGeom prst="rect">
            <a:avLst/>
          </a:prstGeom>
          <a:solidFill>
            <a:srgbClr val="F97316"/>
          </a:solidFill>
          <a:ln w="12700">
            <a:solidFill>
              <a:srgbClr val="F97316"/>
            </a:solidFill>
            <a:prstDash val="solid"/>
          </a:ln>
        </p:spPr>
      </p:sp>
      <p:sp>
        <p:nvSpPr>
          <p:cNvPr id="18" name="Shape 16"/>
          <p:cNvSpPr/>
          <p:nvPr/>
        </p:nvSpPr>
        <p:spPr>
          <a:xfrm>
            <a:off x="5029200" y="1554480"/>
            <a:ext cx="502920" cy="502920"/>
          </a:xfrm>
          <a:prstGeom prst="ellipse">
            <a:avLst/>
          </a:prstGeom>
          <a:solidFill>
            <a:srgbClr val="E8F1FB"/>
          </a:solidFill>
          <a:ln w="12700">
            <a:solidFill>
              <a:srgbClr val="E8F1FB"/>
            </a:solidFill>
            <a:prstDash val="solid"/>
          </a:ln>
        </p:spPr>
      </p:sp>
      <p:pic>
        <p:nvPicPr>
          <p:cNvPr id="19" name="Image 0" descr="preencoded.png">    </p:cNvPr>
          <p:cNvPicPr>
            <a:picLocks noChangeAspect="1"/>
          </p:cNvPicPr>
          <p:nvPr/>
        </p:nvPicPr>
        <p:blipFill>
          <a:blip r:embed="rId1"/>
          <a:stretch>
            <a:fillRect/>
          </a:stretch>
        </p:blipFill>
        <p:spPr>
          <a:xfrm>
            <a:off x="5139842" y="1665122"/>
            <a:ext cx="281635" cy="281635"/>
          </a:xfrm>
          <a:prstGeom prst="rect">
            <a:avLst/>
          </a:prstGeom>
        </p:spPr>
      </p:pic>
      <p:sp>
        <p:nvSpPr>
          <p:cNvPr id="20" name="Text 17"/>
          <p:cNvSpPr/>
          <p:nvPr/>
        </p:nvSpPr>
        <p:spPr>
          <a:xfrm>
            <a:off x="5623560" y="1600200"/>
            <a:ext cx="105156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Accumulate</a:t>
            </a:r>
            <a:endParaRPr lang="en-US" sz="1300" dirty="0"/>
          </a:p>
        </p:txBody>
      </p:sp>
      <p:sp>
        <p:nvSpPr>
          <p:cNvPr id="21" name="Text 18"/>
          <p:cNvSpPr/>
          <p:nvPr/>
        </p:nvSpPr>
        <p:spPr>
          <a:xfrm>
            <a:off x="4983480" y="2194560"/>
            <a:ext cx="16916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Store credits from multiple sources.</a:t>
            </a:r>
            <a:endParaRPr lang="en-US" sz="1050" dirty="0"/>
          </a:p>
        </p:txBody>
      </p:sp>
      <p:sp>
        <p:nvSpPr>
          <p:cNvPr id="22" name="Shape 19"/>
          <p:cNvSpPr/>
          <p:nvPr/>
        </p:nvSpPr>
        <p:spPr>
          <a:xfrm>
            <a:off x="6903720" y="1371600"/>
            <a:ext cx="1965960" cy="1508760"/>
          </a:xfrm>
          <a:prstGeom prst="roundRect">
            <a:avLst>
              <a:gd name="adj" fmla="val 4848"/>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3" name="Shape 20"/>
          <p:cNvSpPr/>
          <p:nvPr/>
        </p:nvSpPr>
        <p:spPr>
          <a:xfrm>
            <a:off x="6903720" y="1371600"/>
            <a:ext cx="73152" cy="1508760"/>
          </a:xfrm>
          <a:prstGeom prst="rect">
            <a:avLst/>
          </a:prstGeom>
          <a:solidFill>
            <a:srgbClr val="F97316"/>
          </a:solidFill>
          <a:ln w="12700">
            <a:solidFill>
              <a:srgbClr val="F97316"/>
            </a:solidFill>
            <a:prstDash val="solid"/>
          </a:ln>
        </p:spPr>
      </p:sp>
      <p:sp>
        <p:nvSpPr>
          <p:cNvPr id="24" name="Shape 21"/>
          <p:cNvSpPr/>
          <p:nvPr/>
        </p:nvSpPr>
        <p:spPr>
          <a:xfrm>
            <a:off x="7132320" y="1554480"/>
            <a:ext cx="502920" cy="502920"/>
          </a:xfrm>
          <a:prstGeom prst="ellipse">
            <a:avLst/>
          </a:prstGeom>
          <a:solidFill>
            <a:srgbClr val="E8F1FB"/>
          </a:solidFill>
          <a:ln w="12700">
            <a:solidFill>
              <a:srgbClr val="E8F1FB"/>
            </a:solidFill>
            <a:prstDash val="solid"/>
          </a:ln>
        </p:spPr>
      </p:sp>
      <p:pic>
        <p:nvPicPr>
          <p:cNvPr id="25" name="Image 1" descr="preencoded.png">    </p:cNvPr>
          <p:cNvPicPr>
            <a:picLocks noChangeAspect="1"/>
          </p:cNvPicPr>
          <p:nvPr/>
        </p:nvPicPr>
        <p:blipFill>
          <a:blip r:embed="rId2"/>
          <a:stretch>
            <a:fillRect/>
          </a:stretch>
        </p:blipFill>
        <p:spPr>
          <a:xfrm>
            <a:off x="7242962" y="1665122"/>
            <a:ext cx="281635" cy="281635"/>
          </a:xfrm>
          <a:prstGeom prst="rect">
            <a:avLst/>
          </a:prstGeom>
        </p:spPr>
      </p:pic>
      <p:sp>
        <p:nvSpPr>
          <p:cNvPr id="26" name="Text 22"/>
          <p:cNvSpPr/>
          <p:nvPr/>
        </p:nvSpPr>
        <p:spPr>
          <a:xfrm>
            <a:off x="7726680" y="1600200"/>
            <a:ext cx="105156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Transfer</a:t>
            </a:r>
            <a:endParaRPr lang="en-US" sz="1300" dirty="0"/>
          </a:p>
        </p:txBody>
      </p:sp>
      <p:sp>
        <p:nvSpPr>
          <p:cNvPr id="27" name="Text 23"/>
          <p:cNvSpPr/>
          <p:nvPr/>
        </p:nvSpPr>
        <p:spPr>
          <a:xfrm>
            <a:off x="7086600" y="2194560"/>
            <a:ext cx="16916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Move credits between institutions.</a:t>
            </a:r>
            <a:endParaRPr lang="en-US" sz="1050" dirty="0"/>
          </a:p>
        </p:txBody>
      </p:sp>
      <p:sp>
        <p:nvSpPr>
          <p:cNvPr id="28" name="Shape 24"/>
          <p:cNvSpPr/>
          <p:nvPr/>
        </p:nvSpPr>
        <p:spPr>
          <a:xfrm>
            <a:off x="4800600" y="3017520"/>
            <a:ext cx="1965960" cy="1508760"/>
          </a:xfrm>
          <a:prstGeom prst="roundRect">
            <a:avLst>
              <a:gd name="adj" fmla="val 4848"/>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9" name="Shape 25"/>
          <p:cNvSpPr/>
          <p:nvPr/>
        </p:nvSpPr>
        <p:spPr>
          <a:xfrm>
            <a:off x="4800600" y="3017520"/>
            <a:ext cx="73152" cy="1508760"/>
          </a:xfrm>
          <a:prstGeom prst="rect">
            <a:avLst/>
          </a:prstGeom>
          <a:solidFill>
            <a:srgbClr val="F97316"/>
          </a:solidFill>
          <a:ln w="12700">
            <a:solidFill>
              <a:srgbClr val="F97316"/>
            </a:solidFill>
            <a:prstDash val="solid"/>
          </a:ln>
        </p:spPr>
      </p:sp>
      <p:sp>
        <p:nvSpPr>
          <p:cNvPr id="30" name="Shape 26"/>
          <p:cNvSpPr/>
          <p:nvPr/>
        </p:nvSpPr>
        <p:spPr>
          <a:xfrm>
            <a:off x="5029200" y="3200400"/>
            <a:ext cx="502920" cy="502920"/>
          </a:xfrm>
          <a:prstGeom prst="ellipse">
            <a:avLst/>
          </a:prstGeom>
          <a:solidFill>
            <a:srgbClr val="E8F1FB"/>
          </a:solidFill>
          <a:ln w="12700">
            <a:solidFill>
              <a:srgbClr val="E8F1FB"/>
            </a:solidFill>
            <a:prstDash val="solid"/>
          </a:ln>
        </p:spPr>
      </p:sp>
      <p:pic>
        <p:nvPicPr>
          <p:cNvPr id="31" name="Image 2" descr="preencoded.png">    </p:cNvPr>
          <p:cNvPicPr>
            <a:picLocks noChangeAspect="1"/>
          </p:cNvPicPr>
          <p:nvPr/>
        </p:nvPicPr>
        <p:blipFill>
          <a:blip r:embed="rId3"/>
          <a:stretch>
            <a:fillRect/>
          </a:stretch>
        </p:blipFill>
        <p:spPr>
          <a:xfrm>
            <a:off x="5139842" y="3311042"/>
            <a:ext cx="281635" cy="281635"/>
          </a:xfrm>
          <a:prstGeom prst="rect">
            <a:avLst/>
          </a:prstGeom>
        </p:spPr>
      </p:pic>
      <p:sp>
        <p:nvSpPr>
          <p:cNvPr id="32" name="Text 27"/>
          <p:cNvSpPr/>
          <p:nvPr/>
        </p:nvSpPr>
        <p:spPr>
          <a:xfrm>
            <a:off x="5623560" y="3246120"/>
            <a:ext cx="105156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Redeem</a:t>
            </a:r>
            <a:endParaRPr lang="en-US" sz="1300" dirty="0"/>
          </a:p>
        </p:txBody>
      </p:sp>
      <p:sp>
        <p:nvSpPr>
          <p:cNvPr id="33" name="Text 28"/>
          <p:cNvSpPr/>
          <p:nvPr/>
        </p:nvSpPr>
        <p:spPr>
          <a:xfrm>
            <a:off x="4983480" y="3840480"/>
            <a:ext cx="16916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Count credits toward your degree.</a:t>
            </a:r>
            <a:endParaRPr lang="en-US" sz="1050" dirty="0"/>
          </a:p>
        </p:txBody>
      </p:sp>
      <p:sp>
        <p:nvSpPr>
          <p:cNvPr id="34" name="Shape 29"/>
          <p:cNvSpPr/>
          <p:nvPr/>
        </p:nvSpPr>
        <p:spPr>
          <a:xfrm>
            <a:off x="6903720" y="3017520"/>
            <a:ext cx="1965960" cy="1508760"/>
          </a:xfrm>
          <a:prstGeom prst="roundRect">
            <a:avLst>
              <a:gd name="adj" fmla="val 4848"/>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5" name="Shape 30"/>
          <p:cNvSpPr/>
          <p:nvPr/>
        </p:nvSpPr>
        <p:spPr>
          <a:xfrm>
            <a:off x="6903720" y="3017520"/>
            <a:ext cx="73152" cy="1508760"/>
          </a:xfrm>
          <a:prstGeom prst="rect">
            <a:avLst/>
          </a:prstGeom>
          <a:solidFill>
            <a:srgbClr val="F97316"/>
          </a:solidFill>
          <a:ln w="12700">
            <a:solidFill>
              <a:srgbClr val="F97316"/>
            </a:solidFill>
            <a:prstDash val="solid"/>
          </a:ln>
        </p:spPr>
      </p:sp>
      <p:sp>
        <p:nvSpPr>
          <p:cNvPr id="36" name="Shape 31"/>
          <p:cNvSpPr/>
          <p:nvPr/>
        </p:nvSpPr>
        <p:spPr>
          <a:xfrm>
            <a:off x="7132320" y="3200400"/>
            <a:ext cx="502920" cy="502920"/>
          </a:xfrm>
          <a:prstGeom prst="ellipse">
            <a:avLst/>
          </a:prstGeom>
          <a:solidFill>
            <a:srgbClr val="E8F1FB"/>
          </a:solidFill>
          <a:ln w="12700">
            <a:solidFill>
              <a:srgbClr val="E8F1FB"/>
            </a:solidFill>
            <a:prstDash val="solid"/>
          </a:ln>
        </p:spPr>
      </p:sp>
      <p:pic>
        <p:nvPicPr>
          <p:cNvPr id="37" name="Image 3" descr="preencoded.png">    </p:cNvPr>
          <p:cNvPicPr>
            <a:picLocks noChangeAspect="1"/>
          </p:cNvPicPr>
          <p:nvPr/>
        </p:nvPicPr>
        <p:blipFill>
          <a:blip r:embed="rId4"/>
          <a:stretch>
            <a:fillRect/>
          </a:stretch>
        </p:blipFill>
        <p:spPr>
          <a:xfrm>
            <a:off x="7242962" y="3311042"/>
            <a:ext cx="281635" cy="281635"/>
          </a:xfrm>
          <a:prstGeom prst="rect">
            <a:avLst/>
          </a:prstGeom>
        </p:spPr>
      </p:pic>
      <p:sp>
        <p:nvSpPr>
          <p:cNvPr id="38" name="Text 32"/>
          <p:cNvSpPr/>
          <p:nvPr/>
        </p:nvSpPr>
        <p:spPr>
          <a:xfrm>
            <a:off x="7726680" y="3246120"/>
            <a:ext cx="105156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Lifetime Validity</a:t>
            </a:r>
            <a:endParaRPr lang="en-US" sz="1300" dirty="0"/>
          </a:p>
        </p:txBody>
      </p:sp>
      <p:sp>
        <p:nvSpPr>
          <p:cNvPr id="39" name="Text 33"/>
          <p:cNvSpPr/>
          <p:nvPr/>
        </p:nvSpPr>
        <p:spPr>
          <a:xfrm>
            <a:off x="7086600" y="3840480"/>
            <a:ext cx="1691640" cy="64008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Up to 7 years storage.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SWAYAM + NPTEL → YOUR DEGREE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Credit Transfer Process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20</a:t>
            </a:r>
            <a:endParaRPr lang="en-US" sz="900" dirty="0"/>
          </a:p>
        </p:txBody>
      </p:sp>
      <p:sp>
        <p:nvSpPr>
          <p:cNvPr id="9" name="Shape 7"/>
          <p:cNvSpPr/>
          <p:nvPr/>
        </p:nvSpPr>
        <p:spPr>
          <a:xfrm>
            <a:off x="1120140" y="1417320"/>
            <a:ext cx="1554480" cy="914400"/>
          </a:xfrm>
          <a:prstGeom prst="roundRect">
            <a:avLst>
              <a:gd name="adj" fmla="val 8000"/>
            </a:avLst>
          </a:prstGeom>
          <a:solidFill>
            <a:srgbClr val="F1F6FC"/>
          </a:solidFill>
          <a:ln w="6350">
            <a:solidFill>
              <a:srgbClr val="2E7CD6"/>
            </a:solidFill>
            <a:prstDash val="solid"/>
          </a:ln>
        </p:spPr>
      </p:sp>
      <p:sp>
        <p:nvSpPr>
          <p:cNvPr id="10" name="Shape 8"/>
          <p:cNvSpPr/>
          <p:nvPr/>
        </p:nvSpPr>
        <p:spPr>
          <a:xfrm>
            <a:off x="1211580" y="1600200"/>
            <a:ext cx="548640" cy="548640"/>
          </a:xfrm>
          <a:prstGeom prst="ellipse">
            <a:avLst/>
          </a:prstGeom>
          <a:solidFill>
            <a:srgbClr val="0B2A4A"/>
          </a:solidFill>
          <a:ln w="12700">
            <a:solidFill>
              <a:srgbClr val="0B2A4A"/>
            </a:solidFill>
            <a:prstDash val="solid"/>
          </a:ln>
        </p:spPr>
      </p:sp>
      <p:pic>
        <p:nvPicPr>
          <p:cNvPr id="11" name="Image 0" descr="preencoded.png">    </p:cNvPr>
          <p:cNvPicPr>
            <a:picLocks noChangeAspect="1"/>
          </p:cNvPicPr>
          <p:nvPr/>
        </p:nvPicPr>
        <p:blipFill>
          <a:blip r:embed="rId1"/>
          <a:stretch>
            <a:fillRect/>
          </a:stretch>
        </p:blipFill>
        <p:spPr>
          <a:xfrm>
            <a:off x="1332281" y="1720901"/>
            <a:ext cx="307238" cy="307238"/>
          </a:xfrm>
          <a:prstGeom prst="rect">
            <a:avLst/>
          </a:prstGeom>
        </p:spPr>
      </p:pic>
      <p:sp>
        <p:nvSpPr>
          <p:cNvPr id="12" name="Text 9"/>
          <p:cNvSpPr/>
          <p:nvPr/>
        </p:nvSpPr>
        <p:spPr>
          <a:xfrm>
            <a:off x="1805940" y="1645920"/>
            <a:ext cx="822960" cy="548640"/>
          </a:xfrm>
          <a:prstGeom prst="rect">
            <a:avLst/>
          </a:prstGeom>
          <a:noFill/>
          <a:ln/>
        </p:spPr>
        <p:txBody>
          <a:bodyPr wrap="square" lIns="0" tIns="0" rIns="0" bIns="0" rtlCol="0" anchor="ctr"/>
          <a:lstStyle/>
          <a:p>
            <a:pPr indent="0" marL="0">
              <a:buNone/>
            </a:pPr>
            <a:r>
              <a:rPr lang="en-US" sz="1050" b="1" dirty="0">
                <a:solidFill>
                  <a:srgbClr val="0B2A4A"/>
                </a:solidFill>
                <a:latin typeface="Segoe UI" pitchFamily="34" charset="0"/>
                <a:ea typeface="Segoe UI" pitchFamily="34" charset="-122"/>
                <a:cs typeface="Segoe UI" pitchFamily="34" charset="-120"/>
              </a:rPr>
              <a:t>Enroll in NPTEL</a:t>
            </a:r>
            <a:endParaRPr lang="en-US" sz="1050" dirty="0"/>
          </a:p>
        </p:txBody>
      </p:sp>
      <p:sp>
        <p:nvSpPr>
          <p:cNvPr id="13" name="Shape 10"/>
          <p:cNvSpPr/>
          <p:nvPr/>
        </p:nvSpPr>
        <p:spPr>
          <a:xfrm rot="5400000">
            <a:off x="2692908" y="1792224"/>
            <a:ext cx="137160" cy="164592"/>
          </a:xfrm>
          <a:prstGeom prst="rtTriangle">
            <a:avLst/>
          </a:prstGeom>
          <a:solidFill>
            <a:srgbClr val="F97316"/>
          </a:solidFill>
          <a:ln w="12700">
            <a:solidFill>
              <a:srgbClr val="F97316"/>
            </a:solidFill>
            <a:prstDash val="solid"/>
          </a:ln>
        </p:spPr>
      </p:sp>
      <p:sp>
        <p:nvSpPr>
          <p:cNvPr id="14" name="Shape 11"/>
          <p:cNvSpPr/>
          <p:nvPr/>
        </p:nvSpPr>
        <p:spPr>
          <a:xfrm>
            <a:off x="2903220" y="1417320"/>
            <a:ext cx="1554480" cy="914400"/>
          </a:xfrm>
          <a:prstGeom prst="roundRect">
            <a:avLst>
              <a:gd name="adj" fmla="val 8000"/>
            </a:avLst>
          </a:prstGeom>
          <a:solidFill>
            <a:srgbClr val="F1F6FC"/>
          </a:solidFill>
          <a:ln w="6350">
            <a:solidFill>
              <a:srgbClr val="2E7CD6"/>
            </a:solidFill>
            <a:prstDash val="solid"/>
          </a:ln>
        </p:spPr>
      </p:sp>
      <p:sp>
        <p:nvSpPr>
          <p:cNvPr id="15" name="Shape 12"/>
          <p:cNvSpPr/>
          <p:nvPr/>
        </p:nvSpPr>
        <p:spPr>
          <a:xfrm>
            <a:off x="2994660" y="1600200"/>
            <a:ext cx="548640" cy="548640"/>
          </a:xfrm>
          <a:prstGeom prst="ellipse">
            <a:avLst/>
          </a:prstGeom>
          <a:solidFill>
            <a:srgbClr val="0B2A4A"/>
          </a:solidFill>
          <a:ln w="12700">
            <a:solidFill>
              <a:srgbClr val="0B2A4A"/>
            </a:solidFill>
            <a:prstDash val="solid"/>
          </a:ln>
        </p:spPr>
      </p:sp>
      <p:pic>
        <p:nvPicPr>
          <p:cNvPr id="16" name="Image 1" descr="preencoded.png">    </p:cNvPr>
          <p:cNvPicPr>
            <a:picLocks noChangeAspect="1"/>
          </p:cNvPicPr>
          <p:nvPr/>
        </p:nvPicPr>
        <p:blipFill>
          <a:blip r:embed="rId2"/>
          <a:stretch>
            <a:fillRect/>
          </a:stretch>
        </p:blipFill>
        <p:spPr>
          <a:xfrm>
            <a:off x="3115361" y="1720901"/>
            <a:ext cx="307238" cy="307238"/>
          </a:xfrm>
          <a:prstGeom prst="rect">
            <a:avLst/>
          </a:prstGeom>
        </p:spPr>
      </p:pic>
      <p:sp>
        <p:nvSpPr>
          <p:cNvPr id="17" name="Text 13"/>
          <p:cNvSpPr/>
          <p:nvPr/>
        </p:nvSpPr>
        <p:spPr>
          <a:xfrm>
            <a:off x="3589020" y="1645920"/>
            <a:ext cx="822960" cy="548640"/>
          </a:xfrm>
          <a:prstGeom prst="rect">
            <a:avLst/>
          </a:prstGeom>
          <a:noFill/>
          <a:ln/>
        </p:spPr>
        <p:txBody>
          <a:bodyPr wrap="square" lIns="0" tIns="0" rIns="0" bIns="0" rtlCol="0" anchor="ctr"/>
          <a:lstStyle/>
          <a:p>
            <a:pPr indent="0" marL="0">
              <a:buNone/>
            </a:pPr>
            <a:r>
              <a:rPr lang="en-US" sz="1050" b="1" dirty="0">
                <a:solidFill>
                  <a:srgbClr val="0B2A4A"/>
                </a:solidFill>
                <a:latin typeface="Segoe UI" pitchFamily="34" charset="0"/>
                <a:ea typeface="Segoe UI" pitchFamily="34" charset="-122"/>
                <a:cs typeface="Segoe UI" pitchFamily="34" charset="-120"/>
              </a:rPr>
              <a:t>Complete Assignments</a:t>
            </a:r>
            <a:endParaRPr lang="en-US" sz="1050" dirty="0"/>
          </a:p>
        </p:txBody>
      </p:sp>
      <p:sp>
        <p:nvSpPr>
          <p:cNvPr id="18" name="Shape 14"/>
          <p:cNvSpPr/>
          <p:nvPr/>
        </p:nvSpPr>
        <p:spPr>
          <a:xfrm rot="5400000">
            <a:off x="4475988" y="1792224"/>
            <a:ext cx="137160" cy="164592"/>
          </a:xfrm>
          <a:prstGeom prst="rtTriangle">
            <a:avLst/>
          </a:prstGeom>
          <a:solidFill>
            <a:srgbClr val="F97316"/>
          </a:solidFill>
          <a:ln w="12700">
            <a:solidFill>
              <a:srgbClr val="F97316"/>
            </a:solidFill>
            <a:prstDash val="solid"/>
          </a:ln>
        </p:spPr>
      </p:sp>
      <p:sp>
        <p:nvSpPr>
          <p:cNvPr id="19" name="Shape 15"/>
          <p:cNvSpPr/>
          <p:nvPr/>
        </p:nvSpPr>
        <p:spPr>
          <a:xfrm>
            <a:off x="4686300" y="1417320"/>
            <a:ext cx="1554480" cy="914400"/>
          </a:xfrm>
          <a:prstGeom prst="roundRect">
            <a:avLst>
              <a:gd name="adj" fmla="val 8000"/>
            </a:avLst>
          </a:prstGeom>
          <a:solidFill>
            <a:srgbClr val="F1F6FC"/>
          </a:solidFill>
          <a:ln w="6350">
            <a:solidFill>
              <a:srgbClr val="2E7CD6"/>
            </a:solidFill>
            <a:prstDash val="solid"/>
          </a:ln>
        </p:spPr>
      </p:sp>
      <p:sp>
        <p:nvSpPr>
          <p:cNvPr id="20" name="Shape 16"/>
          <p:cNvSpPr/>
          <p:nvPr/>
        </p:nvSpPr>
        <p:spPr>
          <a:xfrm>
            <a:off x="4777740" y="1600200"/>
            <a:ext cx="548640" cy="548640"/>
          </a:xfrm>
          <a:prstGeom prst="ellipse">
            <a:avLst/>
          </a:prstGeom>
          <a:solidFill>
            <a:srgbClr val="0B2A4A"/>
          </a:solidFill>
          <a:ln w="12700">
            <a:solidFill>
              <a:srgbClr val="0B2A4A"/>
            </a:solidFill>
            <a:prstDash val="solid"/>
          </a:ln>
        </p:spPr>
      </p:sp>
      <p:pic>
        <p:nvPicPr>
          <p:cNvPr id="21" name="Image 2" descr="preencoded.png">    </p:cNvPr>
          <p:cNvPicPr>
            <a:picLocks noChangeAspect="1"/>
          </p:cNvPicPr>
          <p:nvPr/>
        </p:nvPicPr>
        <p:blipFill>
          <a:blip r:embed="rId3"/>
          <a:stretch>
            <a:fillRect/>
          </a:stretch>
        </p:blipFill>
        <p:spPr>
          <a:xfrm>
            <a:off x="4898441" y="1720901"/>
            <a:ext cx="307238" cy="307238"/>
          </a:xfrm>
          <a:prstGeom prst="rect">
            <a:avLst/>
          </a:prstGeom>
        </p:spPr>
      </p:pic>
      <p:sp>
        <p:nvSpPr>
          <p:cNvPr id="22" name="Text 17"/>
          <p:cNvSpPr/>
          <p:nvPr/>
        </p:nvSpPr>
        <p:spPr>
          <a:xfrm>
            <a:off x="5372100" y="1645920"/>
            <a:ext cx="822960" cy="548640"/>
          </a:xfrm>
          <a:prstGeom prst="rect">
            <a:avLst/>
          </a:prstGeom>
          <a:noFill/>
          <a:ln/>
        </p:spPr>
        <p:txBody>
          <a:bodyPr wrap="square" lIns="0" tIns="0" rIns="0" bIns="0" rtlCol="0" anchor="ctr"/>
          <a:lstStyle/>
          <a:p>
            <a:pPr indent="0" marL="0">
              <a:buNone/>
            </a:pPr>
            <a:r>
              <a:rPr lang="en-US" sz="1050" b="1" dirty="0">
                <a:solidFill>
                  <a:srgbClr val="0B2A4A"/>
                </a:solidFill>
                <a:latin typeface="Segoe UI" pitchFamily="34" charset="0"/>
                <a:ea typeface="Segoe UI" pitchFamily="34" charset="-122"/>
                <a:cs typeface="Segoe UI" pitchFamily="34" charset="-120"/>
              </a:rPr>
              <a:t>Pass Proctored Exam</a:t>
            </a:r>
            <a:endParaRPr lang="en-US" sz="1050" dirty="0"/>
          </a:p>
        </p:txBody>
      </p:sp>
      <p:sp>
        <p:nvSpPr>
          <p:cNvPr id="23" name="Shape 18"/>
          <p:cNvSpPr/>
          <p:nvPr/>
        </p:nvSpPr>
        <p:spPr>
          <a:xfrm rot="5400000">
            <a:off x="6259068" y="1792224"/>
            <a:ext cx="137160" cy="164592"/>
          </a:xfrm>
          <a:prstGeom prst="rtTriangle">
            <a:avLst/>
          </a:prstGeom>
          <a:solidFill>
            <a:srgbClr val="F97316"/>
          </a:solidFill>
          <a:ln w="12700">
            <a:solidFill>
              <a:srgbClr val="F97316"/>
            </a:solidFill>
            <a:prstDash val="solid"/>
          </a:ln>
        </p:spPr>
      </p:sp>
      <p:sp>
        <p:nvSpPr>
          <p:cNvPr id="24" name="Shape 19"/>
          <p:cNvSpPr/>
          <p:nvPr/>
        </p:nvSpPr>
        <p:spPr>
          <a:xfrm>
            <a:off x="6469380" y="1417320"/>
            <a:ext cx="1554480" cy="914400"/>
          </a:xfrm>
          <a:prstGeom prst="roundRect">
            <a:avLst>
              <a:gd name="adj" fmla="val 8000"/>
            </a:avLst>
          </a:prstGeom>
          <a:solidFill>
            <a:srgbClr val="F1F6FC"/>
          </a:solidFill>
          <a:ln w="6350">
            <a:solidFill>
              <a:srgbClr val="2E7CD6"/>
            </a:solidFill>
            <a:prstDash val="solid"/>
          </a:ln>
        </p:spPr>
      </p:sp>
      <p:sp>
        <p:nvSpPr>
          <p:cNvPr id="25" name="Shape 20"/>
          <p:cNvSpPr/>
          <p:nvPr/>
        </p:nvSpPr>
        <p:spPr>
          <a:xfrm>
            <a:off x="6560820" y="1600200"/>
            <a:ext cx="548640" cy="548640"/>
          </a:xfrm>
          <a:prstGeom prst="ellipse">
            <a:avLst/>
          </a:prstGeom>
          <a:solidFill>
            <a:srgbClr val="0B2A4A"/>
          </a:solidFill>
          <a:ln w="12700">
            <a:solidFill>
              <a:srgbClr val="0B2A4A"/>
            </a:solidFill>
            <a:prstDash val="solid"/>
          </a:ln>
        </p:spPr>
      </p:sp>
      <p:pic>
        <p:nvPicPr>
          <p:cNvPr id="26" name="Image 3" descr="preencoded.png">    </p:cNvPr>
          <p:cNvPicPr>
            <a:picLocks noChangeAspect="1"/>
          </p:cNvPicPr>
          <p:nvPr/>
        </p:nvPicPr>
        <p:blipFill>
          <a:blip r:embed="rId4"/>
          <a:stretch>
            <a:fillRect/>
          </a:stretch>
        </p:blipFill>
        <p:spPr>
          <a:xfrm>
            <a:off x="6681521" y="1720901"/>
            <a:ext cx="307238" cy="307238"/>
          </a:xfrm>
          <a:prstGeom prst="rect">
            <a:avLst/>
          </a:prstGeom>
        </p:spPr>
      </p:pic>
      <p:sp>
        <p:nvSpPr>
          <p:cNvPr id="27" name="Text 21"/>
          <p:cNvSpPr/>
          <p:nvPr/>
        </p:nvSpPr>
        <p:spPr>
          <a:xfrm>
            <a:off x="7155180" y="1645920"/>
            <a:ext cx="822960" cy="548640"/>
          </a:xfrm>
          <a:prstGeom prst="rect">
            <a:avLst/>
          </a:prstGeom>
          <a:noFill/>
          <a:ln/>
        </p:spPr>
        <p:txBody>
          <a:bodyPr wrap="square" lIns="0" tIns="0" rIns="0" bIns="0" rtlCol="0" anchor="ctr"/>
          <a:lstStyle/>
          <a:p>
            <a:pPr indent="0" marL="0">
              <a:buNone/>
            </a:pPr>
            <a:r>
              <a:rPr lang="en-US" sz="1050" b="1" dirty="0">
                <a:solidFill>
                  <a:srgbClr val="0B2A4A"/>
                </a:solidFill>
                <a:latin typeface="Segoe UI" pitchFamily="34" charset="0"/>
                <a:ea typeface="Segoe UI" pitchFamily="34" charset="-122"/>
                <a:cs typeface="Segoe UI" pitchFamily="34" charset="-120"/>
              </a:rPr>
              <a:t>Earn Credits</a:t>
            </a:r>
            <a:endParaRPr lang="en-US" sz="1050" dirty="0"/>
          </a:p>
        </p:txBody>
      </p:sp>
      <p:sp>
        <p:nvSpPr>
          <p:cNvPr id="28" name="Shape 22"/>
          <p:cNvSpPr/>
          <p:nvPr/>
        </p:nvSpPr>
        <p:spPr>
          <a:xfrm rot="10800000">
            <a:off x="7164324" y="2377440"/>
            <a:ext cx="164592" cy="228600"/>
          </a:xfrm>
          <a:prstGeom prst="rtTriangle">
            <a:avLst/>
          </a:prstGeom>
          <a:solidFill>
            <a:srgbClr val="F97316"/>
          </a:solidFill>
          <a:ln w="12700">
            <a:solidFill>
              <a:srgbClr val="F97316"/>
            </a:solidFill>
            <a:prstDash val="solid"/>
          </a:ln>
        </p:spPr>
      </p:sp>
      <p:sp>
        <p:nvSpPr>
          <p:cNvPr id="29" name="Shape 23"/>
          <p:cNvSpPr/>
          <p:nvPr/>
        </p:nvSpPr>
        <p:spPr>
          <a:xfrm>
            <a:off x="2903220" y="2880360"/>
            <a:ext cx="1554480" cy="914400"/>
          </a:xfrm>
          <a:prstGeom prst="roundRect">
            <a:avLst>
              <a:gd name="adj" fmla="val 8000"/>
            </a:avLst>
          </a:prstGeom>
          <a:solidFill>
            <a:srgbClr val="0B2A4A"/>
          </a:solidFill>
          <a:ln w="12700">
            <a:solidFill>
              <a:srgbClr val="0B2A4A"/>
            </a:solidFill>
            <a:prstDash val="solid"/>
          </a:ln>
        </p:spPr>
      </p:sp>
      <p:sp>
        <p:nvSpPr>
          <p:cNvPr id="30" name="Shape 24"/>
          <p:cNvSpPr/>
          <p:nvPr/>
        </p:nvSpPr>
        <p:spPr>
          <a:xfrm>
            <a:off x="2994660" y="3063240"/>
            <a:ext cx="548640" cy="548640"/>
          </a:xfrm>
          <a:prstGeom prst="ellipse">
            <a:avLst/>
          </a:prstGeom>
          <a:solidFill>
            <a:srgbClr val="F97316"/>
          </a:solidFill>
          <a:ln w="12700">
            <a:solidFill>
              <a:srgbClr val="F97316"/>
            </a:solidFill>
            <a:prstDash val="solid"/>
          </a:ln>
        </p:spPr>
      </p:sp>
      <p:pic>
        <p:nvPicPr>
          <p:cNvPr id="31" name="Image 4" descr="preencoded.png">    </p:cNvPr>
          <p:cNvPicPr>
            <a:picLocks noChangeAspect="1"/>
          </p:cNvPicPr>
          <p:nvPr/>
        </p:nvPicPr>
        <p:blipFill>
          <a:blip r:embed="rId5"/>
          <a:stretch>
            <a:fillRect/>
          </a:stretch>
        </p:blipFill>
        <p:spPr>
          <a:xfrm>
            <a:off x="3115361" y="3183941"/>
            <a:ext cx="307238" cy="307238"/>
          </a:xfrm>
          <a:prstGeom prst="rect">
            <a:avLst/>
          </a:prstGeom>
        </p:spPr>
      </p:pic>
      <p:sp>
        <p:nvSpPr>
          <p:cNvPr id="32" name="Text 25"/>
          <p:cNvSpPr/>
          <p:nvPr/>
        </p:nvSpPr>
        <p:spPr>
          <a:xfrm>
            <a:off x="3589020" y="3108960"/>
            <a:ext cx="822960" cy="548640"/>
          </a:xfrm>
          <a:prstGeom prst="rect">
            <a:avLst/>
          </a:prstGeom>
          <a:noFill/>
          <a:ln/>
        </p:spPr>
        <p:txBody>
          <a:bodyPr wrap="square" lIns="0" tIns="0" rIns="0" bIns="0"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Store in ABC</a:t>
            </a:r>
            <a:endParaRPr lang="en-US" sz="1050" dirty="0"/>
          </a:p>
        </p:txBody>
      </p:sp>
      <p:sp>
        <p:nvSpPr>
          <p:cNvPr id="33" name="Shape 26"/>
          <p:cNvSpPr/>
          <p:nvPr/>
        </p:nvSpPr>
        <p:spPr>
          <a:xfrm rot="5400000">
            <a:off x="4475988" y="3255264"/>
            <a:ext cx="137160" cy="164592"/>
          </a:xfrm>
          <a:prstGeom prst="rtTriangle">
            <a:avLst/>
          </a:prstGeom>
          <a:solidFill>
            <a:srgbClr val="F97316"/>
          </a:solidFill>
          <a:ln w="12700">
            <a:solidFill>
              <a:srgbClr val="F97316"/>
            </a:solidFill>
            <a:prstDash val="solid"/>
          </a:ln>
        </p:spPr>
      </p:sp>
      <p:sp>
        <p:nvSpPr>
          <p:cNvPr id="34" name="Shape 27"/>
          <p:cNvSpPr/>
          <p:nvPr/>
        </p:nvSpPr>
        <p:spPr>
          <a:xfrm>
            <a:off x="4686300" y="2880360"/>
            <a:ext cx="1554480" cy="914400"/>
          </a:xfrm>
          <a:prstGeom prst="roundRect">
            <a:avLst>
              <a:gd name="adj" fmla="val 8000"/>
            </a:avLst>
          </a:prstGeom>
          <a:solidFill>
            <a:srgbClr val="0B2A4A"/>
          </a:solidFill>
          <a:ln w="12700">
            <a:solidFill>
              <a:srgbClr val="0B2A4A"/>
            </a:solidFill>
            <a:prstDash val="solid"/>
          </a:ln>
        </p:spPr>
      </p:sp>
      <p:sp>
        <p:nvSpPr>
          <p:cNvPr id="35" name="Shape 28"/>
          <p:cNvSpPr/>
          <p:nvPr/>
        </p:nvSpPr>
        <p:spPr>
          <a:xfrm>
            <a:off x="4777740" y="3063240"/>
            <a:ext cx="548640" cy="548640"/>
          </a:xfrm>
          <a:prstGeom prst="ellipse">
            <a:avLst/>
          </a:prstGeom>
          <a:solidFill>
            <a:srgbClr val="F97316"/>
          </a:solidFill>
          <a:ln w="12700">
            <a:solidFill>
              <a:srgbClr val="F97316"/>
            </a:solidFill>
            <a:prstDash val="solid"/>
          </a:ln>
        </p:spPr>
      </p:sp>
      <p:pic>
        <p:nvPicPr>
          <p:cNvPr id="36" name="Image 5" descr="preencoded.png">    </p:cNvPr>
          <p:cNvPicPr>
            <a:picLocks noChangeAspect="1"/>
          </p:cNvPicPr>
          <p:nvPr/>
        </p:nvPicPr>
        <p:blipFill>
          <a:blip r:embed="rId6"/>
          <a:stretch>
            <a:fillRect/>
          </a:stretch>
        </p:blipFill>
        <p:spPr>
          <a:xfrm>
            <a:off x="4898441" y="3183941"/>
            <a:ext cx="307238" cy="307238"/>
          </a:xfrm>
          <a:prstGeom prst="rect">
            <a:avLst/>
          </a:prstGeom>
        </p:spPr>
      </p:pic>
      <p:sp>
        <p:nvSpPr>
          <p:cNvPr id="37" name="Text 29"/>
          <p:cNvSpPr/>
          <p:nvPr/>
        </p:nvSpPr>
        <p:spPr>
          <a:xfrm>
            <a:off x="5372100" y="3108960"/>
            <a:ext cx="822960" cy="548640"/>
          </a:xfrm>
          <a:prstGeom prst="rect">
            <a:avLst/>
          </a:prstGeom>
          <a:noFill/>
          <a:ln/>
        </p:spPr>
        <p:txBody>
          <a:bodyPr wrap="square" lIns="0" tIns="0" rIns="0" bIns="0"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Transfer to University</a:t>
            </a:r>
            <a:endParaRPr lang="en-US" sz="1050" dirty="0"/>
          </a:p>
        </p:txBody>
      </p:sp>
      <p:sp>
        <p:nvSpPr>
          <p:cNvPr id="38" name="Shape 30"/>
          <p:cNvSpPr/>
          <p:nvPr/>
        </p:nvSpPr>
        <p:spPr>
          <a:xfrm rot="5400000">
            <a:off x="6259068" y="3255264"/>
            <a:ext cx="137160" cy="164592"/>
          </a:xfrm>
          <a:prstGeom prst="rtTriangle">
            <a:avLst/>
          </a:prstGeom>
          <a:solidFill>
            <a:srgbClr val="F97316"/>
          </a:solidFill>
          <a:ln w="12700">
            <a:solidFill>
              <a:srgbClr val="F97316"/>
            </a:solidFill>
            <a:prstDash val="solid"/>
          </a:ln>
        </p:spPr>
      </p:sp>
      <p:sp>
        <p:nvSpPr>
          <p:cNvPr id="39" name="Shape 31"/>
          <p:cNvSpPr/>
          <p:nvPr/>
        </p:nvSpPr>
        <p:spPr>
          <a:xfrm>
            <a:off x="6469380" y="2880360"/>
            <a:ext cx="1554480" cy="914400"/>
          </a:xfrm>
          <a:prstGeom prst="roundRect">
            <a:avLst>
              <a:gd name="adj" fmla="val 8000"/>
            </a:avLst>
          </a:prstGeom>
          <a:solidFill>
            <a:srgbClr val="0B2A4A"/>
          </a:solidFill>
          <a:ln w="12700">
            <a:solidFill>
              <a:srgbClr val="0B2A4A"/>
            </a:solidFill>
            <a:prstDash val="solid"/>
          </a:ln>
        </p:spPr>
      </p:sp>
      <p:sp>
        <p:nvSpPr>
          <p:cNvPr id="40" name="Shape 32"/>
          <p:cNvSpPr/>
          <p:nvPr/>
        </p:nvSpPr>
        <p:spPr>
          <a:xfrm>
            <a:off x="6560820" y="3063240"/>
            <a:ext cx="548640" cy="548640"/>
          </a:xfrm>
          <a:prstGeom prst="ellipse">
            <a:avLst/>
          </a:prstGeom>
          <a:solidFill>
            <a:srgbClr val="F97316"/>
          </a:solidFill>
          <a:ln w="12700">
            <a:solidFill>
              <a:srgbClr val="F97316"/>
            </a:solidFill>
            <a:prstDash val="solid"/>
          </a:ln>
        </p:spPr>
      </p:sp>
      <p:pic>
        <p:nvPicPr>
          <p:cNvPr id="41" name="Image 6" descr="preencoded.png">    </p:cNvPr>
          <p:cNvPicPr>
            <a:picLocks noChangeAspect="1"/>
          </p:cNvPicPr>
          <p:nvPr/>
        </p:nvPicPr>
        <p:blipFill>
          <a:blip r:embed="rId7"/>
          <a:stretch>
            <a:fillRect/>
          </a:stretch>
        </p:blipFill>
        <p:spPr>
          <a:xfrm>
            <a:off x="6681521" y="3183941"/>
            <a:ext cx="307238" cy="307238"/>
          </a:xfrm>
          <a:prstGeom prst="rect">
            <a:avLst/>
          </a:prstGeom>
        </p:spPr>
      </p:pic>
      <p:sp>
        <p:nvSpPr>
          <p:cNvPr id="42" name="Text 33"/>
          <p:cNvSpPr/>
          <p:nvPr/>
        </p:nvSpPr>
        <p:spPr>
          <a:xfrm>
            <a:off x="7155180" y="3108960"/>
            <a:ext cx="822960" cy="548640"/>
          </a:xfrm>
          <a:prstGeom prst="rect">
            <a:avLst/>
          </a:prstGeom>
          <a:noFill/>
          <a:ln/>
        </p:spPr>
        <p:txBody>
          <a:bodyPr wrap="square" lIns="0" tIns="0" rIns="0" bIns="0"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Counts Toward Degree</a:t>
            </a:r>
            <a:endParaRPr lang="en-US" sz="1050" dirty="0"/>
          </a:p>
        </p:txBody>
      </p:sp>
      <p:sp>
        <p:nvSpPr>
          <p:cNvPr id="43" name="Text 34"/>
          <p:cNvSpPr/>
          <p:nvPr/>
        </p:nvSpPr>
        <p:spPr>
          <a:xfrm>
            <a:off x="457200" y="4297680"/>
            <a:ext cx="8229600" cy="320040"/>
          </a:xfrm>
          <a:prstGeom prst="rect">
            <a:avLst/>
          </a:prstGeom>
          <a:noFill/>
          <a:ln/>
        </p:spPr>
        <p:txBody>
          <a:bodyPr wrap="square" lIns="0" tIns="0" rIns="0" bIns="0" rtlCol="0" anchor="ctr"/>
          <a:lstStyle/>
          <a:p>
            <a:pPr algn="ctr" indent="0" marL="0">
              <a:buNone/>
            </a:pPr>
            <a:r>
              <a:rPr lang="en-US" sz="1100" i="1" dirty="0">
                <a:solidFill>
                  <a:srgbClr val="6B7280"/>
                </a:solidFill>
                <a:latin typeface="Segoe UI" pitchFamily="34" charset="0"/>
                <a:ea typeface="Segoe UI" pitchFamily="34" charset="-122"/>
                <a:cs typeface="Segoe UI" pitchFamily="34" charset="-120"/>
              </a:rPr>
              <a:t>Subject to your university's approval and credit-transfer policy.</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SEMESTER 5 WALK-THROUGH</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Credit Transfer: A Real Example</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21</a:t>
            </a:r>
            <a:endParaRPr lang="en-US" sz="900" dirty="0"/>
          </a:p>
        </p:txBody>
      </p:sp>
      <p:sp>
        <p:nvSpPr>
          <p:cNvPr id="9" name="Shape 7"/>
          <p:cNvSpPr/>
          <p:nvPr/>
        </p:nvSpPr>
        <p:spPr>
          <a:xfrm>
            <a:off x="29718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297180" y="1371600"/>
            <a:ext cx="1600200" cy="457200"/>
          </a:xfrm>
          <a:prstGeom prst="rect">
            <a:avLst/>
          </a:prstGeom>
          <a:solidFill>
            <a:srgbClr val="0B2A4A"/>
          </a:solidFill>
          <a:ln w="12700">
            <a:solidFill>
              <a:srgbClr val="0B2A4A"/>
            </a:solidFill>
            <a:prstDash val="solid"/>
          </a:ln>
        </p:spPr>
      </p:sp>
      <p:sp>
        <p:nvSpPr>
          <p:cNvPr id="11" name="Text 9"/>
          <p:cNvSpPr/>
          <p:nvPr/>
        </p:nvSpPr>
        <p:spPr>
          <a:xfrm>
            <a:off x="388620" y="137160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Semester 5</a:t>
            </a:r>
            <a:endParaRPr lang="en-US" sz="1100" dirty="0"/>
          </a:p>
        </p:txBody>
      </p:sp>
      <p:sp>
        <p:nvSpPr>
          <p:cNvPr id="12" name="Shape 10"/>
          <p:cNvSpPr/>
          <p:nvPr/>
        </p:nvSpPr>
        <p:spPr>
          <a:xfrm>
            <a:off x="685800" y="2011680"/>
            <a:ext cx="822960" cy="822960"/>
          </a:xfrm>
          <a:prstGeom prst="ellipse">
            <a:avLst/>
          </a:prstGeom>
          <a:solidFill>
            <a:srgbClr val="F1F6FC"/>
          </a:solidFill>
          <a:ln w="12700">
            <a:solidFill>
              <a:srgbClr val="F1F6FC"/>
            </a:solidFill>
            <a:prstDash val="solid"/>
          </a:ln>
        </p:spPr>
      </p:sp>
      <p:pic>
        <p:nvPicPr>
          <p:cNvPr id="13" name="Image 0" descr="preencoded.png">    </p:cNvPr>
          <p:cNvPicPr>
            <a:picLocks noChangeAspect="1"/>
          </p:cNvPicPr>
          <p:nvPr/>
        </p:nvPicPr>
        <p:blipFill>
          <a:blip r:embed="rId1"/>
          <a:stretch>
            <a:fillRect/>
          </a:stretch>
        </p:blipFill>
        <p:spPr>
          <a:xfrm>
            <a:off x="866851" y="2192731"/>
            <a:ext cx="460858" cy="460858"/>
          </a:xfrm>
          <a:prstGeom prst="rect">
            <a:avLst/>
          </a:prstGeom>
        </p:spPr>
      </p:pic>
      <p:sp>
        <p:nvSpPr>
          <p:cNvPr id="14" name="Text 11"/>
          <p:cNvSpPr/>
          <p:nvPr/>
        </p:nvSpPr>
        <p:spPr>
          <a:xfrm>
            <a:off x="388620" y="2971800"/>
            <a:ext cx="1417320" cy="54864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Python for Data Science</a:t>
            </a:r>
            <a:endParaRPr lang="en-US" sz="1200" dirty="0"/>
          </a:p>
        </p:txBody>
      </p:sp>
      <p:sp>
        <p:nvSpPr>
          <p:cNvPr id="15" name="Text 12"/>
          <p:cNvSpPr/>
          <p:nvPr/>
        </p:nvSpPr>
        <p:spPr>
          <a:xfrm>
            <a:off x="388620" y="3566160"/>
            <a:ext cx="1417320" cy="45720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12 weeks · IIT Madras</a:t>
            </a:r>
            <a:endParaRPr lang="en-US" sz="950" dirty="0"/>
          </a:p>
        </p:txBody>
      </p:sp>
      <p:sp>
        <p:nvSpPr>
          <p:cNvPr id="16" name="Shape 13"/>
          <p:cNvSpPr/>
          <p:nvPr/>
        </p:nvSpPr>
        <p:spPr>
          <a:xfrm rot="5400000">
            <a:off x="1901952" y="2651760"/>
            <a:ext cx="128016" cy="182880"/>
          </a:xfrm>
          <a:prstGeom prst="rtTriangle">
            <a:avLst/>
          </a:prstGeom>
          <a:solidFill>
            <a:srgbClr val="F97316"/>
          </a:solidFill>
          <a:ln w="12700">
            <a:solidFill>
              <a:srgbClr val="F97316"/>
            </a:solidFill>
            <a:prstDash val="solid"/>
          </a:ln>
        </p:spPr>
      </p:sp>
      <p:sp>
        <p:nvSpPr>
          <p:cNvPr id="17" name="Shape 14"/>
          <p:cNvSpPr/>
          <p:nvPr/>
        </p:nvSpPr>
        <p:spPr>
          <a:xfrm>
            <a:off x="203454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8" name="Shape 15"/>
          <p:cNvSpPr/>
          <p:nvPr/>
        </p:nvSpPr>
        <p:spPr>
          <a:xfrm>
            <a:off x="2034540" y="1371600"/>
            <a:ext cx="1600200" cy="457200"/>
          </a:xfrm>
          <a:prstGeom prst="rect">
            <a:avLst/>
          </a:prstGeom>
          <a:solidFill>
            <a:srgbClr val="1E4E8C"/>
          </a:solidFill>
          <a:ln w="12700">
            <a:solidFill>
              <a:srgbClr val="1E4E8C"/>
            </a:solidFill>
            <a:prstDash val="solid"/>
          </a:ln>
        </p:spPr>
      </p:sp>
      <p:sp>
        <p:nvSpPr>
          <p:cNvPr id="19" name="Text 16"/>
          <p:cNvSpPr/>
          <p:nvPr/>
        </p:nvSpPr>
        <p:spPr>
          <a:xfrm>
            <a:off x="2125980" y="137160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Completed</a:t>
            </a:r>
            <a:endParaRPr lang="en-US" sz="1100" dirty="0"/>
          </a:p>
        </p:txBody>
      </p:sp>
      <p:sp>
        <p:nvSpPr>
          <p:cNvPr id="20" name="Shape 17"/>
          <p:cNvSpPr/>
          <p:nvPr/>
        </p:nvSpPr>
        <p:spPr>
          <a:xfrm>
            <a:off x="2423160" y="2011680"/>
            <a:ext cx="822960" cy="822960"/>
          </a:xfrm>
          <a:prstGeom prst="ellipse">
            <a:avLst/>
          </a:prstGeom>
          <a:solidFill>
            <a:srgbClr val="F1F6FC"/>
          </a:solidFill>
          <a:ln w="12700">
            <a:solidFill>
              <a:srgbClr val="F1F6FC"/>
            </a:solidFill>
            <a:prstDash val="solid"/>
          </a:ln>
        </p:spPr>
      </p:sp>
      <p:pic>
        <p:nvPicPr>
          <p:cNvPr id="21" name="Image 1" descr="preencoded.png">    </p:cNvPr>
          <p:cNvPicPr>
            <a:picLocks noChangeAspect="1"/>
          </p:cNvPicPr>
          <p:nvPr/>
        </p:nvPicPr>
        <p:blipFill>
          <a:blip r:embed="rId2"/>
          <a:stretch>
            <a:fillRect/>
          </a:stretch>
        </p:blipFill>
        <p:spPr>
          <a:xfrm>
            <a:off x="2604211" y="2192731"/>
            <a:ext cx="460858" cy="460858"/>
          </a:xfrm>
          <a:prstGeom prst="rect">
            <a:avLst/>
          </a:prstGeom>
        </p:spPr>
      </p:pic>
      <p:sp>
        <p:nvSpPr>
          <p:cNvPr id="22" name="Text 18"/>
          <p:cNvSpPr/>
          <p:nvPr/>
        </p:nvSpPr>
        <p:spPr>
          <a:xfrm>
            <a:off x="2125980" y="2971800"/>
            <a:ext cx="1417320" cy="54864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3 Credits Earned</a:t>
            </a:r>
            <a:endParaRPr lang="en-US" sz="1200" dirty="0"/>
          </a:p>
        </p:txBody>
      </p:sp>
      <p:sp>
        <p:nvSpPr>
          <p:cNvPr id="23" name="Text 19"/>
          <p:cNvSpPr/>
          <p:nvPr/>
        </p:nvSpPr>
        <p:spPr>
          <a:xfrm>
            <a:off x="2125980" y="3566160"/>
            <a:ext cx="1417320" cy="45720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Elite + Silver</a:t>
            </a:r>
            <a:endParaRPr lang="en-US" sz="950" dirty="0"/>
          </a:p>
        </p:txBody>
      </p:sp>
      <p:sp>
        <p:nvSpPr>
          <p:cNvPr id="24" name="Shape 20"/>
          <p:cNvSpPr/>
          <p:nvPr/>
        </p:nvSpPr>
        <p:spPr>
          <a:xfrm rot="5400000">
            <a:off x="3639312" y="2651760"/>
            <a:ext cx="128016" cy="182880"/>
          </a:xfrm>
          <a:prstGeom prst="rtTriangle">
            <a:avLst/>
          </a:prstGeom>
          <a:solidFill>
            <a:srgbClr val="F97316"/>
          </a:solidFill>
          <a:ln w="12700">
            <a:solidFill>
              <a:srgbClr val="F97316"/>
            </a:solidFill>
            <a:prstDash val="solid"/>
          </a:ln>
        </p:spPr>
      </p:sp>
      <p:sp>
        <p:nvSpPr>
          <p:cNvPr id="25" name="Shape 21"/>
          <p:cNvSpPr/>
          <p:nvPr/>
        </p:nvSpPr>
        <p:spPr>
          <a:xfrm>
            <a:off x="377190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6" name="Shape 22"/>
          <p:cNvSpPr/>
          <p:nvPr/>
        </p:nvSpPr>
        <p:spPr>
          <a:xfrm>
            <a:off x="3771900" y="1371600"/>
            <a:ext cx="1600200" cy="457200"/>
          </a:xfrm>
          <a:prstGeom prst="rect">
            <a:avLst/>
          </a:prstGeom>
          <a:solidFill>
            <a:srgbClr val="2E7CD6"/>
          </a:solidFill>
          <a:ln w="12700">
            <a:solidFill>
              <a:srgbClr val="2E7CD6"/>
            </a:solidFill>
            <a:prstDash val="solid"/>
          </a:ln>
        </p:spPr>
      </p:sp>
      <p:sp>
        <p:nvSpPr>
          <p:cNvPr id="27" name="Text 23"/>
          <p:cNvSpPr/>
          <p:nvPr/>
        </p:nvSpPr>
        <p:spPr>
          <a:xfrm>
            <a:off x="3863340" y="137160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Stored in ABC</a:t>
            </a:r>
            <a:endParaRPr lang="en-US" sz="1100" dirty="0"/>
          </a:p>
        </p:txBody>
      </p:sp>
      <p:sp>
        <p:nvSpPr>
          <p:cNvPr id="28" name="Shape 24"/>
          <p:cNvSpPr/>
          <p:nvPr/>
        </p:nvSpPr>
        <p:spPr>
          <a:xfrm>
            <a:off x="4160520" y="2011680"/>
            <a:ext cx="822960" cy="822960"/>
          </a:xfrm>
          <a:prstGeom prst="ellipse">
            <a:avLst/>
          </a:prstGeom>
          <a:solidFill>
            <a:srgbClr val="F1F6FC"/>
          </a:solidFill>
          <a:ln w="12700">
            <a:solidFill>
              <a:srgbClr val="F1F6FC"/>
            </a:solidFill>
            <a:prstDash val="solid"/>
          </a:ln>
        </p:spPr>
      </p:sp>
      <p:pic>
        <p:nvPicPr>
          <p:cNvPr id="29" name="Image 2" descr="preencoded.png">    </p:cNvPr>
          <p:cNvPicPr>
            <a:picLocks noChangeAspect="1"/>
          </p:cNvPicPr>
          <p:nvPr/>
        </p:nvPicPr>
        <p:blipFill>
          <a:blip r:embed="rId3"/>
          <a:stretch>
            <a:fillRect/>
          </a:stretch>
        </p:blipFill>
        <p:spPr>
          <a:xfrm>
            <a:off x="4341571" y="2192731"/>
            <a:ext cx="460858" cy="460858"/>
          </a:xfrm>
          <a:prstGeom prst="rect">
            <a:avLst/>
          </a:prstGeom>
        </p:spPr>
      </p:pic>
      <p:sp>
        <p:nvSpPr>
          <p:cNvPr id="30" name="Text 25"/>
          <p:cNvSpPr/>
          <p:nvPr/>
        </p:nvSpPr>
        <p:spPr>
          <a:xfrm>
            <a:off x="3863340" y="2971800"/>
            <a:ext cx="1417320" cy="54864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Auto-deposit via DigiLocker</a:t>
            </a:r>
            <a:endParaRPr lang="en-US" sz="1200" dirty="0"/>
          </a:p>
        </p:txBody>
      </p:sp>
      <p:sp>
        <p:nvSpPr>
          <p:cNvPr id="31" name="Text 26"/>
          <p:cNvSpPr/>
          <p:nvPr/>
        </p:nvSpPr>
        <p:spPr>
          <a:xfrm>
            <a:off x="3863340" y="3566160"/>
            <a:ext cx="1417320" cy="45720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ABC ID: 123-456-789</a:t>
            </a:r>
            <a:endParaRPr lang="en-US" sz="950" dirty="0"/>
          </a:p>
        </p:txBody>
      </p:sp>
      <p:sp>
        <p:nvSpPr>
          <p:cNvPr id="32" name="Shape 27"/>
          <p:cNvSpPr/>
          <p:nvPr/>
        </p:nvSpPr>
        <p:spPr>
          <a:xfrm rot="5400000">
            <a:off x="5376672" y="2651760"/>
            <a:ext cx="128016" cy="182880"/>
          </a:xfrm>
          <a:prstGeom prst="rtTriangle">
            <a:avLst/>
          </a:prstGeom>
          <a:solidFill>
            <a:srgbClr val="F97316"/>
          </a:solidFill>
          <a:ln w="12700">
            <a:solidFill>
              <a:srgbClr val="F97316"/>
            </a:solidFill>
            <a:prstDash val="solid"/>
          </a:ln>
        </p:spPr>
      </p:sp>
      <p:sp>
        <p:nvSpPr>
          <p:cNvPr id="33" name="Shape 28"/>
          <p:cNvSpPr/>
          <p:nvPr/>
        </p:nvSpPr>
        <p:spPr>
          <a:xfrm>
            <a:off x="550926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4" name="Shape 29"/>
          <p:cNvSpPr/>
          <p:nvPr/>
        </p:nvSpPr>
        <p:spPr>
          <a:xfrm>
            <a:off x="5509260" y="1371600"/>
            <a:ext cx="1600200" cy="457200"/>
          </a:xfrm>
          <a:prstGeom prst="rect">
            <a:avLst/>
          </a:prstGeom>
          <a:solidFill>
            <a:srgbClr val="F97316"/>
          </a:solidFill>
          <a:ln w="12700">
            <a:solidFill>
              <a:srgbClr val="F97316"/>
            </a:solidFill>
            <a:prstDash val="solid"/>
          </a:ln>
        </p:spPr>
      </p:sp>
      <p:sp>
        <p:nvSpPr>
          <p:cNvPr id="35" name="Text 30"/>
          <p:cNvSpPr/>
          <p:nvPr/>
        </p:nvSpPr>
        <p:spPr>
          <a:xfrm>
            <a:off x="5600700" y="137160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Transferred</a:t>
            </a:r>
            <a:endParaRPr lang="en-US" sz="1100" dirty="0"/>
          </a:p>
        </p:txBody>
      </p:sp>
      <p:sp>
        <p:nvSpPr>
          <p:cNvPr id="36" name="Shape 31"/>
          <p:cNvSpPr/>
          <p:nvPr/>
        </p:nvSpPr>
        <p:spPr>
          <a:xfrm>
            <a:off x="5897880" y="2011680"/>
            <a:ext cx="822960" cy="822960"/>
          </a:xfrm>
          <a:prstGeom prst="ellipse">
            <a:avLst/>
          </a:prstGeom>
          <a:solidFill>
            <a:srgbClr val="F1F6FC"/>
          </a:solidFill>
          <a:ln w="12700">
            <a:solidFill>
              <a:srgbClr val="F1F6FC"/>
            </a:solidFill>
            <a:prstDash val="solid"/>
          </a:ln>
        </p:spPr>
      </p:sp>
      <p:pic>
        <p:nvPicPr>
          <p:cNvPr id="37" name="Image 3" descr="preencoded.png">    </p:cNvPr>
          <p:cNvPicPr>
            <a:picLocks noChangeAspect="1"/>
          </p:cNvPicPr>
          <p:nvPr/>
        </p:nvPicPr>
        <p:blipFill>
          <a:blip r:embed="rId4"/>
          <a:stretch>
            <a:fillRect/>
          </a:stretch>
        </p:blipFill>
        <p:spPr>
          <a:xfrm>
            <a:off x="6078931" y="2192731"/>
            <a:ext cx="460858" cy="460858"/>
          </a:xfrm>
          <a:prstGeom prst="rect">
            <a:avLst/>
          </a:prstGeom>
        </p:spPr>
      </p:pic>
      <p:sp>
        <p:nvSpPr>
          <p:cNvPr id="38" name="Text 32"/>
          <p:cNvSpPr/>
          <p:nvPr/>
        </p:nvSpPr>
        <p:spPr>
          <a:xfrm>
            <a:off x="5600700" y="2971800"/>
            <a:ext cx="1417320" cy="54864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Sent to University</a:t>
            </a:r>
            <a:endParaRPr lang="en-US" sz="1200" dirty="0"/>
          </a:p>
        </p:txBody>
      </p:sp>
      <p:sp>
        <p:nvSpPr>
          <p:cNvPr id="39" name="Text 33"/>
          <p:cNvSpPr/>
          <p:nvPr/>
        </p:nvSpPr>
        <p:spPr>
          <a:xfrm>
            <a:off x="5600700" y="3566160"/>
            <a:ext cx="1417320" cy="45720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Approved by academic council</a:t>
            </a:r>
            <a:endParaRPr lang="en-US" sz="950" dirty="0"/>
          </a:p>
        </p:txBody>
      </p:sp>
      <p:sp>
        <p:nvSpPr>
          <p:cNvPr id="40" name="Shape 34"/>
          <p:cNvSpPr/>
          <p:nvPr/>
        </p:nvSpPr>
        <p:spPr>
          <a:xfrm rot="5400000">
            <a:off x="7114032" y="2651760"/>
            <a:ext cx="128016" cy="182880"/>
          </a:xfrm>
          <a:prstGeom prst="rtTriangle">
            <a:avLst/>
          </a:prstGeom>
          <a:solidFill>
            <a:srgbClr val="F97316"/>
          </a:solidFill>
          <a:ln w="12700">
            <a:solidFill>
              <a:srgbClr val="F97316"/>
            </a:solidFill>
            <a:prstDash val="solid"/>
          </a:ln>
        </p:spPr>
      </p:sp>
      <p:sp>
        <p:nvSpPr>
          <p:cNvPr id="41" name="Shape 35"/>
          <p:cNvSpPr/>
          <p:nvPr/>
        </p:nvSpPr>
        <p:spPr>
          <a:xfrm>
            <a:off x="724662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42" name="Shape 36"/>
          <p:cNvSpPr/>
          <p:nvPr/>
        </p:nvSpPr>
        <p:spPr>
          <a:xfrm>
            <a:off x="7246620" y="1371600"/>
            <a:ext cx="1600200" cy="457200"/>
          </a:xfrm>
          <a:prstGeom prst="rect">
            <a:avLst/>
          </a:prstGeom>
          <a:solidFill>
            <a:srgbClr val="0B2A4A"/>
          </a:solidFill>
          <a:ln w="12700">
            <a:solidFill>
              <a:srgbClr val="0B2A4A"/>
            </a:solidFill>
            <a:prstDash val="solid"/>
          </a:ln>
        </p:spPr>
      </p:sp>
      <p:sp>
        <p:nvSpPr>
          <p:cNvPr id="43" name="Text 37"/>
          <p:cNvSpPr/>
          <p:nvPr/>
        </p:nvSpPr>
        <p:spPr>
          <a:xfrm>
            <a:off x="7338060" y="137160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On Transcript</a:t>
            </a:r>
            <a:endParaRPr lang="en-US" sz="1100" dirty="0"/>
          </a:p>
        </p:txBody>
      </p:sp>
      <p:sp>
        <p:nvSpPr>
          <p:cNvPr id="44" name="Shape 38"/>
          <p:cNvSpPr/>
          <p:nvPr/>
        </p:nvSpPr>
        <p:spPr>
          <a:xfrm>
            <a:off x="7635240" y="2011680"/>
            <a:ext cx="822960" cy="822960"/>
          </a:xfrm>
          <a:prstGeom prst="ellipse">
            <a:avLst/>
          </a:prstGeom>
          <a:solidFill>
            <a:srgbClr val="F1F6FC"/>
          </a:solidFill>
          <a:ln w="12700">
            <a:solidFill>
              <a:srgbClr val="F1F6FC"/>
            </a:solidFill>
            <a:prstDash val="solid"/>
          </a:ln>
        </p:spPr>
      </p:sp>
      <p:pic>
        <p:nvPicPr>
          <p:cNvPr id="45" name="Image 4" descr="preencoded.png">    </p:cNvPr>
          <p:cNvPicPr>
            <a:picLocks noChangeAspect="1"/>
          </p:cNvPicPr>
          <p:nvPr/>
        </p:nvPicPr>
        <p:blipFill>
          <a:blip r:embed="rId5"/>
          <a:stretch>
            <a:fillRect/>
          </a:stretch>
        </p:blipFill>
        <p:spPr>
          <a:xfrm>
            <a:off x="7816291" y="2192731"/>
            <a:ext cx="460858" cy="460858"/>
          </a:xfrm>
          <a:prstGeom prst="rect">
            <a:avLst/>
          </a:prstGeom>
        </p:spPr>
      </p:pic>
      <p:sp>
        <p:nvSpPr>
          <p:cNvPr id="46" name="Text 39"/>
          <p:cNvSpPr/>
          <p:nvPr/>
        </p:nvSpPr>
        <p:spPr>
          <a:xfrm>
            <a:off x="7338060" y="2971800"/>
            <a:ext cx="1417320" cy="54864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Counts in CGPA</a:t>
            </a:r>
            <a:endParaRPr lang="en-US" sz="1200" dirty="0"/>
          </a:p>
        </p:txBody>
      </p:sp>
      <p:sp>
        <p:nvSpPr>
          <p:cNvPr id="47" name="Text 40"/>
          <p:cNvSpPr/>
          <p:nvPr/>
        </p:nvSpPr>
        <p:spPr>
          <a:xfrm>
            <a:off x="7338060" y="3566160"/>
            <a:ext cx="1417320" cy="45720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Reduces credit load</a:t>
            </a:r>
            <a:endParaRPr lang="en-US" sz="950" dirty="0"/>
          </a:p>
        </p:txBody>
      </p:sp>
      <p:sp>
        <p:nvSpPr>
          <p:cNvPr id="48" name="Text 41"/>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200" b="1" i="1" dirty="0">
                <a:solidFill>
                  <a:srgbClr val="F97316"/>
                </a:solidFill>
                <a:latin typeface="Segoe UI" pitchFamily="34" charset="0"/>
                <a:ea typeface="Segoe UI" pitchFamily="34" charset="-122"/>
                <a:cs typeface="Segoe UI" pitchFamily="34" charset="-120"/>
              </a:rPr>
              <a:t>Result: 3 credits reduce your on-campus load — same degree, more skills.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YOUR COLLEGE'S SPOC</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Local Chapter Benefits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22</a:t>
            </a:r>
            <a:endParaRPr lang="en-US" sz="900" dirty="0"/>
          </a:p>
        </p:txBody>
      </p:sp>
      <p:sp>
        <p:nvSpPr>
          <p:cNvPr id="9" name="Shape 7"/>
          <p:cNvSpPr/>
          <p:nvPr/>
        </p:nvSpPr>
        <p:spPr>
          <a:xfrm>
            <a:off x="45720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640080" y="1645920"/>
            <a:ext cx="822960" cy="822960"/>
          </a:xfrm>
          <a:prstGeom prst="ellipse">
            <a:avLst/>
          </a:prstGeom>
          <a:solidFill>
            <a:srgbClr val="FFFFFF"/>
          </a:solidFill>
          <a:ln w="12700">
            <a:solidFill>
              <a:srgbClr val="FFFFFF"/>
            </a:solidFill>
            <a:prstDash val="solid"/>
          </a:ln>
        </p:spPr>
      </p:sp>
      <p:pic>
        <p:nvPicPr>
          <p:cNvPr id="11" name="Image 0" descr="preencoded.png">    </p:cNvPr>
          <p:cNvPicPr>
            <a:picLocks noChangeAspect="1"/>
          </p:cNvPicPr>
          <p:nvPr/>
        </p:nvPicPr>
        <p:blipFill>
          <a:blip r:embed="rId1"/>
          <a:stretch>
            <a:fillRect/>
          </a:stretch>
        </p:blipFill>
        <p:spPr>
          <a:xfrm>
            <a:off x="821131" y="1826971"/>
            <a:ext cx="460858" cy="460858"/>
          </a:xfrm>
          <a:prstGeom prst="rect">
            <a:avLst/>
          </a:prstGeom>
        </p:spPr>
      </p:pic>
      <p:sp>
        <p:nvSpPr>
          <p:cNvPr id="12" name="Text 9"/>
          <p:cNvSpPr/>
          <p:nvPr/>
        </p:nvSpPr>
        <p:spPr>
          <a:xfrm>
            <a:off x="1600200" y="160020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Exam Center Nearby</a:t>
            </a:r>
            <a:endParaRPr lang="en-US" sz="1300" dirty="0"/>
          </a:p>
        </p:txBody>
      </p:sp>
      <p:sp>
        <p:nvSpPr>
          <p:cNvPr id="13" name="Text 10"/>
          <p:cNvSpPr/>
          <p:nvPr/>
        </p:nvSpPr>
        <p:spPr>
          <a:xfrm>
            <a:off x="1600200" y="2011680"/>
            <a:ext cx="141732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College becomes exam venue.</a:t>
            </a:r>
            <a:endParaRPr lang="en-US" sz="1050" dirty="0"/>
          </a:p>
        </p:txBody>
      </p:sp>
      <p:sp>
        <p:nvSpPr>
          <p:cNvPr id="14" name="Shape 11"/>
          <p:cNvSpPr/>
          <p:nvPr/>
        </p:nvSpPr>
        <p:spPr>
          <a:xfrm>
            <a:off x="324612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5" name="Shape 12"/>
          <p:cNvSpPr/>
          <p:nvPr/>
        </p:nvSpPr>
        <p:spPr>
          <a:xfrm>
            <a:off x="3429000" y="1645920"/>
            <a:ext cx="822960" cy="822960"/>
          </a:xfrm>
          <a:prstGeom prst="ellipse">
            <a:avLst/>
          </a:prstGeom>
          <a:solidFill>
            <a:srgbClr val="FFFFFF"/>
          </a:solidFill>
          <a:ln w="12700">
            <a:solidFill>
              <a:srgbClr val="FFFFFF"/>
            </a:solidFill>
            <a:prstDash val="solid"/>
          </a:ln>
        </p:spPr>
      </p:sp>
      <p:pic>
        <p:nvPicPr>
          <p:cNvPr id="16" name="Image 1" descr="preencoded.png">    </p:cNvPr>
          <p:cNvPicPr>
            <a:picLocks noChangeAspect="1"/>
          </p:cNvPicPr>
          <p:nvPr/>
        </p:nvPicPr>
        <p:blipFill>
          <a:blip r:embed="rId2"/>
          <a:stretch>
            <a:fillRect/>
          </a:stretch>
        </p:blipFill>
        <p:spPr>
          <a:xfrm>
            <a:off x="3610051" y="1826971"/>
            <a:ext cx="460858" cy="460858"/>
          </a:xfrm>
          <a:prstGeom prst="rect">
            <a:avLst/>
          </a:prstGeom>
        </p:spPr>
      </p:pic>
      <p:sp>
        <p:nvSpPr>
          <p:cNvPr id="17" name="Text 13"/>
          <p:cNvSpPr/>
          <p:nvPr/>
        </p:nvSpPr>
        <p:spPr>
          <a:xfrm>
            <a:off x="4389120" y="160020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Exam Fee Reimbursement</a:t>
            </a:r>
            <a:endParaRPr lang="en-US" sz="1300" dirty="0"/>
          </a:p>
        </p:txBody>
      </p:sp>
      <p:sp>
        <p:nvSpPr>
          <p:cNvPr id="18" name="Text 14"/>
          <p:cNvSpPr/>
          <p:nvPr/>
        </p:nvSpPr>
        <p:spPr>
          <a:xfrm>
            <a:off x="4389120" y="2011680"/>
            <a:ext cx="141732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For top scorers.</a:t>
            </a:r>
            <a:endParaRPr lang="en-US" sz="1050" dirty="0"/>
          </a:p>
        </p:txBody>
      </p:sp>
      <p:sp>
        <p:nvSpPr>
          <p:cNvPr id="19" name="Shape 15"/>
          <p:cNvSpPr/>
          <p:nvPr/>
        </p:nvSpPr>
        <p:spPr>
          <a:xfrm>
            <a:off x="603504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0" name="Shape 16"/>
          <p:cNvSpPr/>
          <p:nvPr/>
        </p:nvSpPr>
        <p:spPr>
          <a:xfrm>
            <a:off x="6217920" y="1645920"/>
            <a:ext cx="822960" cy="822960"/>
          </a:xfrm>
          <a:prstGeom prst="ellipse">
            <a:avLst/>
          </a:prstGeom>
          <a:solidFill>
            <a:srgbClr val="FFFFFF"/>
          </a:solidFill>
          <a:ln w="12700">
            <a:solidFill>
              <a:srgbClr val="FFFFFF"/>
            </a:solidFill>
            <a:prstDash val="solid"/>
          </a:ln>
        </p:spPr>
      </p:sp>
      <p:pic>
        <p:nvPicPr>
          <p:cNvPr id="21" name="Image 2" descr="preencoded.png">    </p:cNvPr>
          <p:cNvPicPr>
            <a:picLocks noChangeAspect="1"/>
          </p:cNvPicPr>
          <p:nvPr/>
        </p:nvPicPr>
        <p:blipFill>
          <a:blip r:embed="rId3"/>
          <a:stretch>
            <a:fillRect/>
          </a:stretch>
        </p:blipFill>
        <p:spPr>
          <a:xfrm>
            <a:off x="6398971" y="1826971"/>
            <a:ext cx="460858" cy="460858"/>
          </a:xfrm>
          <a:prstGeom prst="rect">
            <a:avLst/>
          </a:prstGeom>
        </p:spPr>
      </p:pic>
      <p:sp>
        <p:nvSpPr>
          <p:cNvPr id="22" name="Text 17"/>
          <p:cNvSpPr/>
          <p:nvPr/>
        </p:nvSpPr>
        <p:spPr>
          <a:xfrm>
            <a:off x="7178040" y="160020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Recognition &amp; Awards</a:t>
            </a:r>
            <a:endParaRPr lang="en-US" sz="1300" dirty="0"/>
          </a:p>
        </p:txBody>
      </p:sp>
      <p:sp>
        <p:nvSpPr>
          <p:cNvPr id="23" name="Text 18"/>
          <p:cNvSpPr/>
          <p:nvPr/>
        </p:nvSpPr>
        <p:spPr>
          <a:xfrm>
            <a:off x="7178040" y="2011680"/>
            <a:ext cx="141732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Star performers, star colleges.</a:t>
            </a:r>
            <a:endParaRPr lang="en-US" sz="1050" dirty="0"/>
          </a:p>
        </p:txBody>
      </p:sp>
      <p:sp>
        <p:nvSpPr>
          <p:cNvPr id="24" name="Shape 19"/>
          <p:cNvSpPr/>
          <p:nvPr/>
        </p:nvSpPr>
        <p:spPr>
          <a:xfrm>
            <a:off x="45720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5" name="Shape 20"/>
          <p:cNvSpPr/>
          <p:nvPr/>
        </p:nvSpPr>
        <p:spPr>
          <a:xfrm>
            <a:off x="640080" y="3200400"/>
            <a:ext cx="822960" cy="822960"/>
          </a:xfrm>
          <a:prstGeom prst="ellipse">
            <a:avLst/>
          </a:prstGeom>
          <a:solidFill>
            <a:srgbClr val="FFFFFF"/>
          </a:solidFill>
          <a:ln w="12700">
            <a:solidFill>
              <a:srgbClr val="FFFFFF"/>
            </a:solidFill>
            <a:prstDash val="solid"/>
          </a:ln>
        </p:spPr>
      </p:sp>
      <p:pic>
        <p:nvPicPr>
          <p:cNvPr id="26" name="Image 3" descr="preencoded.png">    </p:cNvPr>
          <p:cNvPicPr>
            <a:picLocks noChangeAspect="1"/>
          </p:cNvPicPr>
          <p:nvPr/>
        </p:nvPicPr>
        <p:blipFill>
          <a:blip r:embed="rId4"/>
          <a:stretch>
            <a:fillRect/>
          </a:stretch>
        </p:blipFill>
        <p:spPr>
          <a:xfrm>
            <a:off x="821131" y="3381451"/>
            <a:ext cx="460858" cy="460858"/>
          </a:xfrm>
          <a:prstGeom prst="rect">
            <a:avLst/>
          </a:prstGeom>
        </p:spPr>
      </p:pic>
      <p:sp>
        <p:nvSpPr>
          <p:cNvPr id="27" name="Text 21"/>
          <p:cNvSpPr/>
          <p:nvPr/>
        </p:nvSpPr>
        <p:spPr>
          <a:xfrm>
            <a:off x="1600200" y="315468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Faculty Mentorship</a:t>
            </a:r>
            <a:endParaRPr lang="en-US" sz="1300" dirty="0"/>
          </a:p>
        </p:txBody>
      </p:sp>
      <p:sp>
        <p:nvSpPr>
          <p:cNvPr id="28" name="Text 22"/>
          <p:cNvSpPr/>
          <p:nvPr/>
        </p:nvSpPr>
        <p:spPr>
          <a:xfrm>
            <a:off x="1600200" y="3566160"/>
            <a:ext cx="141732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SPOC guides you weekly.</a:t>
            </a:r>
            <a:endParaRPr lang="en-US" sz="1050" dirty="0"/>
          </a:p>
        </p:txBody>
      </p:sp>
      <p:sp>
        <p:nvSpPr>
          <p:cNvPr id="29" name="Shape 23"/>
          <p:cNvSpPr/>
          <p:nvPr/>
        </p:nvSpPr>
        <p:spPr>
          <a:xfrm>
            <a:off x="324612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0" name="Shape 24"/>
          <p:cNvSpPr/>
          <p:nvPr/>
        </p:nvSpPr>
        <p:spPr>
          <a:xfrm>
            <a:off x="3429000" y="3200400"/>
            <a:ext cx="822960" cy="822960"/>
          </a:xfrm>
          <a:prstGeom prst="ellipse">
            <a:avLst/>
          </a:prstGeom>
          <a:solidFill>
            <a:srgbClr val="FFFFFF"/>
          </a:solidFill>
          <a:ln w="12700">
            <a:solidFill>
              <a:srgbClr val="FFFFFF"/>
            </a:solidFill>
            <a:prstDash val="solid"/>
          </a:ln>
        </p:spPr>
      </p:sp>
      <p:pic>
        <p:nvPicPr>
          <p:cNvPr id="31" name="Image 4" descr="preencoded.png">    </p:cNvPr>
          <p:cNvPicPr>
            <a:picLocks noChangeAspect="1"/>
          </p:cNvPicPr>
          <p:nvPr/>
        </p:nvPicPr>
        <p:blipFill>
          <a:blip r:embed="rId5"/>
          <a:stretch>
            <a:fillRect/>
          </a:stretch>
        </p:blipFill>
        <p:spPr>
          <a:xfrm>
            <a:off x="3610051" y="3381451"/>
            <a:ext cx="460858" cy="460858"/>
          </a:xfrm>
          <a:prstGeom prst="rect">
            <a:avLst/>
          </a:prstGeom>
        </p:spPr>
      </p:pic>
      <p:sp>
        <p:nvSpPr>
          <p:cNvPr id="32" name="Text 25"/>
          <p:cNvSpPr/>
          <p:nvPr/>
        </p:nvSpPr>
        <p:spPr>
          <a:xfrm>
            <a:off x="4389120" y="315468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Industry Interactions</a:t>
            </a:r>
            <a:endParaRPr lang="en-US" sz="1300" dirty="0"/>
          </a:p>
        </p:txBody>
      </p:sp>
      <p:sp>
        <p:nvSpPr>
          <p:cNvPr id="33" name="Text 26"/>
          <p:cNvSpPr/>
          <p:nvPr/>
        </p:nvSpPr>
        <p:spPr>
          <a:xfrm>
            <a:off x="4389120" y="3566160"/>
            <a:ext cx="141732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Webinars, mentor sessions.</a:t>
            </a:r>
            <a:endParaRPr lang="en-US" sz="1050" dirty="0"/>
          </a:p>
        </p:txBody>
      </p:sp>
      <p:sp>
        <p:nvSpPr>
          <p:cNvPr id="34" name="Shape 27"/>
          <p:cNvSpPr/>
          <p:nvPr/>
        </p:nvSpPr>
        <p:spPr>
          <a:xfrm>
            <a:off x="603504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5" name="Shape 28"/>
          <p:cNvSpPr/>
          <p:nvPr/>
        </p:nvSpPr>
        <p:spPr>
          <a:xfrm>
            <a:off x="6217920" y="3200400"/>
            <a:ext cx="822960" cy="822960"/>
          </a:xfrm>
          <a:prstGeom prst="ellipse">
            <a:avLst/>
          </a:prstGeom>
          <a:solidFill>
            <a:srgbClr val="FFFFFF"/>
          </a:solidFill>
          <a:ln w="12700">
            <a:solidFill>
              <a:srgbClr val="FFFFFF"/>
            </a:solidFill>
            <a:prstDash val="solid"/>
          </a:ln>
        </p:spPr>
      </p:sp>
      <p:pic>
        <p:nvPicPr>
          <p:cNvPr id="36" name="Image 5" descr="preencoded.png">    </p:cNvPr>
          <p:cNvPicPr>
            <a:picLocks noChangeAspect="1"/>
          </p:cNvPicPr>
          <p:nvPr/>
        </p:nvPicPr>
        <p:blipFill>
          <a:blip r:embed="rId6"/>
          <a:stretch>
            <a:fillRect/>
          </a:stretch>
        </p:blipFill>
        <p:spPr>
          <a:xfrm>
            <a:off x="6398971" y="3381451"/>
            <a:ext cx="460858" cy="460858"/>
          </a:xfrm>
          <a:prstGeom prst="rect">
            <a:avLst/>
          </a:prstGeom>
        </p:spPr>
      </p:pic>
      <p:sp>
        <p:nvSpPr>
          <p:cNvPr id="37" name="Text 29"/>
          <p:cNvSpPr/>
          <p:nvPr/>
        </p:nvSpPr>
        <p:spPr>
          <a:xfrm>
            <a:off x="7178040" y="315468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Placement Advantage</a:t>
            </a:r>
            <a:endParaRPr lang="en-US" sz="1300" dirty="0"/>
          </a:p>
        </p:txBody>
      </p:sp>
      <p:sp>
        <p:nvSpPr>
          <p:cNvPr id="38" name="Text 30"/>
          <p:cNvSpPr/>
          <p:nvPr/>
        </p:nvSpPr>
        <p:spPr>
          <a:xfrm>
            <a:off x="7178040" y="3566160"/>
            <a:ext cx="141732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Priority in campus drives.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COMPOUND YOUR EDGE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Why Earn Credits Every Semester?</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23</a:t>
            </a:r>
            <a:endParaRPr lang="en-US" sz="900" dirty="0"/>
          </a:p>
        </p:txBody>
      </p:sp>
      <p:sp>
        <p:nvSpPr>
          <p:cNvPr id="9" name="Shape 7"/>
          <p:cNvSpPr/>
          <p:nvPr/>
        </p:nvSpPr>
        <p:spPr>
          <a:xfrm>
            <a:off x="1531620" y="1280160"/>
            <a:ext cx="3108960" cy="640080"/>
          </a:xfrm>
          <a:prstGeom prst="roundRect">
            <a:avLst>
              <a:gd name="adj" fmla="val 8571"/>
            </a:avLst>
          </a:prstGeom>
          <a:solidFill>
            <a:srgbClr val="FFFFFF"/>
          </a:solidFill>
          <a:ln w="5080">
            <a:solidFill>
              <a:srgbClr val="E5E7EB"/>
            </a:solidFill>
            <a:prstDash val="solid"/>
          </a:ln>
        </p:spPr>
      </p:sp>
      <p:sp>
        <p:nvSpPr>
          <p:cNvPr id="10" name="Shape 8"/>
          <p:cNvSpPr/>
          <p:nvPr/>
        </p:nvSpPr>
        <p:spPr>
          <a:xfrm>
            <a:off x="1623060" y="1371600"/>
            <a:ext cx="457200" cy="457200"/>
          </a:xfrm>
          <a:prstGeom prst="ellipse">
            <a:avLst/>
          </a:prstGeom>
          <a:solidFill>
            <a:srgbClr val="E8F1FB"/>
          </a:solidFill>
          <a:ln w="12700">
            <a:solidFill>
              <a:srgbClr val="E8F1FB"/>
            </a:solidFill>
            <a:prstDash val="solid"/>
          </a:ln>
        </p:spPr>
      </p:sp>
      <p:pic>
        <p:nvPicPr>
          <p:cNvPr id="11" name="Image 0" descr="preencoded.png">    </p:cNvPr>
          <p:cNvPicPr>
            <a:picLocks noChangeAspect="1"/>
          </p:cNvPicPr>
          <p:nvPr/>
        </p:nvPicPr>
        <p:blipFill>
          <a:blip r:embed="rId1"/>
          <a:stretch>
            <a:fillRect/>
          </a:stretch>
        </p:blipFill>
        <p:spPr>
          <a:xfrm>
            <a:off x="1723644" y="1472184"/>
            <a:ext cx="256032" cy="256032"/>
          </a:xfrm>
          <a:prstGeom prst="rect">
            <a:avLst/>
          </a:prstGeom>
        </p:spPr>
      </p:pic>
      <p:sp>
        <p:nvSpPr>
          <p:cNvPr id="12" name="Text 9"/>
          <p:cNvSpPr/>
          <p:nvPr/>
        </p:nvSpPr>
        <p:spPr>
          <a:xfrm>
            <a:off x="2171700" y="132588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Resume Building</a:t>
            </a:r>
            <a:endParaRPr lang="en-US" sz="1150" dirty="0"/>
          </a:p>
        </p:txBody>
      </p:sp>
      <p:sp>
        <p:nvSpPr>
          <p:cNvPr id="13" name="Text 10"/>
          <p:cNvSpPr/>
          <p:nvPr/>
        </p:nvSpPr>
        <p:spPr>
          <a:xfrm>
            <a:off x="2171700" y="160020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Stand out from 100+ candidates.</a:t>
            </a:r>
            <a:endParaRPr lang="en-US" sz="950" dirty="0"/>
          </a:p>
        </p:txBody>
      </p:sp>
      <p:sp>
        <p:nvSpPr>
          <p:cNvPr id="14" name="Shape 11"/>
          <p:cNvSpPr/>
          <p:nvPr/>
        </p:nvSpPr>
        <p:spPr>
          <a:xfrm>
            <a:off x="4320540" y="1280160"/>
            <a:ext cx="3108960" cy="640080"/>
          </a:xfrm>
          <a:prstGeom prst="roundRect">
            <a:avLst>
              <a:gd name="adj" fmla="val 8571"/>
            </a:avLst>
          </a:prstGeom>
          <a:solidFill>
            <a:srgbClr val="FFFFFF"/>
          </a:solidFill>
          <a:ln w="5080">
            <a:solidFill>
              <a:srgbClr val="E5E7EB"/>
            </a:solidFill>
            <a:prstDash val="solid"/>
          </a:ln>
        </p:spPr>
      </p:sp>
      <p:sp>
        <p:nvSpPr>
          <p:cNvPr id="15" name="Shape 12"/>
          <p:cNvSpPr/>
          <p:nvPr/>
        </p:nvSpPr>
        <p:spPr>
          <a:xfrm>
            <a:off x="4411980" y="1371600"/>
            <a:ext cx="457200" cy="457200"/>
          </a:xfrm>
          <a:prstGeom prst="ellipse">
            <a:avLst/>
          </a:prstGeom>
          <a:solidFill>
            <a:srgbClr val="E8F1FB"/>
          </a:solidFill>
          <a:ln w="12700">
            <a:solidFill>
              <a:srgbClr val="E8F1FB"/>
            </a:solidFill>
            <a:prstDash val="solid"/>
          </a:ln>
        </p:spPr>
      </p:sp>
      <p:pic>
        <p:nvPicPr>
          <p:cNvPr id="16" name="Image 1" descr="preencoded.png">    </p:cNvPr>
          <p:cNvPicPr>
            <a:picLocks noChangeAspect="1"/>
          </p:cNvPicPr>
          <p:nvPr/>
        </p:nvPicPr>
        <p:blipFill>
          <a:blip r:embed="rId2"/>
          <a:stretch>
            <a:fillRect/>
          </a:stretch>
        </p:blipFill>
        <p:spPr>
          <a:xfrm>
            <a:off x="4512564" y="1472184"/>
            <a:ext cx="256032" cy="256032"/>
          </a:xfrm>
          <a:prstGeom prst="rect">
            <a:avLst/>
          </a:prstGeom>
        </p:spPr>
      </p:pic>
      <p:sp>
        <p:nvSpPr>
          <p:cNvPr id="17" name="Text 13"/>
          <p:cNvSpPr/>
          <p:nvPr/>
        </p:nvSpPr>
        <p:spPr>
          <a:xfrm>
            <a:off x="4960620" y="132588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Placement Preparation</a:t>
            </a:r>
            <a:endParaRPr lang="en-US" sz="1150" dirty="0"/>
          </a:p>
        </p:txBody>
      </p:sp>
      <p:sp>
        <p:nvSpPr>
          <p:cNvPr id="18" name="Text 14"/>
          <p:cNvSpPr/>
          <p:nvPr/>
        </p:nvSpPr>
        <p:spPr>
          <a:xfrm>
            <a:off x="4960620" y="160020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Recruiters recognize NPTEL brand.</a:t>
            </a:r>
            <a:endParaRPr lang="en-US" sz="950" dirty="0"/>
          </a:p>
        </p:txBody>
      </p:sp>
      <p:sp>
        <p:nvSpPr>
          <p:cNvPr id="19" name="Shape 15"/>
          <p:cNvSpPr/>
          <p:nvPr/>
        </p:nvSpPr>
        <p:spPr>
          <a:xfrm>
            <a:off x="1531620" y="2011680"/>
            <a:ext cx="3108960" cy="640080"/>
          </a:xfrm>
          <a:prstGeom prst="roundRect">
            <a:avLst>
              <a:gd name="adj" fmla="val 8571"/>
            </a:avLst>
          </a:prstGeom>
          <a:solidFill>
            <a:srgbClr val="FFFFFF"/>
          </a:solidFill>
          <a:ln w="5080">
            <a:solidFill>
              <a:srgbClr val="E5E7EB"/>
            </a:solidFill>
            <a:prstDash val="solid"/>
          </a:ln>
        </p:spPr>
      </p:sp>
      <p:sp>
        <p:nvSpPr>
          <p:cNvPr id="20" name="Shape 16"/>
          <p:cNvSpPr/>
          <p:nvPr/>
        </p:nvSpPr>
        <p:spPr>
          <a:xfrm>
            <a:off x="1623060" y="2103120"/>
            <a:ext cx="457200" cy="457200"/>
          </a:xfrm>
          <a:prstGeom prst="ellipse">
            <a:avLst/>
          </a:prstGeom>
          <a:solidFill>
            <a:srgbClr val="E8F1FB"/>
          </a:solidFill>
          <a:ln w="12700">
            <a:solidFill>
              <a:srgbClr val="E8F1FB"/>
            </a:solidFill>
            <a:prstDash val="solid"/>
          </a:ln>
        </p:spPr>
      </p:sp>
      <p:pic>
        <p:nvPicPr>
          <p:cNvPr id="21" name="Image 2" descr="preencoded.png">    </p:cNvPr>
          <p:cNvPicPr>
            <a:picLocks noChangeAspect="1"/>
          </p:cNvPicPr>
          <p:nvPr/>
        </p:nvPicPr>
        <p:blipFill>
          <a:blip r:embed="rId3"/>
          <a:stretch>
            <a:fillRect/>
          </a:stretch>
        </p:blipFill>
        <p:spPr>
          <a:xfrm>
            <a:off x="1723644" y="2203704"/>
            <a:ext cx="256032" cy="256032"/>
          </a:xfrm>
          <a:prstGeom prst="rect">
            <a:avLst/>
          </a:prstGeom>
        </p:spPr>
      </p:pic>
      <p:sp>
        <p:nvSpPr>
          <p:cNvPr id="22" name="Text 17"/>
          <p:cNvSpPr/>
          <p:nvPr/>
        </p:nvSpPr>
        <p:spPr>
          <a:xfrm>
            <a:off x="2171700" y="205740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Higher Studies</a:t>
            </a:r>
            <a:endParaRPr lang="en-US" sz="1150" dirty="0"/>
          </a:p>
        </p:txBody>
      </p:sp>
      <p:sp>
        <p:nvSpPr>
          <p:cNvPr id="23" name="Text 18"/>
          <p:cNvSpPr/>
          <p:nvPr/>
        </p:nvSpPr>
        <p:spPr>
          <a:xfrm>
            <a:off x="2171700" y="233172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M.Tech, MS, MBA admissions edge.</a:t>
            </a:r>
            <a:endParaRPr lang="en-US" sz="950" dirty="0"/>
          </a:p>
        </p:txBody>
      </p:sp>
      <p:sp>
        <p:nvSpPr>
          <p:cNvPr id="24" name="Shape 19"/>
          <p:cNvSpPr/>
          <p:nvPr/>
        </p:nvSpPr>
        <p:spPr>
          <a:xfrm>
            <a:off x="4320540" y="2011680"/>
            <a:ext cx="3108960" cy="640080"/>
          </a:xfrm>
          <a:prstGeom prst="roundRect">
            <a:avLst>
              <a:gd name="adj" fmla="val 8571"/>
            </a:avLst>
          </a:prstGeom>
          <a:solidFill>
            <a:srgbClr val="FFFFFF"/>
          </a:solidFill>
          <a:ln w="5080">
            <a:solidFill>
              <a:srgbClr val="E5E7EB"/>
            </a:solidFill>
            <a:prstDash val="solid"/>
          </a:ln>
        </p:spPr>
      </p:sp>
      <p:sp>
        <p:nvSpPr>
          <p:cNvPr id="25" name="Shape 20"/>
          <p:cNvSpPr/>
          <p:nvPr/>
        </p:nvSpPr>
        <p:spPr>
          <a:xfrm>
            <a:off x="4411980" y="2103120"/>
            <a:ext cx="457200" cy="457200"/>
          </a:xfrm>
          <a:prstGeom prst="ellipse">
            <a:avLst/>
          </a:prstGeom>
          <a:solidFill>
            <a:srgbClr val="E8F1FB"/>
          </a:solidFill>
          <a:ln w="12700">
            <a:solidFill>
              <a:srgbClr val="E8F1FB"/>
            </a:solidFill>
            <a:prstDash val="solid"/>
          </a:ln>
        </p:spPr>
      </p:sp>
      <p:pic>
        <p:nvPicPr>
          <p:cNvPr id="26" name="Image 3" descr="preencoded.png">    </p:cNvPr>
          <p:cNvPicPr>
            <a:picLocks noChangeAspect="1"/>
          </p:cNvPicPr>
          <p:nvPr/>
        </p:nvPicPr>
        <p:blipFill>
          <a:blip r:embed="rId4"/>
          <a:stretch>
            <a:fillRect/>
          </a:stretch>
        </p:blipFill>
        <p:spPr>
          <a:xfrm>
            <a:off x="4512564" y="2203704"/>
            <a:ext cx="256032" cy="256032"/>
          </a:xfrm>
          <a:prstGeom prst="rect">
            <a:avLst/>
          </a:prstGeom>
        </p:spPr>
      </p:pic>
      <p:sp>
        <p:nvSpPr>
          <p:cNvPr id="27" name="Text 21"/>
          <p:cNvSpPr/>
          <p:nvPr/>
        </p:nvSpPr>
        <p:spPr>
          <a:xfrm>
            <a:off x="4960620" y="205740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GATE Preparation</a:t>
            </a:r>
            <a:endParaRPr lang="en-US" sz="1150" dirty="0"/>
          </a:p>
        </p:txBody>
      </p:sp>
      <p:sp>
        <p:nvSpPr>
          <p:cNvPr id="28" name="Text 22"/>
          <p:cNvSpPr/>
          <p:nvPr/>
        </p:nvSpPr>
        <p:spPr>
          <a:xfrm>
            <a:off x="4960620" y="233172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Same syllabus, IIT faculty.</a:t>
            </a:r>
            <a:endParaRPr lang="en-US" sz="950" dirty="0"/>
          </a:p>
        </p:txBody>
      </p:sp>
      <p:sp>
        <p:nvSpPr>
          <p:cNvPr id="29" name="Shape 23"/>
          <p:cNvSpPr/>
          <p:nvPr/>
        </p:nvSpPr>
        <p:spPr>
          <a:xfrm>
            <a:off x="1531620" y="2743200"/>
            <a:ext cx="3108960" cy="640080"/>
          </a:xfrm>
          <a:prstGeom prst="roundRect">
            <a:avLst>
              <a:gd name="adj" fmla="val 8571"/>
            </a:avLst>
          </a:prstGeom>
          <a:solidFill>
            <a:srgbClr val="FFFFFF"/>
          </a:solidFill>
          <a:ln w="5080">
            <a:solidFill>
              <a:srgbClr val="E5E7EB"/>
            </a:solidFill>
            <a:prstDash val="solid"/>
          </a:ln>
        </p:spPr>
      </p:sp>
      <p:sp>
        <p:nvSpPr>
          <p:cNvPr id="30" name="Shape 24"/>
          <p:cNvSpPr/>
          <p:nvPr/>
        </p:nvSpPr>
        <p:spPr>
          <a:xfrm>
            <a:off x="1623060" y="2834640"/>
            <a:ext cx="457200" cy="457200"/>
          </a:xfrm>
          <a:prstGeom prst="ellipse">
            <a:avLst/>
          </a:prstGeom>
          <a:solidFill>
            <a:srgbClr val="E8F1FB"/>
          </a:solidFill>
          <a:ln w="12700">
            <a:solidFill>
              <a:srgbClr val="E8F1FB"/>
            </a:solidFill>
            <a:prstDash val="solid"/>
          </a:ln>
        </p:spPr>
      </p:sp>
      <p:pic>
        <p:nvPicPr>
          <p:cNvPr id="31" name="Image 4" descr="preencoded.png">    </p:cNvPr>
          <p:cNvPicPr>
            <a:picLocks noChangeAspect="1"/>
          </p:cNvPicPr>
          <p:nvPr/>
        </p:nvPicPr>
        <p:blipFill>
          <a:blip r:embed="rId5"/>
          <a:stretch>
            <a:fillRect/>
          </a:stretch>
        </p:blipFill>
        <p:spPr>
          <a:xfrm>
            <a:off x="1723644" y="2935224"/>
            <a:ext cx="256032" cy="256032"/>
          </a:xfrm>
          <a:prstGeom prst="rect">
            <a:avLst/>
          </a:prstGeom>
        </p:spPr>
      </p:pic>
      <p:sp>
        <p:nvSpPr>
          <p:cNvPr id="32" name="Text 25"/>
          <p:cNvSpPr/>
          <p:nvPr/>
        </p:nvSpPr>
        <p:spPr>
          <a:xfrm>
            <a:off x="2171700" y="278892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Interview Preparation</a:t>
            </a:r>
            <a:endParaRPr lang="en-US" sz="1150" dirty="0"/>
          </a:p>
        </p:txBody>
      </p:sp>
      <p:sp>
        <p:nvSpPr>
          <p:cNvPr id="33" name="Text 26"/>
          <p:cNvSpPr/>
          <p:nvPr/>
        </p:nvSpPr>
        <p:spPr>
          <a:xfrm>
            <a:off x="2171700" y="306324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Deep concept clarity.</a:t>
            </a:r>
            <a:endParaRPr lang="en-US" sz="950" dirty="0"/>
          </a:p>
        </p:txBody>
      </p:sp>
      <p:sp>
        <p:nvSpPr>
          <p:cNvPr id="34" name="Shape 27"/>
          <p:cNvSpPr/>
          <p:nvPr/>
        </p:nvSpPr>
        <p:spPr>
          <a:xfrm>
            <a:off x="4320540" y="2743200"/>
            <a:ext cx="3108960" cy="640080"/>
          </a:xfrm>
          <a:prstGeom prst="roundRect">
            <a:avLst>
              <a:gd name="adj" fmla="val 8571"/>
            </a:avLst>
          </a:prstGeom>
          <a:solidFill>
            <a:srgbClr val="FFFFFF"/>
          </a:solidFill>
          <a:ln w="5080">
            <a:solidFill>
              <a:srgbClr val="E5E7EB"/>
            </a:solidFill>
            <a:prstDash val="solid"/>
          </a:ln>
        </p:spPr>
      </p:sp>
      <p:sp>
        <p:nvSpPr>
          <p:cNvPr id="35" name="Shape 28"/>
          <p:cNvSpPr/>
          <p:nvPr/>
        </p:nvSpPr>
        <p:spPr>
          <a:xfrm>
            <a:off x="4411980" y="2834640"/>
            <a:ext cx="457200" cy="457200"/>
          </a:xfrm>
          <a:prstGeom prst="ellipse">
            <a:avLst/>
          </a:prstGeom>
          <a:solidFill>
            <a:srgbClr val="E8F1FB"/>
          </a:solidFill>
          <a:ln w="12700">
            <a:solidFill>
              <a:srgbClr val="E8F1FB"/>
            </a:solidFill>
            <a:prstDash val="solid"/>
          </a:ln>
        </p:spPr>
      </p:sp>
      <p:pic>
        <p:nvPicPr>
          <p:cNvPr id="36" name="Image 5" descr="preencoded.png">    </p:cNvPr>
          <p:cNvPicPr>
            <a:picLocks noChangeAspect="1"/>
          </p:cNvPicPr>
          <p:nvPr/>
        </p:nvPicPr>
        <p:blipFill>
          <a:blip r:embed="rId6"/>
          <a:stretch>
            <a:fillRect/>
          </a:stretch>
        </p:blipFill>
        <p:spPr>
          <a:xfrm>
            <a:off x="4512564" y="2935224"/>
            <a:ext cx="256032" cy="256032"/>
          </a:xfrm>
          <a:prstGeom prst="rect">
            <a:avLst/>
          </a:prstGeom>
        </p:spPr>
      </p:pic>
      <p:sp>
        <p:nvSpPr>
          <p:cNvPr id="37" name="Text 29"/>
          <p:cNvSpPr/>
          <p:nvPr/>
        </p:nvSpPr>
        <p:spPr>
          <a:xfrm>
            <a:off x="4960620" y="278892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Skill Development</a:t>
            </a:r>
            <a:endParaRPr lang="en-US" sz="1150" dirty="0"/>
          </a:p>
        </p:txBody>
      </p:sp>
      <p:sp>
        <p:nvSpPr>
          <p:cNvPr id="38" name="Text 30"/>
          <p:cNvSpPr/>
          <p:nvPr/>
        </p:nvSpPr>
        <p:spPr>
          <a:xfrm>
            <a:off x="4960620" y="306324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Beyond textbooks and syllabi.</a:t>
            </a:r>
            <a:endParaRPr lang="en-US" sz="950" dirty="0"/>
          </a:p>
        </p:txBody>
      </p:sp>
      <p:sp>
        <p:nvSpPr>
          <p:cNvPr id="39" name="Shape 31"/>
          <p:cNvSpPr/>
          <p:nvPr/>
        </p:nvSpPr>
        <p:spPr>
          <a:xfrm>
            <a:off x="1531620" y="3474720"/>
            <a:ext cx="3108960" cy="640080"/>
          </a:xfrm>
          <a:prstGeom prst="roundRect">
            <a:avLst>
              <a:gd name="adj" fmla="val 8571"/>
            </a:avLst>
          </a:prstGeom>
          <a:solidFill>
            <a:srgbClr val="FFFFFF"/>
          </a:solidFill>
          <a:ln w="5080">
            <a:solidFill>
              <a:srgbClr val="E5E7EB"/>
            </a:solidFill>
            <a:prstDash val="solid"/>
          </a:ln>
        </p:spPr>
      </p:sp>
      <p:sp>
        <p:nvSpPr>
          <p:cNvPr id="40" name="Shape 32"/>
          <p:cNvSpPr/>
          <p:nvPr/>
        </p:nvSpPr>
        <p:spPr>
          <a:xfrm>
            <a:off x="1623060" y="3566160"/>
            <a:ext cx="457200" cy="457200"/>
          </a:xfrm>
          <a:prstGeom prst="ellipse">
            <a:avLst/>
          </a:prstGeom>
          <a:solidFill>
            <a:srgbClr val="E8F1FB"/>
          </a:solidFill>
          <a:ln w="12700">
            <a:solidFill>
              <a:srgbClr val="E8F1FB"/>
            </a:solidFill>
            <a:prstDash val="solid"/>
          </a:ln>
        </p:spPr>
      </p:sp>
      <p:pic>
        <p:nvPicPr>
          <p:cNvPr id="41" name="Image 6" descr="preencoded.png">    </p:cNvPr>
          <p:cNvPicPr>
            <a:picLocks noChangeAspect="1"/>
          </p:cNvPicPr>
          <p:nvPr/>
        </p:nvPicPr>
        <p:blipFill>
          <a:blip r:embed="rId7"/>
          <a:stretch>
            <a:fillRect/>
          </a:stretch>
        </p:blipFill>
        <p:spPr>
          <a:xfrm>
            <a:off x="1723644" y="3666744"/>
            <a:ext cx="256032" cy="256032"/>
          </a:xfrm>
          <a:prstGeom prst="rect">
            <a:avLst/>
          </a:prstGeom>
        </p:spPr>
      </p:pic>
      <p:sp>
        <p:nvSpPr>
          <p:cNvPr id="42" name="Text 33"/>
          <p:cNvSpPr/>
          <p:nvPr/>
        </p:nvSpPr>
        <p:spPr>
          <a:xfrm>
            <a:off x="2171700" y="352044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Industry Exposure</a:t>
            </a:r>
            <a:endParaRPr lang="en-US" sz="1150" dirty="0"/>
          </a:p>
        </p:txBody>
      </p:sp>
      <p:sp>
        <p:nvSpPr>
          <p:cNvPr id="43" name="Text 34"/>
          <p:cNvSpPr/>
          <p:nvPr/>
        </p:nvSpPr>
        <p:spPr>
          <a:xfrm>
            <a:off x="2171700" y="379476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Real applications, real tools.</a:t>
            </a:r>
            <a:endParaRPr lang="en-US" sz="950" dirty="0"/>
          </a:p>
        </p:txBody>
      </p:sp>
      <p:sp>
        <p:nvSpPr>
          <p:cNvPr id="44" name="Shape 35"/>
          <p:cNvSpPr/>
          <p:nvPr/>
        </p:nvSpPr>
        <p:spPr>
          <a:xfrm>
            <a:off x="4320540" y="3474720"/>
            <a:ext cx="3108960" cy="640080"/>
          </a:xfrm>
          <a:prstGeom prst="roundRect">
            <a:avLst>
              <a:gd name="adj" fmla="val 8571"/>
            </a:avLst>
          </a:prstGeom>
          <a:solidFill>
            <a:srgbClr val="FFFFFF"/>
          </a:solidFill>
          <a:ln w="5080">
            <a:solidFill>
              <a:srgbClr val="E5E7EB"/>
            </a:solidFill>
            <a:prstDash val="solid"/>
          </a:ln>
        </p:spPr>
      </p:sp>
      <p:sp>
        <p:nvSpPr>
          <p:cNvPr id="45" name="Shape 36"/>
          <p:cNvSpPr/>
          <p:nvPr/>
        </p:nvSpPr>
        <p:spPr>
          <a:xfrm>
            <a:off x="4411980" y="3566160"/>
            <a:ext cx="457200" cy="457200"/>
          </a:xfrm>
          <a:prstGeom prst="ellipse">
            <a:avLst/>
          </a:prstGeom>
          <a:solidFill>
            <a:srgbClr val="E8F1FB"/>
          </a:solidFill>
          <a:ln w="12700">
            <a:solidFill>
              <a:srgbClr val="E8F1FB"/>
            </a:solidFill>
            <a:prstDash val="solid"/>
          </a:ln>
        </p:spPr>
      </p:sp>
      <p:pic>
        <p:nvPicPr>
          <p:cNvPr id="46" name="Image 7" descr="preencoded.png">    </p:cNvPr>
          <p:cNvPicPr>
            <a:picLocks noChangeAspect="1"/>
          </p:cNvPicPr>
          <p:nvPr/>
        </p:nvPicPr>
        <p:blipFill>
          <a:blip r:embed="rId8"/>
          <a:stretch>
            <a:fillRect/>
          </a:stretch>
        </p:blipFill>
        <p:spPr>
          <a:xfrm>
            <a:off x="4512564" y="3666744"/>
            <a:ext cx="256032" cy="256032"/>
          </a:xfrm>
          <a:prstGeom prst="rect">
            <a:avLst/>
          </a:prstGeom>
        </p:spPr>
      </p:pic>
      <p:sp>
        <p:nvSpPr>
          <p:cNvPr id="47" name="Text 37"/>
          <p:cNvSpPr/>
          <p:nvPr/>
        </p:nvSpPr>
        <p:spPr>
          <a:xfrm>
            <a:off x="4960620" y="352044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Internships</a:t>
            </a:r>
            <a:endParaRPr lang="en-US" sz="1150" dirty="0"/>
          </a:p>
        </p:txBody>
      </p:sp>
      <p:sp>
        <p:nvSpPr>
          <p:cNvPr id="48" name="Text 38"/>
          <p:cNvSpPr/>
          <p:nvPr/>
        </p:nvSpPr>
        <p:spPr>
          <a:xfrm>
            <a:off x="4960620" y="379476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Certification unlocks internships.</a:t>
            </a:r>
            <a:endParaRPr lang="en-US" sz="950" dirty="0"/>
          </a:p>
        </p:txBody>
      </p:sp>
      <p:sp>
        <p:nvSpPr>
          <p:cNvPr id="49" name="Shape 39"/>
          <p:cNvSpPr/>
          <p:nvPr/>
        </p:nvSpPr>
        <p:spPr>
          <a:xfrm>
            <a:off x="1531620" y="4206240"/>
            <a:ext cx="3108960" cy="640080"/>
          </a:xfrm>
          <a:prstGeom prst="roundRect">
            <a:avLst>
              <a:gd name="adj" fmla="val 8571"/>
            </a:avLst>
          </a:prstGeom>
          <a:solidFill>
            <a:srgbClr val="FFFFFF"/>
          </a:solidFill>
          <a:ln w="5080">
            <a:solidFill>
              <a:srgbClr val="E5E7EB"/>
            </a:solidFill>
            <a:prstDash val="solid"/>
          </a:ln>
        </p:spPr>
      </p:sp>
      <p:sp>
        <p:nvSpPr>
          <p:cNvPr id="50" name="Shape 40"/>
          <p:cNvSpPr/>
          <p:nvPr/>
        </p:nvSpPr>
        <p:spPr>
          <a:xfrm>
            <a:off x="1623060" y="4297680"/>
            <a:ext cx="457200" cy="457200"/>
          </a:xfrm>
          <a:prstGeom prst="ellipse">
            <a:avLst/>
          </a:prstGeom>
          <a:solidFill>
            <a:srgbClr val="E8F1FB"/>
          </a:solidFill>
          <a:ln w="12700">
            <a:solidFill>
              <a:srgbClr val="E8F1FB"/>
            </a:solidFill>
            <a:prstDash val="solid"/>
          </a:ln>
        </p:spPr>
      </p:sp>
      <p:pic>
        <p:nvPicPr>
          <p:cNvPr id="51" name="Image 8" descr="preencoded.png">    </p:cNvPr>
          <p:cNvPicPr>
            <a:picLocks noChangeAspect="1"/>
          </p:cNvPicPr>
          <p:nvPr/>
        </p:nvPicPr>
        <p:blipFill>
          <a:blip r:embed="rId9"/>
          <a:stretch>
            <a:fillRect/>
          </a:stretch>
        </p:blipFill>
        <p:spPr>
          <a:xfrm>
            <a:off x="1723644" y="4398264"/>
            <a:ext cx="256032" cy="256032"/>
          </a:xfrm>
          <a:prstGeom prst="rect">
            <a:avLst/>
          </a:prstGeom>
        </p:spPr>
      </p:pic>
      <p:sp>
        <p:nvSpPr>
          <p:cNvPr id="52" name="Text 41"/>
          <p:cNvSpPr/>
          <p:nvPr/>
        </p:nvSpPr>
        <p:spPr>
          <a:xfrm>
            <a:off x="2171700" y="425196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LinkedIn Profile</a:t>
            </a:r>
            <a:endParaRPr lang="en-US" sz="1150" dirty="0"/>
          </a:p>
        </p:txBody>
      </p:sp>
      <p:sp>
        <p:nvSpPr>
          <p:cNvPr id="53" name="Text 42"/>
          <p:cNvSpPr/>
          <p:nvPr/>
        </p:nvSpPr>
        <p:spPr>
          <a:xfrm>
            <a:off x="2171700" y="452628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Show up in recruiter searches.</a:t>
            </a:r>
            <a:endParaRPr lang="en-US" sz="950" dirty="0"/>
          </a:p>
        </p:txBody>
      </p:sp>
      <p:sp>
        <p:nvSpPr>
          <p:cNvPr id="54" name="Shape 43"/>
          <p:cNvSpPr/>
          <p:nvPr/>
        </p:nvSpPr>
        <p:spPr>
          <a:xfrm>
            <a:off x="4320540" y="4206240"/>
            <a:ext cx="3108960" cy="640080"/>
          </a:xfrm>
          <a:prstGeom prst="roundRect">
            <a:avLst>
              <a:gd name="adj" fmla="val 8571"/>
            </a:avLst>
          </a:prstGeom>
          <a:solidFill>
            <a:srgbClr val="FFFFFF"/>
          </a:solidFill>
          <a:ln w="5080">
            <a:solidFill>
              <a:srgbClr val="E5E7EB"/>
            </a:solidFill>
            <a:prstDash val="solid"/>
          </a:ln>
        </p:spPr>
      </p:sp>
      <p:sp>
        <p:nvSpPr>
          <p:cNvPr id="55" name="Shape 44"/>
          <p:cNvSpPr/>
          <p:nvPr/>
        </p:nvSpPr>
        <p:spPr>
          <a:xfrm>
            <a:off x="4411980" y="4297680"/>
            <a:ext cx="457200" cy="457200"/>
          </a:xfrm>
          <a:prstGeom prst="ellipse">
            <a:avLst/>
          </a:prstGeom>
          <a:solidFill>
            <a:srgbClr val="E8F1FB"/>
          </a:solidFill>
          <a:ln w="12700">
            <a:solidFill>
              <a:srgbClr val="E8F1FB"/>
            </a:solidFill>
            <a:prstDash val="solid"/>
          </a:ln>
        </p:spPr>
      </p:sp>
      <p:pic>
        <p:nvPicPr>
          <p:cNvPr id="56" name="Image 9" descr="preencoded.png">    </p:cNvPr>
          <p:cNvPicPr>
            <a:picLocks noChangeAspect="1"/>
          </p:cNvPicPr>
          <p:nvPr/>
        </p:nvPicPr>
        <p:blipFill>
          <a:blip r:embed="rId10"/>
          <a:stretch>
            <a:fillRect/>
          </a:stretch>
        </p:blipFill>
        <p:spPr>
          <a:xfrm>
            <a:off x="4512564" y="4398264"/>
            <a:ext cx="256032" cy="256032"/>
          </a:xfrm>
          <a:prstGeom prst="rect">
            <a:avLst/>
          </a:prstGeom>
        </p:spPr>
      </p:pic>
      <p:sp>
        <p:nvSpPr>
          <p:cNvPr id="57" name="Text 45"/>
          <p:cNvSpPr/>
          <p:nvPr/>
        </p:nvSpPr>
        <p:spPr>
          <a:xfrm>
            <a:off x="4960620" y="4251960"/>
            <a:ext cx="2468880" cy="274320"/>
          </a:xfrm>
          <a:prstGeom prst="rect">
            <a:avLst/>
          </a:prstGeom>
          <a:noFill/>
          <a:ln/>
        </p:spPr>
        <p:txBody>
          <a:bodyPr wrap="square" lIns="0" tIns="0" rIns="0" bIns="0" rtlCol="0" anchor="ctr"/>
          <a:lstStyle/>
          <a:p>
            <a:pPr indent="0" marL="0">
              <a:buNone/>
            </a:pPr>
            <a:r>
              <a:rPr lang="en-US" sz="1150" b="1" dirty="0">
                <a:solidFill>
                  <a:srgbClr val="0B2A4A"/>
                </a:solidFill>
                <a:latin typeface="Segoe UI" pitchFamily="34" charset="0"/>
                <a:ea typeface="Segoe UI" pitchFamily="34" charset="-122"/>
                <a:cs typeface="Segoe UI" pitchFamily="34" charset="-120"/>
              </a:rPr>
              <a:t>Learn From IIT Profs</a:t>
            </a:r>
            <a:endParaRPr lang="en-US" sz="1150" dirty="0"/>
          </a:p>
        </p:txBody>
      </p:sp>
      <p:sp>
        <p:nvSpPr>
          <p:cNvPr id="58" name="Text 46"/>
          <p:cNvSpPr/>
          <p:nvPr/>
        </p:nvSpPr>
        <p:spPr>
          <a:xfrm>
            <a:off x="4960620" y="4526280"/>
            <a:ext cx="2743200" cy="274320"/>
          </a:xfrm>
          <a:prstGeom prst="rect">
            <a:avLst/>
          </a:prstGeom>
          <a:noFill/>
          <a:ln/>
        </p:spPr>
        <p:txBody>
          <a:bodyPr wrap="square" lIns="0" tIns="0" rIns="0" bIns="0" rtlCol="0" anchor="ctr"/>
          <a:lstStyle/>
          <a:p>
            <a:pPr indent="0" marL="0">
              <a:buNone/>
            </a:pPr>
            <a:r>
              <a:rPr lang="en-US" sz="950" dirty="0">
                <a:solidFill>
                  <a:srgbClr val="6B7280"/>
                </a:solidFill>
                <a:latin typeface="Segoe UI" pitchFamily="34" charset="0"/>
                <a:ea typeface="Segoe UI" pitchFamily="34" charset="-122"/>
                <a:cs typeface="Segoe UI" pitchFamily="34" charset="-120"/>
              </a:rPr>
              <a:t>Directly, without JEE.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SAME CONTENT. SAME PROFESSORS.</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NPTEL for GATE Preparation</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029200" cy="914400"/>
        </p:xfrm>
        <a:graphic>
          <a:graphicData uri="http://schemas.openxmlformats.org/drawingml/2006/table">
            <a:tbl>
              <a:tblPr/>
              <a:tblGrid>
                <a:gridCol w="1371600"/>
                <a:gridCol w="1828800"/>
                <a:gridCol w="1828800"/>
              </a:tblGrid>
              <a:tr h="411480">
                <a:tc>
                  <a:txBody>
                    <a:bodyPr/>
                    <a:lstStyle/>
                    <a:p>
                      <a:pPr indent="0" marL="0">
                        <a:buNone/>
                      </a:pPr>
                      <a:r>
                        <a:rPr lang="en-US" sz="1200" b="1" dirty="0">
                          <a:solidFill>
                            <a:srgbClr val="FFFFFF"/>
                          </a:solidFill>
                        </a:rPr>
                        <a:t>Aspect</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GATE Coaching</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NPTEL</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7316"/>
                    </a:solidFill>
                  </a:tcPr>
                </a:tc>
              </a:tr>
              <a:tr h="41148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Faculty</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Non-IIT usually</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IIT / IISc professors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Cost</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₹30,000+</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Free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r>
              <a:tr h="41148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Syllabus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Follows GATE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GATE-aligned</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Depth</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Exam-focused</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Concept + depth</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6FC"/>
                    </a:solidFill>
                  </a:tcPr>
                </a:tc>
              </a:tr>
              <a:tr h="411480">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Certificate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None</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Segoe UI" pitchFamily="34" charset="0"/>
                          <a:ea typeface="Segoe UI" pitchFamily="34" charset="-122"/>
                          <a:cs typeface="Segoe UI" pitchFamily="34" charset="-120"/>
                        </a:rPr>
                        <a:t>Yes</a:t>
                      </a:r>
                      <a:endParaRPr lang="en-US" sz="1100" dirty="0">
                        <a:latin typeface="Segoe UI" charset="0"/>
                        <a:ea typeface="Segoe UI" charset="0"/>
                        <a:cs typeface="Segoe U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10" name="Shape 7"/>
          <p:cNvSpPr/>
          <p:nvPr/>
        </p:nvSpPr>
        <p:spPr>
          <a:xfrm>
            <a:off x="5852160" y="1371600"/>
            <a:ext cx="548640" cy="548640"/>
          </a:xfrm>
          <a:prstGeom prst="ellipse">
            <a:avLst/>
          </a:prstGeom>
          <a:solidFill>
            <a:srgbClr val="E8F1FB"/>
          </a:solidFill>
          <a:ln w="12700">
            <a:solidFill>
              <a:srgbClr val="E8F1FB"/>
            </a:solidFill>
            <a:prstDash val="solid"/>
          </a:ln>
        </p:spPr>
      </p:sp>
      <p:pic>
        <p:nvPicPr>
          <p:cNvPr id="11" name="Image 0" descr="preencoded.png">    </p:cNvPr>
          <p:cNvPicPr>
            <a:picLocks noChangeAspect="1"/>
          </p:cNvPicPr>
          <p:nvPr/>
        </p:nvPicPr>
        <p:blipFill>
          <a:blip r:embed="rId1"/>
          <a:stretch>
            <a:fillRect/>
          </a:stretch>
        </p:blipFill>
        <p:spPr>
          <a:xfrm>
            <a:off x="5972861" y="1492301"/>
            <a:ext cx="307238" cy="307238"/>
          </a:xfrm>
          <a:prstGeom prst="rect">
            <a:avLst/>
          </a:prstGeom>
        </p:spPr>
      </p:pic>
      <p:sp>
        <p:nvSpPr>
          <p:cNvPr id="12" name="Text 8"/>
          <p:cNvSpPr/>
          <p:nvPr/>
        </p:nvSpPr>
        <p:spPr>
          <a:xfrm>
            <a:off x="6537960" y="1389888"/>
            <a:ext cx="23774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80% Syllabus Overlap</a:t>
            </a:r>
            <a:endParaRPr lang="en-US" sz="1200" dirty="0"/>
          </a:p>
        </p:txBody>
      </p:sp>
      <p:sp>
        <p:nvSpPr>
          <p:cNvPr id="13" name="Text 9"/>
          <p:cNvSpPr/>
          <p:nvPr/>
        </p:nvSpPr>
        <p:spPr>
          <a:xfrm>
            <a:off x="6537960" y="1691640"/>
            <a:ext cx="246888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Core courses align with GATE.</a:t>
            </a:r>
            <a:endParaRPr lang="en-US" sz="1000" dirty="0"/>
          </a:p>
        </p:txBody>
      </p:sp>
      <p:sp>
        <p:nvSpPr>
          <p:cNvPr id="14" name="Shape 10"/>
          <p:cNvSpPr/>
          <p:nvPr/>
        </p:nvSpPr>
        <p:spPr>
          <a:xfrm>
            <a:off x="5852160" y="2148840"/>
            <a:ext cx="548640" cy="548640"/>
          </a:xfrm>
          <a:prstGeom prst="ellipse">
            <a:avLst/>
          </a:prstGeom>
          <a:solidFill>
            <a:srgbClr val="E8F1FB"/>
          </a:solidFill>
          <a:ln w="12700">
            <a:solidFill>
              <a:srgbClr val="E8F1FB"/>
            </a:solidFill>
            <a:prstDash val="solid"/>
          </a:ln>
        </p:spPr>
      </p:sp>
      <p:pic>
        <p:nvPicPr>
          <p:cNvPr id="15" name="Image 1" descr="preencoded.png">    </p:cNvPr>
          <p:cNvPicPr>
            <a:picLocks noChangeAspect="1"/>
          </p:cNvPicPr>
          <p:nvPr/>
        </p:nvPicPr>
        <p:blipFill>
          <a:blip r:embed="rId2"/>
          <a:stretch>
            <a:fillRect/>
          </a:stretch>
        </p:blipFill>
        <p:spPr>
          <a:xfrm>
            <a:off x="5972861" y="2269541"/>
            <a:ext cx="307238" cy="307238"/>
          </a:xfrm>
          <a:prstGeom prst="rect">
            <a:avLst/>
          </a:prstGeom>
        </p:spPr>
      </p:pic>
      <p:sp>
        <p:nvSpPr>
          <p:cNvPr id="16" name="Text 11"/>
          <p:cNvSpPr/>
          <p:nvPr/>
        </p:nvSpPr>
        <p:spPr>
          <a:xfrm>
            <a:off x="6537960" y="2167128"/>
            <a:ext cx="23774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1000+ Hours Content</a:t>
            </a:r>
            <a:endParaRPr lang="en-US" sz="1200" dirty="0"/>
          </a:p>
        </p:txBody>
      </p:sp>
      <p:sp>
        <p:nvSpPr>
          <p:cNvPr id="17" name="Text 12"/>
          <p:cNvSpPr/>
          <p:nvPr/>
        </p:nvSpPr>
        <p:spPr>
          <a:xfrm>
            <a:off x="6537960" y="2468880"/>
            <a:ext cx="246888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Comprehensive video coverage.</a:t>
            </a:r>
            <a:endParaRPr lang="en-US" sz="1000" dirty="0"/>
          </a:p>
        </p:txBody>
      </p:sp>
      <p:sp>
        <p:nvSpPr>
          <p:cNvPr id="18" name="Shape 13"/>
          <p:cNvSpPr/>
          <p:nvPr/>
        </p:nvSpPr>
        <p:spPr>
          <a:xfrm>
            <a:off x="5852160" y="2926080"/>
            <a:ext cx="548640" cy="548640"/>
          </a:xfrm>
          <a:prstGeom prst="ellipse">
            <a:avLst/>
          </a:prstGeom>
          <a:solidFill>
            <a:srgbClr val="E8F1FB"/>
          </a:solidFill>
          <a:ln w="12700">
            <a:solidFill>
              <a:srgbClr val="E8F1FB"/>
            </a:solidFill>
            <a:prstDash val="solid"/>
          </a:ln>
        </p:spPr>
      </p:sp>
      <p:pic>
        <p:nvPicPr>
          <p:cNvPr id="19" name="Image 2" descr="preencoded.png">    </p:cNvPr>
          <p:cNvPicPr>
            <a:picLocks noChangeAspect="1"/>
          </p:cNvPicPr>
          <p:nvPr/>
        </p:nvPicPr>
        <p:blipFill>
          <a:blip r:embed="rId3"/>
          <a:stretch>
            <a:fillRect/>
          </a:stretch>
        </p:blipFill>
        <p:spPr>
          <a:xfrm>
            <a:off x="5972861" y="3046781"/>
            <a:ext cx="307238" cy="307238"/>
          </a:xfrm>
          <a:prstGeom prst="rect">
            <a:avLst/>
          </a:prstGeom>
        </p:spPr>
      </p:pic>
      <p:sp>
        <p:nvSpPr>
          <p:cNvPr id="20" name="Text 14"/>
          <p:cNvSpPr/>
          <p:nvPr/>
        </p:nvSpPr>
        <p:spPr>
          <a:xfrm>
            <a:off x="6537960" y="2944368"/>
            <a:ext cx="23774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Practice Assignments</a:t>
            </a:r>
            <a:endParaRPr lang="en-US" sz="1200" dirty="0"/>
          </a:p>
        </p:txBody>
      </p:sp>
      <p:sp>
        <p:nvSpPr>
          <p:cNvPr id="21" name="Text 15"/>
          <p:cNvSpPr/>
          <p:nvPr/>
        </p:nvSpPr>
        <p:spPr>
          <a:xfrm>
            <a:off x="6537960" y="3246120"/>
            <a:ext cx="246888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Similar to GATE style.</a:t>
            </a:r>
            <a:endParaRPr lang="en-US" sz="1000" dirty="0"/>
          </a:p>
        </p:txBody>
      </p:sp>
      <p:sp>
        <p:nvSpPr>
          <p:cNvPr id="22" name="Shape 16"/>
          <p:cNvSpPr/>
          <p:nvPr/>
        </p:nvSpPr>
        <p:spPr>
          <a:xfrm>
            <a:off x="5852160" y="3703320"/>
            <a:ext cx="548640" cy="548640"/>
          </a:xfrm>
          <a:prstGeom prst="ellipse">
            <a:avLst/>
          </a:prstGeom>
          <a:solidFill>
            <a:srgbClr val="E8F1FB"/>
          </a:solidFill>
          <a:ln w="12700">
            <a:solidFill>
              <a:srgbClr val="E8F1FB"/>
            </a:solidFill>
            <a:prstDash val="solid"/>
          </a:ln>
        </p:spPr>
      </p:sp>
      <p:pic>
        <p:nvPicPr>
          <p:cNvPr id="23" name="Image 3" descr="preencoded.png">    </p:cNvPr>
          <p:cNvPicPr>
            <a:picLocks noChangeAspect="1"/>
          </p:cNvPicPr>
          <p:nvPr/>
        </p:nvPicPr>
        <p:blipFill>
          <a:blip r:embed="rId4"/>
          <a:stretch>
            <a:fillRect/>
          </a:stretch>
        </p:blipFill>
        <p:spPr>
          <a:xfrm>
            <a:off x="5972861" y="3824021"/>
            <a:ext cx="307238" cy="307238"/>
          </a:xfrm>
          <a:prstGeom prst="rect">
            <a:avLst/>
          </a:prstGeom>
        </p:spPr>
      </p:pic>
      <p:sp>
        <p:nvSpPr>
          <p:cNvPr id="24" name="Text 17"/>
          <p:cNvSpPr/>
          <p:nvPr/>
        </p:nvSpPr>
        <p:spPr>
          <a:xfrm>
            <a:off x="6537960" y="3721608"/>
            <a:ext cx="23774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Zero Cost</a:t>
            </a:r>
            <a:endParaRPr lang="en-US" sz="1200" dirty="0"/>
          </a:p>
        </p:txBody>
      </p:sp>
      <p:sp>
        <p:nvSpPr>
          <p:cNvPr id="25" name="Text 18"/>
          <p:cNvSpPr/>
          <p:nvPr/>
        </p:nvSpPr>
        <p:spPr>
          <a:xfrm>
            <a:off x="6537960" y="4023360"/>
            <a:ext cx="246888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Save on coaching fees.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HOW RECRUITERS SEE IT</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NPTEL for Placements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25</a:t>
            </a:r>
            <a:endParaRPr lang="en-US" sz="900" dirty="0"/>
          </a:p>
        </p:txBody>
      </p:sp>
      <p:sp>
        <p:nvSpPr>
          <p:cNvPr id="9" name="Shape 7"/>
          <p:cNvSpPr/>
          <p:nvPr/>
        </p:nvSpPr>
        <p:spPr>
          <a:xfrm>
            <a:off x="292608" y="1371600"/>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292608" y="1371600"/>
            <a:ext cx="2057400" cy="54864"/>
          </a:xfrm>
          <a:prstGeom prst="rect">
            <a:avLst/>
          </a:prstGeom>
          <a:solidFill>
            <a:srgbClr val="F97316"/>
          </a:solidFill>
          <a:ln w="12700">
            <a:solidFill>
              <a:srgbClr val="F97316"/>
            </a:solidFill>
            <a:prstDash val="solid"/>
          </a:ln>
        </p:spPr>
      </p:sp>
      <p:sp>
        <p:nvSpPr>
          <p:cNvPr id="11" name="Shape 9"/>
          <p:cNvSpPr/>
          <p:nvPr/>
        </p:nvSpPr>
        <p:spPr>
          <a:xfrm>
            <a:off x="1001268" y="1554480"/>
            <a:ext cx="640080" cy="640080"/>
          </a:xfrm>
          <a:prstGeom prst="ellipse">
            <a:avLst/>
          </a:prstGeom>
          <a:solidFill>
            <a:srgbClr val="E8F1FB"/>
          </a:solidFill>
          <a:ln w="12700">
            <a:solidFill>
              <a:srgbClr val="E8F1FB"/>
            </a:solidFill>
            <a:prstDash val="solid"/>
          </a:ln>
        </p:spPr>
      </p:sp>
      <p:pic>
        <p:nvPicPr>
          <p:cNvPr id="12" name="Image 0" descr="preencoded.png">    </p:cNvPr>
          <p:cNvPicPr>
            <a:picLocks noChangeAspect="1"/>
          </p:cNvPicPr>
          <p:nvPr/>
        </p:nvPicPr>
        <p:blipFill>
          <a:blip r:embed="rId1"/>
          <a:stretch>
            <a:fillRect/>
          </a:stretch>
        </p:blipFill>
        <p:spPr>
          <a:xfrm>
            <a:off x="1142086" y="1695298"/>
            <a:ext cx="358445" cy="358445"/>
          </a:xfrm>
          <a:prstGeom prst="rect">
            <a:avLst/>
          </a:prstGeom>
        </p:spPr>
      </p:pic>
      <p:sp>
        <p:nvSpPr>
          <p:cNvPr id="13" name="Text 10"/>
          <p:cNvSpPr/>
          <p:nvPr/>
        </p:nvSpPr>
        <p:spPr>
          <a:xfrm>
            <a:off x="384048" y="2240280"/>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Resume Value</a:t>
            </a:r>
            <a:endParaRPr lang="en-US" sz="1100" dirty="0"/>
          </a:p>
        </p:txBody>
      </p:sp>
      <p:sp>
        <p:nvSpPr>
          <p:cNvPr id="14" name="Text 11"/>
          <p:cNvSpPr/>
          <p:nvPr/>
        </p:nvSpPr>
        <p:spPr>
          <a:xfrm>
            <a:off x="384048" y="2514600"/>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IIT-branded proof of skill.</a:t>
            </a:r>
            <a:endParaRPr lang="en-US" sz="950" dirty="0"/>
          </a:p>
        </p:txBody>
      </p:sp>
      <p:sp>
        <p:nvSpPr>
          <p:cNvPr id="15" name="Shape 12"/>
          <p:cNvSpPr/>
          <p:nvPr/>
        </p:nvSpPr>
        <p:spPr>
          <a:xfrm>
            <a:off x="2459736" y="1371600"/>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6" name="Shape 13"/>
          <p:cNvSpPr/>
          <p:nvPr/>
        </p:nvSpPr>
        <p:spPr>
          <a:xfrm>
            <a:off x="2459736" y="1371600"/>
            <a:ext cx="2057400" cy="54864"/>
          </a:xfrm>
          <a:prstGeom prst="rect">
            <a:avLst/>
          </a:prstGeom>
          <a:solidFill>
            <a:srgbClr val="F97316"/>
          </a:solidFill>
          <a:ln w="12700">
            <a:solidFill>
              <a:srgbClr val="F97316"/>
            </a:solidFill>
            <a:prstDash val="solid"/>
          </a:ln>
        </p:spPr>
      </p:sp>
      <p:sp>
        <p:nvSpPr>
          <p:cNvPr id="17" name="Shape 14"/>
          <p:cNvSpPr/>
          <p:nvPr/>
        </p:nvSpPr>
        <p:spPr>
          <a:xfrm>
            <a:off x="3168396" y="1554480"/>
            <a:ext cx="640080" cy="640080"/>
          </a:xfrm>
          <a:prstGeom prst="ellipse">
            <a:avLst/>
          </a:prstGeom>
          <a:solidFill>
            <a:srgbClr val="E8F1FB"/>
          </a:solidFill>
          <a:ln w="12700">
            <a:solidFill>
              <a:srgbClr val="E8F1FB"/>
            </a:solidFill>
            <a:prstDash val="solid"/>
          </a:ln>
        </p:spPr>
      </p:sp>
      <p:pic>
        <p:nvPicPr>
          <p:cNvPr id="18" name="Image 1" descr="preencoded.png">    </p:cNvPr>
          <p:cNvPicPr>
            <a:picLocks noChangeAspect="1"/>
          </p:cNvPicPr>
          <p:nvPr/>
        </p:nvPicPr>
        <p:blipFill>
          <a:blip r:embed="rId2"/>
          <a:stretch>
            <a:fillRect/>
          </a:stretch>
        </p:blipFill>
        <p:spPr>
          <a:xfrm>
            <a:off x="3309214" y="1695298"/>
            <a:ext cx="358445" cy="358445"/>
          </a:xfrm>
          <a:prstGeom prst="rect">
            <a:avLst/>
          </a:prstGeom>
        </p:spPr>
      </p:pic>
      <p:sp>
        <p:nvSpPr>
          <p:cNvPr id="19" name="Text 15"/>
          <p:cNvSpPr/>
          <p:nvPr/>
        </p:nvSpPr>
        <p:spPr>
          <a:xfrm>
            <a:off x="2551176" y="2240280"/>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Technical Interviews</a:t>
            </a:r>
            <a:endParaRPr lang="en-US" sz="1100" dirty="0"/>
          </a:p>
        </p:txBody>
      </p:sp>
      <p:sp>
        <p:nvSpPr>
          <p:cNvPr id="20" name="Text 16"/>
          <p:cNvSpPr/>
          <p:nvPr/>
        </p:nvSpPr>
        <p:spPr>
          <a:xfrm>
            <a:off x="2551176" y="2514600"/>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Deep concept fluency.</a:t>
            </a:r>
            <a:endParaRPr lang="en-US" sz="950" dirty="0"/>
          </a:p>
        </p:txBody>
      </p:sp>
      <p:sp>
        <p:nvSpPr>
          <p:cNvPr id="21" name="Shape 17"/>
          <p:cNvSpPr/>
          <p:nvPr/>
        </p:nvSpPr>
        <p:spPr>
          <a:xfrm>
            <a:off x="4626864" y="1371600"/>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2" name="Shape 18"/>
          <p:cNvSpPr/>
          <p:nvPr/>
        </p:nvSpPr>
        <p:spPr>
          <a:xfrm>
            <a:off x="4626864" y="1371600"/>
            <a:ext cx="2057400" cy="54864"/>
          </a:xfrm>
          <a:prstGeom prst="rect">
            <a:avLst/>
          </a:prstGeom>
          <a:solidFill>
            <a:srgbClr val="F97316"/>
          </a:solidFill>
          <a:ln w="12700">
            <a:solidFill>
              <a:srgbClr val="F97316"/>
            </a:solidFill>
            <a:prstDash val="solid"/>
          </a:ln>
        </p:spPr>
      </p:sp>
      <p:sp>
        <p:nvSpPr>
          <p:cNvPr id="23" name="Shape 19"/>
          <p:cNvSpPr/>
          <p:nvPr/>
        </p:nvSpPr>
        <p:spPr>
          <a:xfrm>
            <a:off x="5335524" y="1554480"/>
            <a:ext cx="640080" cy="640080"/>
          </a:xfrm>
          <a:prstGeom prst="ellipse">
            <a:avLst/>
          </a:prstGeom>
          <a:solidFill>
            <a:srgbClr val="E8F1FB"/>
          </a:solidFill>
          <a:ln w="12700">
            <a:solidFill>
              <a:srgbClr val="E8F1FB"/>
            </a:solidFill>
            <a:prstDash val="solid"/>
          </a:ln>
        </p:spPr>
      </p:sp>
      <p:pic>
        <p:nvPicPr>
          <p:cNvPr id="24" name="Image 2" descr="preencoded.png">    </p:cNvPr>
          <p:cNvPicPr>
            <a:picLocks noChangeAspect="1"/>
          </p:cNvPicPr>
          <p:nvPr/>
        </p:nvPicPr>
        <p:blipFill>
          <a:blip r:embed="rId3"/>
          <a:stretch>
            <a:fillRect/>
          </a:stretch>
        </p:blipFill>
        <p:spPr>
          <a:xfrm>
            <a:off x="5476342" y="1695298"/>
            <a:ext cx="358445" cy="358445"/>
          </a:xfrm>
          <a:prstGeom prst="rect">
            <a:avLst/>
          </a:prstGeom>
        </p:spPr>
      </p:pic>
      <p:sp>
        <p:nvSpPr>
          <p:cNvPr id="25" name="Text 20"/>
          <p:cNvSpPr/>
          <p:nvPr/>
        </p:nvSpPr>
        <p:spPr>
          <a:xfrm>
            <a:off x="4718304" y="2240280"/>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Coding Skills</a:t>
            </a:r>
            <a:endParaRPr lang="en-US" sz="1100" dirty="0"/>
          </a:p>
        </p:txBody>
      </p:sp>
      <p:sp>
        <p:nvSpPr>
          <p:cNvPr id="26" name="Text 21"/>
          <p:cNvSpPr/>
          <p:nvPr/>
        </p:nvSpPr>
        <p:spPr>
          <a:xfrm>
            <a:off x="4718304" y="2514600"/>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Python, Java, C++ practice.</a:t>
            </a:r>
            <a:endParaRPr lang="en-US" sz="950" dirty="0"/>
          </a:p>
        </p:txBody>
      </p:sp>
      <p:sp>
        <p:nvSpPr>
          <p:cNvPr id="27" name="Shape 22"/>
          <p:cNvSpPr/>
          <p:nvPr/>
        </p:nvSpPr>
        <p:spPr>
          <a:xfrm>
            <a:off x="6793992" y="1371600"/>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8" name="Shape 23"/>
          <p:cNvSpPr/>
          <p:nvPr/>
        </p:nvSpPr>
        <p:spPr>
          <a:xfrm>
            <a:off x="6793992" y="1371600"/>
            <a:ext cx="2057400" cy="54864"/>
          </a:xfrm>
          <a:prstGeom prst="rect">
            <a:avLst/>
          </a:prstGeom>
          <a:solidFill>
            <a:srgbClr val="F97316"/>
          </a:solidFill>
          <a:ln w="12700">
            <a:solidFill>
              <a:srgbClr val="F97316"/>
            </a:solidFill>
            <a:prstDash val="solid"/>
          </a:ln>
        </p:spPr>
      </p:sp>
      <p:sp>
        <p:nvSpPr>
          <p:cNvPr id="29" name="Shape 24"/>
          <p:cNvSpPr/>
          <p:nvPr/>
        </p:nvSpPr>
        <p:spPr>
          <a:xfrm>
            <a:off x="7502652" y="1554480"/>
            <a:ext cx="640080" cy="640080"/>
          </a:xfrm>
          <a:prstGeom prst="ellipse">
            <a:avLst/>
          </a:prstGeom>
          <a:solidFill>
            <a:srgbClr val="E8F1FB"/>
          </a:solidFill>
          <a:ln w="12700">
            <a:solidFill>
              <a:srgbClr val="E8F1FB"/>
            </a:solidFill>
            <a:prstDash val="solid"/>
          </a:ln>
        </p:spPr>
      </p:sp>
      <p:pic>
        <p:nvPicPr>
          <p:cNvPr id="30" name="Image 3" descr="preencoded.png">    </p:cNvPr>
          <p:cNvPicPr>
            <a:picLocks noChangeAspect="1"/>
          </p:cNvPicPr>
          <p:nvPr/>
        </p:nvPicPr>
        <p:blipFill>
          <a:blip r:embed="rId4"/>
          <a:stretch>
            <a:fillRect/>
          </a:stretch>
        </p:blipFill>
        <p:spPr>
          <a:xfrm>
            <a:off x="7643470" y="1695298"/>
            <a:ext cx="358445" cy="358445"/>
          </a:xfrm>
          <a:prstGeom prst="rect">
            <a:avLst/>
          </a:prstGeom>
        </p:spPr>
      </p:pic>
      <p:sp>
        <p:nvSpPr>
          <p:cNvPr id="31" name="Text 25"/>
          <p:cNvSpPr/>
          <p:nvPr/>
        </p:nvSpPr>
        <p:spPr>
          <a:xfrm>
            <a:off x="6885432" y="2240280"/>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Project Ideas</a:t>
            </a:r>
            <a:endParaRPr lang="en-US" sz="1100" dirty="0"/>
          </a:p>
        </p:txBody>
      </p:sp>
      <p:sp>
        <p:nvSpPr>
          <p:cNvPr id="32" name="Text 26"/>
          <p:cNvSpPr/>
          <p:nvPr/>
        </p:nvSpPr>
        <p:spPr>
          <a:xfrm>
            <a:off x="6885432" y="2514600"/>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Assignments spark projects.</a:t>
            </a:r>
            <a:endParaRPr lang="en-US" sz="950" dirty="0"/>
          </a:p>
        </p:txBody>
      </p:sp>
      <p:sp>
        <p:nvSpPr>
          <p:cNvPr id="33" name="Shape 27"/>
          <p:cNvSpPr/>
          <p:nvPr/>
        </p:nvSpPr>
        <p:spPr>
          <a:xfrm>
            <a:off x="292608" y="2944368"/>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4" name="Shape 28"/>
          <p:cNvSpPr/>
          <p:nvPr/>
        </p:nvSpPr>
        <p:spPr>
          <a:xfrm>
            <a:off x="292608" y="2944368"/>
            <a:ext cx="2057400" cy="54864"/>
          </a:xfrm>
          <a:prstGeom prst="rect">
            <a:avLst/>
          </a:prstGeom>
          <a:solidFill>
            <a:srgbClr val="F97316"/>
          </a:solidFill>
          <a:ln w="12700">
            <a:solidFill>
              <a:srgbClr val="F97316"/>
            </a:solidFill>
            <a:prstDash val="solid"/>
          </a:ln>
        </p:spPr>
      </p:sp>
      <p:sp>
        <p:nvSpPr>
          <p:cNvPr id="35" name="Shape 29"/>
          <p:cNvSpPr/>
          <p:nvPr/>
        </p:nvSpPr>
        <p:spPr>
          <a:xfrm>
            <a:off x="1001268" y="3127248"/>
            <a:ext cx="640080" cy="640080"/>
          </a:xfrm>
          <a:prstGeom prst="ellipse">
            <a:avLst/>
          </a:prstGeom>
          <a:solidFill>
            <a:srgbClr val="E8F1FB"/>
          </a:solidFill>
          <a:ln w="12700">
            <a:solidFill>
              <a:srgbClr val="E8F1FB"/>
            </a:solidFill>
            <a:prstDash val="solid"/>
          </a:ln>
        </p:spPr>
      </p:sp>
      <p:pic>
        <p:nvPicPr>
          <p:cNvPr id="36" name="Image 4" descr="preencoded.png">    </p:cNvPr>
          <p:cNvPicPr>
            <a:picLocks noChangeAspect="1"/>
          </p:cNvPicPr>
          <p:nvPr/>
        </p:nvPicPr>
        <p:blipFill>
          <a:blip r:embed="rId5"/>
          <a:stretch>
            <a:fillRect/>
          </a:stretch>
        </p:blipFill>
        <p:spPr>
          <a:xfrm>
            <a:off x="1142086" y="3268066"/>
            <a:ext cx="358445" cy="358445"/>
          </a:xfrm>
          <a:prstGeom prst="rect">
            <a:avLst/>
          </a:prstGeom>
        </p:spPr>
      </p:pic>
      <p:sp>
        <p:nvSpPr>
          <p:cNvPr id="37" name="Text 30"/>
          <p:cNvSpPr/>
          <p:nvPr/>
        </p:nvSpPr>
        <p:spPr>
          <a:xfrm>
            <a:off x="384048" y="3813048"/>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Recognized Certification</a:t>
            </a:r>
            <a:endParaRPr lang="en-US" sz="1100" dirty="0"/>
          </a:p>
        </p:txBody>
      </p:sp>
      <p:sp>
        <p:nvSpPr>
          <p:cNvPr id="38" name="Text 31"/>
          <p:cNvSpPr/>
          <p:nvPr/>
        </p:nvSpPr>
        <p:spPr>
          <a:xfrm>
            <a:off x="384048" y="4087368"/>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Trusted by top employers.</a:t>
            </a:r>
            <a:endParaRPr lang="en-US" sz="950" dirty="0"/>
          </a:p>
        </p:txBody>
      </p:sp>
      <p:sp>
        <p:nvSpPr>
          <p:cNvPr id="39" name="Shape 32"/>
          <p:cNvSpPr/>
          <p:nvPr/>
        </p:nvSpPr>
        <p:spPr>
          <a:xfrm>
            <a:off x="2459736" y="2944368"/>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40" name="Shape 33"/>
          <p:cNvSpPr/>
          <p:nvPr/>
        </p:nvSpPr>
        <p:spPr>
          <a:xfrm>
            <a:off x="2459736" y="2944368"/>
            <a:ext cx="2057400" cy="54864"/>
          </a:xfrm>
          <a:prstGeom prst="rect">
            <a:avLst/>
          </a:prstGeom>
          <a:solidFill>
            <a:srgbClr val="F97316"/>
          </a:solidFill>
          <a:ln w="12700">
            <a:solidFill>
              <a:srgbClr val="F97316"/>
            </a:solidFill>
            <a:prstDash val="solid"/>
          </a:ln>
        </p:spPr>
      </p:sp>
      <p:sp>
        <p:nvSpPr>
          <p:cNvPr id="41" name="Shape 34"/>
          <p:cNvSpPr/>
          <p:nvPr/>
        </p:nvSpPr>
        <p:spPr>
          <a:xfrm>
            <a:off x="3168396" y="3127248"/>
            <a:ext cx="640080" cy="640080"/>
          </a:xfrm>
          <a:prstGeom prst="ellipse">
            <a:avLst/>
          </a:prstGeom>
          <a:solidFill>
            <a:srgbClr val="E8F1FB"/>
          </a:solidFill>
          <a:ln w="12700">
            <a:solidFill>
              <a:srgbClr val="E8F1FB"/>
            </a:solidFill>
            <a:prstDash val="solid"/>
          </a:ln>
        </p:spPr>
      </p:sp>
      <p:pic>
        <p:nvPicPr>
          <p:cNvPr id="42" name="Image 5" descr="preencoded.png">    </p:cNvPr>
          <p:cNvPicPr>
            <a:picLocks noChangeAspect="1"/>
          </p:cNvPicPr>
          <p:nvPr/>
        </p:nvPicPr>
        <p:blipFill>
          <a:blip r:embed="rId6"/>
          <a:stretch>
            <a:fillRect/>
          </a:stretch>
        </p:blipFill>
        <p:spPr>
          <a:xfrm>
            <a:off x="3309214" y="3268066"/>
            <a:ext cx="358445" cy="358445"/>
          </a:xfrm>
          <a:prstGeom prst="rect">
            <a:avLst/>
          </a:prstGeom>
        </p:spPr>
      </p:pic>
      <p:sp>
        <p:nvSpPr>
          <p:cNvPr id="43" name="Text 35"/>
          <p:cNvSpPr/>
          <p:nvPr/>
        </p:nvSpPr>
        <p:spPr>
          <a:xfrm>
            <a:off x="2551176" y="3813048"/>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Problem-Solving</a:t>
            </a:r>
            <a:endParaRPr lang="en-US" sz="1100" dirty="0"/>
          </a:p>
        </p:txBody>
      </p:sp>
      <p:sp>
        <p:nvSpPr>
          <p:cNvPr id="44" name="Text 36"/>
          <p:cNvSpPr/>
          <p:nvPr/>
        </p:nvSpPr>
        <p:spPr>
          <a:xfrm>
            <a:off x="2551176" y="4087368"/>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Structured thinking gain.</a:t>
            </a:r>
            <a:endParaRPr lang="en-US" sz="950" dirty="0"/>
          </a:p>
        </p:txBody>
      </p:sp>
      <p:sp>
        <p:nvSpPr>
          <p:cNvPr id="45" name="Shape 37"/>
          <p:cNvSpPr/>
          <p:nvPr/>
        </p:nvSpPr>
        <p:spPr>
          <a:xfrm>
            <a:off x="4626864" y="2944368"/>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46" name="Shape 38"/>
          <p:cNvSpPr/>
          <p:nvPr/>
        </p:nvSpPr>
        <p:spPr>
          <a:xfrm>
            <a:off x="4626864" y="2944368"/>
            <a:ext cx="2057400" cy="54864"/>
          </a:xfrm>
          <a:prstGeom prst="rect">
            <a:avLst/>
          </a:prstGeom>
          <a:solidFill>
            <a:srgbClr val="F97316"/>
          </a:solidFill>
          <a:ln w="12700">
            <a:solidFill>
              <a:srgbClr val="F97316"/>
            </a:solidFill>
            <a:prstDash val="solid"/>
          </a:ln>
        </p:spPr>
      </p:sp>
      <p:sp>
        <p:nvSpPr>
          <p:cNvPr id="47" name="Shape 39"/>
          <p:cNvSpPr/>
          <p:nvPr/>
        </p:nvSpPr>
        <p:spPr>
          <a:xfrm>
            <a:off x="5335524" y="3127248"/>
            <a:ext cx="640080" cy="640080"/>
          </a:xfrm>
          <a:prstGeom prst="ellipse">
            <a:avLst/>
          </a:prstGeom>
          <a:solidFill>
            <a:srgbClr val="E8F1FB"/>
          </a:solidFill>
          <a:ln w="12700">
            <a:solidFill>
              <a:srgbClr val="E8F1FB"/>
            </a:solidFill>
            <a:prstDash val="solid"/>
          </a:ln>
        </p:spPr>
      </p:sp>
      <p:pic>
        <p:nvPicPr>
          <p:cNvPr id="48" name="Image 6" descr="preencoded.png">    </p:cNvPr>
          <p:cNvPicPr>
            <a:picLocks noChangeAspect="1"/>
          </p:cNvPicPr>
          <p:nvPr/>
        </p:nvPicPr>
        <p:blipFill>
          <a:blip r:embed="rId7"/>
          <a:stretch>
            <a:fillRect/>
          </a:stretch>
        </p:blipFill>
        <p:spPr>
          <a:xfrm>
            <a:off x="5476342" y="3268066"/>
            <a:ext cx="358445" cy="358445"/>
          </a:xfrm>
          <a:prstGeom prst="rect">
            <a:avLst/>
          </a:prstGeom>
        </p:spPr>
      </p:pic>
      <p:sp>
        <p:nvSpPr>
          <p:cNvPr id="49" name="Text 40"/>
          <p:cNvSpPr/>
          <p:nvPr/>
        </p:nvSpPr>
        <p:spPr>
          <a:xfrm>
            <a:off x="4718304" y="3813048"/>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Employer Recognition</a:t>
            </a:r>
            <a:endParaRPr lang="en-US" sz="1100" dirty="0"/>
          </a:p>
        </p:txBody>
      </p:sp>
      <p:sp>
        <p:nvSpPr>
          <p:cNvPr id="50" name="Text 41"/>
          <p:cNvSpPr/>
          <p:nvPr/>
        </p:nvSpPr>
        <p:spPr>
          <a:xfrm>
            <a:off x="4718304" y="4087368"/>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TCS, Infosys, WITCH, MNCs.</a:t>
            </a:r>
            <a:endParaRPr lang="en-US" sz="950" dirty="0"/>
          </a:p>
        </p:txBody>
      </p:sp>
      <p:sp>
        <p:nvSpPr>
          <p:cNvPr id="51" name="Shape 42"/>
          <p:cNvSpPr/>
          <p:nvPr/>
        </p:nvSpPr>
        <p:spPr>
          <a:xfrm>
            <a:off x="6793992" y="2944368"/>
            <a:ext cx="2057400" cy="1463040"/>
          </a:xfrm>
          <a:prstGeom prst="roundRect">
            <a:avLst>
              <a:gd name="adj" fmla="val 5000"/>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52" name="Shape 43"/>
          <p:cNvSpPr/>
          <p:nvPr/>
        </p:nvSpPr>
        <p:spPr>
          <a:xfrm>
            <a:off x="6793992" y="2944368"/>
            <a:ext cx="2057400" cy="54864"/>
          </a:xfrm>
          <a:prstGeom prst="rect">
            <a:avLst/>
          </a:prstGeom>
          <a:solidFill>
            <a:srgbClr val="F97316"/>
          </a:solidFill>
          <a:ln w="12700">
            <a:solidFill>
              <a:srgbClr val="F97316"/>
            </a:solidFill>
            <a:prstDash val="solid"/>
          </a:ln>
        </p:spPr>
      </p:sp>
      <p:sp>
        <p:nvSpPr>
          <p:cNvPr id="53" name="Shape 44"/>
          <p:cNvSpPr/>
          <p:nvPr/>
        </p:nvSpPr>
        <p:spPr>
          <a:xfrm>
            <a:off x="7502652" y="3127248"/>
            <a:ext cx="640080" cy="640080"/>
          </a:xfrm>
          <a:prstGeom prst="ellipse">
            <a:avLst/>
          </a:prstGeom>
          <a:solidFill>
            <a:srgbClr val="E8F1FB"/>
          </a:solidFill>
          <a:ln w="12700">
            <a:solidFill>
              <a:srgbClr val="E8F1FB"/>
            </a:solidFill>
            <a:prstDash val="solid"/>
          </a:ln>
        </p:spPr>
      </p:sp>
      <p:pic>
        <p:nvPicPr>
          <p:cNvPr id="54" name="Image 7" descr="preencoded.png">    </p:cNvPr>
          <p:cNvPicPr>
            <a:picLocks noChangeAspect="1"/>
          </p:cNvPicPr>
          <p:nvPr/>
        </p:nvPicPr>
        <p:blipFill>
          <a:blip r:embed="rId8"/>
          <a:stretch>
            <a:fillRect/>
          </a:stretch>
        </p:blipFill>
        <p:spPr>
          <a:xfrm>
            <a:off x="7643470" y="3268066"/>
            <a:ext cx="358445" cy="358445"/>
          </a:xfrm>
          <a:prstGeom prst="rect">
            <a:avLst/>
          </a:prstGeom>
        </p:spPr>
      </p:pic>
      <p:sp>
        <p:nvSpPr>
          <p:cNvPr id="55" name="Text 45"/>
          <p:cNvSpPr/>
          <p:nvPr/>
        </p:nvSpPr>
        <p:spPr>
          <a:xfrm>
            <a:off x="6885432" y="3813048"/>
            <a:ext cx="1874520" cy="274320"/>
          </a:xfrm>
          <a:prstGeom prst="rect">
            <a:avLst/>
          </a:prstGeom>
          <a:noFill/>
          <a:ln/>
        </p:spPr>
        <p:txBody>
          <a:bodyPr wrap="square" lIns="0" tIns="0" rIns="0" bIns="0" rtlCol="0" anchor="ctr"/>
          <a:lstStyle/>
          <a:p>
            <a:pPr algn="ctr" indent="0" marL="0">
              <a:buNone/>
            </a:pPr>
            <a:r>
              <a:rPr lang="en-US" sz="1100" b="1" dirty="0">
                <a:solidFill>
                  <a:srgbClr val="0B2A4A"/>
                </a:solidFill>
                <a:latin typeface="Segoe UI" pitchFamily="34" charset="0"/>
                <a:ea typeface="Segoe UI" pitchFamily="34" charset="-122"/>
                <a:cs typeface="Segoe UI" pitchFamily="34" charset="-120"/>
              </a:rPr>
              <a:t>Domain Expertise</a:t>
            </a:r>
            <a:endParaRPr lang="en-US" sz="1100" dirty="0"/>
          </a:p>
        </p:txBody>
      </p:sp>
      <p:sp>
        <p:nvSpPr>
          <p:cNvPr id="56" name="Text 46"/>
          <p:cNvSpPr/>
          <p:nvPr/>
        </p:nvSpPr>
        <p:spPr>
          <a:xfrm>
            <a:off x="6885432" y="4087368"/>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Segoe UI" pitchFamily="34" charset="0"/>
                <a:ea typeface="Segoe UI" pitchFamily="34" charset="-122"/>
                <a:cs typeface="Segoe UI" pitchFamily="34" charset="-120"/>
              </a:rPr>
              <a:t>Specialize beyond core CS.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BEFORE VS AFTER NPTEL</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Boost Your Resume</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26</a:t>
            </a:r>
            <a:endParaRPr lang="en-US" sz="900" dirty="0"/>
          </a:p>
        </p:txBody>
      </p:sp>
      <p:sp>
        <p:nvSpPr>
          <p:cNvPr id="9" name="Shape 7"/>
          <p:cNvSpPr/>
          <p:nvPr/>
        </p:nvSpPr>
        <p:spPr>
          <a:xfrm>
            <a:off x="457200" y="1371600"/>
            <a:ext cx="3931920" cy="3108960"/>
          </a:xfrm>
          <a:prstGeom prst="roundRect">
            <a:avLst>
              <a:gd name="adj" fmla="val 2941"/>
            </a:avLst>
          </a:prstGeom>
          <a:solidFill>
            <a:srgbClr val="F1F6FC"/>
          </a:solidFill>
          <a:ln w="6350">
            <a:solidFill>
              <a:srgbClr val="E5E7EB"/>
            </a:solidFill>
            <a:prstDash val="solid"/>
          </a:ln>
        </p:spPr>
      </p:sp>
      <p:sp>
        <p:nvSpPr>
          <p:cNvPr id="10" name="Shape 8"/>
          <p:cNvSpPr/>
          <p:nvPr/>
        </p:nvSpPr>
        <p:spPr>
          <a:xfrm>
            <a:off x="457200" y="1371600"/>
            <a:ext cx="3931920" cy="457200"/>
          </a:xfrm>
          <a:prstGeom prst="rect">
            <a:avLst/>
          </a:prstGeom>
          <a:solidFill>
            <a:srgbClr val="6B7280"/>
          </a:solidFill>
          <a:ln w="12700">
            <a:solidFill>
              <a:srgbClr val="6B7280"/>
            </a:solidFill>
            <a:prstDash val="solid"/>
          </a:ln>
        </p:spPr>
      </p:sp>
      <p:sp>
        <p:nvSpPr>
          <p:cNvPr id="11" name="Text 9"/>
          <p:cNvSpPr/>
          <p:nvPr/>
        </p:nvSpPr>
        <p:spPr>
          <a:xfrm>
            <a:off x="457200" y="1371600"/>
            <a:ext cx="3931920" cy="457200"/>
          </a:xfrm>
          <a:prstGeom prst="rect">
            <a:avLst/>
          </a:prstGeom>
          <a:noFill/>
          <a:ln/>
        </p:spPr>
        <p:txBody>
          <a:bodyPr wrap="square" lIns="0" tIns="0" rIns="0" bIns="0" rtlCol="0" anchor="ctr"/>
          <a:lstStyle/>
          <a:p>
            <a:pPr algn="ctr" indent="0" marL="0">
              <a:buNone/>
            </a:pPr>
            <a:r>
              <a:rPr lang="en-US" sz="1400" b="1" spc="600" kern="0" dirty="0">
                <a:solidFill>
                  <a:srgbClr val="FFFFFF"/>
                </a:solidFill>
                <a:latin typeface="Segoe UI" pitchFamily="34" charset="0"/>
                <a:ea typeface="Segoe UI" pitchFamily="34" charset="-122"/>
                <a:cs typeface="Segoe UI" pitchFamily="34" charset="-120"/>
              </a:rPr>
              <a:t>BEFORE</a:t>
            </a:r>
            <a:endParaRPr lang="en-US" sz="1400" dirty="0"/>
          </a:p>
        </p:txBody>
      </p:sp>
      <p:sp>
        <p:nvSpPr>
          <p:cNvPr id="12" name="Text 10"/>
          <p:cNvSpPr/>
          <p:nvPr/>
        </p:nvSpPr>
        <p:spPr>
          <a:xfrm>
            <a:off x="685800" y="2011680"/>
            <a:ext cx="3566160" cy="365760"/>
          </a:xfrm>
          <a:prstGeom prst="rect">
            <a:avLst/>
          </a:prstGeom>
          <a:noFill/>
          <a:ln/>
        </p:spPr>
        <p:txBody>
          <a:bodyPr wrap="square" lIns="0" tIns="0" rIns="0" bIns="0" rtlCol="0" anchor="ctr"/>
          <a:lstStyle/>
          <a:p>
            <a:pPr indent="0" marL="0">
              <a:buNone/>
            </a:pPr>
            <a:r>
              <a:rPr lang="en-US" sz="1200" dirty="0">
                <a:solidFill>
                  <a:srgbClr val="6B7280"/>
                </a:solidFill>
                <a:latin typeface="Segoe UI" pitchFamily="34" charset="0"/>
                <a:ea typeface="Segoe UI" pitchFamily="34" charset="-122"/>
                <a:cs typeface="Segoe UI" pitchFamily="34" charset="-120"/>
              </a:rPr>
              <a:t>•  B.Tech CSE (in progress)</a:t>
            </a:r>
            <a:endParaRPr lang="en-US" sz="1200" dirty="0"/>
          </a:p>
        </p:txBody>
      </p:sp>
      <p:sp>
        <p:nvSpPr>
          <p:cNvPr id="13" name="Text 11"/>
          <p:cNvSpPr/>
          <p:nvPr/>
        </p:nvSpPr>
        <p:spPr>
          <a:xfrm>
            <a:off x="685800" y="2423160"/>
            <a:ext cx="3566160" cy="365760"/>
          </a:xfrm>
          <a:prstGeom prst="rect">
            <a:avLst/>
          </a:prstGeom>
          <a:noFill/>
          <a:ln/>
        </p:spPr>
        <p:txBody>
          <a:bodyPr wrap="square" lIns="0" tIns="0" rIns="0" bIns="0" rtlCol="0" anchor="ctr"/>
          <a:lstStyle/>
          <a:p>
            <a:pPr indent="0" marL="0">
              <a:buNone/>
            </a:pPr>
            <a:r>
              <a:rPr lang="en-US" sz="1200" dirty="0">
                <a:solidFill>
                  <a:srgbClr val="6B7280"/>
                </a:solidFill>
                <a:latin typeface="Segoe UI" pitchFamily="34" charset="0"/>
                <a:ea typeface="Segoe UI" pitchFamily="34" charset="-122"/>
                <a:cs typeface="Segoe UI" pitchFamily="34" charset="-120"/>
              </a:rPr>
              <a:t>•  College Projects (2)</a:t>
            </a:r>
            <a:endParaRPr lang="en-US" sz="1200" dirty="0"/>
          </a:p>
        </p:txBody>
      </p:sp>
      <p:sp>
        <p:nvSpPr>
          <p:cNvPr id="14" name="Text 12"/>
          <p:cNvSpPr/>
          <p:nvPr/>
        </p:nvSpPr>
        <p:spPr>
          <a:xfrm>
            <a:off x="685800" y="2834640"/>
            <a:ext cx="3566160" cy="365760"/>
          </a:xfrm>
          <a:prstGeom prst="rect">
            <a:avLst/>
          </a:prstGeom>
          <a:noFill/>
          <a:ln/>
        </p:spPr>
        <p:txBody>
          <a:bodyPr wrap="square" lIns="0" tIns="0" rIns="0" bIns="0" rtlCol="0" anchor="ctr"/>
          <a:lstStyle/>
          <a:p>
            <a:pPr indent="0" marL="0">
              <a:buNone/>
            </a:pPr>
            <a:r>
              <a:rPr lang="en-US" sz="1200" dirty="0">
                <a:solidFill>
                  <a:srgbClr val="6B7280"/>
                </a:solidFill>
                <a:latin typeface="Segoe UI" pitchFamily="34" charset="0"/>
                <a:ea typeface="Segoe UI" pitchFamily="34" charset="-122"/>
                <a:cs typeface="Segoe UI" pitchFamily="34" charset="-120"/>
              </a:rPr>
              <a:t>•  Basic Python</a:t>
            </a:r>
            <a:endParaRPr lang="en-US" sz="1200" dirty="0"/>
          </a:p>
        </p:txBody>
      </p:sp>
      <p:sp>
        <p:nvSpPr>
          <p:cNvPr id="15" name="Text 13"/>
          <p:cNvSpPr/>
          <p:nvPr/>
        </p:nvSpPr>
        <p:spPr>
          <a:xfrm>
            <a:off x="685800" y="3246120"/>
            <a:ext cx="3566160" cy="365760"/>
          </a:xfrm>
          <a:prstGeom prst="rect">
            <a:avLst/>
          </a:prstGeom>
          <a:noFill/>
          <a:ln/>
        </p:spPr>
        <p:txBody>
          <a:bodyPr wrap="square" lIns="0" tIns="0" rIns="0" bIns="0" rtlCol="0" anchor="ctr"/>
          <a:lstStyle/>
          <a:p>
            <a:pPr indent="0" marL="0">
              <a:buNone/>
            </a:pPr>
            <a:r>
              <a:rPr lang="en-US" sz="1200" dirty="0">
                <a:solidFill>
                  <a:srgbClr val="6B7280"/>
                </a:solidFill>
                <a:latin typeface="Segoe UI" pitchFamily="34" charset="0"/>
                <a:ea typeface="Segoe UI" pitchFamily="34" charset="-122"/>
                <a:cs typeface="Segoe UI" pitchFamily="34" charset="-120"/>
              </a:rPr>
              <a:t>•  No Certifications</a:t>
            </a:r>
            <a:endParaRPr lang="en-US" sz="1200" dirty="0"/>
          </a:p>
        </p:txBody>
      </p:sp>
      <p:sp>
        <p:nvSpPr>
          <p:cNvPr id="16" name="Text 14"/>
          <p:cNvSpPr/>
          <p:nvPr/>
        </p:nvSpPr>
        <p:spPr>
          <a:xfrm>
            <a:off x="685800" y="3657600"/>
            <a:ext cx="3566160" cy="365760"/>
          </a:xfrm>
          <a:prstGeom prst="rect">
            <a:avLst/>
          </a:prstGeom>
          <a:noFill/>
          <a:ln/>
        </p:spPr>
        <p:txBody>
          <a:bodyPr wrap="square" lIns="0" tIns="0" rIns="0" bIns="0" rtlCol="0" anchor="ctr"/>
          <a:lstStyle/>
          <a:p>
            <a:pPr indent="0" marL="0">
              <a:buNone/>
            </a:pPr>
            <a:r>
              <a:rPr lang="en-US" sz="1200" dirty="0">
                <a:solidFill>
                  <a:srgbClr val="6B7280"/>
                </a:solidFill>
                <a:latin typeface="Segoe UI" pitchFamily="34" charset="0"/>
                <a:ea typeface="Segoe UI" pitchFamily="34" charset="-122"/>
                <a:cs typeface="Segoe UI" pitchFamily="34" charset="-120"/>
              </a:rPr>
              <a:t>•  GPA only differentiator</a:t>
            </a:r>
            <a:endParaRPr lang="en-US" sz="1200" dirty="0"/>
          </a:p>
        </p:txBody>
      </p:sp>
      <p:sp>
        <p:nvSpPr>
          <p:cNvPr id="17" name="Shape 15"/>
          <p:cNvSpPr/>
          <p:nvPr/>
        </p:nvSpPr>
        <p:spPr>
          <a:xfrm rot="5400000">
            <a:off x="4434840" y="2788920"/>
            <a:ext cx="320040" cy="457200"/>
          </a:xfrm>
          <a:prstGeom prst="rtTriangle">
            <a:avLst/>
          </a:prstGeom>
          <a:solidFill>
            <a:srgbClr val="F97316"/>
          </a:solidFill>
          <a:ln w="12700">
            <a:solidFill>
              <a:srgbClr val="F97316"/>
            </a:solidFill>
            <a:prstDash val="solid"/>
          </a:ln>
        </p:spPr>
      </p:sp>
      <p:sp>
        <p:nvSpPr>
          <p:cNvPr id="18" name="Shape 16"/>
          <p:cNvSpPr/>
          <p:nvPr/>
        </p:nvSpPr>
        <p:spPr>
          <a:xfrm>
            <a:off x="4754880" y="1371600"/>
            <a:ext cx="3931920" cy="3108960"/>
          </a:xfrm>
          <a:prstGeom prst="roundRect">
            <a:avLst>
              <a:gd name="adj" fmla="val 2941"/>
            </a:avLst>
          </a:prstGeom>
          <a:solidFill>
            <a:srgbClr val="0B2A4A"/>
          </a:solidFill>
          <a:ln w="12700">
            <a:solidFill>
              <a:srgbClr val="0B2A4A"/>
            </a:solidFill>
            <a:prstDash val="solid"/>
          </a:ln>
          <a:effectLst>
            <a:outerShdw sx="100000" sy="100000" kx="0" ky="0" algn="bl" rotWithShape="0" blurRad="127000" dist="25400" dir="5400000">
              <a:srgbClr val="000000">
                <a:alpha val="10000"/>
              </a:srgbClr>
            </a:outerShdw>
          </a:effectLst>
        </p:spPr>
      </p:sp>
      <p:sp>
        <p:nvSpPr>
          <p:cNvPr id="19" name="Shape 17"/>
          <p:cNvSpPr/>
          <p:nvPr/>
        </p:nvSpPr>
        <p:spPr>
          <a:xfrm>
            <a:off x="4754880" y="1371600"/>
            <a:ext cx="3931920" cy="457200"/>
          </a:xfrm>
          <a:prstGeom prst="rect">
            <a:avLst/>
          </a:prstGeom>
          <a:solidFill>
            <a:srgbClr val="F97316"/>
          </a:solidFill>
          <a:ln w="12700">
            <a:solidFill>
              <a:srgbClr val="F97316"/>
            </a:solidFill>
            <a:prstDash val="solid"/>
          </a:ln>
        </p:spPr>
      </p:sp>
      <p:sp>
        <p:nvSpPr>
          <p:cNvPr id="20" name="Text 18"/>
          <p:cNvSpPr/>
          <p:nvPr/>
        </p:nvSpPr>
        <p:spPr>
          <a:xfrm>
            <a:off x="4754880" y="1371600"/>
            <a:ext cx="3931920" cy="457200"/>
          </a:xfrm>
          <a:prstGeom prst="rect">
            <a:avLst/>
          </a:prstGeom>
          <a:noFill/>
          <a:ln/>
        </p:spPr>
        <p:txBody>
          <a:bodyPr wrap="square" lIns="0" tIns="0" rIns="0" bIns="0" rtlCol="0" anchor="ctr"/>
          <a:lstStyle/>
          <a:p>
            <a:pPr algn="ctr" indent="0" marL="0">
              <a:buNone/>
            </a:pPr>
            <a:r>
              <a:rPr lang="en-US" sz="1400" b="1" spc="600" kern="0" dirty="0">
                <a:solidFill>
                  <a:srgbClr val="FFFFFF"/>
                </a:solidFill>
                <a:latin typeface="Segoe UI" pitchFamily="34" charset="0"/>
                <a:ea typeface="Segoe UI" pitchFamily="34" charset="-122"/>
                <a:cs typeface="Segoe UI" pitchFamily="34" charset="-120"/>
              </a:rPr>
              <a:t>AFTER</a:t>
            </a:r>
            <a:endParaRPr lang="en-US" sz="1400" dirty="0"/>
          </a:p>
        </p:txBody>
      </p:sp>
      <p:sp>
        <p:nvSpPr>
          <p:cNvPr id="21" name="Text 19"/>
          <p:cNvSpPr/>
          <p:nvPr/>
        </p:nvSpPr>
        <p:spPr>
          <a:xfrm>
            <a:off x="4983480" y="2011680"/>
            <a:ext cx="36576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  </a:t>
            </a:r>
            <a:pPr indent="0" marL="0">
              <a:buNone/>
            </a:pPr>
            <a:r>
              <a:rPr lang="en-US" sz="1200" dirty="0">
                <a:solidFill>
                  <a:srgbClr val="FFFFFF"/>
                </a:solidFill>
                <a:latin typeface="Segoe UI" pitchFamily="34" charset="0"/>
                <a:ea typeface="Segoe UI" pitchFamily="34" charset="-122"/>
                <a:cs typeface="Segoe UI" pitchFamily="34" charset="-120"/>
              </a:rPr>
              <a:t>B.Tech CSE + IIT-Certified Learner</a:t>
            </a:r>
            <a:endParaRPr lang="en-US" sz="1200" dirty="0"/>
          </a:p>
        </p:txBody>
      </p:sp>
      <p:sp>
        <p:nvSpPr>
          <p:cNvPr id="22" name="Text 20"/>
          <p:cNvSpPr/>
          <p:nvPr/>
        </p:nvSpPr>
        <p:spPr>
          <a:xfrm>
            <a:off x="4983480" y="2423160"/>
            <a:ext cx="36576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  </a:t>
            </a:r>
            <a:pPr indent="0" marL="0">
              <a:buNone/>
            </a:pPr>
            <a:r>
              <a:rPr lang="en-US" sz="1200" dirty="0">
                <a:solidFill>
                  <a:srgbClr val="FFFFFF"/>
                </a:solidFill>
                <a:latin typeface="Segoe UI" pitchFamily="34" charset="0"/>
                <a:ea typeface="Segoe UI" pitchFamily="34" charset="-122"/>
                <a:cs typeface="Segoe UI" pitchFamily="34" charset="-120"/>
              </a:rPr>
              <a:t>4 NPTEL Elite Certificates</a:t>
            </a:r>
            <a:endParaRPr lang="en-US" sz="1200" dirty="0"/>
          </a:p>
        </p:txBody>
      </p:sp>
      <p:sp>
        <p:nvSpPr>
          <p:cNvPr id="23" name="Text 21"/>
          <p:cNvSpPr/>
          <p:nvPr/>
        </p:nvSpPr>
        <p:spPr>
          <a:xfrm>
            <a:off x="4983480" y="2834640"/>
            <a:ext cx="36576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  </a:t>
            </a:r>
            <a:pPr indent="0" marL="0">
              <a:buNone/>
            </a:pPr>
            <a:r>
              <a:rPr lang="en-US" sz="1200" dirty="0">
                <a:solidFill>
                  <a:srgbClr val="FFFFFF"/>
                </a:solidFill>
                <a:latin typeface="Segoe UI" pitchFamily="34" charset="0"/>
                <a:ea typeface="Segoe UI" pitchFamily="34" charset="-122"/>
                <a:cs typeface="Segoe UI" pitchFamily="34" charset="-120"/>
              </a:rPr>
              <a:t>Domain Certification in AI/ML</a:t>
            </a:r>
            <a:endParaRPr lang="en-US" sz="1200" dirty="0"/>
          </a:p>
        </p:txBody>
      </p:sp>
      <p:sp>
        <p:nvSpPr>
          <p:cNvPr id="24" name="Text 22"/>
          <p:cNvSpPr/>
          <p:nvPr/>
        </p:nvSpPr>
        <p:spPr>
          <a:xfrm>
            <a:off x="4983480" y="3246120"/>
            <a:ext cx="36576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  </a:t>
            </a:r>
            <a:pPr indent="0" marL="0">
              <a:buNone/>
            </a:pPr>
            <a:r>
              <a:rPr lang="en-US" sz="1200" dirty="0">
                <a:solidFill>
                  <a:srgbClr val="FFFFFF"/>
                </a:solidFill>
                <a:latin typeface="Segoe UI" pitchFamily="34" charset="0"/>
                <a:ea typeface="Segoe UI" pitchFamily="34" charset="-122"/>
                <a:cs typeface="Segoe UI" pitchFamily="34" charset="-120"/>
              </a:rPr>
              <a:t>Real skills — Python, Cloud, DL</a:t>
            </a:r>
            <a:endParaRPr lang="en-US" sz="1200" dirty="0"/>
          </a:p>
        </p:txBody>
      </p:sp>
      <p:sp>
        <p:nvSpPr>
          <p:cNvPr id="25" name="Text 23"/>
          <p:cNvSpPr/>
          <p:nvPr/>
        </p:nvSpPr>
        <p:spPr>
          <a:xfrm>
            <a:off x="4983480" y="3657600"/>
            <a:ext cx="36576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  </a:t>
            </a:r>
            <a:pPr indent="0" marL="0">
              <a:buNone/>
            </a:pPr>
            <a:r>
              <a:rPr lang="en-US" sz="1200" dirty="0">
                <a:solidFill>
                  <a:srgbClr val="FFFFFF"/>
                </a:solidFill>
                <a:latin typeface="Segoe UI" pitchFamily="34" charset="0"/>
                <a:ea typeface="Segoe UI" pitchFamily="34" charset="-122"/>
                <a:cs typeface="Segoe UI" pitchFamily="34" charset="-120"/>
              </a:rPr>
              <a:t>3 ABC Credits transferred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GET DISCOVERED BY RECRUITERS</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LinkedIn Benefits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27</a:t>
            </a:r>
            <a:endParaRPr lang="en-US" sz="900" dirty="0"/>
          </a:p>
        </p:txBody>
      </p:sp>
      <p:sp>
        <p:nvSpPr>
          <p:cNvPr id="9" name="Shape 7"/>
          <p:cNvSpPr/>
          <p:nvPr/>
        </p:nvSpPr>
        <p:spPr>
          <a:xfrm>
            <a:off x="457200" y="1371600"/>
            <a:ext cx="4114800" cy="3200400"/>
          </a:xfrm>
          <a:prstGeom prst="roundRect">
            <a:avLst>
              <a:gd name="adj" fmla="val 2286"/>
            </a:avLst>
          </a:prstGeom>
          <a:solidFill>
            <a:srgbClr val="FFFFFF"/>
          </a:solidFill>
          <a:ln w="6350">
            <a:solidFill>
              <a:srgbClr val="E5E7EB"/>
            </a:solidFill>
            <a:prstDash val="solid"/>
          </a:ln>
          <a:effectLst>
            <a:outerShdw sx="100000" sy="100000" kx="0" ky="0" algn="bl" rotWithShape="0" blurRad="127000" dist="25400" dir="5400000">
              <a:srgbClr val="000000">
                <a:alpha val="10000"/>
              </a:srgbClr>
            </a:outerShdw>
          </a:effectLst>
        </p:spPr>
      </p:sp>
      <p:sp>
        <p:nvSpPr>
          <p:cNvPr id="10" name="Shape 8"/>
          <p:cNvSpPr/>
          <p:nvPr/>
        </p:nvSpPr>
        <p:spPr>
          <a:xfrm>
            <a:off x="457200" y="1371600"/>
            <a:ext cx="4114800" cy="822960"/>
          </a:xfrm>
          <a:prstGeom prst="rect">
            <a:avLst/>
          </a:prstGeom>
          <a:solidFill>
            <a:srgbClr val="1E4E8C"/>
          </a:solidFill>
          <a:ln w="12700">
            <a:solidFill>
              <a:srgbClr val="1E4E8C"/>
            </a:solidFill>
            <a:prstDash val="solid"/>
          </a:ln>
        </p:spPr>
      </p:sp>
      <p:sp>
        <p:nvSpPr>
          <p:cNvPr id="11" name="Shape 9"/>
          <p:cNvSpPr/>
          <p:nvPr/>
        </p:nvSpPr>
        <p:spPr>
          <a:xfrm>
            <a:off x="640080" y="1828800"/>
            <a:ext cx="777240" cy="77724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811073" y="1999793"/>
            <a:ext cx="435254" cy="435254"/>
          </a:xfrm>
          <a:prstGeom prst="rect">
            <a:avLst/>
          </a:prstGeom>
        </p:spPr>
      </p:pic>
      <p:sp>
        <p:nvSpPr>
          <p:cNvPr id="13" name="Text 10"/>
          <p:cNvSpPr/>
          <p:nvPr/>
        </p:nvSpPr>
        <p:spPr>
          <a:xfrm>
            <a:off x="1554480" y="1874520"/>
            <a:ext cx="2743200"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Aditi Sharma</a:t>
            </a:r>
            <a:endParaRPr lang="en-US" sz="1400" dirty="0"/>
          </a:p>
        </p:txBody>
      </p:sp>
      <p:sp>
        <p:nvSpPr>
          <p:cNvPr id="14" name="Text 11"/>
          <p:cNvSpPr/>
          <p:nvPr/>
        </p:nvSpPr>
        <p:spPr>
          <a:xfrm>
            <a:off x="1554480" y="2194560"/>
            <a:ext cx="2926080" cy="274320"/>
          </a:xfrm>
          <a:prstGeom prst="rect">
            <a:avLst/>
          </a:prstGeom>
          <a:noFill/>
          <a:ln/>
        </p:spPr>
        <p:txBody>
          <a:bodyPr wrap="square" lIns="0" tIns="0" rIns="0" bIns="0" rtlCol="0" anchor="ctr"/>
          <a:lstStyle/>
          <a:p>
            <a:pPr indent="0" marL="0">
              <a:buNone/>
            </a:pPr>
            <a:r>
              <a:rPr lang="en-US" sz="1000" dirty="0">
                <a:solidFill>
                  <a:srgbClr val="E8F1FB"/>
                </a:solidFill>
                <a:latin typeface="Segoe UI" pitchFamily="34" charset="0"/>
                <a:ea typeface="Segoe UI" pitchFamily="34" charset="-122"/>
                <a:cs typeface="Segoe UI" pitchFamily="34" charset="-120"/>
              </a:rPr>
              <a:t>B.Tech CSE  •  IIT-Certified in AI/ML</a:t>
            </a:r>
            <a:endParaRPr lang="en-US" sz="1000" dirty="0"/>
          </a:p>
        </p:txBody>
      </p:sp>
      <p:sp>
        <p:nvSpPr>
          <p:cNvPr id="15" name="Text 12"/>
          <p:cNvSpPr/>
          <p:nvPr/>
        </p:nvSpPr>
        <p:spPr>
          <a:xfrm>
            <a:off x="640080" y="2468880"/>
            <a:ext cx="365760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Licenses &amp; Certifications</a:t>
            </a:r>
            <a:endParaRPr lang="en-US" sz="1200" dirty="0"/>
          </a:p>
        </p:txBody>
      </p:sp>
      <p:sp>
        <p:nvSpPr>
          <p:cNvPr id="16" name="Shape 13"/>
          <p:cNvSpPr/>
          <p:nvPr/>
        </p:nvSpPr>
        <p:spPr>
          <a:xfrm>
            <a:off x="640080" y="2834640"/>
            <a:ext cx="320040" cy="320040"/>
          </a:xfrm>
          <a:prstGeom prst="ellipse">
            <a:avLst/>
          </a:prstGeom>
          <a:solidFill>
            <a:srgbClr val="FFF1E6"/>
          </a:solidFill>
          <a:ln w="12700">
            <a:solidFill>
              <a:srgbClr val="FFF1E6"/>
            </a:solidFill>
            <a:prstDash val="solid"/>
          </a:ln>
        </p:spPr>
      </p:sp>
      <p:pic>
        <p:nvPicPr>
          <p:cNvPr id="17" name="Image 1" descr="preencoded.png">    </p:cNvPr>
          <p:cNvPicPr>
            <a:picLocks noChangeAspect="1"/>
          </p:cNvPicPr>
          <p:nvPr/>
        </p:nvPicPr>
        <p:blipFill>
          <a:blip r:embed="rId2"/>
          <a:stretch>
            <a:fillRect/>
          </a:stretch>
        </p:blipFill>
        <p:spPr>
          <a:xfrm>
            <a:off x="710489" y="2905049"/>
            <a:ext cx="179222" cy="179222"/>
          </a:xfrm>
          <a:prstGeom prst="rect">
            <a:avLst/>
          </a:prstGeom>
        </p:spPr>
      </p:pic>
      <p:sp>
        <p:nvSpPr>
          <p:cNvPr id="18" name="Text 14"/>
          <p:cNvSpPr/>
          <p:nvPr/>
        </p:nvSpPr>
        <p:spPr>
          <a:xfrm>
            <a:off x="1051560" y="2862072"/>
            <a:ext cx="3474720" cy="274320"/>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Deep Learning — NPTEL / IIT Ropar</a:t>
            </a:r>
            <a:endParaRPr lang="en-US" sz="1100" dirty="0"/>
          </a:p>
        </p:txBody>
      </p:sp>
      <p:sp>
        <p:nvSpPr>
          <p:cNvPr id="19" name="Shape 15"/>
          <p:cNvSpPr/>
          <p:nvPr/>
        </p:nvSpPr>
        <p:spPr>
          <a:xfrm>
            <a:off x="640080" y="3337560"/>
            <a:ext cx="320040" cy="320040"/>
          </a:xfrm>
          <a:prstGeom prst="ellipse">
            <a:avLst/>
          </a:prstGeom>
          <a:solidFill>
            <a:srgbClr val="FFF1E6"/>
          </a:solidFill>
          <a:ln w="12700">
            <a:solidFill>
              <a:srgbClr val="FFF1E6"/>
            </a:solidFill>
            <a:prstDash val="solid"/>
          </a:ln>
        </p:spPr>
      </p:sp>
      <p:pic>
        <p:nvPicPr>
          <p:cNvPr id="20" name="Image 2" descr="preencoded.png">    </p:cNvPr>
          <p:cNvPicPr>
            <a:picLocks noChangeAspect="1"/>
          </p:cNvPicPr>
          <p:nvPr/>
        </p:nvPicPr>
        <p:blipFill>
          <a:blip r:embed="rId3"/>
          <a:stretch>
            <a:fillRect/>
          </a:stretch>
        </p:blipFill>
        <p:spPr>
          <a:xfrm>
            <a:off x="710489" y="3407969"/>
            <a:ext cx="179222" cy="179222"/>
          </a:xfrm>
          <a:prstGeom prst="rect">
            <a:avLst/>
          </a:prstGeom>
        </p:spPr>
      </p:pic>
      <p:sp>
        <p:nvSpPr>
          <p:cNvPr id="21" name="Text 16"/>
          <p:cNvSpPr/>
          <p:nvPr/>
        </p:nvSpPr>
        <p:spPr>
          <a:xfrm>
            <a:off x="1051560" y="3364992"/>
            <a:ext cx="3474720" cy="274320"/>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Cloud Computing — NPTEL / IIT KGP</a:t>
            </a:r>
            <a:endParaRPr lang="en-US" sz="1100" dirty="0"/>
          </a:p>
        </p:txBody>
      </p:sp>
      <p:sp>
        <p:nvSpPr>
          <p:cNvPr id="22" name="Shape 17"/>
          <p:cNvSpPr/>
          <p:nvPr/>
        </p:nvSpPr>
        <p:spPr>
          <a:xfrm>
            <a:off x="640080" y="3840480"/>
            <a:ext cx="320040" cy="320040"/>
          </a:xfrm>
          <a:prstGeom prst="ellipse">
            <a:avLst/>
          </a:prstGeom>
          <a:solidFill>
            <a:srgbClr val="FFF1E6"/>
          </a:solidFill>
          <a:ln w="12700">
            <a:solidFill>
              <a:srgbClr val="FFF1E6"/>
            </a:solidFill>
            <a:prstDash val="solid"/>
          </a:ln>
        </p:spPr>
      </p:sp>
      <p:pic>
        <p:nvPicPr>
          <p:cNvPr id="23" name="Image 3" descr="preencoded.png">    </p:cNvPr>
          <p:cNvPicPr>
            <a:picLocks noChangeAspect="1"/>
          </p:cNvPicPr>
          <p:nvPr/>
        </p:nvPicPr>
        <p:blipFill>
          <a:blip r:embed="rId4"/>
          <a:stretch>
            <a:fillRect/>
          </a:stretch>
        </p:blipFill>
        <p:spPr>
          <a:xfrm>
            <a:off x="710489" y="3910889"/>
            <a:ext cx="179222" cy="179222"/>
          </a:xfrm>
          <a:prstGeom prst="rect">
            <a:avLst/>
          </a:prstGeom>
        </p:spPr>
      </p:pic>
      <p:sp>
        <p:nvSpPr>
          <p:cNvPr id="24" name="Text 18"/>
          <p:cNvSpPr/>
          <p:nvPr/>
        </p:nvSpPr>
        <p:spPr>
          <a:xfrm>
            <a:off x="1051560" y="3867912"/>
            <a:ext cx="3474720" cy="274320"/>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Python for Data Science — IIT Madras</a:t>
            </a:r>
            <a:endParaRPr lang="en-US" sz="1100" dirty="0"/>
          </a:p>
        </p:txBody>
      </p:sp>
      <p:sp>
        <p:nvSpPr>
          <p:cNvPr id="25" name="Shape 19"/>
          <p:cNvSpPr/>
          <p:nvPr/>
        </p:nvSpPr>
        <p:spPr>
          <a:xfrm>
            <a:off x="4937760" y="1417320"/>
            <a:ext cx="502920" cy="502920"/>
          </a:xfrm>
          <a:prstGeom prst="ellipse">
            <a:avLst/>
          </a:prstGeom>
          <a:solidFill>
            <a:srgbClr val="E8F1FB"/>
          </a:solidFill>
          <a:ln w="12700">
            <a:solidFill>
              <a:srgbClr val="E8F1FB"/>
            </a:solidFill>
            <a:prstDash val="solid"/>
          </a:ln>
        </p:spPr>
      </p:sp>
      <p:pic>
        <p:nvPicPr>
          <p:cNvPr id="26" name="Image 4" descr="preencoded.png">    </p:cNvPr>
          <p:cNvPicPr>
            <a:picLocks noChangeAspect="1"/>
          </p:cNvPicPr>
          <p:nvPr/>
        </p:nvPicPr>
        <p:blipFill>
          <a:blip r:embed="rId5"/>
          <a:stretch>
            <a:fillRect/>
          </a:stretch>
        </p:blipFill>
        <p:spPr>
          <a:xfrm>
            <a:off x="5048402" y="1527962"/>
            <a:ext cx="281635" cy="281635"/>
          </a:xfrm>
          <a:prstGeom prst="rect">
            <a:avLst/>
          </a:prstGeom>
        </p:spPr>
      </p:pic>
      <p:sp>
        <p:nvSpPr>
          <p:cNvPr id="27" name="Text 20"/>
          <p:cNvSpPr/>
          <p:nvPr/>
        </p:nvSpPr>
        <p:spPr>
          <a:xfrm>
            <a:off x="5577840" y="1435608"/>
            <a:ext cx="32918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Recruiter Discovery</a:t>
            </a:r>
            <a:endParaRPr lang="en-US" sz="1200" dirty="0"/>
          </a:p>
        </p:txBody>
      </p:sp>
      <p:sp>
        <p:nvSpPr>
          <p:cNvPr id="28" name="Text 21"/>
          <p:cNvSpPr/>
          <p:nvPr/>
        </p:nvSpPr>
        <p:spPr>
          <a:xfrm>
            <a:off x="5577840" y="1709928"/>
            <a:ext cx="329184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Skills searchable in LinkedIn.</a:t>
            </a:r>
            <a:endParaRPr lang="en-US" sz="1000" dirty="0"/>
          </a:p>
        </p:txBody>
      </p:sp>
      <p:sp>
        <p:nvSpPr>
          <p:cNvPr id="29" name="Shape 22"/>
          <p:cNvSpPr/>
          <p:nvPr/>
        </p:nvSpPr>
        <p:spPr>
          <a:xfrm>
            <a:off x="4937760" y="2039112"/>
            <a:ext cx="502920" cy="502920"/>
          </a:xfrm>
          <a:prstGeom prst="ellipse">
            <a:avLst/>
          </a:prstGeom>
          <a:solidFill>
            <a:srgbClr val="E8F1FB"/>
          </a:solidFill>
          <a:ln w="12700">
            <a:solidFill>
              <a:srgbClr val="E8F1FB"/>
            </a:solidFill>
            <a:prstDash val="solid"/>
          </a:ln>
        </p:spPr>
      </p:sp>
      <p:pic>
        <p:nvPicPr>
          <p:cNvPr id="30" name="Image 5" descr="preencoded.png">    </p:cNvPr>
          <p:cNvPicPr>
            <a:picLocks noChangeAspect="1"/>
          </p:cNvPicPr>
          <p:nvPr/>
        </p:nvPicPr>
        <p:blipFill>
          <a:blip r:embed="rId6"/>
          <a:stretch>
            <a:fillRect/>
          </a:stretch>
        </p:blipFill>
        <p:spPr>
          <a:xfrm>
            <a:off x="5048402" y="2149754"/>
            <a:ext cx="281635" cy="281635"/>
          </a:xfrm>
          <a:prstGeom prst="rect">
            <a:avLst/>
          </a:prstGeom>
        </p:spPr>
      </p:pic>
      <p:sp>
        <p:nvSpPr>
          <p:cNvPr id="31" name="Text 23"/>
          <p:cNvSpPr/>
          <p:nvPr/>
        </p:nvSpPr>
        <p:spPr>
          <a:xfrm>
            <a:off x="5577840" y="2057400"/>
            <a:ext cx="32918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Shareable Certificate</a:t>
            </a:r>
            <a:endParaRPr lang="en-US" sz="1200" dirty="0"/>
          </a:p>
        </p:txBody>
      </p:sp>
      <p:sp>
        <p:nvSpPr>
          <p:cNvPr id="32" name="Text 24"/>
          <p:cNvSpPr/>
          <p:nvPr/>
        </p:nvSpPr>
        <p:spPr>
          <a:xfrm>
            <a:off x="5577840" y="2331720"/>
            <a:ext cx="329184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Post to feed with one click.</a:t>
            </a:r>
            <a:endParaRPr lang="en-US" sz="1000" dirty="0"/>
          </a:p>
        </p:txBody>
      </p:sp>
      <p:sp>
        <p:nvSpPr>
          <p:cNvPr id="33" name="Shape 25"/>
          <p:cNvSpPr/>
          <p:nvPr/>
        </p:nvSpPr>
        <p:spPr>
          <a:xfrm>
            <a:off x="4937760" y="2660904"/>
            <a:ext cx="502920" cy="502920"/>
          </a:xfrm>
          <a:prstGeom prst="ellipse">
            <a:avLst/>
          </a:prstGeom>
          <a:solidFill>
            <a:srgbClr val="E8F1FB"/>
          </a:solidFill>
          <a:ln w="12700">
            <a:solidFill>
              <a:srgbClr val="E8F1FB"/>
            </a:solidFill>
            <a:prstDash val="solid"/>
          </a:ln>
        </p:spPr>
      </p:sp>
      <p:pic>
        <p:nvPicPr>
          <p:cNvPr id="34" name="Image 6" descr="preencoded.png">    </p:cNvPr>
          <p:cNvPicPr>
            <a:picLocks noChangeAspect="1"/>
          </p:cNvPicPr>
          <p:nvPr/>
        </p:nvPicPr>
        <p:blipFill>
          <a:blip r:embed="rId7"/>
          <a:stretch>
            <a:fillRect/>
          </a:stretch>
        </p:blipFill>
        <p:spPr>
          <a:xfrm>
            <a:off x="5048402" y="2771546"/>
            <a:ext cx="281635" cy="281635"/>
          </a:xfrm>
          <a:prstGeom prst="rect">
            <a:avLst/>
          </a:prstGeom>
        </p:spPr>
      </p:pic>
      <p:sp>
        <p:nvSpPr>
          <p:cNvPr id="35" name="Text 26"/>
          <p:cNvSpPr/>
          <p:nvPr/>
        </p:nvSpPr>
        <p:spPr>
          <a:xfrm>
            <a:off x="5577840" y="2679192"/>
            <a:ext cx="32918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Verified Badge</a:t>
            </a:r>
            <a:endParaRPr lang="en-US" sz="1200" dirty="0"/>
          </a:p>
        </p:txBody>
      </p:sp>
      <p:sp>
        <p:nvSpPr>
          <p:cNvPr id="36" name="Text 27"/>
          <p:cNvSpPr/>
          <p:nvPr/>
        </p:nvSpPr>
        <p:spPr>
          <a:xfrm>
            <a:off x="5577840" y="2953512"/>
            <a:ext cx="329184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IIT-issued credential.</a:t>
            </a:r>
            <a:endParaRPr lang="en-US" sz="1000" dirty="0"/>
          </a:p>
        </p:txBody>
      </p:sp>
      <p:sp>
        <p:nvSpPr>
          <p:cNvPr id="37" name="Shape 28"/>
          <p:cNvSpPr/>
          <p:nvPr/>
        </p:nvSpPr>
        <p:spPr>
          <a:xfrm>
            <a:off x="4937760" y="3282696"/>
            <a:ext cx="502920" cy="502920"/>
          </a:xfrm>
          <a:prstGeom prst="ellipse">
            <a:avLst/>
          </a:prstGeom>
          <a:solidFill>
            <a:srgbClr val="E8F1FB"/>
          </a:solidFill>
          <a:ln w="12700">
            <a:solidFill>
              <a:srgbClr val="E8F1FB"/>
            </a:solidFill>
            <a:prstDash val="solid"/>
          </a:ln>
        </p:spPr>
      </p:sp>
      <p:pic>
        <p:nvPicPr>
          <p:cNvPr id="38" name="Image 7" descr="preencoded.png">    </p:cNvPr>
          <p:cNvPicPr>
            <a:picLocks noChangeAspect="1"/>
          </p:cNvPicPr>
          <p:nvPr/>
        </p:nvPicPr>
        <p:blipFill>
          <a:blip r:embed="rId8"/>
          <a:stretch>
            <a:fillRect/>
          </a:stretch>
        </p:blipFill>
        <p:spPr>
          <a:xfrm>
            <a:off x="5048402" y="3393338"/>
            <a:ext cx="281635" cy="281635"/>
          </a:xfrm>
          <a:prstGeom prst="rect">
            <a:avLst/>
          </a:prstGeom>
        </p:spPr>
      </p:pic>
      <p:sp>
        <p:nvSpPr>
          <p:cNvPr id="39" name="Text 29"/>
          <p:cNvSpPr/>
          <p:nvPr/>
        </p:nvSpPr>
        <p:spPr>
          <a:xfrm>
            <a:off x="5577840" y="3300984"/>
            <a:ext cx="32918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Profile Ranking Boost</a:t>
            </a:r>
            <a:endParaRPr lang="en-US" sz="1200" dirty="0"/>
          </a:p>
        </p:txBody>
      </p:sp>
      <p:sp>
        <p:nvSpPr>
          <p:cNvPr id="40" name="Text 30"/>
          <p:cNvSpPr/>
          <p:nvPr/>
        </p:nvSpPr>
        <p:spPr>
          <a:xfrm>
            <a:off x="5577840" y="3575304"/>
            <a:ext cx="329184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Skill endorsements grow.</a:t>
            </a:r>
            <a:endParaRPr lang="en-US" sz="1000" dirty="0"/>
          </a:p>
        </p:txBody>
      </p:sp>
      <p:sp>
        <p:nvSpPr>
          <p:cNvPr id="41" name="Shape 31"/>
          <p:cNvSpPr/>
          <p:nvPr/>
        </p:nvSpPr>
        <p:spPr>
          <a:xfrm>
            <a:off x="4937760" y="3904488"/>
            <a:ext cx="502920" cy="502920"/>
          </a:xfrm>
          <a:prstGeom prst="ellipse">
            <a:avLst/>
          </a:prstGeom>
          <a:solidFill>
            <a:srgbClr val="E8F1FB"/>
          </a:solidFill>
          <a:ln w="12700">
            <a:solidFill>
              <a:srgbClr val="E8F1FB"/>
            </a:solidFill>
            <a:prstDash val="solid"/>
          </a:ln>
        </p:spPr>
      </p:sp>
      <p:pic>
        <p:nvPicPr>
          <p:cNvPr id="42" name="Image 8" descr="preencoded.png">    </p:cNvPr>
          <p:cNvPicPr>
            <a:picLocks noChangeAspect="1"/>
          </p:cNvPicPr>
          <p:nvPr/>
        </p:nvPicPr>
        <p:blipFill>
          <a:blip r:embed="rId9"/>
          <a:stretch>
            <a:fillRect/>
          </a:stretch>
        </p:blipFill>
        <p:spPr>
          <a:xfrm>
            <a:off x="5048402" y="4015130"/>
            <a:ext cx="281635" cy="281635"/>
          </a:xfrm>
          <a:prstGeom prst="rect">
            <a:avLst/>
          </a:prstGeom>
        </p:spPr>
      </p:pic>
      <p:sp>
        <p:nvSpPr>
          <p:cNvPr id="43" name="Text 32"/>
          <p:cNvSpPr/>
          <p:nvPr/>
        </p:nvSpPr>
        <p:spPr>
          <a:xfrm>
            <a:off x="5577840" y="3922776"/>
            <a:ext cx="3291840" cy="32004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Alumni Network</a:t>
            </a:r>
            <a:endParaRPr lang="en-US" sz="1200" dirty="0"/>
          </a:p>
        </p:txBody>
      </p:sp>
      <p:sp>
        <p:nvSpPr>
          <p:cNvPr id="44" name="Text 33"/>
          <p:cNvSpPr/>
          <p:nvPr/>
        </p:nvSpPr>
        <p:spPr>
          <a:xfrm>
            <a:off x="5577840" y="4197096"/>
            <a:ext cx="329184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Join 30M+ NPTEL learners.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WHERE NPTEL LEADS</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Internship Opportunities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28</a:t>
            </a:r>
            <a:endParaRPr lang="en-US" sz="900" dirty="0"/>
          </a:p>
        </p:txBody>
      </p:sp>
      <p:sp>
        <p:nvSpPr>
          <p:cNvPr id="9" name="Shape 7"/>
          <p:cNvSpPr/>
          <p:nvPr/>
        </p:nvSpPr>
        <p:spPr>
          <a:xfrm>
            <a:off x="274320" y="1554480"/>
            <a:ext cx="2011680" cy="22860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1005840" y="1280160"/>
            <a:ext cx="548640" cy="548640"/>
          </a:xfrm>
          <a:prstGeom prst="ellipse">
            <a:avLst/>
          </a:prstGeom>
          <a:solidFill>
            <a:srgbClr val="F97316"/>
          </a:solidFill>
          <a:ln w="12700">
            <a:solidFill>
              <a:srgbClr val="F97316"/>
            </a:solidFill>
            <a:prstDash val="solid"/>
          </a:ln>
        </p:spPr>
      </p:sp>
      <p:sp>
        <p:nvSpPr>
          <p:cNvPr id="11" name="Text 9"/>
          <p:cNvSpPr/>
          <p:nvPr/>
        </p:nvSpPr>
        <p:spPr>
          <a:xfrm>
            <a:off x="100584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12" name="Shape 10"/>
          <p:cNvSpPr/>
          <p:nvPr/>
        </p:nvSpPr>
        <p:spPr>
          <a:xfrm>
            <a:off x="868680" y="2011680"/>
            <a:ext cx="822960" cy="822960"/>
          </a:xfrm>
          <a:prstGeom prst="ellipse">
            <a:avLst/>
          </a:prstGeom>
          <a:solidFill>
            <a:srgbClr val="F1F6FC"/>
          </a:solidFill>
          <a:ln w="12700">
            <a:solidFill>
              <a:srgbClr val="F1F6FC"/>
            </a:solidFill>
            <a:prstDash val="solid"/>
          </a:ln>
        </p:spPr>
      </p:sp>
      <p:pic>
        <p:nvPicPr>
          <p:cNvPr id="13" name="Image 0" descr="preencoded.png">    </p:cNvPr>
          <p:cNvPicPr>
            <a:picLocks noChangeAspect="1"/>
          </p:cNvPicPr>
          <p:nvPr/>
        </p:nvPicPr>
        <p:blipFill>
          <a:blip r:embed="rId1"/>
          <a:stretch>
            <a:fillRect/>
          </a:stretch>
        </p:blipFill>
        <p:spPr>
          <a:xfrm>
            <a:off x="1049731" y="2192731"/>
            <a:ext cx="460858" cy="460858"/>
          </a:xfrm>
          <a:prstGeom prst="rect">
            <a:avLst/>
          </a:prstGeom>
        </p:spPr>
      </p:pic>
      <p:sp>
        <p:nvSpPr>
          <p:cNvPr id="14" name="Text 11"/>
          <p:cNvSpPr/>
          <p:nvPr/>
        </p:nvSpPr>
        <p:spPr>
          <a:xfrm>
            <a:off x="365760" y="2926080"/>
            <a:ext cx="182880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Earn Elite Cert</a:t>
            </a:r>
            <a:endParaRPr lang="en-US" sz="1300" dirty="0"/>
          </a:p>
        </p:txBody>
      </p:sp>
      <p:sp>
        <p:nvSpPr>
          <p:cNvPr id="15" name="Text 12"/>
          <p:cNvSpPr/>
          <p:nvPr/>
        </p:nvSpPr>
        <p:spPr>
          <a:xfrm>
            <a:off x="365760" y="3291840"/>
            <a:ext cx="182880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Above 75% preferred.</a:t>
            </a:r>
            <a:endParaRPr lang="en-US" sz="1000" dirty="0"/>
          </a:p>
        </p:txBody>
      </p:sp>
      <p:sp>
        <p:nvSpPr>
          <p:cNvPr id="16" name="Shape 13"/>
          <p:cNvSpPr/>
          <p:nvPr/>
        </p:nvSpPr>
        <p:spPr>
          <a:xfrm rot="5400000">
            <a:off x="2304288" y="2615184"/>
            <a:ext cx="146304" cy="164592"/>
          </a:xfrm>
          <a:prstGeom prst="rtTriangle">
            <a:avLst/>
          </a:prstGeom>
          <a:solidFill>
            <a:srgbClr val="F97316"/>
          </a:solidFill>
          <a:ln w="12700">
            <a:solidFill>
              <a:srgbClr val="F97316"/>
            </a:solidFill>
            <a:prstDash val="solid"/>
          </a:ln>
        </p:spPr>
      </p:sp>
      <p:sp>
        <p:nvSpPr>
          <p:cNvPr id="17" name="Shape 14"/>
          <p:cNvSpPr/>
          <p:nvPr/>
        </p:nvSpPr>
        <p:spPr>
          <a:xfrm>
            <a:off x="2468880" y="1554480"/>
            <a:ext cx="2011680" cy="22860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8" name="Shape 15"/>
          <p:cNvSpPr/>
          <p:nvPr/>
        </p:nvSpPr>
        <p:spPr>
          <a:xfrm>
            <a:off x="3200400" y="1280160"/>
            <a:ext cx="548640" cy="548640"/>
          </a:xfrm>
          <a:prstGeom prst="ellipse">
            <a:avLst/>
          </a:prstGeom>
          <a:solidFill>
            <a:srgbClr val="F97316"/>
          </a:solidFill>
          <a:ln w="12700">
            <a:solidFill>
              <a:srgbClr val="F97316"/>
            </a:solidFill>
            <a:prstDash val="solid"/>
          </a:ln>
        </p:spPr>
      </p:sp>
      <p:sp>
        <p:nvSpPr>
          <p:cNvPr id="19" name="Text 16"/>
          <p:cNvSpPr/>
          <p:nvPr/>
        </p:nvSpPr>
        <p:spPr>
          <a:xfrm>
            <a:off x="320040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20" name="Shape 17"/>
          <p:cNvSpPr/>
          <p:nvPr/>
        </p:nvSpPr>
        <p:spPr>
          <a:xfrm>
            <a:off x="3063240" y="2011680"/>
            <a:ext cx="822960" cy="822960"/>
          </a:xfrm>
          <a:prstGeom prst="ellipse">
            <a:avLst/>
          </a:prstGeom>
          <a:solidFill>
            <a:srgbClr val="F1F6FC"/>
          </a:solidFill>
          <a:ln w="12700">
            <a:solidFill>
              <a:srgbClr val="F1F6FC"/>
            </a:solidFill>
            <a:prstDash val="solid"/>
          </a:ln>
        </p:spPr>
      </p:sp>
      <p:pic>
        <p:nvPicPr>
          <p:cNvPr id="21" name="Image 1" descr="preencoded.png">    </p:cNvPr>
          <p:cNvPicPr>
            <a:picLocks noChangeAspect="1"/>
          </p:cNvPicPr>
          <p:nvPr/>
        </p:nvPicPr>
        <p:blipFill>
          <a:blip r:embed="rId2"/>
          <a:stretch>
            <a:fillRect/>
          </a:stretch>
        </p:blipFill>
        <p:spPr>
          <a:xfrm>
            <a:off x="3244291" y="2192731"/>
            <a:ext cx="460858" cy="460858"/>
          </a:xfrm>
          <a:prstGeom prst="rect">
            <a:avLst/>
          </a:prstGeom>
        </p:spPr>
      </p:pic>
      <p:sp>
        <p:nvSpPr>
          <p:cNvPr id="22" name="Text 18"/>
          <p:cNvSpPr/>
          <p:nvPr/>
        </p:nvSpPr>
        <p:spPr>
          <a:xfrm>
            <a:off x="2560320" y="2926080"/>
            <a:ext cx="182880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Get Shortlisted</a:t>
            </a:r>
            <a:endParaRPr lang="en-US" sz="1300" dirty="0"/>
          </a:p>
        </p:txBody>
      </p:sp>
      <p:sp>
        <p:nvSpPr>
          <p:cNvPr id="23" name="Text 19"/>
          <p:cNvSpPr/>
          <p:nvPr/>
        </p:nvSpPr>
        <p:spPr>
          <a:xfrm>
            <a:off x="2560320" y="3291840"/>
            <a:ext cx="182880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NPTEL alumni portal opens up.</a:t>
            </a:r>
            <a:endParaRPr lang="en-US" sz="1000" dirty="0"/>
          </a:p>
        </p:txBody>
      </p:sp>
      <p:sp>
        <p:nvSpPr>
          <p:cNvPr id="24" name="Shape 20"/>
          <p:cNvSpPr/>
          <p:nvPr/>
        </p:nvSpPr>
        <p:spPr>
          <a:xfrm rot="5400000">
            <a:off x="4498848" y="2615184"/>
            <a:ext cx="146304" cy="164592"/>
          </a:xfrm>
          <a:prstGeom prst="rtTriangle">
            <a:avLst/>
          </a:prstGeom>
          <a:solidFill>
            <a:srgbClr val="F97316"/>
          </a:solidFill>
          <a:ln w="12700">
            <a:solidFill>
              <a:srgbClr val="F97316"/>
            </a:solidFill>
            <a:prstDash val="solid"/>
          </a:ln>
        </p:spPr>
      </p:sp>
      <p:sp>
        <p:nvSpPr>
          <p:cNvPr id="25" name="Shape 21"/>
          <p:cNvSpPr/>
          <p:nvPr/>
        </p:nvSpPr>
        <p:spPr>
          <a:xfrm>
            <a:off x="4663440" y="1554480"/>
            <a:ext cx="2011680" cy="22860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6" name="Shape 22"/>
          <p:cNvSpPr/>
          <p:nvPr/>
        </p:nvSpPr>
        <p:spPr>
          <a:xfrm>
            <a:off x="5394960" y="1280160"/>
            <a:ext cx="548640" cy="548640"/>
          </a:xfrm>
          <a:prstGeom prst="ellipse">
            <a:avLst/>
          </a:prstGeom>
          <a:solidFill>
            <a:srgbClr val="F97316"/>
          </a:solidFill>
          <a:ln w="12700">
            <a:solidFill>
              <a:srgbClr val="F97316"/>
            </a:solidFill>
            <a:prstDash val="solid"/>
          </a:ln>
        </p:spPr>
      </p:sp>
      <p:sp>
        <p:nvSpPr>
          <p:cNvPr id="27" name="Text 23"/>
          <p:cNvSpPr/>
          <p:nvPr/>
        </p:nvSpPr>
        <p:spPr>
          <a:xfrm>
            <a:off x="539496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28" name="Shape 24"/>
          <p:cNvSpPr/>
          <p:nvPr/>
        </p:nvSpPr>
        <p:spPr>
          <a:xfrm>
            <a:off x="5257800" y="2011680"/>
            <a:ext cx="822960" cy="822960"/>
          </a:xfrm>
          <a:prstGeom prst="ellipse">
            <a:avLst/>
          </a:prstGeom>
          <a:solidFill>
            <a:srgbClr val="F1F6FC"/>
          </a:solidFill>
          <a:ln w="12700">
            <a:solidFill>
              <a:srgbClr val="F1F6FC"/>
            </a:solidFill>
            <a:prstDash val="solid"/>
          </a:ln>
        </p:spPr>
      </p:sp>
      <p:pic>
        <p:nvPicPr>
          <p:cNvPr id="29" name="Image 2" descr="preencoded.png">    </p:cNvPr>
          <p:cNvPicPr>
            <a:picLocks noChangeAspect="1"/>
          </p:cNvPicPr>
          <p:nvPr/>
        </p:nvPicPr>
        <p:blipFill>
          <a:blip r:embed="rId3"/>
          <a:stretch>
            <a:fillRect/>
          </a:stretch>
        </p:blipFill>
        <p:spPr>
          <a:xfrm>
            <a:off x="5438851" y="2192731"/>
            <a:ext cx="460858" cy="460858"/>
          </a:xfrm>
          <a:prstGeom prst="rect">
            <a:avLst/>
          </a:prstGeom>
        </p:spPr>
      </p:pic>
      <p:sp>
        <p:nvSpPr>
          <p:cNvPr id="30" name="Text 25"/>
          <p:cNvSpPr/>
          <p:nvPr/>
        </p:nvSpPr>
        <p:spPr>
          <a:xfrm>
            <a:off x="4754880" y="2926080"/>
            <a:ext cx="182880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Industry Internships</a:t>
            </a:r>
            <a:endParaRPr lang="en-US" sz="1300" dirty="0"/>
          </a:p>
        </p:txBody>
      </p:sp>
      <p:sp>
        <p:nvSpPr>
          <p:cNvPr id="31" name="Text 26"/>
          <p:cNvSpPr/>
          <p:nvPr/>
        </p:nvSpPr>
        <p:spPr>
          <a:xfrm>
            <a:off x="4754880" y="3291840"/>
            <a:ext cx="182880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TCS, Infosys, Bosch, MSMEs.</a:t>
            </a:r>
            <a:endParaRPr lang="en-US" sz="1000" dirty="0"/>
          </a:p>
        </p:txBody>
      </p:sp>
      <p:sp>
        <p:nvSpPr>
          <p:cNvPr id="32" name="Shape 27"/>
          <p:cNvSpPr/>
          <p:nvPr/>
        </p:nvSpPr>
        <p:spPr>
          <a:xfrm rot="5400000">
            <a:off x="6693408" y="2615184"/>
            <a:ext cx="146304" cy="164592"/>
          </a:xfrm>
          <a:prstGeom prst="rtTriangle">
            <a:avLst/>
          </a:prstGeom>
          <a:solidFill>
            <a:srgbClr val="F97316"/>
          </a:solidFill>
          <a:ln w="12700">
            <a:solidFill>
              <a:srgbClr val="F97316"/>
            </a:solidFill>
            <a:prstDash val="solid"/>
          </a:ln>
        </p:spPr>
      </p:sp>
      <p:sp>
        <p:nvSpPr>
          <p:cNvPr id="33" name="Shape 28"/>
          <p:cNvSpPr/>
          <p:nvPr/>
        </p:nvSpPr>
        <p:spPr>
          <a:xfrm>
            <a:off x="6858000" y="1554480"/>
            <a:ext cx="2011680" cy="22860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4" name="Shape 29"/>
          <p:cNvSpPr/>
          <p:nvPr/>
        </p:nvSpPr>
        <p:spPr>
          <a:xfrm>
            <a:off x="7589520" y="1280160"/>
            <a:ext cx="548640" cy="548640"/>
          </a:xfrm>
          <a:prstGeom prst="ellipse">
            <a:avLst/>
          </a:prstGeom>
          <a:solidFill>
            <a:srgbClr val="F97316"/>
          </a:solidFill>
          <a:ln w="12700">
            <a:solidFill>
              <a:srgbClr val="F97316"/>
            </a:solidFill>
            <a:prstDash val="solid"/>
          </a:ln>
        </p:spPr>
      </p:sp>
      <p:sp>
        <p:nvSpPr>
          <p:cNvPr id="35" name="Text 30"/>
          <p:cNvSpPr/>
          <p:nvPr/>
        </p:nvSpPr>
        <p:spPr>
          <a:xfrm>
            <a:off x="758952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36" name="Shape 31"/>
          <p:cNvSpPr/>
          <p:nvPr/>
        </p:nvSpPr>
        <p:spPr>
          <a:xfrm>
            <a:off x="7452360" y="2011680"/>
            <a:ext cx="822960" cy="822960"/>
          </a:xfrm>
          <a:prstGeom prst="ellipse">
            <a:avLst/>
          </a:prstGeom>
          <a:solidFill>
            <a:srgbClr val="F1F6FC"/>
          </a:solidFill>
          <a:ln w="12700">
            <a:solidFill>
              <a:srgbClr val="F1F6FC"/>
            </a:solidFill>
            <a:prstDash val="solid"/>
          </a:ln>
        </p:spPr>
      </p:sp>
      <p:pic>
        <p:nvPicPr>
          <p:cNvPr id="37" name="Image 3" descr="preencoded.png">    </p:cNvPr>
          <p:cNvPicPr>
            <a:picLocks noChangeAspect="1"/>
          </p:cNvPicPr>
          <p:nvPr/>
        </p:nvPicPr>
        <p:blipFill>
          <a:blip r:embed="rId4"/>
          <a:stretch>
            <a:fillRect/>
          </a:stretch>
        </p:blipFill>
        <p:spPr>
          <a:xfrm>
            <a:off x="7633411" y="2192731"/>
            <a:ext cx="460858" cy="460858"/>
          </a:xfrm>
          <a:prstGeom prst="rect">
            <a:avLst/>
          </a:prstGeom>
        </p:spPr>
      </p:pic>
      <p:sp>
        <p:nvSpPr>
          <p:cNvPr id="38" name="Text 32"/>
          <p:cNvSpPr/>
          <p:nvPr/>
        </p:nvSpPr>
        <p:spPr>
          <a:xfrm>
            <a:off x="6949440" y="2926080"/>
            <a:ext cx="1828800" cy="36576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Stipend &amp; PPO</a:t>
            </a:r>
            <a:endParaRPr lang="en-US" sz="1300" dirty="0"/>
          </a:p>
        </p:txBody>
      </p:sp>
      <p:sp>
        <p:nvSpPr>
          <p:cNvPr id="39" name="Text 33"/>
          <p:cNvSpPr/>
          <p:nvPr/>
        </p:nvSpPr>
        <p:spPr>
          <a:xfrm>
            <a:off x="6949440" y="3291840"/>
            <a:ext cx="182880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Convert to placement offer.</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NPTEL X INDUSTRY</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Industry Associates Programme</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29</a:t>
            </a:r>
            <a:endParaRPr lang="en-US" sz="900" dirty="0"/>
          </a:p>
        </p:txBody>
      </p:sp>
      <p:sp>
        <p:nvSpPr>
          <p:cNvPr id="9" name="Shape 7"/>
          <p:cNvSpPr/>
          <p:nvPr/>
        </p:nvSpPr>
        <p:spPr>
          <a:xfrm>
            <a:off x="457200" y="1371600"/>
            <a:ext cx="3657600" cy="3200400"/>
          </a:xfrm>
          <a:prstGeom prst="roundRect">
            <a:avLst>
              <a:gd name="adj" fmla="val 2857"/>
            </a:avLst>
          </a:prstGeom>
          <a:solidFill>
            <a:srgbClr val="0B2A4A"/>
          </a:solidFill>
          <a:ln w="12700">
            <a:solidFill>
              <a:srgbClr val="0B2A4A"/>
            </a:solidFill>
            <a:prstDash val="solid"/>
          </a:ln>
          <a:effectLst>
            <a:outerShdw sx="100000" sy="100000" kx="0" ky="0" algn="bl" rotWithShape="0" blurRad="127000" dist="25400" dir="5400000">
              <a:srgbClr val="000000">
                <a:alpha val="10000"/>
              </a:srgbClr>
            </a:outerShdw>
          </a:effectLst>
        </p:spPr>
      </p:sp>
      <p:sp>
        <p:nvSpPr>
          <p:cNvPr id="10" name="Text 8"/>
          <p:cNvSpPr/>
          <p:nvPr/>
        </p:nvSpPr>
        <p:spPr>
          <a:xfrm>
            <a:off x="685800" y="1554480"/>
            <a:ext cx="3200400" cy="365760"/>
          </a:xfrm>
          <a:prstGeom prst="rect">
            <a:avLst/>
          </a:prstGeom>
          <a:noFill/>
          <a:ln/>
        </p:spPr>
        <p:txBody>
          <a:bodyPr wrap="square" lIns="0" tIns="0" rIns="0" bIns="0" rtlCol="0" anchor="ctr"/>
          <a:lstStyle/>
          <a:p>
            <a:pPr indent="0" marL="0">
              <a:buNone/>
            </a:pPr>
            <a:r>
              <a:rPr lang="en-US" sz="1200" b="1" dirty="0">
                <a:solidFill>
                  <a:srgbClr val="F97316"/>
                </a:solidFill>
                <a:latin typeface="Segoe UI" pitchFamily="34" charset="0"/>
                <a:ea typeface="Segoe UI" pitchFamily="34" charset="-122"/>
                <a:cs typeface="Segoe UI" pitchFamily="34" charset="-120"/>
              </a:rPr>
              <a:t>What is it?</a:t>
            </a:r>
            <a:endParaRPr lang="en-US" sz="1200" dirty="0"/>
          </a:p>
        </p:txBody>
      </p:sp>
      <p:sp>
        <p:nvSpPr>
          <p:cNvPr id="11" name="Text 9"/>
          <p:cNvSpPr/>
          <p:nvPr/>
        </p:nvSpPr>
        <p:spPr>
          <a:xfrm>
            <a:off x="685800" y="1920240"/>
            <a:ext cx="3200400" cy="146304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A partnership where companies use NPTEL certifications to shortlist candidates.</a:t>
            </a:r>
            <a:endParaRPr lang="en-US" sz="1500" dirty="0"/>
          </a:p>
        </p:txBody>
      </p:sp>
      <p:sp>
        <p:nvSpPr>
          <p:cNvPr id="12" name="Shape 10"/>
          <p:cNvSpPr/>
          <p:nvPr/>
        </p:nvSpPr>
        <p:spPr>
          <a:xfrm>
            <a:off x="685800" y="3429000"/>
            <a:ext cx="365760" cy="36576"/>
          </a:xfrm>
          <a:prstGeom prst="rect">
            <a:avLst/>
          </a:prstGeom>
          <a:solidFill>
            <a:srgbClr val="F97316"/>
          </a:solidFill>
          <a:ln w="12700">
            <a:solidFill>
              <a:srgbClr val="F97316"/>
            </a:solidFill>
            <a:prstDash val="solid"/>
          </a:ln>
        </p:spPr>
      </p:sp>
      <p:sp>
        <p:nvSpPr>
          <p:cNvPr id="13" name="Text 11"/>
          <p:cNvSpPr/>
          <p:nvPr/>
        </p:nvSpPr>
        <p:spPr>
          <a:xfrm>
            <a:off x="685800" y="3566160"/>
            <a:ext cx="3200400" cy="365760"/>
          </a:xfrm>
          <a:prstGeom prst="rect">
            <a:avLst/>
          </a:prstGeom>
          <a:noFill/>
          <a:ln/>
        </p:spPr>
        <p:txBody>
          <a:bodyPr wrap="square" lIns="0" tIns="0" rIns="0" bIns="0" rtlCol="0" anchor="ctr"/>
          <a:lstStyle/>
          <a:p>
            <a:pPr indent="0" marL="0">
              <a:buNone/>
            </a:pPr>
            <a:r>
              <a:rPr lang="en-US" sz="1200" i="1" dirty="0">
                <a:solidFill>
                  <a:srgbClr val="E8F1FB"/>
                </a:solidFill>
                <a:latin typeface="Segoe UI" pitchFamily="34" charset="0"/>
                <a:ea typeface="Segoe UI" pitchFamily="34" charset="-122"/>
                <a:cs typeface="Segoe UI" pitchFamily="34" charset="-120"/>
              </a:rPr>
              <a:t>300+ hiring partners today.</a:t>
            </a:r>
            <a:endParaRPr lang="en-US" sz="1200" dirty="0"/>
          </a:p>
        </p:txBody>
      </p:sp>
      <p:sp>
        <p:nvSpPr>
          <p:cNvPr id="14" name="Shape 12"/>
          <p:cNvSpPr/>
          <p:nvPr/>
        </p:nvSpPr>
        <p:spPr>
          <a:xfrm>
            <a:off x="4480560" y="1371600"/>
            <a:ext cx="548640" cy="548640"/>
          </a:xfrm>
          <a:prstGeom prst="ellipse">
            <a:avLst/>
          </a:prstGeom>
          <a:solidFill>
            <a:srgbClr val="E8F1FB"/>
          </a:solidFill>
          <a:ln w="12700">
            <a:solidFill>
              <a:srgbClr val="E8F1FB"/>
            </a:solidFill>
            <a:prstDash val="solid"/>
          </a:ln>
        </p:spPr>
      </p:sp>
      <p:pic>
        <p:nvPicPr>
          <p:cNvPr id="15" name="Image 0" descr="preencoded.png">    </p:cNvPr>
          <p:cNvPicPr>
            <a:picLocks noChangeAspect="1"/>
          </p:cNvPicPr>
          <p:nvPr/>
        </p:nvPicPr>
        <p:blipFill>
          <a:blip r:embed="rId1"/>
          <a:stretch>
            <a:fillRect/>
          </a:stretch>
        </p:blipFill>
        <p:spPr>
          <a:xfrm>
            <a:off x="4601261" y="1492301"/>
            <a:ext cx="307238" cy="307238"/>
          </a:xfrm>
          <a:prstGeom prst="rect">
            <a:avLst/>
          </a:prstGeom>
        </p:spPr>
      </p:pic>
      <p:sp>
        <p:nvSpPr>
          <p:cNvPr id="16" name="Text 13"/>
          <p:cNvSpPr/>
          <p:nvPr/>
        </p:nvSpPr>
        <p:spPr>
          <a:xfrm>
            <a:off x="5166360" y="1389888"/>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Pre-Screened Talent</a:t>
            </a:r>
            <a:endParaRPr lang="en-US" sz="1300" dirty="0"/>
          </a:p>
        </p:txBody>
      </p:sp>
      <p:sp>
        <p:nvSpPr>
          <p:cNvPr id="17" name="Text 14"/>
          <p:cNvSpPr/>
          <p:nvPr/>
        </p:nvSpPr>
        <p:spPr>
          <a:xfrm>
            <a:off x="5166360" y="1691640"/>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NPTEL score does first filter.</a:t>
            </a:r>
            <a:endParaRPr lang="en-US" sz="1050" dirty="0"/>
          </a:p>
        </p:txBody>
      </p:sp>
      <p:sp>
        <p:nvSpPr>
          <p:cNvPr id="18" name="Shape 15"/>
          <p:cNvSpPr/>
          <p:nvPr/>
        </p:nvSpPr>
        <p:spPr>
          <a:xfrm>
            <a:off x="4480560" y="2148840"/>
            <a:ext cx="548640" cy="548640"/>
          </a:xfrm>
          <a:prstGeom prst="ellipse">
            <a:avLst/>
          </a:prstGeom>
          <a:solidFill>
            <a:srgbClr val="E8F1FB"/>
          </a:solidFill>
          <a:ln w="12700">
            <a:solidFill>
              <a:srgbClr val="E8F1FB"/>
            </a:solidFill>
            <a:prstDash val="solid"/>
          </a:ln>
        </p:spPr>
      </p:sp>
      <p:pic>
        <p:nvPicPr>
          <p:cNvPr id="19" name="Image 1" descr="preencoded.png">    </p:cNvPr>
          <p:cNvPicPr>
            <a:picLocks noChangeAspect="1"/>
          </p:cNvPicPr>
          <p:nvPr/>
        </p:nvPicPr>
        <p:blipFill>
          <a:blip r:embed="rId2"/>
          <a:stretch>
            <a:fillRect/>
          </a:stretch>
        </p:blipFill>
        <p:spPr>
          <a:xfrm>
            <a:off x="4601261" y="2269541"/>
            <a:ext cx="307238" cy="307238"/>
          </a:xfrm>
          <a:prstGeom prst="rect">
            <a:avLst/>
          </a:prstGeom>
        </p:spPr>
      </p:pic>
      <p:sp>
        <p:nvSpPr>
          <p:cNvPr id="20" name="Text 16"/>
          <p:cNvSpPr/>
          <p:nvPr/>
        </p:nvSpPr>
        <p:spPr>
          <a:xfrm>
            <a:off x="5166360" y="2167128"/>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Direct Hiring</a:t>
            </a:r>
            <a:endParaRPr lang="en-US" sz="1300" dirty="0"/>
          </a:p>
        </p:txBody>
      </p:sp>
      <p:sp>
        <p:nvSpPr>
          <p:cNvPr id="21" name="Text 17"/>
          <p:cNvSpPr/>
          <p:nvPr/>
        </p:nvSpPr>
        <p:spPr>
          <a:xfrm>
            <a:off x="5166360" y="2468880"/>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Companies contact NPTEL toppers.</a:t>
            </a:r>
            <a:endParaRPr lang="en-US" sz="1050" dirty="0"/>
          </a:p>
        </p:txBody>
      </p:sp>
      <p:sp>
        <p:nvSpPr>
          <p:cNvPr id="22" name="Shape 18"/>
          <p:cNvSpPr/>
          <p:nvPr/>
        </p:nvSpPr>
        <p:spPr>
          <a:xfrm>
            <a:off x="4480560" y="2926080"/>
            <a:ext cx="548640" cy="548640"/>
          </a:xfrm>
          <a:prstGeom prst="ellipse">
            <a:avLst/>
          </a:prstGeom>
          <a:solidFill>
            <a:srgbClr val="E8F1FB"/>
          </a:solidFill>
          <a:ln w="12700">
            <a:solidFill>
              <a:srgbClr val="E8F1FB"/>
            </a:solidFill>
            <a:prstDash val="solid"/>
          </a:ln>
        </p:spPr>
      </p:sp>
      <p:pic>
        <p:nvPicPr>
          <p:cNvPr id="23" name="Image 2" descr="preencoded.png">    </p:cNvPr>
          <p:cNvPicPr>
            <a:picLocks noChangeAspect="1"/>
          </p:cNvPicPr>
          <p:nvPr/>
        </p:nvPicPr>
        <p:blipFill>
          <a:blip r:embed="rId3"/>
          <a:stretch>
            <a:fillRect/>
          </a:stretch>
        </p:blipFill>
        <p:spPr>
          <a:xfrm>
            <a:off x="4601261" y="3046781"/>
            <a:ext cx="307238" cy="307238"/>
          </a:xfrm>
          <a:prstGeom prst="rect">
            <a:avLst/>
          </a:prstGeom>
        </p:spPr>
      </p:pic>
      <p:sp>
        <p:nvSpPr>
          <p:cNvPr id="24" name="Text 19"/>
          <p:cNvSpPr/>
          <p:nvPr/>
        </p:nvSpPr>
        <p:spPr>
          <a:xfrm>
            <a:off x="5166360" y="2944368"/>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Industry Webinars</a:t>
            </a:r>
            <a:endParaRPr lang="en-US" sz="1300" dirty="0"/>
          </a:p>
        </p:txBody>
      </p:sp>
      <p:sp>
        <p:nvSpPr>
          <p:cNvPr id="25" name="Text 20"/>
          <p:cNvSpPr/>
          <p:nvPr/>
        </p:nvSpPr>
        <p:spPr>
          <a:xfrm>
            <a:off x="5166360" y="3246120"/>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Insights from working engineers.</a:t>
            </a:r>
            <a:endParaRPr lang="en-US" sz="1050" dirty="0"/>
          </a:p>
        </p:txBody>
      </p:sp>
      <p:sp>
        <p:nvSpPr>
          <p:cNvPr id="26" name="Shape 21"/>
          <p:cNvSpPr/>
          <p:nvPr/>
        </p:nvSpPr>
        <p:spPr>
          <a:xfrm>
            <a:off x="4480560" y="3703320"/>
            <a:ext cx="548640" cy="548640"/>
          </a:xfrm>
          <a:prstGeom prst="ellipse">
            <a:avLst/>
          </a:prstGeom>
          <a:solidFill>
            <a:srgbClr val="E8F1FB"/>
          </a:solidFill>
          <a:ln w="12700">
            <a:solidFill>
              <a:srgbClr val="E8F1FB"/>
            </a:solidFill>
            <a:prstDash val="solid"/>
          </a:ln>
        </p:spPr>
      </p:sp>
      <p:pic>
        <p:nvPicPr>
          <p:cNvPr id="27" name="Image 3" descr="preencoded.png">    </p:cNvPr>
          <p:cNvPicPr>
            <a:picLocks noChangeAspect="1"/>
          </p:cNvPicPr>
          <p:nvPr/>
        </p:nvPicPr>
        <p:blipFill>
          <a:blip r:embed="rId4"/>
          <a:stretch>
            <a:fillRect/>
          </a:stretch>
        </p:blipFill>
        <p:spPr>
          <a:xfrm>
            <a:off x="4601261" y="3824021"/>
            <a:ext cx="307238" cy="307238"/>
          </a:xfrm>
          <a:prstGeom prst="rect">
            <a:avLst/>
          </a:prstGeom>
        </p:spPr>
      </p:pic>
      <p:sp>
        <p:nvSpPr>
          <p:cNvPr id="28" name="Text 22"/>
          <p:cNvSpPr/>
          <p:nvPr/>
        </p:nvSpPr>
        <p:spPr>
          <a:xfrm>
            <a:off x="5166360" y="3721608"/>
            <a:ext cx="3657600" cy="32004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Live Projects</a:t>
            </a:r>
            <a:endParaRPr lang="en-US" sz="1300" dirty="0"/>
          </a:p>
        </p:txBody>
      </p:sp>
      <p:sp>
        <p:nvSpPr>
          <p:cNvPr id="29" name="Text 23"/>
          <p:cNvSpPr/>
          <p:nvPr/>
        </p:nvSpPr>
        <p:spPr>
          <a:xfrm>
            <a:off x="5166360" y="4023360"/>
            <a:ext cx="36576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Solve real business problems.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BEYOND TECHNICAL MASTERY</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Soft Skills Training</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30</a:t>
            </a:r>
            <a:endParaRPr lang="en-US" sz="900" dirty="0"/>
          </a:p>
        </p:txBody>
      </p:sp>
      <p:sp>
        <p:nvSpPr>
          <p:cNvPr id="9" name="Shape 7"/>
          <p:cNvSpPr/>
          <p:nvPr/>
        </p:nvSpPr>
        <p:spPr>
          <a:xfrm>
            <a:off x="617220" y="141732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1188720" y="1600200"/>
            <a:ext cx="731520" cy="731520"/>
          </a:xfrm>
          <a:prstGeom prst="ellipse">
            <a:avLst/>
          </a:prstGeom>
          <a:solidFill>
            <a:srgbClr val="FFFFFF"/>
          </a:solidFill>
          <a:ln w="12700">
            <a:solidFill>
              <a:srgbClr val="FFFFFF"/>
            </a:solidFill>
            <a:prstDash val="solid"/>
          </a:ln>
        </p:spPr>
      </p:sp>
      <p:pic>
        <p:nvPicPr>
          <p:cNvPr id="11" name="Image 0" descr="preencoded.png">    </p:cNvPr>
          <p:cNvPicPr>
            <a:picLocks noChangeAspect="1"/>
          </p:cNvPicPr>
          <p:nvPr/>
        </p:nvPicPr>
        <p:blipFill>
          <a:blip r:embed="rId1"/>
          <a:stretch>
            <a:fillRect/>
          </a:stretch>
        </p:blipFill>
        <p:spPr>
          <a:xfrm>
            <a:off x="1349654" y="1761134"/>
            <a:ext cx="409651" cy="409651"/>
          </a:xfrm>
          <a:prstGeom prst="rect">
            <a:avLst/>
          </a:prstGeom>
        </p:spPr>
      </p:pic>
      <p:sp>
        <p:nvSpPr>
          <p:cNvPr id="12" name="Text 9"/>
          <p:cNvSpPr/>
          <p:nvPr/>
        </p:nvSpPr>
        <p:spPr>
          <a:xfrm>
            <a:off x="708660" y="237744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Communication</a:t>
            </a:r>
            <a:endParaRPr lang="en-US" sz="1200" dirty="0"/>
          </a:p>
        </p:txBody>
      </p:sp>
      <p:sp>
        <p:nvSpPr>
          <p:cNvPr id="13" name="Shape 10"/>
          <p:cNvSpPr/>
          <p:nvPr/>
        </p:nvSpPr>
        <p:spPr>
          <a:xfrm>
            <a:off x="2628900" y="141732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4" name="Shape 11"/>
          <p:cNvSpPr/>
          <p:nvPr/>
        </p:nvSpPr>
        <p:spPr>
          <a:xfrm>
            <a:off x="3200400" y="1600200"/>
            <a:ext cx="731520" cy="731520"/>
          </a:xfrm>
          <a:prstGeom prst="ellipse">
            <a:avLst/>
          </a:prstGeom>
          <a:solidFill>
            <a:srgbClr val="FFFFFF"/>
          </a:solidFill>
          <a:ln w="12700">
            <a:solidFill>
              <a:srgbClr val="FFFFFF"/>
            </a:solidFill>
            <a:prstDash val="solid"/>
          </a:ln>
        </p:spPr>
      </p:sp>
      <p:pic>
        <p:nvPicPr>
          <p:cNvPr id="15" name="Image 1" descr="preencoded.png">    </p:cNvPr>
          <p:cNvPicPr>
            <a:picLocks noChangeAspect="1"/>
          </p:cNvPicPr>
          <p:nvPr/>
        </p:nvPicPr>
        <p:blipFill>
          <a:blip r:embed="rId2"/>
          <a:stretch>
            <a:fillRect/>
          </a:stretch>
        </p:blipFill>
        <p:spPr>
          <a:xfrm>
            <a:off x="3361334" y="1761134"/>
            <a:ext cx="409651" cy="409651"/>
          </a:xfrm>
          <a:prstGeom prst="rect">
            <a:avLst/>
          </a:prstGeom>
        </p:spPr>
      </p:pic>
      <p:sp>
        <p:nvSpPr>
          <p:cNvPr id="16" name="Text 12"/>
          <p:cNvSpPr/>
          <p:nvPr/>
        </p:nvSpPr>
        <p:spPr>
          <a:xfrm>
            <a:off x="2720340" y="237744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Teamwork</a:t>
            </a:r>
            <a:endParaRPr lang="en-US" sz="1200" dirty="0"/>
          </a:p>
        </p:txBody>
      </p:sp>
      <p:sp>
        <p:nvSpPr>
          <p:cNvPr id="17" name="Shape 13"/>
          <p:cNvSpPr/>
          <p:nvPr/>
        </p:nvSpPr>
        <p:spPr>
          <a:xfrm>
            <a:off x="4640580" y="141732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8" name="Shape 14"/>
          <p:cNvSpPr/>
          <p:nvPr/>
        </p:nvSpPr>
        <p:spPr>
          <a:xfrm>
            <a:off x="5212080" y="1600200"/>
            <a:ext cx="731520" cy="731520"/>
          </a:xfrm>
          <a:prstGeom prst="ellipse">
            <a:avLst/>
          </a:prstGeom>
          <a:solidFill>
            <a:srgbClr val="FFFFFF"/>
          </a:solidFill>
          <a:ln w="127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5373014" y="1761134"/>
            <a:ext cx="409651" cy="409651"/>
          </a:xfrm>
          <a:prstGeom prst="rect">
            <a:avLst/>
          </a:prstGeom>
        </p:spPr>
      </p:pic>
      <p:sp>
        <p:nvSpPr>
          <p:cNvPr id="20" name="Text 15"/>
          <p:cNvSpPr/>
          <p:nvPr/>
        </p:nvSpPr>
        <p:spPr>
          <a:xfrm>
            <a:off x="4732020" y="237744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Leadership</a:t>
            </a:r>
            <a:endParaRPr lang="en-US" sz="1200" dirty="0"/>
          </a:p>
        </p:txBody>
      </p:sp>
      <p:sp>
        <p:nvSpPr>
          <p:cNvPr id="21" name="Shape 16"/>
          <p:cNvSpPr/>
          <p:nvPr/>
        </p:nvSpPr>
        <p:spPr>
          <a:xfrm>
            <a:off x="6652260" y="141732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2" name="Shape 17"/>
          <p:cNvSpPr/>
          <p:nvPr/>
        </p:nvSpPr>
        <p:spPr>
          <a:xfrm>
            <a:off x="7223760" y="1600200"/>
            <a:ext cx="731520" cy="731520"/>
          </a:xfrm>
          <a:prstGeom prst="ellipse">
            <a:avLst/>
          </a:prstGeom>
          <a:solidFill>
            <a:srgbClr val="FFFFFF"/>
          </a:solidFill>
          <a:ln w="12700">
            <a:solidFill>
              <a:srgbClr val="FFFFFF"/>
            </a:solidFill>
            <a:prstDash val="solid"/>
          </a:ln>
        </p:spPr>
      </p:sp>
      <p:pic>
        <p:nvPicPr>
          <p:cNvPr id="23" name="Image 3" descr="preencoded.png">    </p:cNvPr>
          <p:cNvPicPr>
            <a:picLocks noChangeAspect="1"/>
          </p:cNvPicPr>
          <p:nvPr/>
        </p:nvPicPr>
        <p:blipFill>
          <a:blip r:embed="rId4"/>
          <a:stretch>
            <a:fillRect/>
          </a:stretch>
        </p:blipFill>
        <p:spPr>
          <a:xfrm>
            <a:off x="7384694" y="1761134"/>
            <a:ext cx="409651" cy="409651"/>
          </a:xfrm>
          <a:prstGeom prst="rect">
            <a:avLst/>
          </a:prstGeom>
        </p:spPr>
      </p:pic>
      <p:sp>
        <p:nvSpPr>
          <p:cNvPr id="24" name="Text 18"/>
          <p:cNvSpPr/>
          <p:nvPr/>
        </p:nvSpPr>
        <p:spPr>
          <a:xfrm>
            <a:off x="6743700" y="237744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Problem-Solving</a:t>
            </a:r>
            <a:endParaRPr lang="en-US" sz="1200" dirty="0"/>
          </a:p>
        </p:txBody>
      </p:sp>
      <p:sp>
        <p:nvSpPr>
          <p:cNvPr id="25" name="Shape 19"/>
          <p:cNvSpPr/>
          <p:nvPr/>
        </p:nvSpPr>
        <p:spPr>
          <a:xfrm>
            <a:off x="617220" y="292608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6" name="Shape 20"/>
          <p:cNvSpPr/>
          <p:nvPr/>
        </p:nvSpPr>
        <p:spPr>
          <a:xfrm>
            <a:off x="1188720" y="3108960"/>
            <a:ext cx="731520" cy="731520"/>
          </a:xfrm>
          <a:prstGeom prst="ellipse">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5"/>
          <a:stretch>
            <a:fillRect/>
          </a:stretch>
        </p:blipFill>
        <p:spPr>
          <a:xfrm>
            <a:off x="1349654" y="3269894"/>
            <a:ext cx="409651" cy="409651"/>
          </a:xfrm>
          <a:prstGeom prst="rect">
            <a:avLst/>
          </a:prstGeom>
        </p:spPr>
      </p:pic>
      <p:sp>
        <p:nvSpPr>
          <p:cNvPr id="28" name="Text 21"/>
          <p:cNvSpPr/>
          <p:nvPr/>
        </p:nvSpPr>
        <p:spPr>
          <a:xfrm>
            <a:off x="708660" y="388620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Time Management</a:t>
            </a:r>
            <a:endParaRPr lang="en-US" sz="1200" dirty="0"/>
          </a:p>
        </p:txBody>
      </p:sp>
      <p:sp>
        <p:nvSpPr>
          <p:cNvPr id="29" name="Shape 22"/>
          <p:cNvSpPr/>
          <p:nvPr/>
        </p:nvSpPr>
        <p:spPr>
          <a:xfrm>
            <a:off x="2628900" y="292608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0" name="Shape 23"/>
          <p:cNvSpPr/>
          <p:nvPr/>
        </p:nvSpPr>
        <p:spPr>
          <a:xfrm>
            <a:off x="3200400" y="3108960"/>
            <a:ext cx="731520" cy="73152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3361334" y="3269894"/>
            <a:ext cx="409651" cy="409651"/>
          </a:xfrm>
          <a:prstGeom prst="rect">
            <a:avLst/>
          </a:prstGeom>
        </p:spPr>
      </p:pic>
      <p:sp>
        <p:nvSpPr>
          <p:cNvPr id="32" name="Text 24"/>
          <p:cNvSpPr/>
          <p:nvPr/>
        </p:nvSpPr>
        <p:spPr>
          <a:xfrm>
            <a:off x="2720340" y="388620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Negotiation</a:t>
            </a:r>
            <a:endParaRPr lang="en-US" sz="1200" dirty="0"/>
          </a:p>
        </p:txBody>
      </p:sp>
      <p:sp>
        <p:nvSpPr>
          <p:cNvPr id="33" name="Shape 25"/>
          <p:cNvSpPr/>
          <p:nvPr/>
        </p:nvSpPr>
        <p:spPr>
          <a:xfrm>
            <a:off x="4640580" y="292608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4" name="Shape 26"/>
          <p:cNvSpPr/>
          <p:nvPr/>
        </p:nvSpPr>
        <p:spPr>
          <a:xfrm>
            <a:off x="5212080" y="3108960"/>
            <a:ext cx="731520" cy="731520"/>
          </a:xfrm>
          <a:prstGeom prst="ellipse">
            <a:avLst/>
          </a:prstGeom>
          <a:solidFill>
            <a:srgbClr val="FFFFFF"/>
          </a:solidFill>
          <a:ln w="12700">
            <a:solidFill>
              <a:srgbClr val="FFFFFF"/>
            </a:solidFill>
            <a:prstDash val="solid"/>
          </a:ln>
        </p:spPr>
      </p:sp>
      <p:pic>
        <p:nvPicPr>
          <p:cNvPr id="35" name="Image 6" descr="preencoded.png">    </p:cNvPr>
          <p:cNvPicPr>
            <a:picLocks noChangeAspect="1"/>
          </p:cNvPicPr>
          <p:nvPr/>
        </p:nvPicPr>
        <p:blipFill>
          <a:blip r:embed="rId7"/>
          <a:stretch>
            <a:fillRect/>
          </a:stretch>
        </p:blipFill>
        <p:spPr>
          <a:xfrm>
            <a:off x="5373014" y="3269894"/>
            <a:ext cx="409651" cy="409651"/>
          </a:xfrm>
          <a:prstGeom prst="rect">
            <a:avLst/>
          </a:prstGeom>
        </p:spPr>
      </p:pic>
      <p:sp>
        <p:nvSpPr>
          <p:cNvPr id="36" name="Text 27"/>
          <p:cNvSpPr/>
          <p:nvPr/>
        </p:nvSpPr>
        <p:spPr>
          <a:xfrm>
            <a:off x="4732020" y="388620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Business Writing</a:t>
            </a:r>
            <a:endParaRPr lang="en-US" sz="1200" dirty="0"/>
          </a:p>
        </p:txBody>
      </p:sp>
      <p:sp>
        <p:nvSpPr>
          <p:cNvPr id="37" name="Shape 28"/>
          <p:cNvSpPr/>
          <p:nvPr/>
        </p:nvSpPr>
        <p:spPr>
          <a:xfrm>
            <a:off x="6652260" y="2926080"/>
            <a:ext cx="1874520" cy="1371600"/>
          </a:xfrm>
          <a:prstGeom prst="roundRect">
            <a:avLst>
              <a:gd name="adj" fmla="val 5333"/>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8" name="Shape 29"/>
          <p:cNvSpPr/>
          <p:nvPr/>
        </p:nvSpPr>
        <p:spPr>
          <a:xfrm>
            <a:off x="7223760" y="3108960"/>
            <a:ext cx="731520" cy="731520"/>
          </a:xfrm>
          <a:prstGeom prst="ellipse">
            <a:avLst/>
          </a:prstGeom>
          <a:solidFill>
            <a:srgbClr val="FFFFFF"/>
          </a:solidFill>
          <a:ln w="12700">
            <a:solidFill>
              <a:srgbClr val="FFFFFF"/>
            </a:solidFill>
            <a:prstDash val="solid"/>
          </a:ln>
        </p:spPr>
      </p:sp>
      <p:pic>
        <p:nvPicPr>
          <p:cNvPr id="39" name="Image 7" descr="preencoded.png">    </p:cNvPr>
          <p:cNvPicPr>
            <a:picLocks noChangeAspect="1"/>
          </p:cNvPicPr>
          <p:nvPr/>
        </p:nvPicPr>
        <p:blipFill>
          <a:blip r:embed="rId8"/>
          <a:stretch>
            <a:fillRect/>
          </a:stretch>
        </p:blipFill>
        <p:spPr>
          <a:xfrm>
            <a:off x="7384694" y="3269894"/>
            <a:ext cx="409651" cy="409651"/>
          </a:xfrm>
          <a:prstGeom prst="rect">
            <a:avLst/>
          </a:prstGeom>
        </p:spPr>
      </p:pic>
      <p:sp>
        <p:nvSpPr>
          <p:cNvPr id="40" name="Text 30"/>
          <p:cNvSpPr/>
          <p:nvPr/>
        </p:nvSpPr>
        <p:spPr>
          <a:xfrm>
            <a:off x="6743700" y="3886200"/>
            <a:ext cx="1691640" cy="365760"/>
          </a:xfrm>
          <a:prstGeom prst="rect">
            <a:avLst/>
          </a:prstGeom>
          <a:noFill/>
          <a:ln/>
        </p:spPr>
        <p:txBody>
          <a:bodyPr wrap="square" lIns="0" tIns="0" rIns="0" bIns="0" rtlCol="0" anchor="ctr"/>
          <a:lstStyle/>
          <a:p>
            <a:pPr algn="ctr" indent="0" marL="0">
              <a:buNone/>
            </a:pPr>
            <a:r>
              <a:rPr lang="en-US" sz="1200" b="1" dirty="0">
                <a:solidFill>
                  <a:srgbClr val="0B2A4A"/>
                </a:solidFill>
                <a:latin typeface="Segoe UI" pitchFamily="34" charset="0"/>
                <a:ea typeface="Segoe UI" pitchFamily="34" charset="-122"/>
                <a:cs typeface="Segoe UI" pitchFamily="34" charset="-120"/>
              </a:rPr>
              <a:t>Public Speaking</a:t>
            </a:r>
            <a:endParaRPr lang="en-US" sz="1200" dirty="0"/>
          </a:p>
        </p:txBody>
      </p:sp>
      <p:sp>
        <p:nvSpPr>
          <p:cNvPr id="41" name="Text 31"/>
          <p:cNvSpPr/>
          <p:nvPr/>
        </p:nvSpPr>
        <p:spPr>
          <a:xfrm>
            <a:off x="457200" y="4434840"/>
            <a:ext cx="8229600" cy="320040"/>
          </a:xfrm>
          <a:prstGeom prst="rect">
            <a:avLst/>
          </a:prstGeom>
          <a:noFill/>
          <a:ln/>
        </p:spPr>
        <p:txBody>
          <a:bodyPr wrap="square" lIns="0" tIns="0" rIns="0" bIns="0" rtlCol="0" anchor="ctr"/>
          <a:lstStyle/>
          <a:p>
            <a:pPr algn="ctr" indent="0" marL="0">
              <a:buNone/>
            </a:pPr>
            <a:r>
              <a:rPr lang="en-US" sz="1200" i="1" dirty="0">
                <a:solidFill>
                  <a:srgbClr val="F97316"/>
                </a:solidFill>
                <a:latin typeface="Segoe UI" pitchFamily="34" charset="0"/>
                <a:ea typeface="Segoe UI" pitchFamily="34" charset="-122"/>
                <a:cs typeface="Segoe UI" pitchFamily="34" charset="-120"/>
              </a:rPr>
              <a:t>NPTEL soft-skill courses complement your technical strength.</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OWN THE TECHNICAL ROUND</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Interview Preparation</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31</a:t>
            </a:r>
            <a:endParaRPr lang="en-US" sz="900" dirty="0"/>
          </a:p>
        </p:txBody>
      </p:sp>
      <p:sp>
        <p:nvSpPr>
          <p:cNvPr id="9" name="Text 7"/>
          <p:cNvSpPr/>
          <p:nvPr/>
        </p:nvSpPr>
        <p:spPr>
          <a:xfrm>
            <a:off x="457200" y="1371600"/>
            <a:ext cx="4114800" cy="365760"/>
          </a:xfrm>
          <a:prstGeom prst="rect">
            <a:avLst/>
          </a:prstGeom>
          <a:noFill/>
          <a:ln/>
        </p:spPr>
        <p:txBody>
          <a:bodyPr wrap="square" lIns="0" tIns="0" rIns="0" bIns="0" rtlCol="0" anchor="ctr"/>
          <a:lstStyle/>
          <a:p>
            <a:pPr indent="0" marL="0">
              <a:buNone/>
            </a:pPr>
            <a:r>
              <a:rPr lang="en-US" sz="1600" b="1" dirty="0">
                <a:solidFill>
                  <a:srgbClr val="0B2A4A"/>
                </a:solidFill>
                <a:latin typeface="Segoe UI" pitchFamily="34" charset="0"/>
                <a:ea typeface="Segoe UI" pitchFamily="34" charset="-122"/>
                <a:cs typeface="Segoe UI" pitchFamily="34" charset="-120"/>
              </a:rPr>
              <a:t>Preparation Playbook</a:t>
            </a:r>
            <a:endParaRPr lang="en-US" sz="1600" dirty="0"/>
          </a:p>
        </p:txBody>
      </p:sp>
      <p:sp>
        <p:nvSpPr>
          <p:cNvPr id="10" name="Shape 8"/>
          <p:cNvSpPr/>
          <p:nvPr/>
        </p:nvSpPr>
        <p:spPr>
          <a:xfrm>
            <a:off x="457200" y="1737360"/>
            <a:ext cx="365760" cy="36576"/>
          </a:xfrm>
          <a:prstGeom prst="rect">
            <a:avLst/>
          </a:prstGeom>
          <a:solidFill>
            <a:srgbClr val="F97316"/>
          </a:solidFill>
          <a:ln w="12700">
            <a:solidFill>
              <a:srgbClr val="F97316"/>
            </a:solidFill>
            <a:prstDash val="solid"/>
          </a:ln>
        </p:spPr>
      </p:sp>
      <p:sp>
        <p:nvSpPr>
          <p:cNvPr id="11" name="Shape 9"/>
          <p:cNvSpPr/>
          <p:nvPr/>
        </p:nvSpPr>
        <p:spPr>
          <a:xfrm>
            <a:off x="457200" y="1965960"/>
            <a:ext cx="365760" cy="365760"/>
          </a:xfrm>
          <a:prstGeom prst="ellipse">
            <a:avLst/>
          </a:prstGeom>
          <a:solidFill>
            <a:srgbClr val="0B2A4A"/>
          </a:solidFill>
          <a:ln w="12700">
            <a:solidFill>
              <a:srgbClr val="0B2A4A"/>
            </a:solidFill>
            <a:prstDash val="solid"/>
          </a:ln>
        </p:spPr>
      </p:sp>
      <p:sp>
        <p:nvSpPr>
          <p:cNvPr id="12" name="Text 10"/>
          <p:cNvSpPr/>
          <p:nvPr/>
        </p:nvSpPr>
        <p:spPr>
          <a:xfrm>
            <a:off x="457200" y="1965960"/>
            <a:ext cx="36576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1</a:t>
            </a:r>
            <a:endParaRPr lang="en-US" sz="1200" dirty="0"/>
          </a:p>
        </p:txBody>
      </p:sp>
      <p:sp>
        <p:nvSpPr>
          <p:cNvPr id="13" name="Text 11"/>
          <p:cNvSpPr/>
          <p:nvPr/>
        </p:nvSpPr>
        <p:spPr>
          <a:xfrm>
            <a:off x="960120" y="2011680"/>
            <a:ext cx="3291840" cy="320040"/>
          </a:xfrm>
          <a:prstGeom prst="rect">
            <a:avLst/>
          </a:prstGeom>
          <a:noFill/>
          <a:ln/>
        </p:spPr>
        <p:txBody>
          <a:bodyPr wrap="square" lIns="0" tIns="0" rIns="0" bIns="0" rtlCol="0" anchor="ctr"/>
          <a:lstStyle/>
          <a:p>
            <a:pPr indent="0" marL="0">
              <a:buNone/>
            </a:pPr>
            <a:r>
              <a:rPr lang="en-US" sz="1200" dirty="0">
                <a:solidFill>
                  <a:srgbClr val="1F2937"/>
                </a:solidFill>
                <a:latin typeface="Segoe UI" pitchFamily="34" charset="0"/>
                <a:ea typeface="Segoe UI" pitchFamily="34" charset="-122"/>
                <a:cs typeface="Segoe UI" pitchFamily="34" charset="-120"/>
              </a:rPr>
              <a:t>Revise NPTEL notes weekly.</a:t>
            </a:r>
            <a:endParaRPr lang="en-US" sz="1200" dirty="0"/>
          </a:p>
        </p:txBody>
      </p:sp>
      <p:sp>
        <p:nvSpPr>
          <p:cNvPr id="14" name="Shape 12"/>
          <p:cNvSpPr/>
          <p:nvPr/>
        </p:nvSpPr>
        <p:spPr>
          <a:xfrm>
            <a:off x="457200" y="2468880"/>
            <a:ext cx="365760" cy="365760"/>
          </a:xfrm>
          <a:prstGeom prst="ellipse">
            <a:avLst/>
          </a:prstGeom>
          <a:solidFill>
            <a:srgbClr val="0B2A4A"/>
          </a:solidFill>
          <a:ln w="12700">
            <a:solidFill>
              <a:srgbClr val="0B2A4A"/>
            </a:solidFill>
            <a:prstDash val="solid"/>
          </a:ln>
        </p:spPr>
      </p:sp>
      <p:sp>
        <p:nvSpPr>
          <p:cNvPr id="15" name="Text 13"/>
          <p:cNvSpPr/>
          <p:nvPr/>
        </p:nvSpPr>
        <p:spPr>
          <a:xfrm>
            <a:off x="457200" y="2468880"/>
            <a:ext cx="36576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2</a:t>
            </a:r>
            <a:endParaRPr lang="en-US" sz="1200" dirty="0"/>
          </a:p>
        </p:txBody>
      </p:sp>
      <p:sp>
        <p:nvSpPr>
          <p:cNvPr id="16" name="Text 14"/>
          <p:cNvSpPr/>
          <p:nvPr/>
        </p:nvSpPr>
        <p:spPr>
          <a:xfrm>
            <a:off x="960120" y="2514600"/>
            <a:ext cx="3291840" cy="320040"/>
          </a:xfrm>
          <a:prstGeom prst="rect">
            <a:avLst/>
          </a:prstGeom>
          <a:noFill/>
          <a:ln/>
        </p:spPr>
        <p:txBody>
          <a:bodyPr wrap="square" lIns="0" tIns="0" rIns="0" bIns="0" rtlCol="0" anchor="ctr"/>
          <a:lstStyle/>
          <a:p>
            <a:pPr indent="0" marL="0">
              <a:buNone/>
            </a:pPr>
            <a:r>
              <a:rPr lang="en-US" sz="1200" dirty="0">
                <a:solidFill>
                  <a:srgbClr val="1F2937"/>
                </a:solidFill>
                <a:latin typeface="Segoe UI" pitchFamily="34" charset="0"/>
                <a:ea typeface="Segoe UI" pitchFamily="34" charset="-122"/>
                <a:cs typeface="Segoe UI" pitchFamily="34" charset="-120"/>
              </a:rPr>
              <a:t>Use forum questions as mock Q&amp;A.</a:t>
            </a:r>
            <a:endParaRPr lang="en-US" sz="1200" dirty="0"/>
          </a:p>
        </p:txBody>
      </p:sp>
      <p:sp>
        <p:nvSpPr>
          <p:cNvPr id="17" name="Shape 15"/>
          <p:cNvSpPr/>
          <p:nvPr/>
        </p:nvSpPr>
        <p:spPr>
          <a:xfrm>
            <a:off x="457200" y="2971800"/>
            <a:ext cx="365760" cy="365760"/>
          </a:xfrm>
          <a:prstGeom prst="ellipse">
            <a:avLst/>
          </a:prstGeom>
          <a:solidFill>
            <a:srgbClr val="0B2A4A"/>
          </a:solidFill>
          <a:ln w="12700">
            <a:solidFill>
              <a:srgbClr val="0B2A4A"/>
            </a:solidFill>
            <a:prstDash val="solid"/>
          </a:ln>
        </p:spPr>
      </p:sp>
      <p:sp>
        <p:nvSpPr>
          <p:cNvPr id="18" name="Text 16"/>
          <p:cNvSpPr/>
          <p:nvPr/>
        </p:nvSpPr>
        <p:spPr>
          <a:xfrm>
            <a:off x="457200" y="2971800"/>
            <a:ext cx="36576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3</a:t>
            </a:r>
            <a:endParaRPr lang="en-US" sz="1200" dirty="0"/>
          </a:p>
        </p:txBody>
      </p:sp>
      <p:sp>
        <p:nvSpPr>
          <p:cNvPr id="19" name="Text 17"/>
          <p:cNvSpPr/>
          <p:nvPr/>
        </p:nvSpPr>
        <p:spPr>
          <a:xfrm>
            <a:off x="960120" y="3017520"/>
            <a:ext cx="3291840" cy="320040"/>
          </a:xfrm>
          <a:prstGeom prst="rect">
            <a:avLst/>
          </a:prstGeom>
          <a:noFill/>
          <a:ln/>
        </p:spPr>
        <p:txBody>
          <a:bodyPr wrap="square" lIns="0" tIns="0" rIns="0" bIns="0" rtlCol="0" anchor="ctr"/>
          <a:lstStyle/>
          <a:p>
            <a:pPr indent="0" marL="0">
              <a:buNone/>
            </a:pPr>
            <a:r>
              <a:rPr lang="en-US" sz="1200" dirty="0">
                <a:solidFill>
                  <a:srgbClr val="1F2937"/>
                </a:solidFill>
                <a:latin typeface="Segoe UI" pitchFamily="34" charset="0"/>
                <a:ea typeface="Segoe UI" pitchFamily="34" charset="-122"/>
                <a:cs typeface="Segoe UI" pitchFamily="34" charset="-120"/>
              </a:rPr>
              <a:t>Build one mini-project per course.</a:t>
            </a:r>
            <a:endParaRPr lang="en-US" sz="1200" dirty="0"/>
          </a:p>
        </p:txBody>
      </p:sp>
      <p:sp>
        <p:nvSpPr>
          <p:cNvPr id="20" name="Shape 18"/>
          <p:cNvSpPr/>
          <p:nvPr/>
        </p:nvSpPr>
        <p:spPr>
          <a:xfrm>
            <a:off x="457200" y="3474720"/>
            <a:ext cx="365760" cy="365760"/>
          </a:xfrm>
          <a:prstGeom prst="ellipse">
            <a:avLst/>
          </a:prstGeom>
          <a:solidFill>
            <a:srgbClr val="0B2A4A"/>
          </a:solidFill>
          <a:ln w="12700">
            <a:solidFill>
              <a:srgbClr val="0B2A4A"/>
            </a:solidFill>
            <a:prstDash val="solid"/>
          </a:ln>
        </p:spPr>
      </p:sp>
      <p:sp>
        <p:nvSpPr>
          <p:cNvPr id="21" name="Text 19"/>
          <p:cNvSpPr/>
          <p:nvPr/>
        </p:nvSpPr>
        <p:spPr>
          <a:xfrm>
            <a:off x="457200" y="3474720"/>
            <a:ext cx="36576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4</a:t>
            </a:r>
            <a:endParaRPr lang="en-US" sz="1200" dirty="0"/>
          </a:p>
        </p:txBody>
      </p:sp>
      <p:sp>
        <p:nvSpPr>
          <p:cNvPr id="22" name="Text 20"/>
          <p:cNvSpPr/>
          <p:nvPr/>
        </p:nvSpPr>
        <p:spPr>
          <a:xfrm>
            <a:off x="960120" y="3520440"/>
            <a:ext cx="3291840" cy="320040"/>
          </a:xfrm>
          <a:prstGeom prst="rect">
            <a:avLst/>
          </a:prstGeom>
          <a:noFill/>
          <a:ln/>
        </p:spPr>
        <p:txBody>
          <a:bodyPr wrap="square" lIns="0" tIns="0" rIns="0" bIns="0" rtlCol="0" anchor="ctr"/>
          <a:lstStyle/>
          <a:p>
            <a:pPr indent="0" marL="0">
              <a:buNone/>
            </a:pPr>
            <a:r>
              <a:rPr lang="en-US" sz="1200" dirty="0">
                <a:solidFill>
                  <a:srgbClr val="1F2937"/>
                </a:solidFill>
                <a:latin typeface="Segoe UI" pitchFamily="34" charset="0"/>
                <a:ea typeface="Segoe UI" pitchFamily="34" charset="-122"/>
                <a:cs typeface="Segoe UI" pitchFamily="34" charset="-120"/>
              </a:rPr>
              <a:t>Explain topics aloud to a peer.</a:t>
            </a:r>
            <a:endParaRPr lang="en-US" sz="1200" dirty="0"/>
          </a:p>
        </p:txBody>
      </p:sp>
      <p:sp>
        <p:nvSpPr>
          <p:cNvPr id="23" name="Shape 21"/>
          <p:cNvSpPr/>
          <p:nvPr/>
        </p:nvSpPr>
        <p:spPr>
          <a:xfrm>
            <a:off x="457200" y="3977640"/>
            <a:ext cx="365760" cy="365760"/>
          </a:xfrm>
          <a:prstGeom prst="ellipse">
            <a:avLst/>
          </a:prstGeom>
          <a:solidFill>
            <a:srgbClr val="0B2A4A"/>
          </a:solidFill>
          <a:ln w="12700">
            <a:solidFill>
              <a:srgbClr val="0B2A4A"/>
            </a:solidFill>
            <a:prstDash val="solid"/>
          </a:ln>
        </p:spPr>
      </p:sp>
      <p:sp>
        <p:nvSpPr>
          <p:cNvPr id="24" name="Text 22"/>
          <p:cNvSpPr/>
          <p:nvPr/>
        </p:nvSpPr>
        <p:spPr>
          <a:xfrm>
            <a:off x="457200" y="3977640"/>
            <a:ext cx="36576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5</a:t>
            </a:r>
            <a:endParaRPr lang="en-US" sz="1200" dirty="0"/>
          </a:p>
        </p:txBody>
      </p:sp>
      <p:sp>
        <p:nvSpPr>
          <p:cNvPr id="25" name="Text 23"/>
          <p:cNvSpPr/>
          <p:nvPr/>
        </p:nvSpPr>
        <p:spPr>
          <a:xfrm>
            <a:off x="960120" y="4023360"/>
            <a:ext cx="3291840" cy="320040"/>
          </a:xfrm>
          <a:prstGeom prst="rect">
            <a:avLst/>
          </a:prstGeom>
          <a:noFill/>
          <a:ln/>
        </p:spPr>
        <p:txBody>
          <a:bodyPr wrap="square" lIns="0" tIns="0" rIns="0" bIns="0" rtlCol="0" anchor="ctr"/>
          <a:lstStyle/>
          <a:p>
            <a:pPr indent="0" marL="0">
              <a:buNone/>
            </a:pPr>
            <a:r>
              <a:rPr lang="en-US" sz="1200" dirty="0">
                <a:solidFill>
                  <a:srgbClr val="1F2937"/>
                </a:solidFill>
                <a:latin typeface="Segoe UI" pitchFamily="34" charset="0"/>
                <a:ea typeface="Segoe UI" pitchFamily="34" charset="-122"/>
                <a:cs typeface="Segoe UI" pitchFamily="34" charset="-120"/>
              </a:rPr>
              <a:t>Mention IIT professor names.</a:t>
            </a:r>
            <a:endParaRPr lang="en-US" sz="1200" dirty="0"/>
          </a:p>
        </p:txBody>
      </p:sp>
      <p:graphicFrame>
        <p:nvGraphicFramePr>
          <p:cNvPr id="26" name="Chart 0" descr=""/>
          <p:cNvGraphicFramePr/>
          <p:nvPr/>
        </p:nvGraphicFramePr>
        <p:xfrm>
          <a:off x="4663440" y="1371600"/>
          <a:ext cx="4114800" cy="31089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BE MORE THAN A CERTIFICATE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Success Programs &amp; Recognition</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32</a:t>
            </a:r>
            <a:endParaRPr lang="en-US" sz="900" dirty="0"/>
          </a:p>
        </p:txBody>
      </p:sp>
      <p:sp>
        <p:nvSpPr>
          <p:cNvPr id="9" name="Shape 7"/>
          <p:cNvSpPr/>
          <p:nvPr/>
        </p:nvSpPr>
        <p:spPr>
          <a:xfrm>
            <a:off x="457200" y="1371600"/>
            <a:ext cx="265176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457200" y="1371600"/>
            <a:ext cx="73152" cy="1417320"/>
          </a:xfrm>
          <a:prstGeom prst="rect">
            <a:avLst/>
          </a:prstGeom>
          <a:solidFill>
            <a:srgbClr val="F97316"/>
          </a:solidFill>
          <a:ln w="12700">
            <a:solidFill>
              <a:srgbClr val="F97316"/>
            </a:solidFill>
            <a:prstDash val="solid"/>
          </a:ln>
        </p:spPr>
      </p:sp>
      <p:sp>
        <p:nvSpPr>
          <p:cNvPr id="11" name="Shape 9"/>
          <p:cNvSpPr/>
          <p:nvPr/>
        </p:nvSpPr>
        <p:spPr>
          <a:xfrm>
            <a:off x="685800" y="1645920"/>
            <a:ext cx="822960" cy="822960"/>
          </a:xfrm>
          <a:prstGeom prst="ellipse">
            <a:avLst/>
          </a:prstGeom>
          <a:solidFill>
            <a:srgbClr val="E8F1FB"/>
          </a:solidFill>
          <a:ln w="12700">
            <a:solidFill>
              <a:srgbClr val="E8F1FB"/>
            </a:solidFill>
            <a:prstDash val="solid"/>
          </a:ln>
        </p:spPr>
      </p:sp>
      <p:pic>
        <p:nvPicPr>
          <p:cNvPr id="12" name="Image 0" descr="preencoded.png">    </p:cNvPr>
          <p:cNvPicPr>
            <a:picLocks noChangeAspect="1"/>
          </p:cNvPicPr>
          <p:nvPr/>
        </p:nvPicPr>
        <p:blipFill>
          <a:blip r:embed="rId1"/>
          <a:stretch>
            <a:fillRect/>
          </a:stretch>
        </p:blipFill>
        <p:spPr>
          <a:xfrm>
            <a:off x="866851" y="1826971"/>
            <a:ext cx="460858" cy="460858"/>
          </a:xfrm>
          <a:prstGeom prst="rect">
            <a:avLst/>
          </a:prstGeom>
        </p:spPr>
      </p:pic>
      <p:sp>
        <p:nvSpPr>
          <p:cNvPr id="13" name="Text 10"/>
          <p:cNvSpPr/>
          <p:nvPr/>
        </p:nvSpPr>
        <p:spPr>
          <a:xfrm>
            <a:off x="1645920" y="1600200"/>
            <a:ext cx="137160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NPTEL Stars</a:t>
            </a:r>
            <a:endParaRPr lang="en-US" sz="1300" dirty="0"/>
          </a:p>
        </p:txBody>
      </p:sp>
      <p:sp>
        <p:nvSpPr>
          <p:cNvPr id="14" name="Text 11"/>
          <p:cNvSpPr/>
          <p:nvPr/>
        </p:nvSpPr>
        <p:spPr>
          <a:xfrm>
            <a:off x="1645920" y="2011680"/>
            <a:ext cx="137160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Top scorers in each course.</a:t>
            </a:r>
            <a:endParaRPr lang="en-US" sz="1050" dirty="0"/>
          </a:p>
        </p:txBody>
      </p:sp>
      <p:sp>
        <p:nvSpPr>
          <p:cNvPr id="15" name="Shape 12"/>
          <p:cNvSpPr/>
          <p:nvPr/>
        </p:nvSpPr>
        <p:spPr>
          <a:xfrm>
            <a:off x="3246120" y="1371600"/>
            <a:ext cx="265176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6" name="Shape 13"/>
          <p:cNvSpPr/>
          <p:nvPr/>
        </p:nvSpPr>
        <p:spPr>
          <a:xfrm>
            <a:off x="3246120" y="1371600"/>
            <a:ext cx="73152" cy="1417320"/>
          </a:xfrm>
          <a:prstGeom prst="rect">
            <a:avLst/>
          </a:prstGeom>
          <a:solidFill>
            <a:srgbClr val="2E7CD6"/>
          </a:solidFill>
          <a:ln w="12700">
            <a:solidFill>
              <a:srgbClr val="2E7CD6"/>
            </a:solidFill>
            <a:prstDash val="solid"/>
          </a:ln>
        </p:spPr>
      </p:sp>
      <p:sp>
        <p:nvSpPr>
          <p:cNvPr id="17" name="Shape 14"/>
          <p:cNvSpPr/>
          <p:nvPr/>
        </p:nvSpPr>
        <p:spPr>
          <a:xfrm>
            <a:off x="3474720" y="1645920"/>
            <a:ext cx="822960" cy="822960"/>
          </a:xfrm>
          <a:prstGeom prst="ellipse">
            <a:avLst/>
          </a:prstGeom>
          <a:solidFill>
            <a:srgbClr val="E8F1FB"/>
          </a:solidFill>
          <a:ln w="12700">
            <a:solidFill>
              <a:srgbClr val="E8F1FB"/>
            </a:solidFill>
            <a:prstDash val="solid"/>
          </a:ln>
        </p:spPr>
      </p:sp>
      <p:pic>
        <p:nvPicPr>
          <p:cNvPr id="18" name="Image 1" descr="preencoded.png">    </p:cNvPr>
          <p:cNvPicPr>
            <a:picLocks noChangeAspect="1"/>
          </p:cNvPicPr>
          <p:nvPr/>
        </p:nvPicPr>
        <p:blipFill>
          <a:blip r:embed="rId2"/>
          <a:stretch>
            <a:fillRect/>
          </a:stretch>
        </p:blipFill>
        <p:spPr>
          <a:xfrm>
            <a:off x="3655771" y="1826971"/>
            <a:ext cx="460858" cy="460858"/>
          </a:xfrm>
          <a:prstGeom prst="rect">
            <a:avLst/>
          </a:prstGeom>
        </p:spPr>
      </p:pic>
      <p:sp>
        <p:nvSpPr>
          <p:cNvPr id="19" name="Text 15"/>
          <p:cNvSpPr/>
          <p:nvPr/>
        </p:nvSpPr>
        <p:spPr>
          <a:xfrm>
            <a:off x="4434840" y="1600200"/>
            <a:ext cx="137160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Evangelists</a:t>
            </a:r>
            <a:endParaRPr lang="en-US" sz="1300" dirty="0"/>
          </a:p>
        </p:txBody>
      </p:sp>
      <p:sp>
        <p:nvSpPr>
          <p:cNvPr id="20" name="Text 16"/>
          <p:cNvSpPr/>
          <p:nvPr/>
        </p:nvSpPr>
        <p:spPr>
          <a:xfrm>
            <a:off x="4434840" y="2011680"/>
            <a:ext cx="137160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Student ambassadors on campus.</a:t>
            </a:r>
            <a:endParaRPr lang="en-US" sz="1050" dirty="0"/>
          </a:p>
        </p:txBody>
      </p:sp>
      <p:sp>
        <p:nvSpPr>
          <p:cNvPr id="21" name="Shape 17"/>
          <p:cNvSpPr/>
          <p:nvPr/>
        </p:nvSpPr>
        <p:spPr>
          <a:xfrm>
            <a:off x="6035040" y="1371600"/>
            <a:ext cx="265176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2" name="Shape 18"/>
          <p:cNvSpPr/>
          <p:nvPr/>
        </p:nvSpPr>
        <p:spPr>
          <a:xfrm>
            <a:off x="6035040" y="1371600"/>
            <a:ext cx="73152" cy="1417320"/>
          </a:xfrm>
          <a:prstGeom prst="rect">
            <a:avLst/>
          </a:prstGeom>
          <a:solidFill>
            <a:srgbClr val="1E4E8C"/>
          </a:solidFill>
          <a:ln w="12700">
            <a:solidFill>
              <a:srgbClr val="1E4E8C"/>
            </a:solidFill>
            <a:prstDash val="solid"/>
          </a:ln>
        </p:spPr>
      </p:sp>
      <p:sp>
        <p:nvSpPr>
          <p:cNvPr id="23" name="Shape 19"/>
          <p:cNvSpPr/>
          <p:nvPr/>
        </p:nvSpPr>
        <p:spPr>
          <a:xfrm>
            <a:off x="6263640" y="1645920"/>
            <a:ext cx="822960" cy="822960"/>
          </a:xfrm>
          <a:prstGeom prst="ellipse">
            <a:avLst/>
          </a:prstGeom>
          <a:solidFill>
            <a:srgbClr val="E8F1FB"/>
          </a:solidFill>
          <a:ln w="12700">
            <a:solidFill>
              <a:srgbClr val="E8F1FB"/>
            </a:solidFill>
            <a:prstDash val="solid"/>
          </a:ln>
        </p:spPr>
      </p:sp>
      <p:pic>
        <p:nvPicPr>
          <p:cNvPr id="24" name="Image 2" descr="preencoded.png">    </p:cNvPr>
          <p:cNvPicPr>
            <a:picLocks noChangeAspect="1"/>
          </p:cNvPicPr>
          <p:nvPr/>
        </p:nvPicPr>
        <p:blipFill>
          <a:blip r:embed="rId3"/>
          <a:stretch>
            <a:fillRect/>
          </a:stretch>
        </p:blipFill>
        <p:spPr>
          <a:xfrm>
            <a:off x="6444691" y="1826971"/>
            <a:ext cx="460858" cy="460858"/>
          </a:xfrm>
          <a:prstGeom prst="rect">
            <a:avLst/>
          </a:prstGeom>
        </p:spPr>
      </p:pic>
      <p:sp>
        <p:nvSpPr>
          <p:cNvPr id="25" name="Text 20"/>
          <p:cNvSpPr/>
          <p:nvPr/>
        </p:nvSpPr>
        <p:spPr>
          <a:xfrm>
            <a:off x="7223760" y="1600200"/>
            <a:ext cx="137160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Motivated Learners</a:t>
            </a:r>
            <a:endParaRPr lang="en-US" sz="1300" dirty="0"/>
          </a:p>
        </p:txBody>
      </p:sp>
      <p:sp>
        <p:nvSpPr>
          <p:cNvPr id="26" name="Text 21"/>
          <p:cNvSpPr/>
          <p:nvPr/>
        </p:nvSpPr>
        <p:spPr>
          <a:xfrm>
            <a:off x="7223760" y="2011680"/>
            <a:ext cx="137160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Complete 4+ courses / year.</a:t>
            </a:r>
            <a:endParaRPr lang="en-US" sz="1050" dirty="0"/>
          </a:p>
        </p:txBody>
      </p:sp>
      <p:sp>
        <p:nvSpPr>
          <p:cNvPr id="27" name="Shape 22"/>
          <p:cNvSpPr/>
          <p:nvPr/>
        </p:nvSpPr>
        <p:spPr>
          <a:xfrm>
            <a:off x="457200" y="2926080"/>
            <a:ext cx="265176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8" name="Shape 23"/>
          <p:cNvSpPr/>
          <p:nvPr/>
        </p:nvSpPr>
        <p:spPr>
          <a:xfrm>
            <a:off x="457200" y="2926080"/>
            <a:ext cx="73152" cy="1417320"/>
          </a:xfrm>
          <a:prstGeom prst="rect">
            <a:avLst/>
          </a:prstGeom>
          <a:solidFill>
            <a:srgbClr val="0B2A4A"/>
          </a:solidFill>
          <a:ln w="12700">
            <a:solidFill>
              <a:srgbClr val="0B2A4A"/>
            </a:solidFill>
            <a:prstDash val="solid"/>
          </a:ln>
        </p:spPr>
      </p:sp>
      <p:sp>
        <p:nvSpPr>
          <p:cNvPr id="29" name="Shape 24"/>
          <p:cNvSpPr/>
          <p:nvPr/>
        </p:nvSpPr>
        <p:spPr>
          <a:xfrm>
            <a:off x="685800" y="3200400"/>
            <a:ext cx="822960" cy="822960"/>
          </a:xfrm>
          <a:prstGeom prst="ellipse">
            <a:avLst/>
          </a:prstGeom>
          <a:solidFill>
            <a:srgbClr val="E8F1FB"/>
          </a:solidFill>
          <a:ln w="12700">
            <a:solidFill>
              <a:srgbClr val="E8F1FB"/>
            </a:solidFill>
            <a:prstDash val="solid"/>
          </a:ln>
        </p:spPr>
      </p:sp>
      <p:pic>
        <p:nvPicPr>
          <p:cNvPr id="30" name="Image 3" descr="preencoded.png">    </p:cNvPr>
          <p:cNvPicPr>
            <a:picLocks noChangeAspect="1"/>
          </p:cNvPicPr>
          <p:nvPr/>
        </p:nvPicPr>
        <p:blipFill>
          <a:blip r:embed="rId4"/>
          <a:stretch>
            <a:fillRect/>
          </a:stretch>
        </p:blipFill>
        <p:spPr>
          <a:xfrm>
            <a:off x="866851" y="3381451"/>
            <a:ext cx="460858" cy="460858"/>
          </a:xfrm>
          <a:prstGeom prst="rect">
            <a:avLst/>
          </a:prstGeom>
        </p:spPr>
      </p:pic>
      <p:sp>
        <p:nvSpPr>
          <p:cNvPr id="31" name="Text 25"/>
          <p:cNvSpPr/>
          <p:nvPr/>
        </p:nvSpPr>
        <p:spPr>
          <a:xfrm>
            <a:off x="1645920" y="3154680"/>
            <a:ext cx="137160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Discipline Toppers</a:t>
            </a:r>
            <a:endParaRPr lang="en-US" sz="1300" dirty="0"/>
          </a:p>
        </p:txBody>
      </p:sp>
      <p:sp>
        <p:nvSpPr>
          <p:cNvPr id="32" name="Text 26"/>
          <p:cNvSpPr/>
          <p:nvPr/>
        </p:nvSpPr>
        <p:spPr>
          <a:xfrm>
            <a:off x="1645920" y="3566160"/>
            <a:ext cx="137160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Rank #1 in your branch.</a:t>
            </a:r>
            <a:endParaRPr lang="en-US" sz="1050" dirty="0"/>
          </a:p>
        </p:txBody>
      </p:sp>
      <p:sp>
        <p:nvSpPr>
          <p:cNvPr id="33" name="Shape 27"/>
          <p:cNvSpPr/>
          <p:nvPr/>
        </p:nvSpPr>
        <p:spPr>
          <a:xfrm>
            <a:off x="3246120" y="2926080"/>
            <a:ext cx="265176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4" name="Shape 28"/>
          <p:cNvSpPr/>
          <p:nvPr/>
        </p:nvSpPr>
        <p:spPr>
          <a:xfrm>
            <a:off x="3246120" y="2926080"/>
            <a:ext cx="73152" cy="1417320"/>
          </a:xfrm>
          <a:prstGeom prst="rect">
            <a:avLst/>
          </a:prstGeom>
          <a:solidFill>
            <a:srgbClr val="F97316"/>
          </a:solidFill>
          <a:ln w="12700">
            <a:solidFill>
              <a:srgbClr val="F97316"/>
            </a:solidFill>
            <a:prstDash val="solid"/>
          </a:ln>
        </p:spPr>
      </p:sp>
      <p:sp>
        <p:nvSpPr>
          <p:cNvPr id="35" name="Shape 29"/>
          <p:cNvSpPr/>
          <p:nvPr/>
        </p:nvSpPr>
        <p:spPr>
          <a:xfrm>
            <a:off x="3474720" y="3200400"/>
            <a:ext cx="822960" cy="822960"/>
          </a:xfrm>
          <a:prstGeom prst="ellipse">
            <a:avLst/>
          </a:prstGeom>
          <a:solidFill>
            <a:srgbClr val="E8F1FB"/>
          </a:solidFill>
          <a:ln w="12700">
            <a:solidFill>
              <a:srgbClr val="E8F1FB"/>
            </a:solidFill>
            <a:prstDash val="solid"/>
          </a:ln>
        </p:spPr>
      </p:sp>
      <p:pic>
        <p:nvPicPr>
          <p:cNvPr id="36" name="Image 4" descr="preencoded.png">    </p:cNvPr>
          <p:cNvPicPr>
            <a:picLocks noChangeAspect="1"/>
          </p:cNvPicPr>
          <p:nvPr/>
        </p:nvPicPr>
        <p:blipFill>
          <a:blip r:embed="rId5"/>
          <a:stretch>
            <a:fillRect/>
          </a:stretch>
        </p:blipFill>
        <p:spPr>
          <a:xfrm>
            <a:off x="3655771" y="3381451"/>
            <a:ext cx="460858" cy="460858"/>
          </a:xfrm>
          <a:prstGeom prst="rect">
            <a:avLst/>
          </a:prstGeom>
        </p:spPr>
      </p:pic>
      <p:sp>
        <p:nvSpPr>
          <p:cNvPr id="37" name="Text 30"/>
          <p:cNvSpPr/>
          <p:nvPr/>
        </p:nvSpPr>
        <p:spPr>
          <a:xfrm>
            <a:off x="4434840" y="3154680"/>
            <a:ext cx="137160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Belief in Excellence</a:t>
            </a:r>
            <a:endParaRPr lang="en-US" sz="1300" dirty="0"/>
          </a:p>
        </p:txBody>
      </p:sp>
      <p:sp>
        <p:nvSpPr>
          <p:cNvPr id="38" name="Text 31"/>
          <p:cNvSpPr/>
          <p:nvPr/>
        </p:nvSpPr>
        <p:spPr>
          <a:xfrm>
            <a:off x="4434840" y="3566160"/>
            <a:ext cx="137160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Colleges with 200+ certified.</a:t>
            </a:r>
            <a:endParaRPr lang="en-US" sz="1050" dirty="0"/>
          </a:p>
        </p:txBody>
      </p:sp>
      <p:sp>
        <p:nvSpPr>
          <p:cNvPr id="39" name="Shape 32"/>
          <p:cNvSpPr/>
          <p:nvPr/>
        </p:nvSpPr>
        <p:spPr>
          <a:xfrm>
            <a:off x="6035040" y="2926080"/>
            <a:ext cx="265176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40" name="Shape 33"/>
          <p:cNvSpPr/>
          <p:nvPr/>
        </p:nvSpPr>
        <p:spPr>
          <a:xfrm>
            <a:off x="6035040" y="2926080"/>
            <a:ext cx="73152" cy="1417320"/>
          </a:xfrm>
          <a:prstGeom prst="rect">
            <a:avLst/>
          </a:prstGeom>
          <a:solidFill>
            <a:srgbClr val="1E4E8C"/>
          </a:solidFill>
          <a:ln w="12700">
            <a:solidFill>
              <a:srgbClr val="1E4E8C"/>
            </a:solidFill>
            <a:prstDash val="solid"/>
          </a:ln>
        </p:spPr>
      </p:sp>
      <p:sp>
        <p:nvSpPr>
          <p:cNvPr id="41" name="Shape 34"/>
          <p:cNvSpPr/>
          <p:nvPr/>
        </p:nvSpPr>
        <p:spPr>
          <a:xfrm>
            <a:off x="6263640" y="3200400"/>
            <a:ext cx="822960" cy="822960"/>
          </a:xfrm>
          <a:prstGeom prst="ellipse">
            <a:avLst/>
          </a:prstGeom>
          <a:solidFill>
            <a:srgbClr val="E8F1FB"/>
          </a:solidFill>
          <a:ln w="12700">
            <a:solidFill>
              <a:srgbClr val="E8F1FB"/>
            </a:solidFill>
            <a:prstDash val="solid"/>
          </a:ln>
        </p:spPr>
      </p:sp>
      <p:pic>
        <p:nvPicPr>
          <p:cNvPr id="42" name="Image 5" descr="preencoded.png">    </p:cNvPr>
          <p:cNvPicPr>
            <a:picLocks noChangeAspect="1"/>
          </p:cNvPicPr>
          <p:nvPr/>
        </p:nvPicPr>
        <p:blipFill>
          <a:blip r:embed="rId6"/>
          <a:stretch>
            <a:fillRect/>
          </a:stretch>
        </p:blipFill>
        <p:spPr>
          <a:xfrm>
            <a:off x="6444691" y="3381451"/>
            <a:ext cx="460858" cy="460858"/>
          </a:xfrm>
          <a:prstGeom prst="rect">
            <a:avLst/>
          </a:prstGeom>
        </p:spPr>
      </p:pic>
      <p:sp>
        <p:nvSpPr>
          <p:cNvPr id="43" name="Text 35"/>
          <p:cNvSpPr/>
          <p:nvPr/>
        </p:nvSpPr>
        <p:spPr>
          <a:xfrm>
            <a:off x="7223760" y="3154680"/>
            <a:ext cx="137160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Faculty Mentors</a:t>
            </a:r>
            <a:endParaRPr lang="en-US" sz="1300" dirty="0"/>
          </a:p>
        </p:txBody>
      </p:sp>
      <p:sp>
        <p:nvSpPr>
          <p:cNvPr id="44" name="Text 36"/>
          <p:cNvSpPr/>
          <p:nvPr/>
        </p:nvSpPr>
        <p:spPr>
          <a:xfrm>
            <a:off x="7223760" y="3566160"/>
            <a:ext cx="1371600" cy="68580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Recognized SPOCs &amp; FDPs.</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WHAT RECRUITERS ASK FOR</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High-Demand NPTEL Courses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33</a:t>
            </a:r>
            <a:endParaRPr lang="en-US" sz="900" dirty="0"/>
          </a:p>
        </p:txBody>
      </p:sp>
      <p:sp>
        <p:nvSpPr>
          <p:cNvPr id="9" name="Shape 7"/>
          <p:cNvSpPr/>
          <p:nvPr/>
        </p:nvSpPr>
        <p:spPr>
          <a:xfrm>
            <a:off x="352044" y="132588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489204" y="1508760"/>
            <a:ext cx="548640" cy="548640"/>
          </a:xfrm>
          <a:prstGeom prst="ellipse">
            <a:avLst/>
          </a:prstGeom>
          <a:solidFill>
            <a:srgbClr val="E8F1FB"/>
          </a:solidFill>
          <a:ln w="12700">
            <a:solidFill>
              <a:srgbClr val="E8F1FB"/>
            </a:solidFill>
            <a:prstDash val="solid"/>
          </a:ln>
        </p:spPr>
      </p:sp>
      <p:pic>
        <p:nvPicPr>
          <p:cNvPr id="11" name="Image 0" descr="preencoded.png">    </p:cNvPr>
          <p:cNvPicPr>
            <a:picLocks noChangeAspect="1"/>
          </p:cNvPicPr>
          <p:nvPr/>
        </p:nvPicPr>
        <p:blipFill>
          <a:blip r:embed="rId1"/>
          <a:stretch>
            <a:fillRect/>
          </a:stretch>
        </p:blipFill>
        <p:spPr>
          <a:xfrm>
            <a:off x="609905" y="1629461"/>
            <a:ext cx="307238" cy="307238"/>
          </a:xfrm>
          <a:prstGeom prst="rect">
            <a:avLst/>
          </a:prstGeom>
        </p:spPr>
      </p:pic>
      <p:sp>
        <p:nvSpPr>
          <p:cNvPr id="12" name="Text 9"/>
          <p:cNvSpPr/>
          <p:nvPr/>
        </p:nvSpPr>
        <p:spPr>
          <a:xfrm>
            <a:off x="1083564" y="150876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Artificial Intelligence</a:t>
            </a:r>
            <a:endParaRPr lang="en-US" sz="1100" dirty="0"/>
          </a:p>
        </p:txBody>
      </p:sp>
      <p:sp>
        <p:nvSpPr>
          <p:cNvPr id="13" name="Shape 10"/>
          <p:cNvSpPr/>
          <p:nvPr/>
        </p:nvSpPr>
        <p:spPr>
          <a:xfrm>
            <a:off x="2061972" y="132588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14" name="Shape 11"/>
          <p:cNvSpPr/>
          <p:nvPr/>
        </p:nvSpPr>
        <p:spPr>
          <a:xfrm>
            <a:off x="2199132" y="1508760"/>
            <a:ext cx="548640" cy="548640"/>
          </a:xfrm>
          <a:prstGeom prst="ellipse">
            <a:avLst/>
          </a:prstGeom>
          <a:solidFill>
            <a:srgbClr val="E8F1FB"/>
          </a:solidFill>
          <a:ln w="12700">
            <a:solidFill>
              <a:srgbClr val="E8F1FB"/>
            </a:solidFill>
            <a:prstDash val="solid"/>
          </a:ln>
        </p:spPr>
      </p:sp>
      <p:pic>
        <p:nvPicPr>
          <p:cNvPr id="15" name="Image 1" descr="preencoded.png">    </p:cNvPr>
          <p:cNvPicPr>
            <a:picLocks noChangeAspect="1"/>
          </p:cNvPicPr>
          <p:nvPr/>
        </p:nvPicPr>
        <p:blipFill>
          <a:blip r:embed="rId2"/>
          <a:stretch>
            <a:fillRect/>
          </a:stretch>
        </p:blipFill>
        <p:spPr>
          <a:xfrm>
            <a:off x="2319833" y="1629461"/>
            <a:ext cx="307238" cy="307238"/>
          </a:xfrm>
          <a:prstGeom prst="rect">
            <a:avLst/>
          </a:prstGeom>
        </p:spPr>
      </p:pic>
      <p:sp>
        <p:nvSpPr>
          <p:cNvPr id="16" name="Text 12"/>
          <p:cNvSpPr/>
          <p:nvPr/>
        </p:nvSpPr>
        <p:spPr>
          <a:xfrm>
            <a:off x="2793492" y="150876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Machine Learning</a:t>
            </a:r>
            <a:endParaRPr lang="en-US" sz="1100" dirty="0"/>
          </a:p>
        </p:txBody>
      </p:sp>
      <p:sp>
        <p:nvSpPr>
          <p:cNvPr id="17" name="Shape 13"/>
          <p:cNvSpPr/>
          <p:nvPr/>
        </p:nvSpPr>
        <p:spPr>
          <a:xfrm>
            <a:off x="3771900" y="132588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18" name="Shape 14"/>
          <p:cNvSpPr/>
          <p:nvPr/>
        </p:nvSpPr>
        <p:spPr>
          <a:xfrm>
            <a:off x="3909060" y="1508760"/>
            <a:ext cx="548640" cy="548640"/>
          </a:xfrm>
          <a:prstGeom prst="ellipse">
            <a:avLst/>
          </a:prstGeom>
          <a:solidFill>
            <a:srgbClr val="E8F1FB"/>
          </a:solidFill>
          <a:ln w="12700">
            <a:solidFill>
              <a:srgbClr val="E8F1FB"/>
            </a:solidFill>
            <a:prstDash val="solid"/>
          </a:ln>
        </p:spPr>
      </p:sp>
      <p:pic>
        <p:nvPicPr>
          <p:cNvPr id="19" name="Image 2" descr="preencoded.png">    </p:cNvPr>
          <p:cNvPicPr>
            <a:picLocks noChangeAspect="1"/>
          </p:cNvPicPr>
          <p:nvPr/>
        </p:nvPicPr>
        <p:blipFill>
          <a:blip r:embed="rId3"/>
          <a:stretch>
            <a:fillRect/>
          </a:stretch>
        </p:blipFill>
        <p:spPr>
          <a:xfrm>
            <a:off x="4029761" y="1629461"/>
            <a:ext cx="307238" cy="307238"/>
          </a:xfrm>
          <a:prstGeom prst="rect">
            <a:avLst/>
          </a:prstGeom>
        </p:spPr>
      </p:pic>
      <p:sp>
        <p:nvSpPr>
          <p:cNvPr id="20" name="Text 15"/>
          <p:cNvSpPr/>
          <p:nvPr/>
        </p:nvSpPr>
        <p:spPr>
          <a:xfrm>
            <a:off x="4503420" y="150876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Data Science</a:t>
            </a:r>
            <a:endParaRPr lang="en-US" sz="1100" dirty="0"/>
          </a:p>
        </p:txBody>
      </p:sp>
      <p:sp>
        <p:nvSpPr>
          <p:cNvPr id="21" name="Shape 16"/>
          <p:cNvSpPr/>
          <p:nvPr/>
        </p:nvSpPr>
        <p:spPr>
          <a:xfrm>
            <a:off x="5481828" y="132588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22" name="Shape 17"/>
          <p:cNvSpPr/>
          <p:nvPr/>
        </p:nvSpPr>
        <p:spPr>
          <a:xfrm>
            <a:off x="5618988" y="1508760"/>
            <a:ext cx="548640" cy="548640"/>
          </a:xfrm>
          <a:prstGeom prst="ellipse">
            <a:avLst/>
          </a:prstGeom>
          <a:solidFill>
            <a:srgbClr val="E8F1FB"/>
          </a:solidFill>
          <a:ln w="12700">
            <a:solidFill>
              <a:srgbClr val="E8F1FB"/>
            </a:solidFill>
            <a:prstDash val="solid"/>
          </a:ln>
        </p:spPr>
      </p:sp>
      <p:pic>
        <p:nvPicPr>
          <p:cNvPr id="23" name="Image 3" descr="preencoded.png">    </p:cNvPr>
          <p:cNvPicPr>
            <a:picLocks noChangeAspect="1"/>
          </p:cNvPicPr>
          <p:nvPr/>
        </p:nvPicPr>
        <p:blipFill>
          <a:blip r:embed="rId4"/>
          <a:stretch>
            <a:fillRect/>
          </a:stretch>
        </p:blipFill>
        <p:spPr>
          <a:xfrm>
            <a:off x="5739689" y="1629461"/>
            <a:ext cx="307238" cy="307238"/>
          </a:xfrm>
          <a:prstGeom prst="rect">
            <a:avLst/>
          </a:prstGeom>
        </p:spPr>
      </p:pic>
      <p:sp>
        <p:nvSpPr>
          <p:cNvPr id="24" name="Text 18"/>
          <p:cNvSpPr/>
          <p:nvPr/>
        </p:nvSpPr>
        <p:spPr>
          <a:xfrm>
            <a:off x="6213348" y="150876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Cloud Computing</a:t>
            </a:r>
            <a:endParaRPr lang="en-US" sz="1100" dirty="0"/>
          </a:p>
        </p:txBody>
      </p:sp>
      <p:sp>
        <p:nvSpPr>
          <p:cNvPr id="25" name="Shape 19"/>
          <p:cNvSpPr/>
          <p:nvPr/>
        </p:nvSpPr>
        <p:spPr>
          <a:xfrm>
            <a:off x="7191756" y="132588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26" name="Shape 20"/>
          <p:cNvSpPr/>
          <p:nvPr/>
        </p:nvSpPr>
        <p:spPr>
          <a:xfrm>
            <a:off x="7328916" y="1508760"/>
            <a:ext cx="548640" cy="548640"/>
          </a:xfrm>
          <a:prstGeom prst="ellipse">
            <a:avLst/>
          </a:prstGeom>
          <a:solidFill>
            <a:srgbClr val="E8F1FB"/>
          </a:solidFill>
          <a:ln w="12700">
            <a:solidFill>
              <a:srgbClr val="E8F1FB"/>
            </a:solidFill>
            <a:prstDash val="solid"/>
          </a:ln>
        </p:spPr>
      </p:sp>
      <p:pic>
        <p:nvPicPr>
          <p:cNvPr id="27" name="Image 4" descr="preencoded.png">    </p:cNvPr>
          <p:cNvPicPr>
            <a:picLocks noChangeAspect="1"/>
          </p:cNvPicPr>
          <p:nvPr/>
        </p:nvPicPr>
        <p:blipFill>
          <a:blip r:embed="rId5"/>
          <a:stretch>
            <a:fillRect/>
          </a:stretch>
        </p:blipFill>
        <p:spPr>
          <a:xfrm>
            <a:off x="7449617" y="1629461"/>
            <a:ext cx="307238" cy="307238"/>
          </a:xfrm>
          <a:prstGeom prst="rect">
            <a:avLst/>
          </a:prstGeom>
        </p:spPr>
      </p:pic>
      <p:sp>
        <p:nvSpPr>
          <p:cNvPr id="28" name="Text 21"/>
          <p:cNvSpPr/>
          <p:nvPr/>
        </p:nvSpPr>
        <p:spPr>
          <a:xfrm>
            <a:off x="7923276" y="150876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Cyber Security</a:t>
            </a:r>
            <a:endParaRPr lang="en-US" sz="1100" dirty="0"/>
          </a:p>
        </p:txBody>
      </p:sp>
      <p:sp>
        <p:nvSpPr>
          <p:cNvPr id="29" name="Shape 22"/>
          <p:cNvSpPr/>
          <p:nvPr/>
        </p:nvSpPr>
        <p:spPr>
          <a:xfrm>
            <a:off x="352044" y="237744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30" name="Shape 23"/>
          <p:cNvSpPr/>
          <p:nvPr/>
        </p:nvSpPr>
        <p:spPr>
          <a:xfrm>
            <a:off x="489204" y="2560320"/>
            <a:ext cx="548640" cy="548640"/>
          </a:xfrm>
          <a:prstGeom prst="ellipse">
            <a:avLst/>
          </a:prstGeom>
          <a:solidFill>
            <a:srgbClr val="E8F1FB"/>
          </a:solidFill>
          <a:ln w="12700">
            <a:solidFill>
              <a:srgbClr val="E8F1FB"/>
            </a:solidFill>
            <a:prstDash val="solid"/>
          </a:ln>
        </p:spPr>
      </p:sp>
      <p:pic>
        <p:nvPicPr>
          <p:cNvPr id="31" name="Image 5" descr="preencoded.png">    </p:cNvPr>
          <p:cNvPicPr>
            <a:picLocks noChangeAspect="1"/>
          </p:cNvPicPr>
          <p:nvPr/>
        </p:nvPicPr>
        <p:blipFill>
          <a:blip r:embed="rId6"/>
          <a:stretch>
            <a:fillRect/>
          </a:stretch>
        </p:blipFill>
        <p:spPr>
          <a:xfrm>
            <a:off x="609905" y="2681021"/>
            <a:ext cx="307238" cy="307238"/>
          </a:xfrm>
          <a:prstGeom prst="rect">
            <a:avLst/>
          </a:prstGeom>
        </p:spPr>
      </p:pic>
      <p:sp>
        <p:nvSpPr>
          <p:cNvPr id="32" name="Text 24"/>
          <p:cNvSpPr/>
          <p:nvPr/>
        </p:nvSpPr>
        <p:spPr>
          <a:xfrm>
            <a:off x="1083564" y="256032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Python</a:t>
            </a:r>
            <a:endParaRPr lang="en-US" sz="1100" dirty="0"/>
          </a:p>
        </p:txBody>
      </p:sp>
      <p:sp>
        <p:nvSpPr>
          <p:cNvPr id="33" name="Shape 25"/>
          <p:cNvSpPr/>
          <p:nvPr/>
        </p:nvSpPr>
        <p:spPr>
          <a:xfrm>
            <a:off x="2061972" y="237744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34" name="Shape 26"/>
          <p:cNvSpPr/>
          <p:nvPr/>
        </p:nvSpPr>
        <p:spPr>
          <a:xfrm>
            <a:off x="2199132" y="2560320"/>
            <a:ext cx="548640" cy="548640"/>
          </a:xfrm>
          <a:prstGeom prst="ellipse">
            <a:avLst/>
          </a:prstGeom>
          <a:solidFill>
            <a:srgbClr val="E8F1FB"/>
          </a:solidFill>
          <a:ln w="12700">
            <a:solidFill>
              <a:srgbClr val="E8F1FB"/>
            </a:solidFill>
            <a:prstDash val="solid"/>
          </a:ln>
        </p:spPr>
      </p:sp>
      <p:pic>
        <p:nvPicPr>
          <p:cNvPr id="35" name="Image 6" descr="preencoded.png">    </p:cNvPr>
          <p:cNvPicPr>
            <a:picLocks noChangeAspect="1"/>
          </p:cNvPicPr>
          <p:nvPr/>
        </p:nvPicPr>
        <p:blipFill>
          <a:blip r:embed="rId7"/>
          <a:stretch>
            <a:fillRect/>
          </a:stretch>
        </p:blipFill>
        <p:spPr>
          <a:xfrm>
            <a:off x="2319833" y="2681021"/>
            <a:ext cx="307238" cy="307238"/>
          </a:xfrm>
          <a:prstGeom prst="rect">
            <a:avLst/>
          </a:prstGeom>
        </p:spPr>
      </p:pic>
      <p:sp>
        <p:nvSpPr>
          <p:cNvPr id="36" name="Text 27"/>
          <p:cNvSpPr/>
          <p:nvPr/>
        </p:nvSpPr>
        <p:spPr>
          <a:xfrm>
            <a:off x="2793492" y="256032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Java</a:t>
            </a:r>
            <a:endParaRPr lang="en-US" sz="1100" dirty="0"/>
          </a:p>
        </p:txBody>
      </p:sp>
      <p:sp>
        <p:nvSpPr>
          <p:cNvPr id="37" name="Shape 28"/>
          <p:cNvSpPr/>
          <p:nvPr/>
        </p:nvSpPr>
        <p:spPr>
          <a:xfrm>
            <a:off x="3771900" y="237744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38" name="Shape 29"/>
          <p:cNvSpPr/>
          <p:nvPr/>
        </p:nvSpPr>
        <p:spPr>
          <a:xfrm>
            <a:off x="3909060" y="2560320"/>
            <a:ext cx="548640" cy="548640"/>
          </a:xfrm>
          <a:prstGeom prst="ellipse">
            <a:avLst/>
          </a:prstGeom>
          <a:solidFill>
            <a:srgbClr val="E8F1FB"/>
          </a:solidFill>
          <a:ln w="12700">
            <a:solidFill>
              <a:srgbClr val="E8F1FB"/>
            </a:solidFill>
            <a:prstDash val="solid"/>
          </a:ln>
        </p:spPr>
      </p:sp>
      <p:pic>
        <p:nvPicPr>
          <p:cNvPr id="39" name="Image 7" descr="preencoded.png">    </p:cNvPr>
          <p:cNvPicPr>
            <a:picLocks noChangeAspect="1"/>
          </p:cNvPicPr>
          <p:nvPr/>
        </p:nvPicPr>
        <p:blipFill>
          <a:blip r:embed="rId8"/>
          <a:stretch>
            <a:fillRect/>
          </a:stretch>
        </p:blipFill>
        <p:spPr>
          <a:xfrm>
            <a:off x="4029761" y="2681021"/>
            <a:ext cx="307238" cy="307238"/>
          </a:xfrm>
          <a:prstGeom prst="rect">
            <a:avLst/>
          </a:prstGeom>
        </p:spPr>
      </p:pic>
      <p:sp>
        <p:nvSpPr>
          <p:cNvPr id="40" name="Text 30"/>
          <p:cNvSpPr/>
          <p:nvPr/>
        </p:nvSpPr>
        <p:spPr>
          <a:xfrm>
            <a:off x="4503420" y="256032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IoT</a:t>
            </a:r>
            <a:endParaRPr lang="en-US" sz="1100" dirty="0"/>
          </a:p>
        </p:txBody>
      </p:sp>
      <p:sp>
        <p:nvSpPr>
          <p:cNvPr id="41" name="Shape 31"/>
          <p:cNvSpPr/>
          <p:nvPr/>
        </p:nvSpPr>
        <p:spPr>
          <a:xfrm>
            <a:off x="5481828" y="237744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42" name="Shape 32"/>
          <p:cNvSpPr/>
          <p:nvPr/>
        </p:nvSpPr>
        <p:spPr>
          <a:xfrm>
            <a:off x="5618988" y="2560320"/>
            <a:ext cx="548640" cy="548640"/>
          </a:xfrm>
          <a:prstGeom prst="ellipse">
            <a:avLst/>
          </a:prstGeom>
          <a:solidFill>
            <a:srgbClr val="E8F1FB"/>
          </a:solidFill>
          <a:ln w="12700">
            <a:solidFill>
              <a:srgbClr val="E8F1FB"/>
            </a:solidFill>
            <a:prstDash val="solid"/>
          </a:ln>
        </p:spPr>
      </p:sp>
      <p:pic>
        <p:nvPicPr>
          <p:cNvPr id="43" name="Image 8" descr="preencoded.png">    </p:cNvPr>
          <p:cNvPicPr>
            <a:picLocks noChangeAspect="1"/>
          </p:cNvPicPr>
          <p:nvPr/>
        </p:nvPicPr>
        <p:blipFill>
          <a:blip r:embed="rId9"/>
          <a:stretch>
            <a:fillRect/>
          </a:stretch>
        </p:blipFill>
        <p:spPr>
          <a:xfrm>
            <a:off x="5739689" y="2681021"/>
            <a:ext cx="307238" cy="307238"/>
          </a:xfrm>
          <a:prstGeom prst="rect">
            <a:avLst/>
          </a:prstGeom>
        </p:spPr>
      </p:pic>
      <p:sp>
        <p:nvSpPr>
          <p:cNvPr id="44" name="Text 33"/>
          <p:cNvSpPr/>
          <p:nvPr/>
        </p:nvSpPr>
        <p:spPr>
          <a:xfrm>
            <a:off x="6213348" y="256032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Electric Vehicles</a:t>
            </a:r>
            <a:endParaRPr lang="en-US" sz="1100" dirty="0"/>
          </a:p>
        </p:txBody>
      </p:sp>
      <p:sp>
        <p:nvSpPr>
          <p:cNvPr id="45" name="Shape 34"/>
          <p:cNvSpPr/>
          <p:nvPr/>
        </p:nvSpPr>
        <p:spPr>
          <a:xfrm>
            <a:off x="7191756" y="237744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46" name="Shape 35"/>
          <p:cNvSpPr/>
          <p:nvPr/>
        </p:nvSpPr>
        <p:spPr>
          <a:xfrm>
            <a:off x="7328916" y="2560320"/>
            <a:ext cx="548640" cy="548640"/>
          </a:xfrm>
          <a:prstGeom prst="ellipse">
            <a:avLst/>
          </a:prstGeom>
          <a:solidFill>
            <a:srgbClr val="E8F1FB"/>
          </a:solidFill>
          <a:ln w="12700">
            <a:solidFill>
              <a:srgbClr val="E8F1FB"/>
            </a:solidFill>
            <a:prstDash val="solid"/>
          </a:ln>
        </p:spPr>
      </p:sp>
      <p:pic>
        <p:nvPicPr>
          <p:cNvPr id="47" name="Image 9" descr="preencoded.png">    </p:cNvPr>
          <p:cNvPicPr>
            <a:picLocks noChangeAspect="1"/>
          </p:cNvPicPr>
          <p:nvPr/>
        </p:nvPicPr>
        <p:blipFill>
          <a:blip r:embed="rId10"/>
          <a:stretch>
            <a:fillRect/>
          </a:stretch>
        </p:blipFill>
        <p:spPr>
          <a:xfrm>
            <a:off x="7449617" y="2681021"/>
            <a:ext cx="307238" cy="307238"/>
          </a:xfrm>
          <a:prstGeom prst="rect">
            <a:avLst/>
          </a:prstGeom>
        </p:spPr>
      </p:pic>
      <p:sp>
        <p:nvSpPr>
          <p:cNvPr id="48" name="Text 36"/>
          <p:cNvSpPr/>
          <p:nvPr/>
        </p:nvSpPr>
        <p:spPr>
          <a:xfrm>
            <a:off x="7923276" y="256032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VLSI Design</a:t>
            </a:r>
            <a:endParaRPr lang="en-US" sz="1100" dirty="0"/>
          </a:p>
        </p:txBody>
      </p:sp>
      <p:sp>
        <p:nvSpPr>
          <p:cNvPr id="49" name="Shape 37"/>
          <p:cNvSpPr/>
          <p:nvPr/>
        </p:nvSpPr>
        <p:spPr>
          <a:xfrm>
            <a:off x="352044" y="342900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50" name="Shape 38"/>
          <p:cNvSpPr/>
          <p:nvPr/>
        </p:nvSpPr>
        <p:spPr>
          <a:xfrm>
            <a:off x="489204" y="3611880"/>
            <a:ext cx="548640" cy="548640"/>
          </a:xfrm>
          <a:prstGeom prst="ellipse">
            <a:avLst/>
          </a:prstGeom>
          <a:solidFill>
            <a:srgbClr val="E8F1FB"/>
          </a:solidFill>
          <a:ln w="12700">
            <a:solidFill>
              <a:srgbClr val="E8F1FB"/>
            </a:solidFill>
            <a:prstDash val="solid"/>
          </a:ln>
        </p:spPr>
      </p:sp>
      <p:pic>
        <p:nvPicPr>
          <p:cNvPr id="51" name="Image 10" descr="preencoded.png">    </p:cNvPr>
          <p:cNvPicPr>
            <a:picLocks noChangeAspect="1"/>
          </p:cNvPicPr>
          <p:nvPr/>
        </p:nvPicPr>
        <p:blipFill>
          <a:blip r:embed="rId11"/>
          <a:stretch>
            <a:fillRect/>
          </a:stretch>
        </p:blipFill>
        <p:spPr>
          <a:xfrm>
            <a:off x="609905" y="3732581"/>
            <a:ext cx="307238" cy="307238"/>
          </a:xfrm>
          <a:prstGeom prst="rect">
            <a:avLst/>
          </a:prstGeom>
        </p:spPr>
      </p:pic>
      <p:sp>
        <p:nvSpPr>
          <p:cNvPr id="52" name="Text 39"/>
          <p:cNvSpPr/>
          <p:nvPr/>
        </p:nvSpPr>
        <p:spPr>
          <a:xfrm>
            <a:off x="1083564" y="361188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Robotics</a:t>
            </a:r>
            <a:endParaRPr lang="en-US" sz="1100" dirty="0"/>
          </a:p>
        </p:txBody>
      </p:sp>
      <p:sp>
        <p:nvSpPr>
          <p:cNvPr id="53" name="Shape 40"/>
          <p:cNvSpPr/>
          <p:nvPr/>
        </p:nvSpPr>
        <p:spPr>
          <a:xfrm>
            <a:off x="2061972" y="342900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54" name="Shape 41"/>
          <p:cNvSpPr/>
          <p:nvPr/>
        </p:nvSpPr>
        <p:spPr>
          <a:xfrm>
            <a:off x="2199132" y="3611880"/>
            <a:ext cx="548640" cy="548640"/>
          </a:xfrm>
          <a:prstGeom prst="ellipse">
            <a:avLst/>
          </a:prstGeom>
          <a:solidFill>
            <a:srgbClr val="E8F1FB"/>
          </a:solidFill>
          <a:ln w="12700">
            <a:solidFill>
              <a:srgbClr val="E8F1FB"/>
            </a:solidFill>
            <a:prstDash val="solid"/>
          </a:ln>
        </p:spPr>
      </p:sp>
      <p:pic>
        <p:nvPicPr>
          <p:cNvPr id="55" name="Image 11" descr="preencoded.png">    </p:cNvPr>
          <p:cNvPicPr>
            <a:picLocks noChangeAspect="1"/>
          </p:cNvPicPr>
          <p:nvPr/>
        </p:nvPicPr>
        <p:blipFill>
          <a:blip r:embed="rId12"/>
          <a:stretch>
            <a:fillRect/>
          </a:stretch>
        </p:blipFill>
        <p:spPr>
          <a:xfrm>
            <a:off x="2319833" y="3732581"/>
            <a:ext cx="307238" cy="307238"/>
          </a:xfrm>
          <a:prstGeom prst="rect">
            <a:avLst/>
          </a:prstGeom>
        </p:spPr>
      </p:pic>
      <p:sp>
        <p:nvSpPr>
          <p:cNvPr id="56" name="Text 42"/>
          <p:cNvSpPr/>
          <p:nvPr/>
        </p:nvSpPr>
        <p:spPr>
          <a:xfrm>
            <a:off x="2793492" y="361188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Industry 4.0</a:t>
            </a:r>
            <a:endParaRPr lang="en-US" sz="1100" dirty="0"/>
          </a:p>
        </p:txBody>
      </p:sp>
      <p:sp>
        <p:nvSpPr>
          <p:cNvPr id="57" name="Shape 43"/>
          <p:cNvSpPr/>
          <p:nvPr/>
        </p:nvSpPr>
        <p:spPr>
          <a:xfrm>
            <a:off x="3771900" y="342900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58" name="Shape 44"/>
          <p:cNvSpPr/>
          <p:nvPr/>
        </p:nvSpPr>
        <p:spPr>
          <a:xfrm>
            <a:off x="3909060" y="3611880"/>
            <a:ext cx="548640" cy="548640"/>
          </a:xfrm>
          <a:prstGeom prst="ellipse">
            <a:avLst/>
          </a:prstGeom>
          <a:solidFill>
            <a:srgbClr val="E8F1FB"/>
          </a:solidFill>
          <a:ln w="12700">
            <a:solidFill>
              <a:srgbClr val="E8F1FB"/>
            </a:solidFill>
            <a:prstDash val="solid"/>
          </a:ln>
        </p:spPr>
      </p:sp>
      <p:pic>
        <p:nvPicPr>
          <p:cNvPr id="59" name="Image 12" descr="preencoded.png">    </p:cNvPr>
          <p:cNvPicPr>
            <a:picLocks noChangeAspect="1"/>
          </p:cNvPicPr>
          <p:nvPr/>
        </p:nvPicPr>
        <p:blipFill>
          <a:blip r:embed="rId13"/>
          <a:stretch>
            <a:fillRect/>
          </a:stretch>
        </p:blipFill>
        <p:spPr>
          <a:xfrm>
            <a:off x="4029761" y="3732581"/>
            <a:ext cx="307238" cy="307238"/>
          </a:xfrm>
          <a:prstGeom prst="rect">
            <a:avLst/>
          </a:prstGeom>
        </p:spPr>
      </p:pic>
      <p:sp>
        <p:nvSpPr>
          <p:cNvPr id="60" name="Text 45"/>
          <p:cNvSpPr/>
          <p:nvPr/>
        </p:nvSpPr>
        <p:spPr>
          <a:xfrm>
            <a:off x="4503420" y="361188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Generative AI</a:t>
            </a:r>
            <a:endParaRPr lang="en-US" sz="1100" dirty="0"/>
          </a:p>
        </p:txBody>
      </p:sp>
      <p:sp>
        <p:nvSpPr>
          <p:cNvPr id="61" name="Shape 46"/>
          <p:cNvSpPr/>
          <p:nvPr/>
        </p:nvSpPr>
        <p:spPr>
          <a:xfrm>
            <a:off x="5481828" y="342900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62" name="Shape 47"/>
          <p:cNvSpPr/>
          <p:nvPr/>
        </p:nvSpPr>
        <p:spPr>
          <a:xfrm>
            <a:off x="5618988" y="3611880"/>
            <a:ext cx="548640" cy="548640"/>
          </a:xfrm>
          <a:prstGeom prst="ellipse">
            <a:avLst/>
          </a:prstGeom>
          <a:solidFill>
            <a:srgbClr val="E8F1FB"/>
          </a:solidFill>
          <a:ln w="12700">
            <a:solidFill>
              <a:srgbClr val="E8F1FB"/>
            </a:solidFill>
            <a:prstDash val="solid"/>
          </a:ln>
        </p:spPr>
      </p:sp>
      <p:pic>
        <p:nvPicPr>
          <p:cNvPr id="63" name="Image 13" descr="preencoded.png">    </p:cNvPr>
          <p:cNvPicPr>
            <a:picLocks noChangeAspect="1"/>
          </p:cNvPicPr>
          <p:nvPr/>
        </p:nvPicPr>
        <p:blipFill>
          <a:blip r:embed="rId14"/>
          <a:stretch>
            <a:fillRect/>
          </a:stretch>
        </p:blipFill>
        <p:spPr>
          <a:xfrm>
            <a:off x="5739689" y="3732581"/>
            <a:ext cx="307238" cy="307238"/>
          </a:xfrm>
          <a:prstGeom prst="rect">
            <a:avLst/>
          </a:prstGeom>
        </p:spPr>
      </p:pic>
      <p:sp>
        <p:nvSpPr>
          <p:cNvPr id="64" name="Text 48"/>
          <p:cNvSpPr/>
          <p:nvPr/>
        </p:nvSpPr>
        <p:spPr>
          <a:xfrm>
            <a:off x="6213348" y="361188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Deep Learning</a:t>
            </a:r>
            <a:endParaRPr lang="en-US" sz="1100" dirty="0"/>
          </a:p>
        </p:txBody>
      </p:sp>
      <p:sp>
        <p:nvSpPr>
          <p:cNvPr id="65" name="Shape 49"/>
          <p:cNvSpPr/>
          <p:nvPr/>
        </p:nvSpPr>
        <p:spPr>
          <a:xfrm>
            <a:off x="7191756" y="3429000"/>
            <a:ext cx="1600200" cy="914400"/>
          </a:xfrm>
          <a:prstGeom prst="roundRect">
            <a:avLst>
              <a:gd name="adj" fmla="val 8000"/>
            </a:avLst>
          </a:prstGeom>
          <a:solidFill>
            <a:srgbClr val="FFFFFF"/>
          </a:solidFill>
          <a:ln w="6350">
            <a:solidFill>
              <a:srgbClr val="2E7CD6"/>
            </a:solidFill>
            <a:prstDash val="solid"/>
          </a:ln>
          <a:effectLst>
            <a:outerShdw sx="100000" sy="100000" kx="0" ky="0" algn="bl" rotWithShape="0" blurRad="76200" dist="12700" dir="5400000">
              <a:srgbClr val="000000">
                <a:alpha val="8000"/>
              </a:srgbClr>
            </a:outerShdw>
          </a:effectLst>
        </p:spPr>
      </p:sp>
      <p:sp>
        <p:nvSpPr>
          <p:cNvPr id="66" name="Shape 50"/>
          <p:cNvSpPr/>
          <p:nvPr/>
        </p:nvSpPr>
        <p:spPr>
          <a:xfrm>
            <a:off x="7328916" y="3611880"/>
            <a:ext cx="548640" cy="548640"/>
          </a:xfrm>
          <a:prstGeom prst="ellipse">
            <a:avLst/>
          </a:prstGeom>
          <a:solidFill>
            <a:srgbClr val="E8F1FB"/>
          </a:solidFill>
          <a:ln w="12700">
            <a:solidFill>
              <a:srgbClr val="E8F1FB"/>
            </a:solidFill>
            <a:prstDash val="solid"/>
          </a:ln>
        </p:spPr>
      </p:sp>
      <p:pic>
        <p:nvPicPr>
          <p:cNvPr id="67" name="Image 14" descr="preencoded.png">    </p:cNvPr>
          <p:cNvPicPr>
            <a:picLocks noChangeAspect="1"/>
          </p:cNvPicPr>
          <p:nvPr/>
        </p:nvPicPr>
        <p:blipFill>
          <a:blip r:embed="rId15"/>
          <a:stretch>
            <a:fillRect/>
          </a:stretch>
        </p:blipFill>
        <p:spPr>
          <a:xfrm>
            <a:off x="7449617" y="3732581"/>
            <a:ext cx="307238" cy="307238"/>
          </a:xfrm>
          <a:prstGeom prst="rect">
            <a:avLst/>
          </a:prstGeom>
        </p:spPr>
      </p:pic>
      <p:sp>
        <p:nvSpPr>
          <p:cNvPr id="68" name="Text 51"/>
          <p:cNvSpPr/>
          <p:nvPr/>
        </p:nvSpPr>
        <p:spPr>
          <a:xfrm>
            <a:off x="7923276" y="3611880"/>
            <a:ext cx="777240" cy="548640"/>
          </a:xfrm>
          <a:prstGeom prst="rect">
            <a:avLst/>
          </a:prstGeom>
          <a:noFill/>
          <a:ln/>
        </p:spPr>
        <p:txBody>
          <a:bodyPr wrap="square" lIns="0" tIns="0" rIns="0" bIns="0" rtlCol="0" anchor="ctr"/>
          <a:lstStyle/>
          <a:p>
            <a:pPr indent="0" marL="0">
              <a:buNone/>
            </a:pPr>
            <a:r>
              <a:rPr lang="en-US" sz="1100" b="1" dirty="0">
                <a:solidFill>
                  <a:srgbClr val="0B2A4A"/>
                </a:solidFill>
                <a:latin typeface="Segoe UI" pitchFamily="34" charset="0"/>
                <a:ea typeface="Segoe UI" pitchFamily="34" charset="-122"/>
                <a:cs typeface="Segoe UI" pitchFamily="34" charset="-120"/>
              </a:rPr>
              <a:t>Prompt Engineering</a:t>
            </a:r>
            <a:endParaRPr lang="en-US" sz="1100" dirty="0"/>
          </a:p>
        </p:txBody>
      </p:sp>
      <p:sp>
        <p:nvSpPr>
          <p:cNvPr id="69" name="Text 52"/>
          <p:cNvSpPr/>
          <p:nvPr/>
        </p:nvSpPr>
        <p:spPr>
          <a:xfrm>
            <a:off x="457200" y="4480560"/>
            <a:ext cx="8229600" cy="320040"/>
          </a:xfrm>
          <a:prstGeom prst="rect">
            <a:avLst/>
          </a:prstGeom>
          <a:noFill/>
          <a:ln/>
        </p:spPr>
        <p:txBody>
          <a:bodyPr wrap="square" lIns="0" tIns="0" rIns="0" bIns="0" rtlCol="0" anchor="ctr"/>
          <a:lstStyle/>
          <a:p>
            <a:pPr algn="ctr" indent="0" marL="0">
              <a:buNone/>
            </a:pPr>
            <a:r>
              <a:rPr lang="en-US" sz="1200" b="1" i="1" dirty="0">
                <a:solidFill>
                  <a:srgbClr val="F97316"/>
                </a:solidFill>
                <a:latin typeface="Segoe UI" pitchFamily="34" charset="0"/>
                <a:ea typeface="Segoe UI" pitchFamily="34" charset="-122"/>
                <a:cs typeface="Segoe UI" pitchFamily="34" charset="-120"/>
              </a:rPr>
              <a:t>Pick one per semester. Compound your edge.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OWN THE NEXT DECADE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AI &amp; Emerging Technologies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34</a:t>
            </a:r>
            <a:endParaRPr lang="en-US" sz="900" dirty="0"/>
          </a:p>
        </p:txBody>
      </p:sp>
      <p:sp>
        <p:nvSpPr>
          <p:cNvPr id="9" name="Shape 7"/>
          <p:cNvSpPr/>
          <p:nvPr/>
        </p:nvSpPr>
        <p:spPr>
          <a:xfrm>
            <a:off x="457200" y="1371600"/>
            <a:ext cx="4114800" cy="685800"/>
          </a:xfrm>
          <a:prstGeom prst="roundRect">
            <a:avLst>
              <a:gd name="adj" fmla="val 10667"/>
            </a:avLst>
          </a:prstGeom>
          <a:solidFill>
            <a:srgbClr val="F1F6FC"/>
          </a:solidFill>
          <a:ln w="6350">
            <a:solidFill>
              <a:srgbClr val="2E7CD6"/>
            </a:solidFill>
            <a:prstDash val="solid"/>
          </a:ln>
        </p:spPr>
      </p:sp>
      <p:sp>
        <p:nvSpPr>
          <p:cNvPr id="10" name="Shape 8"/>
          <p:cNvSpPr/>
          <p:nvPr/>
        </p:nvSpPr>
        <p:spPr>
          <a:xfrm>
            <a:off x="457200" y="1371600"/>
            <a:ext cx="73152" cy="685800"/>
          </a:xfrm>
          <a:prstGeom prst="rect">
            <a:avLst/>
          </a:prstGeom>
          <a:solidFill>
            <a:srgbClr val="F97316"/>
          </a:solidFill>
          <a:ln w="12700">
            <a:solidFill>
              <a:srgbClr val="F97316"/>
            </a:solidFill>
            <a:prstDash val="solid"/>
          </a:ln>
        </p:spPr>
      </p:sp>
      <p:sp>
        <p:nvSpPr>
          <p:cNvPr id="11" name="Shape 9"/>
          <p:cNvSpPr/>
          <p:nvPr/>
        </p:nvSpPr>
        <p:spPr>
          <a:xfrm>
            <a:off x="640080" y="1463040"/>
            <a:ext cx="502920" cy="50292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750722" y="1573682"/>
            <a:ext cx="281635" cy="281635"/>
          </a:xfrm>
          <a:prstGeom prst="rect">
            <a:avLst/>
          </a:prstGeom>
        </p:spPr>
      </p:pic>
      <p:sp>
        <p:nvSpPr>
          <p:cNvPr id="13" name="Text 10"/>
          <p:cNvSpPr/>
          <p:nvPr/>
        </p:nvSpPr>
        <p:spPr>
          <a:xfrm>
            <a:off x="1280160" y="1463040"/>
            <a:ext cx="3200400" cy="27432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Generative AI</a:t>
            </a:r>
            <a:endParaRPr lang="en-US" sz="1300" dirty="0"/>
          </a:p>
        </p:txBody>
      </p:sp>
      <p:sp>
        <p:nvSpPr>
          <p:cNvPr id="14" name="Text 11"/>
          <p:cNvSpPr/>
          <p:nvPr/>
        </p:nvSpPr>
        <p:spPr>
          <a:xfrm>
            <a:off x="1280160" y="173736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LLMs, diffusion, Transformers.</a:t>
            </a:r>
            <a:endParaRPr lang="en-US" sz="1050" dirty="0"/>
          </a:p>
        </p:txBody>
      </p:sp>
      <p:sp>
        <p:nvSpPr>
          <p:cNvPr id="15" name="Shape 12"/>
          <p:cNvSpPr/>
          <p:nvPr/>
        </p:nvSpPr>
        <p:spPr>
          <a:xfrm>
            <a:off x="457200" y="2148840"/>
            <a:ext cx="4114800" cy="685800"/>
          </a:xfrm>
          <a:prstGeom prst="roundRect">
            <a:avLst>
              <a:gd name="adj" fmla="val 10667"/>
            </a:avLst>
          </a:prstGeom>
          <a:solidFill>
            <a:srgbClr val="F1F6FC"/>
          </a:solidFill>
          <a:ln w="6350">
            <a:solidFill>
              <a:srgbClr val="2E7CD6"/>
            </a:solidFill>
            <a:prstDash val="solid"/>
          </a:ln>
        </p:spPr>
      </p:sp>
      <p:sp>
        <p:nvSpPr>
          <p:cNvPr id="16" name="Shape 13"/>
          <p:cNvSpPr/>
          <p:nvPr/>
        </p:nvSpPr>
        <p:spPr>
          <a:xfrm>
            <a:off x="457200" y="2148840"/>
            <a:ext cx="73152" cy="685800"/>
          </a:xfrm>
          <a:prstGeom prst="rect">
            <a:avLst/>
          </a:prstGeom>
          <a:solidFill>
            <a:srgbClr val="F97316"/>
          </a:solidFill>
          <a:ln w="12700">
            <a:solidFill>
              <a:srgbClr val="F97316"/>
            </a:solidFill>
            <a:prstDash val="solid"/>
          </a:ln>
        </p:spPr>
      </p:sp>
      <p:sp>
        <p:nvSpPr>
          <p:cNvPr id="17" name="Shape 14"/>
          <p:cNvSpPr/>
          <p:nvPr/>
        </p:nvSpPr>
        <p:spPr>
          <a:xfrm>
            <a:off x="640080" y="2240280"/>
            <a:ext cx="502920" cy="502920"/>
          </a:xfrm>
          <a:prstGeom prst="ellipse">
            <a:avLst/>
          </a:prstGeom>
          <a:solidFill>
            <a:srgbClr val="FFFFFF"/>
          </a:solidFill>
          <a:ln w="12700">
            <a:solidFill>
              <a:srgbClr val="FFFFFF"/>
            </a:solidFill>
            <a:prstDash val="solid"/>
          </a:ln>
        </p:spPr>
      </p:sp>
      <p:pic>
        <p:nvPicPr>
          <p:cNvPr id="18" name="Image 1" descr="preencoded.png">    </p:cNvPr>
          <p:cNvPicPr>
            <a:picLocks noChangeAspect="1"/>
          </p:cNvPicPr>
          <p:nvPr/>
        </p:nvPicPr>
        <p:blipFill>
          <a:blip r:embed="rId2"/>
          <a:stretch>
            <a:fillRect/>
          </a:stretch>
        </p:blipFill>
        <p:spPr>
          <a:xfrm>
            <a:off x="750722" y="2350922"/>
            <a:ext cx="281635" cy="281635"/>
          </a:xfrm>
          <a:prstGeom prst="rect">
            <a:avLst/>
          </a:prstGeom>
        </p:spPr>
      </p:pic>
      <p:sp>
        <p:nvSpPr>
          <p:cNvPr id="19" name="Text 15"/>
          <p:cNvSpPr/>
          <p:nvPr/>
        </p:nvSpPr>
        <p:spPr>
          <a:xfrm>
            <a:off x="1280160" y="2240280"/>
            <a:ext cx="3200400" cy="27432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Deep Learning</a:t>
            </a:r>
            <a:endParaRPr lang="en-US" sz="1300" dirty="0"/>
          </a:p>
        </p:txBody>
      </p:sp>
      <p:sp>
        <p:nvSpPr>
          <p:cNvPr id="20" name="Text 16"/>
          <p:cNvSpPr/>
          <p:nvPr/>
        </p:nvSpPr>
        <p:spPr>
          <a:xfrm>
            <a:off x="1280160" y="251460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CNN, RNN, GNN, attention.</a:t>
            </a:r>
            <a:endParaRPr lang="en-US" sz="1050" dirty="0"/>
          </a:p>
        </p:txBody>
      </p:sp>
      <p:sp>
        <p:nvSpPr>
          <p:cNvPr id="21" name="Shape 17"/>
          <p:cNvSpPr/>
          <p:nvPr/>
        </p:nvSpPr>
        <p:spPr>
          <a:xfrm>
            <a:off x="457200" y="2926080"/>
            <a:ext cx="4114800" cy="685800"/>
          </a:xfrm>
          <a:prstGeom prst="roundRect">
            <a:avLst>
              <a:gd name="adj" fmla="val 10667"/>
            </a:avLst>
          </a:prstGeom>
          <a:solidFill>
            <a:srgbClr val="F1F6FC"/>
          </a:solidFill>
          <a:ln w="6350">
            <a:solidFill>
              <a:srgbClr val="2E7CD6"/>
            </a:solidFill>
            <a:prstDash val="solid"/>
          </a:ln>
        </p:spPr>
      </p:sp>
      <p:sp>
        <p:nvSpPr>
          <p:cNvPr id="22" name="Shape 18"/>
          <p:cNvSpPr/>
          <p:nvPr/>
        </p:nvSpPr>
        <p:spPr>
          <a:xfrm>
            <a:off x="457200" y="2926080"/>
            <a:ext cx="73152" cy="685800"/>
          </a:xfrm>
          <a:prstGeom prst="rect">
            <a:avLst/>
          </a:prstGeom>
          <a:solidFill>
            <a:srgbClr val="F97316"/>
          </a:solidFill>
          <a:ln w="12700">
            <a:solidFill>
              <a:srgbClr val="F97316"/>
            </a:solidFill>
            <a:prstDash val="solid"/>
          </a:ln>
        </p:spPr>
      </p:sp>
      <p:sp>
        <p:nvSpPr>
          <p:cNvPr id="23" name="Shape 19"/>
          <p:cNvSpPr/>
          <p:nvPr/>
        </p:nvSpPr>
        <p:spPr>
          <a:xfrm>
            <a:off x="640080" y="3017520"/>
            <a:ext cx="502920" cy="502920"/>
          </a:xfrm>
          <a:prstGeom prst="ellipse">
            <a:avLst/>
          </a:prstGeom>
          <a:solidFill>
            <a:srgbClr val="FFFFFF"/>
          </a:solidFill>
          <a:ln w="12700">
            <a:solidFill>
              <a:srgbClr val="FFFFFF"/>
            </a:solidFill>
            <a:prstDash val="solid"/>
          </a:ln>
        </p:spPr>
      </p:sp>
      <p:pic>
        <p:nvPicPr>
          <p:cNvPr id="24" name="Image 2" descr="preencoded.png">    </p:cNvPr>
          <p:cNvPicPr>
            <a:picLocks noChangeAspect="1"/>
          </p:cNvPicPr>
          <p:nvPr/>
        </p:nvPicPr>
        <p:blipFill>
          <a:blip r:embed="rId3"/>
          <a:stretch>
            <a:fillRect/>
          </a:stretch>
        </p:blipFill>
        <p:spPr>
          <a:xfrm>
            <a:off x="750722" y="3128162"/>
            <a:ext cx="281635" cy="281635"/>
          </a:xfrm>
          <a:prstGeom prst="rect">
            <a:avLst/>
          </a:prstGeom>
        </p:spPr>
      </p:pic>
      <p:sp>
        <p:nvSpPr>
          <p:cNvPr id="25" name="Text 20"/>
          <p:cNvSpPr/>
          <p:nvPr/>
        </p:nvSpPr>
        <p:spPr>
          <a:xfrm>
            <a:off x="1280160" y="3017520"/>
            <a:ext cx="3200400" cy="27432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Prompt Engineering</a:t>
            </a:r>
            <a:endParaRPr lang="en-US" sz="1300" dirty="0"/>
          </a:p>
        </p:txBody>
      </p:sp>
      <p:sp>
        <p:nvSpPr>
          <p:cNvPr id="26" name="Text 21"/>
          <p:cNvSpPr/>
          <p:nvPr/>
        </p:nvSpPr>
        <p:spPr>
          <a:xfrm>
            <a:off x="1280160" y="329184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Design LLM-native workflows.</a:t>
            </a:r>
            <a:endParaRPr lang="en-US" sz="1050" dirty="0"/>
          </a:p>
        </p:txBody>
      </p:sp>
      <p:sp>
        <p:nvSpPr>
          <p:cNvPr id="27" name="Shape 22"/>
          <p:cNvSpPr/>
          <p:nvPr/>
        </p:nvSpPr>
        <p:spPr>
          <a:xfrm>
            <a:off x="457200" y="3703320"/>
            <a:ext cx="4114800" cy="685800"/>
          </a:xfrm>
          <a:prstGeom prst="roundRect">
            <a:avLst>
              <a:gd name="adj" fmla="val 10667"/>
            </a:avLst>
          </a:prstGeom>
          <a:solidFill>
            <a:srgbClr val="F1F6FC"/>
          </a:solidFill>
          <a:ln w="6350">
            <a:solidFill>
              <a:srgbClr val="2E7CD6"/>
            </a:solidFill>
            <a:prstDash val="solid"/>
          </a:ln>
        </p:spPr>
      </p:sp>
      <p:sp>
        <p:nvSpPr>
          <p:cNvPr id="28" name="Shape 23"/>
          <p:cNvSpPr/>
          <p:nvPr/>
        </p:nvSpPr>
        <p:spPr>
          <a:xfrm>
            <a:off x="457200" y="3703320"/>
            <a:ext cx="73152" cy="685800"/>
          </a:xfrm>
          <a:prstGeom prst="rect">
            <a:avLst/>
          </a:prstGeom>
          <a:solidFill>
            <a:srgbClr val="F97316"/>
          </a:solidFill>
          <a:ln w="12700">
            <a:solidFill>
              <a:srgbClr val="F97316"/>
            </a:solidFill>
            <a:prstDash val="solid"/>
          </a:ln>
        </p:spPr>
      </p:sp>
      <p:sp>
        <p:nvSpPr>
          <p:cNvPr id="29" name="Shape 24"/>
          <p:cNvSpPr/>
          <p:nvPr/>
        </p:nvSpPr>
        <p:spPr>
          <a:xfrm>
            <a:off x="640080" y="3794760"/>
            <a:ext cx="502920" cy="502920"/>
          </a:xfrm>
          <a:prstGeom prst="ellipse">
            <a:avLst/>
          </a:prstGeom>
          <a:solidFill>
            <a:srgbClr val="FFFFFF"/>
          </a:solidFill>
          <a:ln w="12700">
            <a:solidFill>
              <a:srgbClr val="FFFFFF"/>
            </a:solidFill>
            <a:prstDash val="solid"/>
          </a:ln>
        </p:spPr>
      </p:sp>
      <p:pic>
        <p:nvPicPr>
          <p:cNvPr id="30" name="Image 3" descr="preencoded.png">    </p:cNvPr>
          <p:cNvPicPr>
            <a:picLocks noChangeAspect="1"/>
          </p:cNvPicPr>
          <p:nvPr/>
        </p:nvPicPr>
        <p:blipFill>
          <a:blip r:embed="rId4"/>
          <a:stretch>
            <a:fillRect/>
          </a:stretch>
        </p:blipFill>
        <p:spPr>
          <a:xfrm>
            <a:off x="750722" y="3905402"/>
            <a:ext cx="281635" cy="281635"/>
          </a:xfrm>
          <a:prstGeom prst="rect">
            <a:avLst/>
          </a:prstGeom>
        </p:spPr>
      </p:pic>
      <p:sp>
        <p:nvSpPr>
          <p:cNvPr id="31" name="Text 25"/>
          <p:cNvSpPr/>
          <p:nvPr/>
        </p:nvSpPr>
        <p:spPr>
          <a:xfrm>
            <a:off x="1280160" y="3794760"/>
            <a:ext cx="3200400" cy="27432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AI Safety &amp; Ethics</a:t>
            </a:r>
            <a:endParaRPr lang="en-US" sz="1300" dirty="0"/>
          </a:p>
        </p:txBody>
      </p:sp>
      <p:sp>
        <p:nvSpPr>
          <p:cNvPr id="32" name="Text 26"/>
          <p:cNvSpPr/>
          <p:nvPr/>
        </p:nvSpPr>
        <p:spPr>
          <a:xfrm>
            <a:off x="1280160" y="4069080"/>
            <a:ext cx="320040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Bias, alignment, guardrails.</a:t>
            </a:r>
            <a:endParaRPr lang="en-US" sz="1050" dirty="0"/>
          </a:p>
        </p:txBody>
      </p:sp>
      <p:graphicFrame>
        <p:nvGraphicFramePr>
          <p:cNvPr id="33" name="Chart 0" descr=""/>
          <p:cNvGraphicFramePr/>
          <p:nvPr/>
        </p:nvGraphicFramePr>
        <p:xfrm>
          <a:off x="4754880" y="1371600"/>
          <a:ext cx="4023360" cy="3200400"/>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SEM 1 → PLACEMENT</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Student Success Roadmap</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35</a:t>
            </a:r>
            <a:endParaRPr lang="en-US" sz="900" dirty="0"/>
          </a:p>
        </p:txBody>
      </p:sp>
      <p:sp>
        <p:nvSpPr>
          <p:cNvPr id="9" name="Shape 7"/>
          <p:cNvSpPr/>
          <p:nvPr/>
        </p:nvSpPr>
        <p:spPr>
          <a:xfrm>
            <a:off x="617220" y="4434840"/>
            <a:ext cx="7909560" cy="0"/>
          </a:xfrm>
          <a:prstGeom prst="line">
            <a:avLst/>
          </a:prstGeom>
          <a:noFill/>
          <a:ln w="25400">
            <a:solidFill>
              <a:srgbClr val="2E7CD6"/>
            </a:solidFill>
            <a:prstDash val="dash"/>
          </a:ln>
        </p:spPr>
      </p:sp>
      <p:sp>
        <p:nvSpPr>
          <p:cNvPr id="10" name="Shape 8"/>
          <p:cNvSpPr/>
          <p:nvPr/>
        </p:nvSpPr>
        <p:spPr>
          <a:xfrm>
            <a:off x="342900" y="1371600"/>
            <a:ext cx="2011680" cy="27432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1" name="Shape 9"/>
          <p:cNvSpPr/>
          <p:nvPr/>
        </p:nvSpPr>
        <p:spPr>
          <a:xfrm>
            <a:off x="342900" y="1371600"/>
            <a:ext cx="2011680" cy="502920"/>
          </a:xfrm>
          <a:prstGeom prst="rect">
            <a:avLst/>
          </a:prstGeom>
          <a:solidFill>
            <a:srgbClr val="0B2A4A"/>
          </a:solidFill>
          <a:ln w="12700">
            <a:solidFill>
              <a:srgbClr val="0B2A4A"/>
            </a:solidFill>
            <a:prstDash val="solid"/>
          </a:ln>
        </p:spPr>
      </p:sp>
      <p:sp>
        <p:nvSpPr>
          <p:cNvPr id="12" name="Text 10"/>
          <p:cNvSpPr/>
          <p:nvPr/>
        </p:nvSpPr>
        <p:spPr>
          <a:xfrm>
            <a:off x="342900" y="1371600"/>
            <a:ext cx="2011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Sem 1-2</a:t>
            </a:r>
            <a:endParaRPr lang="en-US" sz="1300" dirty="0"/>
          </a:p>
        </p:txBody>
      </p:sp>
      <p:sp>
        <p:nvSpPr>
          <p:cNvPr id="13" name="Shape 11"/>
          <p:cNvSpPr/>
          <p:nvPr/>
        </p:nvSpPr>
        <p:spPr>
          <a:xfrm>
            <a:off x="937260" y="2103120"/>
            <a:ext cx="822960" cy="822960"/>
          </a:xfrm>
          <a:prstGeom prst="ellipse">
            <a:avLst/>
          </a:prstGeom>
          <a:solidFill>
            <a:srgbClr val="F1F6FC"/>
          </a:solidFill>
          <a:ln w="12700">
            <a:solidFill>
              <a:srgbClr val="F1F6FC"/>
            </a:solidFill>
            <a:prstDash val="solid"/>
          </a:ln>
        </p:spPr>
      </p:sp>
      <p:pic>
        <p:nvPicPr>
          <p:cNvPr id="14" name="Image 0" descr="preencoded.png">    </p:cNvPr>
          <p:cNvPicPr>
            <a:picLocks noChangeAspect="1"/>
          </p:cNvPicPr>
          <p:nvPr/>
        </p:nvPicPr>
        <p:blipFill>
          <a:blip r:embed="rId1"/>
          <a:stretch>
            <a:fillRect/>
          </a:stretch>
        </p:blipFill>
        <p:spPr>
          <a:xfrm>
            <a:off x="1118311" y="2284171"/>
            <a:ext cx="460858" cy="460858"/>
          </a:xfrm>
          <a:prstGeom prst="rect">
            <a:avLst/>
          </a:prstGeom>
        </p:spPr>
      </p:pic>
      <p:sp>
        <p:nvSpPr>
          <p:cNvPr id="15" name="Text 12"/>
          <p:cNvSpPr/>
          <p:nvPr/>
        </p:nvSpPr>
        <p:spPr>
          <a:xfrm>
            <a:off x="434340" y="3063240"/>
            <a:ext cx="1828800" cy="36576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Foundations</a:t>
            </a:r>
            <a:endParaRPr lang="en-US" sz="1400" dirty="0"/>
          </a:p>
        </p:txBody>
      </p:sp>
      <p:sp>
        <p:nvSpPr>
          <p:cNvPr id="16" name="Text 13"/>
          <p:cNvSpPr/>
          <p:nvPr/>
        </p:nvSpPr>
        <p:spPr>
          <a:xfrm>
            <a:off x="480060" y="3474720"/>
            <a:ext cx="1737360" cy="64008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Programming, Math, Communication.</a:t>
            </a:r>
            <a:endParaRPr lang="en-US" sz="1000" dirty="0"/>
          </a:p>
        </p:txBody>
      </p:sp>
      <p:sp>
        <p:nvSpPr>
          <p:cNvPr id="17" name="Shape 14"/>
          <p:cNvSpPr/>
          <p:nvPr/>
        </p:nvSpPr>
        <p:spPr>
          <a:xfrm>
            <a:off x="1257300" y="4343400"/>
            <a:ext cx="182880" cy="182880"/>
          </a:xfrm>
          <a:prstGeom prst="ellipse">
            <a:avLst/>
          </a:prstGeom>
          <a:solidFill>
            <a:srgbClr val="0B2A4A"/>
          </a:solidFill>
          <a:ln w="12700">
            <a:solidFill>
              <a:srgbClr val="0B2A4A"/>
            </a:solidFill>
            <a:prstDash val="solid"/>
          </a:ln>
        </p:spPr>
      </p:sp>
      <p:sp>
        <p:nvSpPr>
          <p:cNvPr id="18" name="Shape 15"/>
          <p:cNvSpPr/>
          <p:nvPr/>
        </p:nvSpPr>
        <p:spPr>
          <a:xfrm>
            <a:off x="2491740" y="1371600"/>
            <a:ext cx="2011680" cy="27432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9" name="Shape 16"/>
          <p:cNvSpPr/>
          <p:nvPr/>
        </p:nvSpPr>
        <p:spPr>
          <a:xfrm>
            <a:off x="2491740" y="1371600"/>
            <a:ext cx="2011680" cy="502920"/>
          </a:xfrm>
          <a:prstGeom prst="rect">
            <a:avLst/>
          </a:prstGeom>
          <a:solidFill>
            <a:srgbClr val="1E4E8C"/>
          </a:solidFill>
          <a:ln w="12700">
            <a:solidFill>
              <a:srgbClr val="1E4E8C"/>
            </a:solidFill>
            <a:prstDash val="solid"/>
          </a:ln>
        </p:spPr>
      </p:sp>
      <p:sp>
        <p:nvSpPr>
          <p:cNvPr id="20" name="Text 17"/>
          <p:cNvSpPr/>
          <p:nvPr/>
        </p:nvSpPr>
        <p:spPr>
          <a:xfrm>
            <a:off x="2491740" y="1371600"/>
            <a:ext cx="2011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Sem 3-4</a:t>
            </a:r>
            <a:endParaRPr lang="en-US" sz="1300" dirty="0"/>
          </a:p>
        </p:txBody>
      </p:sp>
      <p:sp>
        <p:nvSpPr>
          <p:cNvPr id="21" name="Shape 18"/>
          <p:cNvSpPr/>
          <p:nvPr/>
        </p:nvSpPr>
        <p:spPr>
          <a:xfrm>
            <a:off x="3086100" y="2103120"/>
            <a:ext cx="822960" cy="822960"/>
          </a:xfrm>
          <a:prstGeom prst="ellipse">
            <a:avLst/>
          </a:prstGeom>
          <a:solidFill>
            <a:srgbClr val="F1F6FC"/>
          </a:solidFill>
          <a:ln w="12700">
            <a:solidFill>
              <a:srgbClr val="F1F6FC"/>
            </a:solidFill>
            <a:prstDash val="solid"/>
          </a:ln>
        </p:spPr>
      </p:sp>
      <p:pic>
        <p:nvPicPr>
          <p:cNvPr id="22" name="Image 1" descr="preencoded.png">    </p:cNvPr>
          <p:cNvPicPr>
            <a:picLocks noChangeAspect="1"/>
          </p:cNvPicPr>
          <p:nvPr/>
        </p:nvPicPr>
        <p:blipFill>
          <a:blip r:embed="rId2"/>
          <a:stretch>
            <a:fillRect/>
          </a:stretch>
        </p:blipFill>
        <p:spPr>
          <a:xfrm>
            <a:off x="3267151" y="2284171"/>
            <a:ext cx="460858" cy="460858"/>
          </a:xfrm>
          <a:prstGeom prst="rect">
            <a:avLst/>
          </a:prstGeom>
        </p:spPr>
      </p:pic>
      <p:sp>
        <p:nvSpPr>
          <p:cNvPr id="23" name="Text 19"/>
          <p:cNvSpPr/>
          <p:nvPr/>
        </p:nvSpPr>
        <p:spPr>
          <a:xfrm>
            <a:off x="2583180" y="3063240"/>
            <a:ext cx="1828800" cy="36576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Core Skills</a:t>
            </a:r>
            <a:endParaRPr lang="en-US" sz="1400" dirty="0"/>
          </a:p>
        </p:txBody>
      </p:sp>
      <p:sp>
        <p:nvSpPr>
          <p:cNvPr id="24" name="Text 20"/>
          <p:cNvSpPr/>
          <p:nvPr/>
        </p:nvSpPr>
        <p:spPr>
          <a:xfrm>
            <a:off x="2628900" y="3474720"/>
            <a:ext cx="1737360" cy="64008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DS, Algorithms, DBMS, OOP.</a:t>
            </a:r>
            <a:endParaRPr lang="en-US" sz="1000" dirty="0"/>
          </a:p>
        </p:txBody>
      </p:sp>
      <p:sp>
        <p:nvSpPr>
          <p:cNvPr id="25" name="Shape 21"/>
          <p:cNvSpPr/>
          <p:nvPr/>
        </p:nvSpPr>
        <p:spPr>
          <a:xfrm>
            <a:off x="3406140" y="4343400"/>
            <a:ext cx="182880" cy="182880"/>
          </a:xfrm>
          <a:prstGeom prst="ellipse">
            <a:avLst/>
          </a:prstGeom>
          <a:solidFill>
            <a:srgbClr val="1E4E8C"/>
          </a:solidFill>
          <a:ln w="12700">
            <a:solidFill>
              <a:srgbClr val="1E4E8C"/>
            </a:solidFill>
            <a:prstDash val="solid"/>
          </a:ln>
        </p:spPr>
      </p:sp>
      <p:sp>
        <p:nvSpPr>
          <p:cNvPr id="26" name="Shape 22"/>
          <p:cNvSpPr/>
          <p:nvPr/>
        </p:nvSpPr>
        <p:spPr>
          <a:xfrm>
            <a:off x="4640580" y="1371600"/>
            <a:ext cx="2011680" cy="27432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7" name="Shape 23"/>
          <p:cNvSpPr/>
          <p:nvPr/>
        </p:nvSpPr>
        <p:spPr>
          <a:xfrm>
            <a:off x="4640580" y="1371600"/>
            <a:ext cx="2011680" cy="502920"/>
          </a:xfrm>
          <a:prstGeom prst="rect">
            <a:avLst/>
          </a:prstGeom>
          <a:solidFill>
            <a:srgbClr val="2E7CD6"/>
          </a:solidFill>
          <a:ln w="12700">
            <a:solidFill>
              <a:srgbClr val="2E7CD6"/>
            </a:solidFill>
            <a:prstDash val="solid"/>
          </a:ln>
        </p:spPr>
      </p:sp>
      <p:sp>
        <p:nvSpPr>
          <p:cNvPr id="28" name="Text 24"/>
          <p:cNvSpPr/>
          <p:nvPr/>
        </p:nvSpPr>
        <p:spPr>
          <a:xfrm>
            <a:off x="4640580" y="1371600"/>
            <a:ext cx="2011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Sem 5-6</a:t>
            </a:r>
            <a:endParaRPr lang="en-US" sz="1300" dirty="0"/>
          </a:p>
        </p:txBody>
      </p:sp>
      <p:sp>
        <p:nvSpPr>
          <p:cNvPr id="29" name="Shape 25"/>
          <p:cNvSpPr/>
          <p:nvPr/>
        </p:nvSpPr>
        <p:spPr>
          <a:xfrm>
            <a:off x="5234940" y="2103120"/>
            <a:ext cx="822960" cy="822960"/>
          </a:xfrm>
          <a:prstGeom prst="ellipse">
            <a:avLst/>
          </a:prstGeom>
          <a:solidFill>
            <a:srgbClr val="F1F6FC"/>
          </a:solidFill>
          <a:ln w="12700">
            <a:solidFill>
              <a:srgbClr val="F1F6FC"/>
            </a:solidFill>
            <a:prstDash val="solid"/>
          </a:ln>
        </p:spPr>
      </p:sp>
      <p:pic>
        <p:nvPicPr>
          <p:cNvPr id="30" name="Image 2" descr="preencoded.png">    </p:cNvPr>
          <p:cNvPicPr>
            <a:picLocks noChangeAspect="1"/>
          </p:cNvPicPr>
          <p:nvPr/>
        </p:nvPicPr>
        <p:blipFill>
          <a:blip r:embed="rId3"/>
          <a:stretch>
            <a:fillRect/>
          </a:stretch>
        </p:blipFill>
        <p:spPr>
          <a:xfrm>
            <a:off x="5415991" y="2284171"/>
            <a:ext cx="460858" cy="460858"/>
          </a:xfrm>
          <a:prstGeom prst="rect">
            <a:avLst/>
          </a:prstGeom>
        </p:spPr>
      </p:pic>
      <p:sp>
        <p:nvSpPr>
          <p:cNvPr id="31" name="Text 26"/>
          <p:cNvSpPr/>
          <p:nvPr/>
        </p:nvSpPr>
        <p:spPr>
          <a:xfrm>
            <a:off x="4732020" y="3063240"/>
            <a:ext cx="1828800" cy="36576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Specialize</a:t>
            </a:r>
            <a:endParaRPr lang="en-US" sz="1400" dirty="0"/>
          </a:p>
        </p:txBody>
      </p:sp>
      <p:sp>
        <p:nvSpPr>
          <p:cNvPr id="32" name="Text 27"/>
          <p:cNvSpPr/>
          <p:nvPr/>
        </p:nvSpPr>
        <p:spPr>
          <a:xfrm>
            <a:off x="4777740" y="3474720"/>
            <a:ext cx="1737360" cy="64008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AI/ML/Cloud/VLSI + Domain Cert.</a:t>
            </a:r>
            <a:endParaRPr lang="en-US" sz="1000" dirty="0"/>
          </a:p>
        </p:txBody>
      </p:sp>
      <p:sp>
        <p:nvSpPr>
          <p:cNvPr id="33" name="Shape 28"/>
          <p:cNvSpPr/>
          <p:nvPr/>
        </p:nvSpPr>
        <p:spPr>
          <a:xfrm>
            <a:off x="5554980" y="4343400"/>
            <a:ext cx="182880" cy="182880"/>
          </a:xfrm>
          <a:prstGeom prst="ellipse">
            <a:avLst/>
          </a:prstGeom>
          <a:solidFill>
            <a:srgbClr val="2E7CD6"/>
          </a:solidFill>
          <a:ln w="12700">
            <a:solidFill>
              <a:srgbClr val="2E7CD6"/>
            </a:solidFill>
            <a:prstDash val="solid"/>
          </a:ln>
        </p:spPr>
      </p:sp>
      <p:sp>
        <p:nvSpPr>
          <p:cNvPr id="34" name="Shape 29"/>
          <p:cNvSpPr/>
          <p:nvPr/>
        </p:nvSpPr>
        <p:spPr>
          <a:xfrm>
            <a:off x="6789420" y="1371600"/>
            <a:ext cx="2011680" cy="2743200"/>
          </a:xfrm>
          <a:prstGeom prst="roundRect">
            <a:avLst>
              <a:gd name="adj" fmla="val 4545"/>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5" name="Shape 30"/>
          <p:cNvSpPr/>
          <p:nvPr/>
        </p:nvSpPr>
        <p:spPr>
          <a:xfrm>
            <a:off x="6789420" y="1371600"/>
            <a:ext cx="2011680" cy="502920"/>
          </a:xfrm>
          <a:prstGeom prst="rect">
            <a:avLst/>
          </a:prstGeom>
          <a:solidFill>
            <a:srgbClr val="F97316"/>
          </a:solidFill>
          <a:ln w="12700">
            <a:solidFill>
              <a:srgbClr val="F97316"/>
            </a:solidFill>
            <a:prstDash val="solid"/>
          </a:ln>
        </p:spPr>
      </p:sp>
      <p:sp>
        <p:nvSpPr>
          <p:cNvPr id="36" name="Text 31"/>
          <p:cNvSpPr/>
          <p:nvPr/>
        </p:nvSpPr>
        <p:spPr>
          <a:xfrm>
            <a:off x="6789420" y="1371600"/>
            <a:ext cx="2011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Sem 7-8</a:t>
            </a:r>
            <a:endParaRPr lang="en-US" sz="1300" dirty="0"/>
          </a:p>
        </p:txBody>
      </p:sp>
      <p:sp>
        <p:nvSpPr>
          <p:cNvPr id="37" name="Shape 32"/>
          <p:cNvSpPr/>
          <p:nvPr/>
        </p:nvSpPr>
        <p:spPr>
          <a:xfrm>
            <a:off x="7383780" y="2103120"/>
            <a:ext cx="822960" cy="822960"/>
          </a:xfrm>
          <a:prstGeom prst="ellipse">
            <a:avLst/>
          </a:prstGeom>
          <a:solidFill>
            <a:srgbClr val="F1F6FC"/>
          </a:solidFill>
          <a:ln w="12700">
            <a:solidFill>
              <a:srgbClr val="F1F6FC"/>
            </a:solidFill>
            <a:prstDash val="solid"/>
          </a:ln>
        </p:spPr>
      </p:sp>
      <p:pic>
        <p:nvPicPr>
          <p:cNvPr id="38" name="Image 3" descr="preencoded.png">    </p:cNvPr>
          <p:cNvPicPr>
            <a:picLocks noChangeAspect="1"/>
          </p:cNvPicPr>
          <p:nvPr/>
        </p:nvPicPr>
        <p:blipFill>
          <a:blip r:embed="rId4"/>
          <a:stretch>
            <a:fillRect/>
          </a:stretch>
        </p:blipFill>
        <p:spPr>
          <a:xfrm>
            <a:off x="7564831" y="2284171"/>
            <a:ext cx="460858" cy="460858"/>
          </a:xfrm>
          <a:prstGeom prst="rect">
            <a:avLst/>
          </a:prstGeom>
        </p:spPr>
      </p:pic>
      <p:sp>
        <p:nvSpPr>
          <p:cNvPr id="39" name="Text 33"/>
          <p:cNvSpPr/>
          <p:nvPr/>
        </p:nvSpPr>
        <p:spPr>
          <a:xfrm>
            <a:off x="6880860" y="3063240"/>
            <a:ext cx="1828800" cy="365760"/>
          </a:xfrm>
          <a:prstGeom prst="rect">
            <a:avLst/>
          </a:prstGeom>
          <a:noFill/>
          <a:ln/>
        </p:spPr>
        <p:txBody>
          <a:bodyPr wrap="square" lIns="0" tIns="0" rIns="0" bIns="0" rtlCol="0" anchor="ctr"/>
          <a:lstStyle/>
          <a:p>
            <a:pPr algn="ctr" indent="0" marL="0">
              <a:buNone/>
            </a:pPr>
            <a:r>
              <a:rPr lang="en-US" sz="1400" b="1" dirty="0">
                <a:solidFill>
                  <a:srgbClr val="0B2A4A"/>
                </a:solidFill>
                <a:latin typeface="Segoe UI" pitchFamily="34" charset="0"/>
                <a:ea typeface="Segoe UI" pitchFamily="34" charset="-122"/>
                <a:cs typeface="Segoe UI" pitchFamily="34" charset="-120"/>
              </a:rPr>
              <a:t>Prepare &amp; Place</a:t>
            </a:r>
            <a:endParaRPr lang="en-US" sz="1400" dirty="0"/>
          </a:p>
        </p:txBody>
      </p:sp>
      <p:sp>
        <p:nvSpPr>
          <p:cNvPr id="40" name="Text 34"/>
          <p:cNvSpPr/>
          <p:nvPr/>
        </p:nvSpPr>
        <p:spPr>
          <a:xfrm>
            <a:off x="6926580" y="3474720"/>
            <a:ext cx="1737360" cy="64008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GATE + Internship + Projects.</a:t>
            </a:r>
            <a:endParaRPr lang="en-US" sz="1000" dirty="0"/>
          </a:p>
        </p:txBody>
      </p:sp>
      <p:sp>
        <p:nvSpPr>
          <p:cNvPr id="41" name="Shape 35"/>
          <p:cNvSpPr/>
          <p:nvPr/>
        </p:nvSpPr>
        <p:spPr>
          <a:xfrm>
            <a:off x="7703820" y="4343400"/>
            <a:ext cx="182880" cy="182880"/>
          </a:xfrm>
          <a:prstGeom prst="ellipse">
            <a:avLst/>
          </a:prstGeom>
          <a:solidFill>
            <a:srgbClr val="F97316"/>
          </a:solidFill>
          <a:ln w="12700">
            <a:solidFill>
              <a:srgbClr val="F97316"/>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FROM ALUMNI WHO CRACKED IT</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Tips to Succeed in NPTEL</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36</a:t>
            </a:r>
            <a:endParaRPr lang="en-US" sz="900" dirty="0"/>
          </a:p>
        </p:txBody>
      </p:sp>
      <p:sp>
        <p:nvSpPr>
          <p:cNvPr id="9" name="Shape 7"/>
          <p:cNvSpPr/>
          <p:nvPr/>
        </p:nvSpPr>
        <p:spPr>
          <a:xfrm>
            <a:off x="45720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594360" y="1508760"/>
            <a:ext cx="502920" cy="502920"/>
          </a:xfrm>
          <a:prstGeom prst="ellipse">
            <a:avLst/>
          </a:prstGeom>
          <a:solidFill>
            <a:srgbClr val="F97316"/>
          </a:solidFill>
          <a:ln w="12700">
            <a:solidFill>
              <a:srgbClr val="F97316"/>
            </a:solidFill>
            <a:prstDash val="solid"/>
          </a:ln>
        </p:spPr>
      </p:sp>
      <p:sp>
        <p:nvSpPr>
          <p:cNvPr id="11" name="Text 9"/>
          <p:cNvSpPr/>
          <p:nvPr/>
        </p:nvSpPr>
        <p:spPr>
          <a:xfrm>
            <a:off x="59436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12" name="Shape 10"/>
          <p:cNvSpPr/>
          <p:nvPr/>
        </p:nvSpPr>
        <p:spPr>
          <a:xfrm>
            <a:off x="1234440" y="1600200"/>
            <a:ext cx="365760" cy="365760"/>
          </a:xfrm>
          <a:prstGeom prst="ellipse">
            <a:avLst/>
          </a:prstGeom>
          <a:solidFill>
            <a:srgbClr val="FFFFFF"/>
          </a:solidFill>
          <a:ln w="12700">
            <a:solidFill>
              <a:srgbClr val="FFFFFF"/>
            </a:solidFill>
            <a:prstDash val="solid"/>
          </a:ln>
        </p:spPr>
      </p:sp>
      <p:pic>
        <p:nvPicPr>
          <p:cNvPr id="13" name="Image 0" descr="preencoded.png">    </p:cNvPr>
          <p:cNvPicPr>
            <a:picLocks noChangeAspect="1"/>
          </p:cNvPicPr>
          <p:nvPr/>
        </p:nvPicPr>
        <p:blipFill>
          <a:blip r:embed="rId1"/>
          <a:stretch>
            <a:fillRect/>
          </a:stretch>
        </p:blipFill>
        <p:spPr>
          <a:xfrm>
            <a:off x="1314907" y="1680667"/>
            <a:ext cx="204826" cy="204826"/>
          </a:xfrm>
          <a:prstGeom prst="rect">
            <a:avLst/>
          </a:prstGeom>
        </p:spPr>
      </p:pic>
      <p:sp>
        <p:nvSpPr>
          <p:cNvPr id="14" name="Text 11"/>
          <p:cNvSpPr/>
          <p:nvPr/>
        </p:nvSpPr>
        <p:spPr>
          <a:xfrm>
            <a:off x="1691640" y="1600200"/>
            <a:ext cx="1325880" cy="36576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Set a Weekly Slot</a:t>
            </a:r>
            <a:endParaRPr lang="en-US" sz="1200" dirty="0"/>
          </a:p>
        </p:txBody>
      </p:sp>
      <p:sp>
        <p:nvSpPr>
          <p:cNvPr id="15" name="Text 12"/>
          <p:cNvSpPr/>
          <p:nvPr/>
        </p:nvSpPr>
        <p:spPr>
          <a:xfrm>
            <a:off x="640080" y="2148840"/>
            <a:ext cx="2377440" cy="59436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Two evenings, non-negotiable.</a:t>
            </a:r>
            <a:endParaRPr lang="en-US" sz="1050" dirty="0"/>
          </a:p>
        </p:txBody>
      </p:sp>
      <p:sp>
        <p:nvSpPr>
          <p:cNvPr id="16" name="Shape 13"/>
          <p:cNvSpPr/>
          <p:nvPr/>
        </p:nvSpPr>
        <p:spPr>
          <a:xfrm>
            <a:off x="324612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7" name="Shape 14"/>
          <p:cNvSpPr/>
          <p:nvPr/>
        </p:nvSpPr>
        <p:spPr>
          <a:xfrm>
            <a:off x="3383280" y="1508760"/>
            <a:ext cx="502920" cy="502920"/>
          </a:xfrm>
          <a:prstGeom prst="ellipse">
            <a:avLst/>
          </a:prstGeom>
          <a:solidFill>
            <a:srgbClr val="F97316"/>
          </a:solidFill>
          <a:ln w="12700">
            <a:solidFill>
              <a:srgbClr val="F97316"/>
            </a:solidFill>
            <a:prstDash val="solid"/>
          </a:ln>
        </p:spPr>
      </p:sp>
      <p:sp>
        <p:nvSpPr>
          <p:cNvPr id="18" name="Text 15"/>
          <p:cNvSpPr/>
          <p:nvPr/>
        </p:nvSpPr>
        <p:spPr>
          <a:xfrm>
            <a:off x="338328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9" name="Shape 16"/>
          <p:cNvSpPr/>
          <p:nvPr/>
        </p:nvSpPr>
        <p:spPr>
          <a:xfrm>
            <a:off x="4023360" y="1600200"/>
            <a:ext cx="365760" cy="365760"/>
          </a:xfrm>
          <a:prstGeom prst="ellipse">
            <a:avLst/>
          </a:prstGeom>
          <a:solidFill>
            <a:srgbClr val="FFFFFF"/>
          </a:solidFill>
          <a:ln w="12700">
            <a:solidFill>
              <a:srgbClr val="FFFFFF"/>
            </a:solidFill>
            <a:prstDash val="solid"/>
          </a:ln>
        </p:spPr>
      </p:sp>
      <p:pic>
        <p:nvPicPr>
          <p:cNvPr id="20" name="Image 1" descr="preencoded.png">    </p:cNvPr>
          <p:cNvPicPr>
            <a:picLocks noChangeAspect="1"/>
          </p:cNvPicPr>
          <p:nvPr/>
        </p:nvPicPr>
        <p:blipFill>
          <a:blip r:embed="rId2"/>
          <a:stretch>
            <a:fillRect/>
          </a:stretch>
        </p:blipFill>
        <p:spPr>
          <a:xfrm>
            <a:off x="4103827" y="1680667"/>
            <a:ext cx="204826" cy="204826"/>
          </a:xfrm>
          <a:prstGeom prst="rect">
            <a:avLst/>
          </a:prstGeom>
        </p:spPr>
      </p:pic>
      <p:sp>
        <p:nvSpPr>
          <p:cNvPr id="21" name="Text 17"/>
          <p:cNvSpPr/>
          <p:nvPr/>
        </p:nvSpPr>
        <p:spPr>
          <a:xfrm>
            <a:off x="4480560" y="1600200"/>
            <a:ext cx="1325880" cy="36576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Never Skip Assignments</a:t>
            </a:r>
            <a:endParaRPr lang="en-US" sz="1200" dirty="0"/>
          </a:p>
        </p:txBody>
      </p:sp>
      <p:sp>
        <p:nvSpPr>
          <p:cNvPr id="22" name="Text 18"/>
          <p:cNvSpPr/>
          <p:nvPr/>
        </p:nvSpPr>
        <p:spPr>
          <a:xfrm>
            <a:off x="3429000" y="2148840"/>
            <a:ext cx="2377440" cy="59436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Best of N-1 rewards consistency.</a:t>
            </a:r>
            <a:endParaRPr lang="en-US" sz="1050" dirty="0"/>
          </a:p>
        </p:txBody>
      </p:sp>
      <p:sp>
        <p:nvSpPr>
          <p:cNvPr id="23" name="Shape 19"/>
          <p:cNvSpPr/>
          <p:nvPr/>
        </p:nvSpPr>
        <p:spPr>
          <a:xfrm>
            <a:off x="603504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4" name="Shape 20"/>
          <p:cNvSpPr/>
          <p:nvPr/>
        </p:nvSpPr>
        <p:spPr>
          <a:xfrm>
            <a:off x="6172200" y="1508760"/>
            <a:ext cx="502920" cy="502920"/>
          </a:xfrm>
          <a:prstGeom prst="ellipse">
            <a:avLst/>
          </a:prstGeom>
          <a:solidFill>
            <a:srgbClr val="F97316"/>
          </a:solidFill>
          <a:ln w="12700">
            <a:solidFill>
              <a:srgbClr val="F97316"/>
            </a:solidFill>
            <a:prstDash val="solid"/>
          </a:ln>
        </p:spPr>
      </p:sp>
      <p:sp>
        <p:nvSpPr>
          <p:cNvPr id="25" name="Text 21"/>
          <p:cNvSpPr/>
          <p:nvPr/>
        </p:nvSpPr>
        <p:spPr>
          <a:xfrm>
            <a:off x="617220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26" name="Shape 22"/>
          <p:cNvSpPr/>
          <p:nvPr/>
        </p:nvSpPr>
        <p:spPr>
          <a:xfrm>
            <a:off x="6812280" y="1600200"/>
            <a:ext cx="365760" cy="365760"/>
          </a:xfrm>
          <a:prstGeom prst="ellipse">
            <a:avLst/>
          </a:prstGeom>
          <a:solidFill>
            <a:srgbClr val="FFFFFF"/>
          </a:solidFill>
          <a:ln w="12700">
            <a:solidFill>
              <a:srgbClr val="FFFFFF"/>
            </a:solidFill>
            <a:prstDash val="solid"/>
          </a:ln>
        </p:spPr>
      </p:sp>
      <p:pic>
        <p:nvPicPr>
          <p:cNvPr id="27" name="Image 2" descr="preencoded.png">    </p:cNvPr>
          <p:cNvPicPr>
            <a:picLocks noChangeAspect="1"/>
          </p:cNvPicPr>
          <p:nvPr/>
        </p:nvPicPr>
        <p:blipFill>
          <a:blip r:embed="rId3"/>
          <a:stretch>
            <a:fillRect/>
          </a:stretch>
        </p:blipFill>
        <p:spPr>
          <a:xfrm>
            <a:off x="6892747" y="1680667"/>
            <a:ext cx="204826" cy="204826"/>
          </a:xfrm>
          <a:prstGeom prst="rect">
            <a:avLst/>
          </a:prstGeom>
        </p:spPr>
      </p:pic>
      <p:sp>
        <p:nvSpPr>
          <p:cNvPr id="28" name="Text 23"/>
          <p:cNvSpPr/>
          <p:nvPr/>
        </p:nvSpPr>
        <p:spPr>
          <a:xfrm>
            <a:off x="7269480" y="1600200"/>
            <a:ext cx="1325880" cy="36576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Take Notes While Watching</a:t>
            </a:r>
            <a:endParaRPr lang="en-US" sz="1200" dirty="0"/>
          </a:p>
        </p:txBody>
      </p:sp>
      <p:sp>
        <p:nvSpPr>
          <p:cNvPr id="29" name="Text 24"/>
          <p:cNvSpPr/>
          <p:nvPr/>
        </p:nvSpPr>
        <p:spPr>
          <a:xfrm>
            <a:off x="6217920" y="2148840"/>
            <a:ext cx="2377440" cy="59436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1.25x speed with notebook open.</a:t>
            </a:r>
            <a:endParaRPr lang="en-US" sz="1050" dirty="0"/>
          </a:p>
        </p:txBody>
      </p:sp>
      <p:sp>
        <p:nvSpPr>
          <p:cNvPr id="30" name="Shape 25"/>
          <p:cNvSpPr/>
          <p:nvPr/>
        </p:nvSpPr>
        <p:spPr>
          <a:xfrm>
            <a:off x="45720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1" name="Shape 26"/>
          <p:cNvSpPr/>
          <p:nvPr/>
        </p:nvSpPr>
        <p:spPr>
          <a:xfrm>
            <a:off x="594360" y="3063240"/>
            <a:ext cx="502920" cy="502920"/>
          </a:xfrm>
          <a:prstGeom prst="ellipse">
            <a:avLst/>
          </a:prstGeom>
          <a:solidFill>
            <a:srgbClr val="F97316"/>
          </a:solidFill>
          <a:ln w="12700">
            <a:solidFill>
              <a:srgbClr val="F97316"/>
            </a:solidFill>
            <a:prstDash val="solid"/>
          </a:ln>
        </p:spPr>
      </p:sp>
      <p:sp>
        <p:nvSpPr>
          <p:cNvPr id="32" name="Text 27"/>
          <p:cNvSpPr/>
          <p:nvPr/>
        </p:nvSpPr>
        <p:spPr>
          <a:xfrm>
            <a:off x="594360" y="3063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33" name="Shape 28"/>
          <p:cNvSpPr/>
          <p:nvPr/>
        </p:nvSpPr>
        <p:spPr>
          <a:xfrm>
            <a:off x="1234440" y="3154680"/>
            <a:ext cx="365760" cy="365760"/>
          </a:xfrm>
          <a:prstGeom prst="ellipse">
            <a:avLst/>
          </a:prstGeom>
          <a:solidFill>
            <a:srgbClr val="FFFFFF"/>
          </a:solidFill>
          <a:ln w="12700">
            <a:solidFill>
              <a:srgbClr val="FFFFFF"/>
            </a:solidFill>
            <a:prstDash val="solid"/>
          </a:ln>
        </p:spPr>
      </p:sp>
      <p:pic>
        <p:nvPicPr>
          <p:cNvPr id="34" name="Image 3" descr="preencoded.png">    </p:cNvPr>
          <p:cNvPicPr>
            <a:picLocks noChangeAspect="1"/>
          </p:cNvPicPr>
          <p:nvPr/>
        </p:nvPicPr>
        <p:blipFill>
          <a:blip r:embed="rId4"/>
          <a:stretch>
            <a:fillRect/>
          </a:stretch>
        </p:blipFill>
        <p:spPr>
          <a:xfrm>
            <a:off x="1314907" y="3235147"/>
            <a:ext cx="204826" cy="204826"/>
          </a:xfrm>
          <a:prstGeom prst="rect">
            <a:avLst/>
          </a:prstGeom>
        </p:spPr>
      </p:pic>
      <p:sp>
        <p:nvSpPr>
          <p:cNvPr id="35" name="Text 29"/>
          <p:cNvSpPr/>
          <p:nvPr/>
        </p:nvSpPr>
        <p:spPr>
          <a:xfrm>
            <a:off x="1691640" y="3154680"/>
            <a:ext cx="1325880" cy="36576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Study Group of 3-4</a:t>
            </a:r>
            <a:endParaRPr lang="en-US" sz="1200" dirty="0"/>
          </a:p>
        </p:txBody>
      </p:sp>
      <p:sp>
        <p:nvSpPr>
          <p:cNvPr id="36" name="Text 30"/>
          <p:cNvSpPr/>
          <p:nvPr/>
        </p:nvSpPr>
        <p:spPr>
          <a:xfrm>
            <a:off x="640080" y="3703320"/>
            <a:ext cx="2377440" cy="59436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Debate, quiz, teach each other.</a:t>
            </a:r>
            <a:endParaRPr lang="en-US" sz="1050" dirty="0"/>
          </a:p>
        </p:txBody>
      </p:sp>
      <p:sp>
        <p:nvSpPr>
          <p:cNvPr id="37" name="Shape 31"/>
          <p:cNvSpPr/>
          <p:nvPr/>
        </p:nvSpPr>
        <p:spPr>
          <a:xfrm>
            <a:off x="324612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8" name="Shape 32"/>
          <p:cNvSpPr/>
          <p:nvPr/>
        </p:nvSpPr>
        <p:spPr>
          <a:xfrm>
            <a:off x="3383280" y="3063240"/>
            <a:ext cx="502920" cy="502920"/>
          </a:xfrm>
          <a:prstGeom prst="ellipse">
            <a:avLst/>
          </a:prstGeom>
          <a:solidFill>
            <a:srgbClr val="F97316"/>
          </a:solidFill>
          <a:ln w="12700">
            <a:solidFill>
              <a:srgbClr val="F97316"/>
            </a:solidFill>
            <a:prstDash val="solid"/>
          </a:ln>
        </p:spPr>
      </p:sp>
      <p:sp>
        <p:nvSpPr>
          <p:cNvPr id="39" name="Text 33"/>
          <p:cNvSpPr/>
          <p:nvPr/>
        </p:nvSpPr>
        <p:spPr>
          <a:xfrm>
            <a:off x="3383280" y="3063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0" name="Shape 34"/>
          <p:cNvSpPr/>
          <p:nvPr/>
        </p:nvSpPr>
        <p:spPr>
          <a:xfrm>
            <a:off x="4023360" y="3154680"/>
            <a:ext cx="365760" cy="365760"/>
          </a:xfrm>
          <a:prstGeom prst="ellipse">
            <a:avLst/>
          </a:prstGeom>
          <a:solidFill>
            <a:srgbClr val="FFFFFF"/>
          </a:solidFill>
          <a:ln w="12700">
            <a:solidFill>
              <a:srgbClr val="FFFFFF"/>
            </a:solidFill>
            <a:prstDash val="solid"/>
          </a:ln>
        </p:spPr>
      </p:sp>
      <p:pic>
        <p:nvPicPr>
          <p:cNvPr id="41" name="Image 4" descr="preencoded.png">    </p:cNvPr>
          <p:cNvPicPr>
            <a:picLocks noChangeAspect="1"/>
          </p:cNvPicPr>
          <p:nvPr/>
        </p:nvPicPr>
        <p:blipFill>
          <a:blip r:embed="rId5"/>
          <a:stretch>
            <a:fillRect/>
          </a:stretch>
        </p:blipFill>
        <p:spPr>
          <a:xfrm>
            <a:off x="4103827" y="3235147"/>
            <a:ext cx="204826" cy="204826"/>
          </a:xfrm>
          <a:prstGeom prst="rect">
            <a:avLst/>
          </a:prstGeom>
        </p:spPr>
      </p:pic>
      <p:sp>
        <p:nvSpPr>
          <p:cNvPr id="42" name="Text 35"/>
          <p:cNvSpPr/>
          <p:nvPr/>
        </p:nvSpPr>
        <p:spPr>
          <a:xfrm>
            <a:off x="4480560" y="3154680"/>
            <a:ext cx="1325880" cy="36576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Bookmark Doubts</a:t>
            </a:r>
            <a:endParaRPr lang="en-US" sz="1200" dirty="0"/>
          </a:p>
        </p:txBody>
      </p:sp>
      <p:sp>
        <p:nvSpPr>
          <p:cNvPr id="43" name="Text 36"/>
          <p:cNvSpPr/>
          <p:nvPr/>
        </p:nvSpPr>
        <p:spPr>
          <a:xfrm>
            <a:off x="3429000" y="3703320"/>
            <a:ext cx="2377440" cy="59436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Post in forum weekly.</a:t>
            </a:r>
            <a:endParaRPr lang="en-US" sz="1050" dirty="0"/>
          </a:p>
        </p:txBody>
      </p:sp>
      <p:sp>
        <p:nvSpPr>
          <p:cNvPr id="44" name="Shape 37"/>
          <p:cNvSpPr/>
          <p:nvPr/>
        </p:nvSpPr>
        <p:spPr>
          <a:xfrm>
            <a:off x="603504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45" name="Shape 38"/>
          <p:cNvSpPr/>
          <p:nvPr/>
        </p:nvSpPr>
        <p:spPr>
          <a:xfrm>
            <a:off x="6172200" y="3063240"/>
            <a:ext cx="502920" cy="502920"/>
          </a:xfrm>
          <a:prstGeom prst="ellipse">
            <a:avLst/>
          </a:prstGeom>
          <a:solidFill>
            <a:srgbClr val="F97316"/>
          </a:solidFill>
          <a:ln w="12700">
            <a:solidFill>
              <a:srgbClr val="F97316"/>
            </a:solidFill>
            <a:prstDash val="solid"/>
          </a:ln>
        </p:spPr>
      </p:sp>
      <p:sp>
        <p:nvSpPr>
          <p:cNvPr id="46" name="Text 39"/>
          <p:cNvSpPr/>
          <p:nvPr/>
        </p:nvSpPr>
        <p:spPr>
          <a:xfrm>
            <a:off x="6172200" y="3063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6</a:t>
            </a:r>
            <a:endParaRPr lang="en-US" sz="1600" dirty="0"/>
          </a:p>
        </p:txBody>
      </p:sp>
      <p:sp>
        <p:nvSpPr>
          <p:cNvPr id="47" name="Shape 40"/>
          <p:cNvSpPr/>
          <p:nvPr/>
        </p:nvSpPr>
        <p:spPr>
          <a:xfrm>
            <a:off x="6812280" y="3154680"/>
            <a:ext cx="365760" cy="365760"/>
          </a:xfrm>
          <a:prstGeom prst="ellipse">
            <a:avLst/>
          </a:prstGeom>
          <a:solidFill>
            <a:srgbClr val="FFFFFF"/>
          </a:solidFill>
          <a:ln w="12700">
            <a:solidFill>
              <a:srgbClr val="FFFFFF"/>
            </a:solidFill>
            <a:prstDash val="solid"/>
          </a:ln>
        </p:spPr>
      </p:sp>
      <p:pic>
        <p:nvPicPr>
          <p:cNvPr id="48" name="Image 5" descr="preencoded.png">    </p:cNvPr>
          <p:cNvPicPr>
            <a:picLocks noChangeAspect="1"/>
          </p:cNvPicPr>
          <p:nvPr/>
        </p:nvPicPr>
        <p:blipFill>
          <a:blip r:embed="rId6"/>
          <a:stretch>
            <a:fillRect/>
          </a:stretch>
        </p:blipFill>
        <p:spPr>
          <a:xfrm>
            <a:off x="6892747" y="3235147"/>
            <a:ext cx="204826" cy="204826"/>
          </a:xfrm>
          <a:prstGeom prst="rect">
            <a:avLst/>
          </a:prstGeom>
        </p:spPr>
      </p:pic>
      <p:sp>
        <p:nvSpPr>
          <p:cNvPr id="49" name="Text 41"/>
          <p:cNvSpPr/>
          <p:nvPr/>
        </p:nvSpPr>
        <p:spPr>
          <a:xfrm>
            <a:off x="7269480" y="3154680"/>
            <a:ext cx="1325880" cy="365760"/>
          </a:xfrm>
          <a:prstGeom prst="rect">
            <a:avLst/>
          </a:prstGeom>
          <a:noFill/>
          <a:ln/>
        </p:spPr>
        <p:txBody>
          <a:bodyPr wrap="square" lIns="0" tIns="0" rIns="0" bIns="0" rtlCol="0" anchor="ctr"/>
          <a:lstStyle/>
          <a:p>
            <a:pPr indent="0" marL="0">
              <a:buNone/>
            </a:pPr>
            <a:r>
              <a:rPr lang="en-US" sz="1200" b="1" dirty="0">
                <a:solidFill>
                  <a:srgbClr val="0B2A4A"/>
                </a:solidFill>
                <a:latin typeface="Segoe UI" pitchFamily="34" charset="0"/>
                <a:ea typeface="Segoe UI" pitchFamily="34" charset="-122"/>
                <a:cs typeface="Segoe UI" pitchFamily="34" charset="-120"/>
              </a:rPr>
              <a:t>Revise Before Exam</a:t>
            </a:r>
            <a:endParaRPr lang="en-US" sz="1200" dirty="0"/>
          </a:p>
        </p:txBody>
      </p:sp>
      <p:sp>
        <p:nvSpPr>
          <p:cNvPr id="50" name="Text 42"/>
          <p:cNvSpPr/>
          <p:nvPr/>
        </p:nvSpPr>
        <p:spPr>
          <a:xfrm>
            <a:off x="6217920" y="3703320"/>
            <a:ext cx="2377440" cy="59436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Solve past-year papers.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REMEMBER THESE 5 THINGS</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Key Takeaways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37</a:t>
            </a:r>
            <a:endParaRPr lang="en-US" sz="900" dirty="0"/>
          </a:p>
        </p:txBody>
      </p:sp>
      <p:sp>
        <p:nvSpPr>
          <p:cNvPr id="9" name="Shape 7"/>
          <p:cNvSpPr/>
          <p:nvPr/>
        </p:nvSpPr>
        <p:spPr>
          <a:xfrm>
            <a:off x="29718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Text 8"/>
          <p:cNvSpPr/>
          <p:nvPr/>
        </p:nvSpPr>
        <p:spPr>
          <a:xfrm>
            <a:off x="297180" y="1463040"/>
            <a:ext cx="160020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01</a:t>
            </a:r>
            <a:endParaRPr lang="en-US" sz="1200" dirty="0"/>
          </a:p>
        </p:txBody>
      </p:sp>
      <p:sp>
        <p:nvSpPr>
          <p:cNvPr id="11" name="Shape 9"/>
          <p:cNvSpPr/>
          <p:nvPr/>
        </p:nvSpPr>
        <p:spPr>
          <a:xfrm>
            <a:off x="685800" y="1874520"/>
            <a:ext cx="822960" cy="822960"/>
          </a:xfrm>
          <a:prstGeom prst="ellipse">
            <a:avLst/>
          </a:prstGeom>
          <a:solidFill>
            <a:srgbClr val="F1F6FC"/>
          </a:solidFill>
          <a:ln w="12700">
            <a:solidFill>
              <a:srgbClr val="F1F6FC"/>
            </a:solidFill>
            <a:prstDash val="solid"/>
          </a:ln>
        </p:spPr>
      </p:sp>
      <p:pic>
        <p:nvPicPr>
          <p:cNvPr id="12" name="Image 0" descr="preencoded.png">    </p:cNvPr>
          <p:cNvPicPr>
            <a:picLocks noChangeAspect="1"/>
          </p:cNvPicPr>
          <p:nvPr/>
        </p:nvPicPr>
        <p:blipFill>
          <a:blip r:embed="rId1"/>
          <a:stretch>
            <a:fillRect/>
          </a:stretch>
        </p:blipFill>
        <p:spPr>
          <a:xfrm>
            <a:off x="866851" y="2055571"/>
            <a:ext cx="460858" cy="460858"/>
          </a:xfrm>
          <a:prstGeom prst="rect">
            <a:avLst/>
          </a:prstGeom>
        </p:spPr>
      </p:pic>
      <p:sp>
        <p:nvSpPr>
          <p:cNvPr id="13" name="Text 10"/>
          <p:cNvSpPr/>
          <p:nvPr/>
        </p:nvSpPr>
        <p:spPr>
          <a:xfrm>
            <a:off x="388620" y="2834640"/>
            <a:ext cx="1417320" cy="45720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IIT-quality, free</a:t>
            </a:r>
            <a:endParaRPr lang="en-US" sz="1300" dirty="0"/>
          </a:p>
        </p:txBody>
      </p:sp>
      <p:sp>
        <p:nvSpPr>
          <p:cNvPr id="14" name="Text 11"/>
          <p:cNvSpPr/>
          <p:nvPr/>
        </p:nvSpPr>
        <p:spPr>
          <a:xfrm>
            <a:off x="388620" y="3337560"/>
            <a:ext cx="1417320" cy="6858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World-class content at zero cost.</a:t>
            </a:r>
            <a:endParaRPr lang="en-US" sz="1000" dirty="0"/>
          </a:p>
        </p:txBody>
      </p:sp>
      <p:sp>
        <p:nvSpPr>
          <p:cNvPr id="15" name="Shape 12"/>
          <p:cNvSpPr/>
          <p:nvPr/>
        </p:nvSpPr>
        <p:spPr>
          <a:xfrm>
            <a:off x="203454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6" name="Text 13"/>
          <p:cNvSpPr/>
          <p:nvPr/>
        </p:nvSpPr>
        <p:spPr>
          <a:xfrm>
            <a:off x="2034540" y="1463040"/>
            <a:ext cx="160020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02</a:t>
            </a:r>
            <a:endParaRPr lang="en-US" sz="1200" dirty="0"/>
          </a:p>
        </p:txBody>
      </p:sp>
      <p:sp>
        <p:nvSpPr>
          <p:cNvPr id="17" name="Shape 14"/>
          <p:cNvSpPr/>
          <p:nvPr/>
        </p:nvSpPr>
        <p:spPr>
          <a:xfrm>
            <a:off x="2423160" y="1874520"/>
            <a:ext cx="822960" cy="822960"/>
          </a:xfrm>
          <a:prstGeom prst="ellipse">
            <a:avLst/>
          </a:prstGeom>
          <a:solidFill>
            <a:srgbClr val="F1F6FC"/>
          </a:solidFill>
          <a:ln w="12700">
            <a:solidFill>
              <a:srgbClr val="F1F6FC"/>
            </a:solidFill>
            <a:prstDash val="solid"/>
          </a:ln>
        </p:spPr>
      </p:sp>
      <p:pic>
        <p:nvPicPr>
          <p:cNvPr id="18" name="Image 1" descr="preencoded.png">    </p:cNvPr>
          <p:cNvPicPr>
            <a:picLocks noChangeAspect="1"/>
          </p:cNvPicPr>
          <p:nvPr/>
        </p:nvPicPr>
        <p:blipFill>
          <a:blip r:embed="rId2"/>
          <a:stretch>
            <a:fillRect/>
          </a:stretch>
        </p:blipFill>
        <p:spPr>
          <a:xfrm>
            <a:off x="2604211" y="2055571"/>
            <a:ext cx="460858" cy="460858"/>
          </a:xfrm>
          <a:prstGeom prst="rect">
            <a:avLst/>
          </a:prstGeom>
        </p:spPr>
      </p:pic>
      <p:sp>
        <p:nvSpPr>
          <p:cNvPr id="19" name="Text 15"/>
          <p:cNvSpPr/>
          <p:nvPr/>
        </p:nvSpPr>
        <p:spPr>
          <a:xfrm>
            <a:off x="2125980" y="2834640"/>
            <a:ext cx="1417320" cy="45720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Credits are real</a:t>
            </a:r>
            <a:endParaRPr lang="en-US" sz="1300" dirty="0"/>
          </a:p>
        </p:txBody>
      </p:sp>
      <p:sp>
        <p:nvSpPr>
          <p:cNvPr id="20" name="Text 16"/>
          <p:cNvSpPr/>
          <p:nvPr/>
        </p:nvSpPr>
        <p:spPr>
          <a:xfrm>
            <a:off x="2125980" y="3337560"/>
            <a:ext cx="1417320" cy="6858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ABC + DigiLocker + university transfer.</a:t>
            </a:r>
            <a:endParaRPr lang="en-US" sz="1000" dirty="0"/>
          </a:p>
        </p:txBody>
      </p:sp>
      <p:sp>
        <p:nvSpPr>
          <p:cNvPr id="21" name="Shape 17"/>
          <p:cNvSpPr/>
          <p:nvPr/>
        </p:nvSpPr>
        <p:spPr>
          <a:xfrm>
            <a:off x="377190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2" name="Text 18"/>
          <p:cNvSpPr/>
          <p:nvPr/>
        </p:nvSpPr>
        <p:spPr>
          <a:xfrm>
            <a:off x="3771900" y="1463040"/>
            <a:ext cx="160020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03</a:t>
            </a:r>
            <a:endParaRPr lang="en-US" sz="1200" dirty="0"/>
          </a:p>
        </p:txBody>
      </p:sp>
      <p:sp>
        <p:nvSpPr>
          <p:cNvPr id="23" name="Shape 19"/>
          <p:cNvSpPr/>
          <p:nvPr/>
        </p:nvSpPr>
        <p:spPr>
          <a:xfrm>
            <a:off x="4160520" y="1874520"/>
            <a:ext cx="822960" cy="822960"/>
          </a:xfrm>
          <a:prstGeom prst="ellipse">
            <a:avLst/>
          </a:prstGeom>
          <a:solidFill>
            <a:srgbClr val="F1F6FC"/>
          </a:solidFill>
          <a:ln w="12700">
            <a:solidFill>
              <a:srgbClr val="F1F6FC"/>
            </a:solidFill>
            <a:prstDash val="solid"/>
          </a:ln>
        </p:spPr>
      </p:sp>
      <p:pic>
        <p:nvPicPr>
          <p:cNvPr id="24" name="Image 2" descr="preencoded.png">    </p:cNvPr>
          <p:cNvPicPr>
            <a:picLocks noChangeAspect="1"/>
          </p:cNvPicPr>
          <p:nvPr/>
        </p:nvPicPr>
        <p:blipFill>
          <a:blip r:embed="rId3"/>
          <a:stretch>
            <a:fillRect/>
          </a:stretch>
        </p:blipFill>
        <p:spPr>
          <a:xfrm>
            <a:off x="4341571" y="2055571"/>
            <a:ext cx="460858" cy="460858"/>
          </a:xfrm>
          <a:prstGeom prst="rect">
            <a:avLst/>
          </a:prstGeom>
        </p:spPr>
      </p:pic>
      <p:sp>
        <p:nvSpPr>
          <p:cNvPr id="25" name="Text 20"/>
          <p:cNvSpPr/>
          <p:nvPr/>
        </p:nvSpPr>
        <p:spPr>
          <a:xfrm>
            <a:off x="3863340" y="2834640"/>
            <a:ext cx="1417320" cy="45720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Employers care</a:t>
            </a:r>
            <a:endParaRPr lang="en-US" sz="1300" dirty="0"/>
          </a:p>
        </p:txBody>
      </p:sp>
      <p:sp>
        <p:nvSpPr>
          <p:cNvPr id="26" name="Text 21"/>
          <p:cNvSpPr/>
          <p:nvPr/>
        </p:nvSpPr>
        <p:spPr>
          <a:xfrm>
            <a:off x="3863340" y="3337560"/>
            <a:ext cx="1417320" cy="6858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300+ industry partners actively hire.</a:t>
            </a:r>
            <a:endParaRPr lang="en-US" sz="1000" dirty="0"/>
          </a:p>
        </p:txBody>
      </p:sp>
      <p:sp>
        <p:nvSpPr>
          <p:cNvPr id="27" name="Shape 22"/>
          <p:cNvSpPr/>
          <p:nvPr/>
        </p:nvSpPr>
        <p:spPr>
          <a:xfrm>
            <a:off x="550926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8" name="Text 23"/>
          <p:cNvSpPr/>
          <p:nvPr/>
        </p:nvSpPr>
        <p:spPr>
          <a:xfrm>
            <a:off x="5509260" y="1463040"/>
            <a:ext cx="160020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04</a:t>
            </a:r>
            <a:endParaRPr lang="en-US" sz="1200" dirty="0"/>
          </a:p>
        </p:txBody>
      </p:sp>
      <p:sp>
        <p:nvSpPr>
          <p:cNvPr id="29" name="Shape 24"/>
          <p:cNvSpPr/>
          <p:nvPr/>
        </p:nvSpPr>
        <p:spPr>
          <a:xfrm>
            <a:off x="5897880" y="1874520"/>
            <a:ext cx="822960" cy="822960"/>
          </a:xfrm>
          <a:prstGeom prst="ellipse">
            <a:avLst/>
          </a:prstGeom>
          <a:solidFill>
            <a:srgbClr val="F1F6FC"/>
          </a:solidFill>
          <a:ln w="12700">
            <a:solidFill>
              <a:srgbClr val="F1F6FC"/>
            </a:solidFill>
            <a:prstDash val="solid"/>
          </a:ln>
        </p:spPr>
      </p:sp>
      <p:pic>
        <p:nvPicPr>
          <p:cNvPr id="30" name="Image 3" descr="preencoded.png">    </p:cNvPr>
          <p:cNvPicPr>
            <a:picLocks noChangeAspect="1"/>
          </p:cNvPicPr>
          <p:nvPr/>
        </p:nvPicPr>
        <p:blipFill>
          <a:blip r:embed="rId4"/>
          <a:stretch>
            <a:fillRect/>
          </a:stretch>
        </p:blipFill>
        <p:spPr>
          <a:xfrm>
            <a:off x="6078931" y="2055571"/>
            <a:ext cx="460858" cy="460858"/>
          </a:xfrm>
          <a:prstGeom prst="rect">
            <a:avLst/>
          </a:prstGeom>
        </p:spPr>
      </p:pic>
      <p:sp>
        <p:nvSpPr>
          <p:cNvPr id="31" name="Text 25"/>
          <p:cNvSpPr/>
          <p:nvPr/>
        </p:nvSpPr>
        <p:spPr>
          <a:xfrm>
            <a:off x="5600700" y="2834640"/>
            <a:ext cx="1417320" cy="45720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Compounds over time</a:t>
            </a:r>
            <a:endParaRPr lang="en-US" sz="1300" dirty="0"/>
          </a:p>
        </p:txBody>
      </p:sp>
      <p:sp>
        <p:nvSpPr>
          <p:cNvPr id="32" name="Text 26"/>
          <p:cNvSpPr/>
          <p:nvPr/>
        </p:nvSpPr>
        <p:spPr>
          <a:xfrm>
            <a:off x="5600700" y="3337560"/>
            <a:ext cx="1417320" cy="6858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One per semester = 8 certificates.</a:t>
            </a:r>
            <a:endParaRPr lang="en-US" sz="1000" dirty="0"/>
          </a:p>
        </p:txBody>
      </p:sp>
      <p:sp>
        <p:nvSpPr>
          <p:cNvPr id="33" name="Shape 27"/>
          <p:cNvSpPr/>
          <p:nvPr/>
        </p:nvSpPr>
        <p:spPr>
          <a:xfrm>
            <a:off x="7246620" y="1371600"/>
            <a:ext cx="1600200" cy="2743200"/>
          </a:xfrm>
          <a:prstGeom prst="roundRect">
            <a:avLst>
              <a:gd name="adj" fmla="val 5714"/>
            </a:avLst>
          </a:prstGeom>
          <a:solidFill>
            <a:srgbClr val="FFFFFF"/>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4" name="Text 28"/>
          <p:cNvSpPr/>
          <p:nvPr/>
        </p:nvSpPr>
        <p:spPr>
          <a:xfrm>
            <a:off x="7246620" y="1463040"/>
            <a:ext cx="1600200" cy="365760"/>
          </a:xfrm>
          <a:prstGeom prst="rect">
            <a:avLst/>
          </a:prstGeom>
          <a:noFill/>
          <a:ln/>
        </p:spPr>
        <p:txBody>
          <a:bodyPr wrap="square" lIns="0" tIns="0" rIns="0" bIns="0" rtlCol="0" anchor="ctr"/>
          <a:lstStyle/>
          <a:p>
            <a:pPr algn="ctr" indent="0" marL="0">
              <a:buNone/>
            </a:pPr>
            <a:r>
              <a:rPr lang="en-US" sz="1200" b="1" dirty="0">
                <a:solidFill>
                  <a:srgbClr val="F97316"/>
                </a:solidFill>
                <a:latin typeface="Segoe UI" pitchFamily="34" charset="0"/>
                <a:ea typeface="Segoe UI" pitchFamily="34" charset="-122"/>
                <a:cs typeface="Segoe UI" pitchFamily="34" charset="-120"/>
              </a:rPr>
              <a:t>05</a:t>
            </a:r>
            <a:endParaRPr lang="en-US" sz="1200" dirty="0"/>
          </a:p>
        </p:txBody>
      </p:sp>
      <p:sp>
        <p:nvSpPr>
          <p:cNvPr id="35" name="Shape 29"/>
          <p:cNvSpPr/>
          <p:nvPr/>
        </p:nvSpPr>
        <p:spPr>
          <a:xfrm>
            <a:off x="7635240" y="1874520"/>
            <a:ext cx="822960" cy="822960"/>
          </a:xfrm>
          <a:prstGeom prst="ellipse">
            <a:avLst/>
          </a:prstGeom>
          <a:solidFill>
            <a:srgbClr val="F1F6FC"/>
          </a:solidFill>
          <a:ln w="12700">
            <a:solidFill>
              <a:srgbClr val="F1F6FC"/>
            </a:solidFill>
            <a:prstDash val="solid"/>
          </a:ln>
        </p:spPr>
      </p:sp>
      <p:pic>
        <p:nvPicPr>
          <p:cNvPr id="36" name="Image 4" descr="preencoded.png">    </p:cNvPr>
          <p:cNvPicPr>
            <a:picLocks noChangeAspect="1"/>
          </p:cNvPicPr>
          <p:nvPr/>
        </p:nvPicPr>
        <p:blipFill>
          <a:blip r:embed="rId5"/>
          <a:stretch>
            <a:fillRect/>
          </a:stretch>
        </p:blipFill>
        <p:spPr>
          <a:xfrm>
            <a:off x="7816291" y="2055571"/>
            <a:ext cx="460858" cy="460858"/>
          </a:xfrm>
          <a:prstGeom prst="rect">
            <a:avLst/>
          </a:prstGeom>
        </p:spPr>
      </p:pic>
      <p:sp>
        <p:nvSpPr>
          <p:cNvPr id="37" name="Text 30"/>
          <p:cNvSpPr/>
          <p:nvPr/>
        </p:nvSpPr>
        <p:spPr>
          <a:xfrm>
            <a:off x="7338060" y="2834640"/>
            <a:ext cx="1417320" cy="457200"/>
          </a:xfrm>
          <a:prstGeom prst="rect">
            <a:avLst/>
          </a:prstGeom>
          <a:noFill/>
          <a:ln/>
        </p:spPr>
        <p:txBody>
          <a:bodyPr wrap="square" lIns="0" tIns="0" rIns="0" bIns="0" rtlCol="0" anchor="ctr"/>
          <a:lstStyle/>
          <a:p>
            <a:pPr algn="ctr" indent="0" marL="0">
              <a:buNone/>
            </a:pPr>
            <a:r>
              <a:rPr lang="en-US" sz="1300" b="1" dirty="0">
                <a:solidFill>
                  <a:srgbClr val="0B2A4A"/>
                </a:solidFill>
                <a:latin typeface="Segoe UI" pitchFamily="34" charset="0"/>
                <a:ea typeface="Segoe UI" pitchFamily="34" charset="-122"/>
                <a:cs typeface="Segoe UI" pitchFamily="34" charset="-120"/>
              </a:rPr>
              <a:t>Start today</a:t>
            </a:r>
            <a:endParaRPr lang="en-US" sz="1300" dirty="0"/>
          </a:p>
        </p:txBody>
      </p:sp>
      <p:sp>
        <p:nvSpPr>
          <p:cNvPr id="38" name="Text 31"/>
          <p:cNvSpPr/>
          <p:nvPr/>
        </p:nvSpPr>
        <p:spPr>
          <a:xfrm>
            <a:off x="7338060" y="3337560"/>
            <a:ext cx="1417320" cy="685800"/>
          </a:xfrm>
          <a:prstGeom prst="rect">
            <a:avLst/>
          </a:prstGeom>
          <a:noFill/>
          <a:ln/>
        </p:spPr>
        <p:txBody>
          <a:bodyPr wrap="square" lIns="0" tIns="0" rIns="0" bIns="0" rtlCol="0" anchor="ctr"/>
          <a:lstStyle/>
          <a:p>
            <a:pPr algn="ctr" indent="0" marL="0">
              <a:buNone/>
            </a:pPr>
            <a:r>
              <a:rPr lang="en-US" sz="1000" dirty="0">
                <a:solidFill>
                  <a:srgbClr val="6B7280"/>
                </a:solidFill>
                <a:latin typeface="Segoe UI" pitchFamily="34" charset="0"/>
                <a:ea typeface="Segoe UI" pitchFamily="34" charset="-122"/>
                <a:cs typeface="Segoe UI" pitchFamily="34" charset="-120"/>
              </a:rPr>
              <a:t>Enrollments open every semester.</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Text 1"/>
          <p:cNvSpPr/>
          <p:nvPr/>
        </p:nvSpPr>
        <p:spPr>
          <a:xfrm>
            <a:off x="457200" y="201168"/>
            <a:ext cx="5486400" cy="274320"/>
          </a:xfrm>
          <a:prstGeom prst="rect">
            <a:avLst/>
          </a:prstGeom>
          <a:noFill/>
          <a:ln/>
        </p:spPr>
        <p:txBody>
          <a:bodyPr wrap="square" lIns="0" tIns="0" rIns="0" bIns="0" rtlCol="0" anchor="ctr"/>
          <a:lstStyle/>
          <a:p>
            <a:pPr indent="0" marL="0">
              <a:buNone/>
            </a:pPr>
            <a:r>
              <a:rPr lang="en-US" sz="1000" b="1" spc="400" kern="0" dirty="0">
                <a:solidFill>
                  <a:srgbClr val="F97316"/>
                </a:solidFill>
                <a:latin typeface="Segoe UI" pitchFamily="34" charset="0"/>
                <a:ea typeface="Segoe UI" pitchFamily="34" charset="-122"/>
                <a:cs typeface="Segoe UI" pitchFamily="34" charset="-120"/>
              </a:rPr>
              <a:t>BOOKMARK THESE</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600" b="1" dirty="0">
                <a:solidFill>
                  <a:srgbClr val="0B2A4A"/>
                </a:solidFill>
                <a:latin typeface="Segoe UI" pitchFamily="34" charset="0"/>
                <a:ea typeface="Segoe UI" pitchFamily="34" charset="-122"/>
                <a:cs typeface="Segoe UI" pitchFamily="34" charset="-120"/>
              </a:rPr>
              <a:t>Resources &amp; Useful Links</a:t>
            </a:r>
            <a:endParaRPr lang="en-US" sz="2600" dirty="0"/>
          </a:p>
        </p:txBody>
      </p:sp>
      <p:sp>
        <p:nvSpPr>
          <p:cNvPr id="5" name="Shape 3"/>
          <p:cNvSpPr/>
          <p:nvPr/>
        </p:nvSpPr>
        <p:spPr>
          <a:xfrm>
            <a:off x="457200" y="1051560"/>
            <a:ext cx="548640" cy="45720"/>
          </a:xfrm>
          <a:prstGeom prst="rect">
            <a:avLst/>
          </a:prstGeom>
          <a:solidFill>
            <a:srgbClr val="F97316"/>
          </a:solidFill>
          <a:ln w="12700">
            <a:solidFill>
              <a:srgbClr val="F97316"/>
            </a:solidFill>
            <a:prstDash val="solid"/>
          </a:ln>
        </p:spPr>
      </p:sp>
      <p:sp>
        <p:nvSpPr>
          <p:cNvPr id="6" name="Shape 4"/>
          <p:cNvSpPr/>
          <p:nvPr/>
        </p:nvSpPr>
        <p:spPr>
          <a:xfrm>
            <a:off x="0" y="4887468"/>
            <a:ext cx="9144000" cy="256032"/>
          </a:xfrm>
          <a:prstGeom prst="rect">
            <a:avLst/>
          </a:prstGeom>
          <a:solidFill>
            <a:srgbClr val="F1F6FC"/>
          </a:solidFill>
          <a:ln w="12700">
            <a:solidFill>
              <a:srgbClr val="F1F6FC"/>
            </a:solidFill>
            <a:prstDash val="solid"/>
          </a:ln>
        </p:spPr>
      </p:sp>
      <p:sp>
        <p:nvSpPr>
          <p:cNvPr id="7" name="Text 5"/>
          <p:cNvSpPr/>
          <p:nvPr/>
        </p:nvSpPr>
        <p:spPr>
          <a:xfrm>
            <a:off x="365760" y="4887468"/>
            <a:ext cx="6400800" cy="256032"/>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Enhancing Self-Learning &amp; Skill Development through NPTEL</a:t>
            </a:r>
            <a:endParaRPr lang="en-US" sz="900" dirty="0"/>
          </a:p>
        </p:txBody>
      </p:sp>
      <p:sp>
        <p:nvSpPr>
          <p:cNvPr id="8" name="Text 6"/>
          <p:cNvSpPr/>
          <p:nvPr/>
        </p:nvSpPr>
        <p:spPr>
          <a:xfrm>
            <a:off x="8229600" y="4887468"/>
            <a:ext cx="548640" cy="256032"/>
          </a:xfrm>
          <a:prstGeom prst="rect">
            <a:avLst/>
          </a:prstGeom>
          <a:noFill/>
          <a:ln/>
        </p:spPr>
        <p:txBody>
          <a:bodyPr wrap="square" lIns="0" tIns="0" rIns="0" bIns="0" rtlCol="0" anchor="ctr"/>
          <a:lstStyle/>
          <a:p>
            <a:pPr algn="r" indent="0" marL="0">
              <a:buNone/>
            </a:pPr>
            <a:r>
              <a:rPr lang="en-US" sz="900" b="1" dirty="0">
                <a:solidFill>
                  <a:srgbClr val="1E4E8C"/>
                </a:solidFill>
                <a:latin typeface="Segoe UI" pitchFamily="34" charset="0"/>
                <a:ea typeface="Segoe UI" pitchFamily="34" charset="-122"/>
                <a:cs typeface="Segoe UI" pitchFamily="34" charset="-120"/>
              </a:rPr>
              <a:t>38</a:t>
            </a:r>
            <a:endParaRPr lang="en-US" sz="900" dirty="0"/>
          </a:p>
        </p:txBody>
      </p:sp>
      <p:sp>
        <p:nvSpPr>
          <p:cNvPr id="9" name="Shape 7"/>
          <p:cNvSpPr/>
          <p:nvPr/>
        </p:nvSpPr>
        <p:spPr>
          <a:xfrm>
            <a:off x="45720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0" name="Shape 8"/>
          <p:cNvSpPr/>
          <p:nvPr/>
        </p:nvSpPr>
        <p:spPr>
          <a:xfrm>
            <a:off x="640080" y="1645920"/>
            <a:ext cx="822960" cy="822960"/>
          </a:xfrm>
          <a:prstGeom prst="ellipse">
            <a:avLst/>
          </a:prstGeom>
          <a:solidFill>
            <a:srgbClr val="FFFFFF"/>
          </a:solidFill>
          <a:ln w="12700">
            <a:solidFill>
              <a:srgbClr val="FFFFFF"/>
            </a:solidFill>
            <a:prstDash val="solid"/>
          </a:ln>
        </p:spPr>
      </p:sp>
      <p:pic>
        <p:nvPicPr>
          <p:cNvPr id="11" name="Image 0" descr="preencoded.png">    </p:cNvPr>
          <p:cNvPicPr>
            <a:picLocks noChangeAspect="1"/>
          </p:cNvPicPr>
          <p:nvPr/>
        </p:nvPicPr>
        <p:blipFill>
          <a:blip r:embed="rId1"/>
          <a:stretch>
            <a:fillRect/>
          </a:stretch>
        </p:blipFill>
        <p:spPr>
          <a:xfrm>
            <a:off x="821131" y="1826971"/>
            <a:ext cx="460858" cy="460858"/>
          </a:xfrm>
          <a:prstGeom prst="rect">
            <a:avLst/>
          </a:prstGeom>
        </p:spPr>
      </p:pic>
      <p:sp>
        <p:nvSpPr>
          <p:cNvPr id="12" name="Text 9"/>
          <p:cNvSpPr/>
          <p:nvPr/>
        </p:nvSpPr>
        <p:spPr>
          <a:xfrm>
            <a:off x="1600200" y="164592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NPTEL Portal</a:t>
            </a:r>
            <a:endParaRPr lang="en-US" sz="1300" dirty="0"/>
          </a:p>
        </p:txBody>
      </p:sp>
      <p:sp>
        <p:nvSpPr>
          <p:cNvPr id="13" name="Text 10"/>
          <p:cNvSpPr/>
          <p:nvPr/>
        </p:nvSpPr>
        <p:spPr>
          <a:xfrm>
            <a:off x="1600200" y="2057400"/>
            <a:ext cx="1417320" cy="548640"/>
          </a:xfrm>
          <a:prstGeom prst="rect">
            <a:avLst/>
          </a:prstGeom>
          <a:noFill/>
          <a:ln/>
        </p:spPr>
        <p:txBody>
          <a:bodyPr wrap="square" lIns="0" tIns="0" rIns="0" bIns="0" rtlCol="0" anchor="ctr"/>
          <a:lstStyle/>
          <a:p>
            <a:pPr indent="0" marL="0">
              <a:buNone/>
            </a:pPr>
            <a:r>
              <a:rPr lang="en-US" sz="1100" dirty="0">
                <a:solidFill>
                  <a:srgbClr val="F97316"/>
                </a:solidFill>
                <a:latin typeface="Segoe UI" pitchFamily="34" charset="0"/>
                <a:ea typeface="Segoe UI" pitchFamily="34" charset="-122"/>
                <a:cs typeface="Segoe UI" pitchFamily="34" charset="-120"/>
              </a:rPr>
              <a:t>nptel.ac.in</a:t>
            </a:r>
            <a:endParaRPr lang="en-US" sz="1100" dirty="0"/>
          </a:p>
        </p:txBody>
      </p:sp>
      <p:sp>
        <p:nvSpPr>
          <p:cNvPr id="14" name="Shape 11"/>
          <p:cNvSpPr/>
          <p:nvPr/>
        </p:nvSpPr>
        <p:spPr>
          <a:xfrm>
            <a:off x="324612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15" name="Shape 12"/>
          <p:cNvSpPr/>
          <p:nvPr/>
        </p:nvSpPr>
        <p:spPr>
          <a:xfrm>
            <a:off x="3429000" y="1645920"/>
            <a:ext cx="822960" cy="822960"/>
          </a:xfrm>
          <a:prstGeom prst="ellipse">
            <a:avLst/>
          </a:prstGeom>
          <a:solidFill>
            <a:srgbClr val="FFFFFF"/>
          </a:solidFill>
          <a:ln w="12700">
            <a:solidFill>
              <a:srgbClr val="FFFFFF"/>
            </a:solidFill>
            <a:prstDash val="solid"/>
          </a:ln>
        </p:spPr>
      </p:sp>
      <p:pic>
        <p:nvPicPr>
          <p:cNvPr id="16" name="Image 1" descr="preencoded.png">    </p:cNvPr>
          <p:cNvPicPr>
            <a:picLocks noChangeAspect="1"/>
          </p:cNvPicPr>
          <p:nvPr/>
        </p:nvPicPr>
        <p:blipFill>
          <a:blip r:embed="rId2"/>
          <a:stretch>
            <a:fillRect/>
          </a:stretch>
        </p:blipFill>
        <p:spPr>
          <a:xfrm>
            <a:off x="3610051" y="1826971"/>
            <a:ext cx="460858" cy="460858"/>
          </a:xfrm>
          <a:prstGeom prst="rect">
            <a:avLst/>
          </a:prstGeom>
        </p:spPr>
      </p:pic>
      <p:sp>
        <p:nvSpPr>
          <p:cNvPr id="17" name="Text 13"/>
          <p:cNvSpPr/>
          <p:nvPr/>
        </p:nvSpPr>
        <p:spPr>
          <a:xfrm>
            <a:off x="4389120" y="164592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SWAYAM Platform</a:t>
            </a:r>
            <a:endParaRPr lang="en-US" sz="1300" dirty="0"/>
          </a:p>
        </p:txBody>
      </p:sp>
      <p:sp>
        <p:nvSpPr>
          <p:cNvPr id="18" name="Text 14"/>
          <p:cNvSpPr/>
          <p:nvPr/>
        </p:nvSpPr>
        <p:spPr>
          <a:xfrm>
            <a:off x="4389120" y="2057400"/>
            <a:ext cx="1417320" cy="548640"/>
          </a:xfrm>
          <a:prstGeom prst="rect">
            <a:avLst/>
          </a:prstGeom>
          <a:noFill/>
          <a:ln/>
        </p:spPr>
        <p:txBody>
          <a:bodyPr wrap="square" lIns="0" tIns="0" rIns="0" bIns="0" rtlCol="0" anchor="ctr"/>
          <a:lstStyle/>
          <a:p>
            <a:pPr indent="0" marL="0">
              <a:buNone/>
            </a:pPr>
            <a:r>
              <a:rPr lang="en-US" sz="1100" dirty="0">
                <a:solidFill>
                  <a:srgbClr val="F97316"/>
                </a:solidFill>
                <a:latin typeface="Segoe UI" pitchFamily="34" charset="0"/>
                <a:ea typeface="Segoe UI" pitchFamily="34" charset="-122"/>
                <a:cs typeface="Segoe UI" pitchFamily="34" charset="-120"/>
              </a:rPr>
              <a:t>swayam.gov.in</a:t>
            </a:r>
            <a:endParaRPr lang="en-US" sz="1100" dirty="0"/>
          </a:p>
        </p:txBody>
      </p:sp>
      <p:sp>
        <p:nvSpPr>
          <p:cNvPr id="19" name="Shape 15"/>
          <p:cNvSpPr/>
          <p:nvPr/>
        </p:nvSpPr>
        <p:spPr>
          <a:xfrm>
            <a:off x="6035040" y="137160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0" name="Shape 16"/>
          <p:cNvSpPr/>
          <p:nvPr/>
        </p:nvSpPr>
        <p:spPr>
          <a:xfrm>
            <a:off x="6217920" y="1645920"/>
            <a:ext cx="822960" cy="822960"/>
          </a:xfrm>
          <a:prstGeom prst="ellipse">
            <a:avLst/>
          </a:prstGeom>
          <a:solidFill>
            <a:srgbClr val="FFFFFF"/>
          </a:solidFill>
          <a:ln w="12700">
            <a:solidFill>
              <a:srgbClr val="FFFFFF"/>
            </a:solidFill>
            <a:prstDash val="solid"/>
          </a:ln>
        </p:spPr>
      </p:sp>
      <p:pic>
        <p:nvPicPr>
          <p:cNvPr id="21" name="Image 2" descr="preencoded.png">    </p:cNvPr>
          <p:cNvPicPr>
            <a:picLocks noChangeAspect="1"/>
          </p:cNvPicPr>
          <p:nvPr/>
        </p:nvPicPr>
        <p:blipFill>
          <a:blip r:embed="rId3"/>
          <a:stretch>
            <a:fillRect/>
          </a:stretch>
        </p:blipFill>
        <p:spPr>
          <a:xfrm>
            <a:off x="6398971" y="1826971"/>
            <a:ext cx="460858" cy="460858"/>
          </a:xfrm>
          <a:prstGeom prst="rect">
            <a:avLst/>
          </a:prstGeom>
        </p:spPr>
      </p:pic>
      <p:sp>
        <p:nvSpPr>
          <p:cNvPr id="22" name="Text 17"/>
          <p:cNvSpPr/>
          <p:nvPr/>
        </p:nvSpPr>
        <p:spPr>
          <a:xfrm>
            <a:off x="7178040" y="164592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Academic Bank of Credits</a:t>
            </a:r>
            <a:endParaRPr lang="en-US" sz="1300" dirty="0"/>
          </a:p>
        </p:txBody>
      </p:sp>
      <p:sp>
        <p:nvSpPr>
          <p:cNvPr id="23" name="Text 18"/>
          <p:cNvSpPr/>
          <p:nvPr/>
        </p:nvSpPr>
        <p:spPr>
          <a:xfrm>
            <a:off x="7178040" y="2057400"/>
            <a:ext cx="1417320" cy="548640"/>
          </a:xfrm>
          <a:prstGeom prst="rect">
            <a:avLst/>
          </a:prstGeom>
          <a:noFill/>
          <a:ln/>
        </p:spPr>
        <p:txBody>
          <a:bodyPr wrap="square" lIns="0" tIns="0" rIns="0" bIns="0" rtlCol="0" anchor="ctr"/>
          <a:lstStyle/>
          <a:p>
            <a:pPr indent="0" marL="0">
              <a:buNone/>
            </a:pPr>
            <a:r>
              <a:rPr lang="en-US" sz="1100" dirty="0">
                <a:solidFill>
                  <a:srgbClr val="F97316"/>
                </a:solidFill>
                <a:latin typeface="Segoe UI" pitchFamily="34" charset="0"/>
                <a:ea typeface="Segoe UI" pitchFamily="34" charset="-122"/>
                <a:cs typeface="Segoe UI" pitchFamily="34" charset="-120"/>
              </a:rPr>
              <a:t>abc.gov.in</a:t>
            </a:r>
            <a:endParaRPr lang="en-US" sz="1100" dirty="0"/>
          </a:p>
        </p:txBody>
      </p:sp>
      <p:sp>
        <p:nvSpPr>
          <p:cNvPr id="24" name="Shape 19"/>
          <p:cNvSpPr/>
          <p:nvPr/>
        </p:nvSpPr>
        <p:spPr>
          <a:xfrm>
            <a:off x="45720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25" name="Shape 20"/>
          <p:cNvSpPr/>
          <p:nvPr/>
        </p:nvSpPr>
        <p:spPr>
          <a:xfrm>
            <a:off x="640080" y="3200400"/>
            <a:ext cx="822960" cy="822960"/>
          </a:xfrm>
          <a:prstGeom prst="ellipse">
            <a:avLst/>
          </a:prstGeom>
          <a:solidFill>
            <a:srgbClr val="FFFFFF"/>
          </a:solidFill>
          <a:ln w="12700">
            <a:solidFill>
              <a:srgbClr val="FFFFFF"/>
            </a:solidFill>
            <a:prstDash val="solid"/>
          </a:ln>
        </p:spPr>
      </p:sp>
      <p:pic>
        <p:nvPicPr>
          <p:cNvPr id="26" name="Image 3" descr="preencoded.png">    </p:cNvPr>
          <p:cNvPicPr>
            <a:picLocks noChangeAspect="1"/>
          </p:cNvPicPr>
          <p:nvPr/>
        </p:nvPicPr>
        <p:blipFill>
          <a:blip r:embed="rId4"/>
          <a:stretch>
            <a:fillRect/>
          </a:stretch>
        </p:blipFill>
        <p:spPr>
          <a:xfrm>
            <a:off x="821131" y="3381451"/>
            <a:ext cx="460858" cy="460858"/>
          </a:xfrm>
          <a:prstGeom prst="rect">
            <a:avLst/>
          </a:prstGeom>
        </p:spPr>
      </p:pic>
      <p:sp>
        <p:nvSpPr>
          <p:cNvPr id="27" name="Text 21"/>
          <p:cNvSpPr/>
          <p:nvPr/>
        </p:nvSpPr>
        <p:spPr>
          <a:xfrm>
            <a:off x="1600200" y="320040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DigiLocker</a:t>
            </a:r>
            <a:endParaRPr lang="en-US" sz="1300" dirty="0"/>
          </a:p>
        </p:txBody>
      </p:sp>
      <p:sp>
        <p:nvSpPr>
          <p:cNvPr id="28" name="Text 22"/>
          <p:cNvSpPr/>
          <p:nvPr/>
        </p:nvSpPr>
        <p:spPr>
          <a:xfrm>
            <a:off x="1600200" y="3611880"/>
            <a:ext cx="1417320" cy="548640"/>
          </a:xfrm>
          <a:prstGeom prst="rect">
            <a:avLst/>
          </a:prstGeom>
          <a:noFill/>
          <a:ln/>
        </p:spPr>
        <p:txBody>
          <a:bodyPr wrap="square" lIns="0" tIns="0" rIns="0" bIns="0" rtlCol="0" anchor="ctr"/>
          <a:lstStyle/>
          <a:p>
            <a:pPr indent="0" marL="0">
              <a:buNone/>
            </a:pPr>
            <a:r>
              <a:rPr lang="en-US" sz="1100" dirty="0">
                <a:solidFill>
                  <a:srgbClr val="F97316"/>
                </a:solidFill>
                <a:latin typeface="Segoe UI" pitchFamily="34" charset="0"/>
                <a:ea typeface="Segoe UI" pitchFamily="34" charset="-122"/>
                <a:cs typeface="Segoe UI" pitchFamily="34" charset="-120"/>
              </a:rPr>
              <a:t>digilocker.gov.in</a:t>
            </a:r>
            <a:endParaRPr lang="en-US" sz="1100" dirty="0"/>
          </a:p>
        </p:txBody>
      </p:sp>
      <p:sp>
        <p:nvSpPr>
          <p:cNvPr id="29" name="Shape 23"/>
          <p:cNvSpPr/>
          <p:nvPr/>
        </p:nvSpPr>
        <p:spPr>
          <a:xfrm>
            <a:off x="324612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0" name="Shape 24"/>
          <p:cNvSpPr/>
          <p:nvPr/>
        </p:nvSpPr>
        <p:spPr>
          <a:xfrm>
            <a:off x="3429000" y="3200400"/>
            <a:ext cx="822960" cy="822960"/>
          </a:xfrm>
          <a:prstGeom prst="ellipse">
            <a:avLst/>
          </a:prstGeom>
          <a:solidFill>
            <a:srgbClr val="FFFFFF"/>
          </a:solidFill>
          <a:ln w="12700">
            <a:solidFill>
              <a:srgbClr val="FFFFFF"/>
            </a:solidFill>
            <a:prstDash val="solid"/>
          </a:ln>
        </p:spPr>
      </p:sp>
      <p:pic>
        <p:nvPicPr>
          <p:cNvPr id="31" name="Image 4" descr="preencoded.png">    </p:cNvPr>
          <p:cNvPicPr>
            <a:picLocks noChangeAspect="1"/>
          </p:cNvPicPr>
          <p:nvPr/>
        </p:nvPicPr>
        <p:blipFill>
          <a:blip r:embed="rId5"/>
          <a:stretch>
            <a:fillRect/>
          </a:stretch>
        </p:blipFill>
        <p:spPr>
          <a:xfrm>
            <a:off x="3610051" y="3381451"/>
            <a:ext cx="460858" cy="460858"/>
          </a:xfrm>
          <a:prstGeom prst="rect">
            <a:avLst/>
          </a:prstGeom>
        </p:spPr>
      </p:pic>
      <p:sp>
        <p:nvSpPr>
          <p:cNvPr id="32" name="Text 25"/>
          <p:cNvSpPr/>
          <p:nvPr/>
        </p:nvSpPr>
        <p:spPr>
          <a:xfrm>
            <a:off x="4389120" y="320040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NPTEL YouTube</a:t>
            </a:r>
            <a:endParaRPr lang="en-US" sz="1300" dirty="0"/>
          </a:p>
        </p:txBody>
      </p:sp>
      <p:sp>
        <p:nvSpPr>
          <p:cNvPr id="33" name="Text 26"/>
          <p:cNvSpPr/>
          <p:nvPr/>
        </p:nvSpPr>
        <p:spPr>
          <a:xfrm>
            <a:off x="4389120" y="3611880"/>
            <a:ext cx="1417320" cy="548640"/>
          </a:xfrm>
          <a:prstGeom prst="rect">
            <a:avLst/>
          </a:prstGeom>
          <a:noFill/>
          <a:ln/>
        </p:spPr>
        <p:txBody>
          <a:bodyPr wrap="square" lIns="0" tIns="0" rIns="0" bIns="0" rtlCol="0" anchor="ctr"/>
          <a:lstStyle/>
          <a:p>
            <a:pPr indent="0" marL="0">
              <a:buNone/>
            </a:pPr>
            <a:r>
              <a:rPr lang="en-US" sz="1100" dirty="0">
                <a:solidFill>
                  <a:srgbClr val="F97316"/>
                </a:solidFill>
                <a:latin typeface="Segoe UI" pitchFamily="34" charset="0"/>
                <a:ea typeface="Segoe UI" pitchFamily="34" charset="-122"/>
                <a:cs typeface="Segoe UI" pitchFamily="34" charset="-120"/>
              </a:rPr>
              <a:t>youtube.com/@nptelhrd</a:t>
            </a:r>
            <a:endParaRPr lang="en-US" sz="1100" dirty="0"/>
          </a:p>
        </p:txBody>
      </p:sp>
      <p:sp>
        <p:nvSpPr>
          <p:cNvPr id="34" name="Shape 27"/>
          <p:cNvSpPr/>
          <p:nvPr/>
        </p:nvSpPr>
        <p:spPr>
          <a:xfrm>
            <a:off x="6035040" y="2926080"/>
            <a:ext cx="2651760" cy="1417320"/>
          </a:xfrm>
          <a:prstGeom prst="roundRect">
            <a:avLst>
              <a:gd name="adj" fmla="val 5161"/>
            </a:avLst>
          </a:prstGeom>
          <a:solidFill>
            <a:srgbClr val="F1F6FC"/>
          </a:solidFill>
          <a:ln w="6350">
            <a:solidFill>
              <a:srgbClr val="E5E7EB"/>
            </a:solidFill>
            <a:prstDash val="solid"/>
          </a:ln>
          <a:effectLst>
            <a:outerShdw sx="100000" sy="100000" kx="0" ky="0" algn="bl" rotWithShape="0" blurRad="76200" dist="12700" dir="5400000">
              <a:srgbClr val="000000">
                <a:alpha val="8000"/>
              </a:srgbClr>
            </a:outerShdw>
          </a:effectLst>
        </p:spPr>
      </p:sp>
      <p:sp>
        <p:nvSpPr>
          <p:cNvPr id="35" name="Shape 28"/>
          <p:cNvSpPr/>
          <p:nvPr/>
        </p:nvSpPr>
        <p:spPr>
          <a:xfrm>
            <a:off x="6217920" y="3200400"/>
            <a:ext cx="822960" cy="822960"/>
          </a:xfrm>
          <a:prstGeom prst="ellipse">
            <a:avLst/>
          </a:prstGeom>
          <a:solidFill>
            <a:srgbClr val="FFFFFF"/>
          </a:solidFill>
          <a:ln w="12700">
            <a:solidFill>
              <a:srgbClr val="FFFFFF"/>
            </a:solidFill>
            <a:prstDash val="solid"/>
          </a:ln>
        </p:spPr>
      </p:sp>
      <p:pic>
        <p:nvPicPr>
          <p:cNvPr id="36" name="Image 5" descr="preencoded.png">    </p:cNvPr>
          <p:cNvPicPr>
            <a:picLocks noChangeAspect="1"/>
          </p:cNvPicPr>
          <p:nvPr/>
        </p:nvPicPr>
        <p:blipFill>
          <a:blip r:embed="rId6"/>
          <a:stretch>
            <a:fillRect/>
          </a:stretch>
        </p:blipFill>
        <p:spPr>
          <a:xfrm>
            <a:off x="6398971" y="3381451"/>
            <a:ext cx="460858" cy="460858"/>
          </a:xfrm>
          <a:prstGeom prst="rect">
            <a:avLst/>
          </a:prstGeom>
        </p:spPr>
      </p:pic>
      <p:sp>
        <p:nvSpPr>
          <p:cNvPr id="37" name="Text 29"/>
          <p:cNvSpPr/>
          <p:nvPr/>
        </p:nvSpPr>
        <p:spPr>
          <a:xfrm>
            <a:off x="7178040" y="3200400"/>
            <a:ext cx="1417320" cy="365760"/>
          </a:xfrm>
          <a:prstGeom prst="rect">
            <a:avLst/>
          </a:prstGeom>
          <a:noFill/>
          <a:ln/>
        </p:spPr>
        <p:txBody>
          <a:bodyPr wrap="square" lIns="0" tIns="0" rIns="0" bIns="0" rtlCol="0" anchor="ctr"/>
          <a:lstStyle/>
          <a:p>
            <a:pPr indent="0" marL="0">
              <a:buNone/>
            </a:pPr>
            <a:r>
              <a:rPr lang="en-US" sz="1300" b="1" dirty="0">
                <a:solidFill>
                  <a:srgbClr val="0B2A4A"/>
                </a:solidFill>
                <a:latin typeface="Segoe UI" pitchFamily="34" charset="0"/>
                <a:ea typeface="Segoe UI" pitchFamily="34" charset="-122"/>
                <a:cs typeface="Segoe UI" pitchFamily="34" charset="-120"/>
              </a:rPr>
              <a:t>Your SPOC</a:t>
            </a:r>
            <a:endParaRPr lang="en-US" sz="1300" dirty="0"/>
          </a:p>
        </p:txBody>
      </p:sp>
      <p:sp>
        <p:nvSpPr>
          <p:cNvPr id="38" name="Text 30"/>
          <p:cNvSpPr/>
          <p:nvPr/>
        </p:nvSpPr>
        <p:spPr>
          <a:xfrm>
            <a:off x="7178040" y="3611880"/>
            <a:ext cx="1417320" cy="548640"/>
          </a:xfrm>
          <a:prstGeom prst="rect">
            <a:avLst/>
          </a:prstGeom>
          <a:noFill/>
          <a:ln/>
        </p:spPr>
        <p:txBody>
          <a:bodyPr wrap="square" lIns="0" tIns="0" rIns="0" bIns="0" rtlCol="0" anchor="ctr"/>
          <a:lstStyle/>
          <a:p>
            <a:pPr indent="0" marL="0">
              <a:buNone/>
            </a:pPr>
            <a:r>
              <a:rPr lang="en-US" sz="1100" dirty="0">
                <a:solidFill>
                  <a:srgbClr val="F97316"/>
                </a:solidFill>
                <a:latin typeface="Segoe UI" pitchFamily="34" charset="0"/>
                <a:ea typeface="Segoe UI" pitchFamily="34" charset="-122"/>
                <a:cs typeface="Segoe UI" pitchFamily="34" charset="-120"/>
              </a:rPr>
              <a:t>College Local Chapter</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6858000" y="3200400"/>
            <a:ext cx="4572000" cy="4572000"/>
          </a:xfrm>
          <a:prstGeom prst="ellipse">
            <a:avLst/>
          </a:prstGeom>
          <a:solidFill>
            <a:srgbClr val="2E7CD6">
              <a:alpha val="25000"/>
            </a:srgbClr>
          </a:solidFill>
          <a:ln w="12700">
            <a:solidFill>
              <a:srgbClr val="2E7CD6">
                <a:alpha val="25000"/>
              </a:srgbClr>
            </a:solidFill>
            <a:prstDash val="solid"/>
          </a:ln>
        </p:spPr>
      </p:sp>
      <p:sp>
        <p:nvSpPr>
          <p:cNvPr id="4" name="Shape 2"/>
          <p:cNvSpPr/>
          <p:nvPr/>
        </p:nvSpPr>
        <p:spPr>
          <a:xfrm>
            <a:off x="-1828800" y="-1828800"/>
            <a:ext cx="4114800" cy="4114800"/>
          </a:xfrm>
          <a:prstGeom prst="ellipse">
            <a:avLst/>
          </a:prstGeom>
          <a:solidFill>
            <a:srgbClr val="F97316">
              <a:alpha val="20000"/>
            </a:srgbClr>
          </a:solidFill>
          <a:ln w="12700">
            <a:solidFill>
              <a:srgbClr val="F97316">
                <a:alpha val="20000"/>
              </a:srgbClr>
            </a:solidFill>
            <a:prstDash val="solid"/>
          </a:ln>
        </p:spPr>
      </p:sp>
      <p:sp>
        <p:nvSpPr>
          <p:cNvPr id="5" name="Text 3"/>
          <p:cNvSpPr/>
          <p:nvPr/>
        </p:nvSpPr>
        <p:spPr>
          <a:xfrm>
            <a:off x="548640" y="548640"/>
            <a:ext cx="5486400" cy="365760"/>
          </a:xfrm>
          <a:prstGeom prst="rect">
            <a:avLst/>
          </a:prstGeom>
          <a:noFill/>
          <a:ln/>
        </p:spPr>
        <p:txBody>
          <a:bodyPr wrap="square" lIns="0" tIns="0" rIns="0" bIns="0" rtlCol="0" anchor="ctr"/>
          <a:lstStyle/>
          <a:p>
            <a:pPr indent="0" marL="0">
              <a:buNone/>
            </a:pPr>
            <a:r>
              <a:rPr lang="en-US" sz="1200" b="1" spc="800" kern="0" dirty="0">
                <a:solidFill>
                  <a:srgbClr val="F97316"/>
                </a:solidFill>
                <a:latin typeface="Segoe UI" pitchFamily="34" charset="0"/>
                <a:ea typeface="Segoe UI" pitchFamily="34" charset="-122"/>
                <a:cs typeface="Segoe UI" pitchFamily="34" charset="-120"/>
              </a:rPr>
              <a:t>YOUR TURN</a:t>
            </a:r>
            <a:endParaRPr lang="en-US" sz="1200" dirty="0"/>
          </a:p>
        </p:txBody>
      </p:sp>
      <p:sp>
        <p:nvSpPr>
          <p:cNvPr id="6" name="Text 4"/>
          <p:cNvSpPr/>
          <p:nvPr/>
        </p:nvSpPr>
        <p:spPr>
          <a:xfrm>
            <a:off x="548640" y="914400"/>
            <a:ext cx="7772400" cy="914400"/>
          </a:xfrm>
          <a:prstGeom prst="rect">
            <a:avLst/>
          </a:prstGeom>
          <a:noFill/>
          <a:ln/>
        </p:spPr>
        <p:txBody>
          <a:bodyPr wrap="square" lIns="0" tIns="0" rIns="0" bIns="0"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Enroll Today.</a:t>
            </a:r>
            <a:endParaRPr lang="en-US" sz="4800" dirty="0"/>
          </a:p>
        </p:txBody>
      </p:sp>
      <p:sp>
        <p:nvSpPr>
          <p:cNvPr id="7" name="Text 5"/>
          <p:cNvSpPr/>
          <p:nvPr/>
        </p:nvSpPr>
        <p:spPr>
          <a:xfrm>
            <a:off x="548640" y="1828800"/>
            <a:ext cx="7772400" cy="548640"/>
          </a:xfrm>
          <a:prstGeom prst="rect">
            <a:avLst/>
          </a:prstGeom>
          <a:noFill/>
          <a:ln/>
        </p:spPr>
        <p:txBody>
          <a:bodyPr wrap="square" lIns="0" tIns="0" rIns="0" bIns="0" rtlCol="0" anchor="ctr"/>
          <a:lstStyle/>
          <a:p>
            <a:pPr indent="0" marL="0">
              <a:buNone/>
            </a:pPr>
            <a:r>
              <a:rPr lang="en-US" sz="2200" i="1" dirty="0">
                <a:solidFill>
                  <a:srgbClr val="E8F1FB"/>
                </a:solidFill>
                <a:latin typeface="Segoe UI" pitchFamily="34" charset="0"/>
                <a:ea typeface="Segoe UI" pitchFamily="34" charset="-122"/>
                <a:cs typeface="Segoe UI" pitchFamily="34" charset="-120"/>
              </a:rPr>
              <a:t>Complete one NPTEL course every semester.</a:t>
            </a:r>
            <a:endParaRPr lang="en-US" sz="2200" dirty="0"/>
          </a:p>
        </p:txBody>
      </p:sp>
      <p:sp>
        <p:nvSpPr>
          <p:cNvPr id="8" name="Shape 6"/>
          <p:cNvSpPr/>
          <p:nvPr/>
        </p:nvSpPr>
        <p:spPr>
          <a:xfrm>
            <a:off x="434340" y="2788920"/>
            <a:ext cx="1965960" cy="1417320"/>
          </a:xfrm>
          <a:prstGeom prst="roundRect">
            <a:avLst>
              <a:gd name="adj" fmla="val 6452"/>
            </a:avLst>
          </a:prstGeom>
          <a:solidFill>
            <a:srgbClr val="1E4E8C"/>
          </a:solidFill>
          <a:ln w="12700">
            <a:solidFill>
              <a:srgbClr val="2E7CD6"/>
            </a:solidFill>
            <a:prstDash val="solid"/>
          </a:ln>
        </p:spPr>
      </p:sp>
      <p:sp>
        <p:nvSpPr>
          <p:cNvPr id="9" name="Shape 7"/>
          <p:cNvSpPr/>
          <p:nvPr/>
        </p:nvSpPr>
        <p:spPr>
          <a:xfrm>
            <a:off x="1074420" y="2971800"/>
            <a:ext cx="685800" cy="685800"/>
          </a:xfrm>
          <a:prstGeom prst="ellipse">
            <a:avLst/>
          </a:prstGeom>
          <a:solidFill>
            <a:srgbClr val="F97316"/>
          </a:solidFill>
          <a:ln w="12700">
            <a:solidFill>
              <a:srgbClr val="F97316"/>
            </a:solidFill>
            <a:prstDash val="solid"/>
          </a:ln>
        </p:spPr>
      </p:sp>
      <p:pic>
        <p:nvPicPr>
          <p:cNvPr id="10" name="Image 0" descr="preencoded.png">    </p:cNvPr>
          <p:cNvPicPr>
            <a:picLocks noChangeAspect="1"/>
          </p:cNvPicPr>
          <p:nvPr/>
        </p:nvPicPr>
        <p:blipFill>
          <a:blip r:embed="rId1"/>
          <a:stretch>
            <a:fillRect/>
          </a:stretch>
        </p:blipFill>
        <p:spPr>
          <a:xfrm>
            <a:off x="1225296" y="3122676"/>
            <a:ext cx="384048" cy="384048"/>
          </a:xfrm>
          <a:prstGeom prst="rect">
            <a:avLst/>
          </a:prstGeom>
        </p:spPr>
      </p:pic>
      <p:sp>
        <p:nvSpPr>
          <p:cNvPr id="11" name="Text 8"/>
          <p:cNvSpPr/>
          <p:nvPr/>
        </p:nvSpPr>
        <p:spPr>
          <a:xfrm>
            <a:off x="525780" y="370332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Open nptel.ac.in</a:t>
            </a:r>
            <a:endParaRPr lang="en-US" sz="1200" dirty="0"/>
          </a:p>
        </p:txBody>
      </p:sp>
      <p:sp>
        <p:nvSpPr>
          <p:cNvPr id="12" name="Shape 9"/>
          <p:cNvSpPr/>
          <p:nvPr/>
        </p:nvSpPr>
        <p:spPr>
          <a:xfrm>
            <a:off x="2537460" y="2788920"/>
            <a:ext cx="1965960" cy="1417320"/>
          </a:xfrm>
          <a:prstGeom prst="roundRect">
            <a:avLst>
              <a:gd name="adj" fmla="val 6452"/>
            </a:avLst>
          </a:prstGeom>
          <a:solidFill>
            <a:srgbClr val="1E4E8C"/>
          </a:solidFill>
          <a:ln w="12700">
            <a:solidFill>
              <a:srgbClr val="2E7CD6"/>
            </a:solidFill>
            <a:prstDash val="solid"/>
          </a:ln>
        </p:spPr>
      </p:sp>
      <p:sp>
        <p:nvSpPr>
          <p:cNvPr id="13" name="Shape 10"/>
          <p:cNvSpPr/>
          <p:nvPr/>
        </p:nvSpPr>
        <p:spPr>
          <a:xfrm>
            <a:off x="3177540" y="2971800"/>
            <a:ext cx="685800" cy="685800"/>
          </a:xfrm>
          <a:prstGeom prst="ellipse">
            <a:avLst/>
          </a:prstGeom>
          <a:solidFill>
            <a:srgbClr val="F97316"/>
          </a:solidFill>
          <a:ln w="12700">
            <a:solidFill>
              <a:srgbClr val="F97316"/>
            </a:solidFill>
            <a:prstDash val="solid"/>
          </a:ln>
        </p:spPr>
      </p:sp>
      <p:pic>
        <p:nvPicPr>
          <p:cNvPr id="14" name="Image 1" descr="preencoded.png">    </p:cNvPr>
          <p:cNvPicPr>
            <a:picLocks noChangeAspect="1"/>
          </p:cNvPicPr>
          <p:nvPr/>
        </p:nvPicPr>
        <p:blipFill>
          <a:blip r:embed="rId2"/>
          <a:stretch>
            <a:fillRect/>
          </a:stretch>
        </p:blipFill>
        <p:spPr>
          <a:xfrm>
            <a:off x="3328416" y="3122676"/>
            <a:ext cx="384048" cy="384048"/>
          </a:xfrm>
          <a:prstGeom prst="rect">
            <a:avLst/>
          </a:prstGeom>
        </p:spPr>
      </p:pic>
      <p:sp>
        <p:nvSpPr>
          <p:cNvPr id="15" name="Text 11"/>
          <p:cNvSpPr/>
          <p:nvPr/>
        </p:nvSpPr>
        <p:spPr>
          <a:xfrm>
            <a:off x="2628900" y="370332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Pick one course</a:t>
            </a:r>
            <a:endParaRPr lang="en-US" sz="1200" dirty="0"/>
          </a:p>
        </p:txBody>
      </p:sp>
      <p:sp>
        <p:nvSpPr>
          <p:cNvPr id="16" name="Shape 12"/>
          <p:cNvSpPr/>
          <p:nvPr/>
        </p:nvSpPr>
        <p:spPr>
          <a:xfrm>
            <a:off x="4640580" y="2788920"/>
            <a:ext cx="1965960" cy="1417320"/>
          </a:xfrm>
          <a:prstGeom prst="roundRect">
            <a:avLst>
              <a:gd name="adj" fmla="val 6452"/>
            </a:avLst>
          </a:prstGeom>
          <a:solidFill>
            <a:srgbClr val="1E4E8C"/>
          </a:solidFill>
          <a:ln w="12700">
            <a:solidFill>
              <a:srgbClr val="2E7CD6"/>
            </a:solidFill>
            <a:prstDash val="solid"/>
          </a:ln>
        </p:spPr>
      </p:sp>
      <p:sp>
        <p:nvSpPr>
          <p:cNvPr id="17" name="Shape 13"/>
          <p:cNvSpPr/>
          <p:nvPr/>
        </p:nvSpPr>
        <p:spPr>
          <a:xfrm>
            <a:off x="5280660" y="2971800"/>
            <a:ext cx="685800" cy="685800"/>
          </a:xfrm>
          <a:prstGeom prst="ellipse">
            <a:avLst/>
          </a:prstGeom>
          <a:solidFill>
            <a:srgbClr val="F97316"/>
          </a:solidFill>
          <a:ln w="12700">
            <a:solidFill>
              <a:srgbClr val="F97316"/>
            </a:solidFill>
            <a:prstDash val="solid"/>
          </a:ln>
        </p:spPr>
      </p:sp>
      <p:pic>
        <p:nvPicPr>
          <p:cNvPr id="18" name="Image 2" descr="preencoded.png">    </p:cNvPr>
          <p:cNvPicPr>
            <a:picLocks noChangeAspect="1"/>
          </p:cNvPicPr>
          <p:nvPr/>
        </p:nvPicPr>
        <p:blipFill>
          <a:blip r:embed="rId3"/>
          <a:stretch>
            <a:fillRect/>
          </a:stretch>
        </p:blipFill>
        <p:spPr>
          <a:xfrm>
            <a:off x="5431536" y="3122676"/>
            <a:ext cx="384048" cy="384048"/>
          </a:xfrm>
          <a:prstGeom prst="rect">
            <a:avLst/>
          </a:prstGeom>
        </p:spPr>
      </p:pic>
      <p:sp>
        <p:nvSpPr>
          <p:cNvPr id="19" name="Text 14"/>
          <p:cNvSpPr/>
          <p:nvPr/>
        </p:nvSpPr>
        <p:spPr>
          <a:xfrm>
            <a:off x="4732020" y="370332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Enroll now</a:t>
            </a:r>
            <a:endParaRPr lang="en-US" sz="1200" dirty="0"/>
          </a:p>
        </p:txBody>
      </p:sp>
      <p:sp>
        <p:nvSpPr>
          <p:cNvPr id="20" name="Shape 15"/>
          <p:cNvSpPr/>
          <p:nvPr/>
        </p:nvSpPr>
        <p:spPr>
          <a:xfrm>
            <a:off x="6743700" y="2788920"/>
            <a:ext cx="1965960" cy="1417320"/>
          </a:xfrm>
          <a:prstGeom prst="roundRect">
            <a:avLst>
              <a:gd name="adj" fmla="val 6452"/>
            </a:avLst>
          </a:prstGeom>
          <a:solidFill>
            <a:srgbClr val="1E4E8C"/>
          </a:solidFill>
          <a:ln w="12700">
            <a:solidFill>
              <a:srgbClr val="2E7CD6"/>
            </a:solidFill>
            <a:prstDash val="solid"/>
          </a:ln>
        </p:spPr>
      </p:sp>
      <p:sp>
        <p:nvSpPr>
          <p:cNvPr id="21" name="Shape 16"/>
          <p:cNvSpPr/>
          <p:nvPr/>
        </p:nvSpPr>
        <p:spPr>
          <a:xfrm>
            <a:off x="7383780" y="2971800"/>
            <a:ext cx="685800" cy="685800"/>
          </a:xfrm>
          <a:prstGeom prst="ellipse">
            <a:avLst/>
          </a:prstGeom>
          <a:solidFill>
            <a:srgbClr val="F97316"/>
          </a:solidFill>
          <a:ln w="12700">
            <a:solidFill>
              <a:srgbClr val="F97316"/>
            </a:solidFill>
            <a:prstDash val="solid"/>
          </a:ln>
        </p:spPr>
      </p:sp>
      <p:pic>
        <p:nvPicPr>
          <p:cNvPr id="22" name="Image 3" descr="preencoded.png">    </p:cNvPr>
          <p:cNvPicPr>
            <a:picLocks noChangeAspect="1"/>
          </p:cNvPicPr>
          <p:nvPr/>
        </p:nvPicPr>
        <p:blipFill>
          <a:blip r:embed="rId4"/>
          <a:stretch>
            <a:fillRect/>
          </a:stretch>
        </p:blipFill>
        <p:spPr>
          <a:xfrm>
            <a:off x="7534656" y="3122676"/>
            <a:ext cx="384048" cy="384048"/>
          </a:xfrm>
          <a:prstGeom prst="rect">
            <a:avLst/>
          </a:prstGeom>
        </p:spPr>
      </p:pic>
      <p:sp>
        <p:nvSpPr>
          <p:cNvPr id="23" name="Text 17"/>
          <p:cNvSpPr/>
          <p:nvPr/>
        </p:nvSpPr>
        <p:spPr>
          <a:xfrm>
            <a:off x="6835140" y="3703320"/>
            <a:ext cx="17830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Start this week</a:t>
            </a:r>
            <a:endParaRPr lang="en-US" sz="1200" dirty="0"/>
          </a:p>
        </p:txBody>
      </p:sp>
      <p:sp>
        <p:nvSpPr>
          <p:cNvPr id="24" name="Text 18"/>
          <p:cNvSpPr/>
          <p:nvPr/>
        </p:nvSpPr>
        <p:spPr>
          <a:xfrm>
            <a:off x="548640" y="4434840"/>
            <a:ext cx="7772400" cy="365760"/>
          </a:xfrm>
          <a:prstGeom prst="rect">
            <a:avLst/>
          </a:prstGeom>
          <a:noFill/>
          <a:ln/>
        </p:spPr>
        <p:txBody>
          <a:bodyPr wrap="square" lIns="0" tIns="0" rIns="0" bIns="0" rtlCol="0" anchor="ctr"/>
          <a:lstStyle/>
          <a:p>
            <a:pPr indent="0" marL="0">
              <a:buNone/>
            </a:pPr>
            <a:r>
              <a:rPr lang="en-US" sz="1400" i="1" dirty="0">
                <a:solidFill>
                  <a:srgbClr val="F97316"/>
                </a:solidFill>
                <a:latin typeface="Segoe UI" pitchFamily="34" charset="0"/>
                <a:ea typeface="Segoe UI" pitchFamily="34" charset="-122"/>
                <a:cs typeface="Segoe UI" pitchFamily="34" charset="-120"/>
              </a:rPr>
              <a:t>Enrollments close soon — don't wait for next semester.</a:t>
            </a:r>
            <a:endParaRPr lang="en-US" sz="1400" dirty="0"/>
          </a:p>
        </p:txBody>
      </p:sp>
      <p:sp>
        <p:nvSpPr>
          <p:cNvPr id="25" name="Text 19"/>
          <p:cNvSpPr/>
          <p:nvPr/>
        </p:nvSpPr>
        <p:spPr>
          <a:xfrm>
            <a:off x="8321040" y="4686300"/>
            <a:ext cx="548640" cy="320040"/>
          </a:xfrm>
          <a:prstGeom prst="rect">
            <a:avLst/>
          </a:prstGeom>
          <a:noFill/>
          <a:ln/>
        </p:spPr>
        <p:txBody>
          <a:bodyPr wrap="square" lIns="0" tIns="0" rIns="0" bIns="0" rtlCol="0" anchor="ctr"/>
          <a:lstStyle/>
          <a:p>
            <a:pPr algn="r" indent="0" marL="0">
              <a:buNone/>
            </a:pPr>
            <a:r>
              <a:rPr lang="en-US" sz="1100" b="1" dirty="0">
                <a:solidFill>
                  <a:srgbClr val="F97316"/>
                </a:solidFill>
                <a:latin typeface="Segoe UI" pitchFamily="34" charset="0"/>
                <a:ea typeface="Segoe UI" pitchFamily="34" charset="-122"/>
                <a:cs typeface="Segoe UI"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1371600" y="2743200"/>
            <a:ext cx="4572000" cy="4572000"/>
          </a:xfrm>
          <a:prstGeom prst="ellipse">
            <a:avLst/>
          </a:prstGeom>
          <a:solidFill>
            <a:srgbClr val="2E7CD6">
              <a:alpha val="25000"/>
            </a:srgbClr>
          </a:solidFill>
          <a:ln w="12700">
            <a:solidFill>
              <a:srgbClr val="2E7CD6">
                <a:alpha val="25000"/>
              </a:srgbClr>
            </a:solidFill>
            <a:prstDash val="solid"/>
          </a:ln>
        </p:spPr>
      </p:sp>
      <p:sp>
        <p:nvSpPr>
          <p:cNvPr id="4" name="Shape 2"/>
          <p:cNvSpPr/>
          <p:nvPr/>
        </p:nvSpPr>
        <p:spPr>
          <a:xfrm>
            <a:off x="5943600" y="-1828800"/>
            <a:ext cx="4572000" cy="4572000"/>
          </a:xfrm>
          <a:prstGeom prst="ellipse">
            <a:avLst/>
          </a:prstGeom>
          <a:solidFill>
            <a:srgbClr val="F97316">
              <a:alpha val="20000"/>
            </a:srgbClr>
          </a:solidFill>
          <a:ln w="12700">
            <a:solidFill>
              <a:srgbClr val="F97316">
                <a:alpha val="20000"/>
              </a:srgbClr>
            </a:solidFill>
            <a:prstDash val="solid"/>
          </a:ln>
        </p:spPr>
      </p:sp>
      <p:sp>
        <p:nvSpPr>
          <p:cNvPr id="5" name="Text 3"/>
          <p:cNvSpPr/>
          <p:nvPr/>
        </p:nvSpPr>
        <p:spPr>
          <a:xfrm>
            <a:off x="457200" y="1188720"/>
            <a:ext cx="8229600" cy="1097280"/>
          </a:xfrm>
          <a:prstGeom prst="rect">
            <a:avLst/>
          </a:prstGeom>
          <a:noFill/>
          <a:ln/>
        </p:spPr>
        <p:txBody>
          <a:bodyPr wrap="square" lIns="0" tIns="0" rIns="0" bIns="0" rtlCol="0" anchor="ctr"/>
          <a:lstStyle/>
          <a:p>
            <a:pPr algn="ctr" indent="0" marL="0">
              <a:buNone/>
            </a:pPr>
            <a:r>
              <a:rPr lang="en-US" sz="6800" b="1" dirty="0">
                <a:solidFill>
                  <a:srgbClr val="FFFFFF"/>
                </a:solidFill>
                <a:latin typeface="Segoe UI" pitchFamily="34" charset="0"/>
                <a:ea typeface="Segoe UI" pitchFamily="34" charset="-122"/>
                <a:cs typeface="Segoe UI" pitchFamily="34" charset="-120"/>
              </a:rPr>
              <a:t>Thank You</a:t>
            </a:r>
            <a:endParaRPr lang="en-US" sz="6800" dirty="0"/>
          </a:p>
        </p:txBody>
      </p:sp>
      <p:sp>
        <p:nvSpPr>
          <p:cNvPr id="6" name="Shape 4"/>
          <p:cNvSpPr/>
          <p:nvPr/>
        </p:nvSpPr>
        <p:spPr>
          <a:xfrm>
            <a:off x="4206240" y="2468880"/>
            <a:ext cx="731520" cy="54864"/>
          </a:xfrm>
          <a:prstGeom prst="rect">
            <a:avLst/>
          </a:prstGeom>
          <a:solidFill>
            <a:srgbClr val="F97316"/>
          </a:solidFill>
          <a:ln w="12700">
            <a:solidFill>
              <a:srgbClr val="F97316"/>
            </a:solidFill>
            <a:prstDash val="solid"/>
          </a:ln>
        </p:spPr>
      </p:sp>
      <p:sp>
        <p:nvSpPr>
          <p:cNvPr id="7" name="Text 5"/>
          <p:cNvSpPr/>
          <p:nvPr/>
        </p:nvSpPr>
        <p:spPr>
          <a:xfrm>
            <a:off x="457200" y="2651760"/>
            <a:ext cx="8229600" cy="457200"/>
          </a:xfrm>
          <a:prstGeom prst="rect">
            <a:avLst/>
          </a:prstGeom>
          <a:noFill/>
          <a:ln/>
        </p:spPr>
        <p:txBody>
          <a:bodyPr wrap="square" lIns="0" tIns="0" rIns="0" bIns="0" rtlCol="0" anchor="ctr"/>
          <a:lstStyle/>
          <a:p>
            <a:pPr algn="ctr" indent="0" marL="0">
              <a:buNone/>
            </a:pPr>
            <a:r>
              <a:rPr lang="en-US" sz="2200" i="1" dirty="0">
                <a:solidFill>
                  <a:srgbClr val="E8F1FB"/>
                </a:solidFill>
                <a:latin typeface="Segoe UI" pitchFamily="34" charset="0"/>
                <a:ea typeface="Segoe UI" pitchFamily="34" charset="-122"/>
                <a:cs typeface="Segoe UI" pitchFamily="34" charset="-120"/>
              </a:rPr>
              <a:t>Questions? Discussion?</a:t>
            </a:r>
            <a:endParaRPr lang="en-US" sz="2200" dirty="0"/>
          </a:p>
        </p:txBody>
      </p:sp>
      <p:sp>
        <p:nvSpPr>
          <p:cNvPr id="8" name="Shape 6"/>
          <p:cNvSpPr/>
          <p:nvPr/>
        </p:nvSpPr>
        <p:spPr>
          <a:xfrm>
            <a:off x="457200" y="3657600"/>
            <a:ext cx="2651760" cy="640080"/>
          </a:xfrm>
          <a:prstGeom prst="roundRect">
            <a:avLst>
              <a:gd name="adj" fmla="val 42857"/>
            </a:avLst>
          </a:prstGeom>
          <a:solidFill>
            <a:srgbClr val="1E4E8C"/>
          </a:solidFill>
          <a:ln w="6350">
            <a:solidFill>
              <a:srgbClr val="2E7CD6"/>
            </a:solidFill>
            <a:prstDash val="solid"/>
          </a:ln>
        </p:spPr>
      </p:sp>
      <p:sp>
        <p:nvSpPr>
          <p:cNvPr id="9" name="Shape 7"/>
          <p:cNvSpPr/>
          <p:nvPr/>
        </p:nvSpPr>
        <p:spPr>
          <a:xfrm>
            <a:off x="594360" y="3749040"/>
            <a:ext cx="457200" cy="457200"/>
          </a:xfrm>
          <a:prstGeom prst="ellipse">
            <a:avLst/>
          </a:prstGeom>
          <a:solidFill>
            <a:srgbClr val="F97316"/>
          </a:solidFill>
          <a:ln w="12700">
            <a:solidFill>
              <a:srgbClr val="F97316"/>
            </a:solidFill>
            <a:prstDash val="solid"/>
          </a:ln>
        </p:spPr>
      </p:sp>
      <p:pic>
        <p:nvPicPr>
          <p:cNvPr id="10" name="Image 0" descr="preencoded.png">    </p:cNvPr>
          <p:cNvPicPr>
            <a:picLocks noChangeAspect="1"/>
          </p:cNvPicPr>
          <p:nvPr/>
        </p:nvPicPr>
        <p:blipFill>
          <a:blip r:embed="rId1"/>
          <a:stretch>
            <a:fillRect/>
          </a:stretch>
        </p:blipFill>
        <p:spPr>
          <a:xfrm>
            <a:off x="694944" y="3849624"/>
            <a:ext cx="256032" cy="256032"/>
          </a:xfrm>
          <a:prstGeom prst="rect">
            <a:avLst/>
          </a:prstGeom>
        </p:spPr>
      </p:pic>
      <p:sp>
        <p:nvSpPr>
          <p:cNvPr id="11" name="Text 8"/>
          <p:cNvSpPr/>
          <p:nvPr/>
        </p:nvSpPr>
        <p:spPr>
          <a:xfrm>
            <a:off x="1143000" y="3657600"/>
            <a:ext cx="1874520" cy="640080"/>
          </a:xfrm>
          <a:prstGeom prst="rect">
            <a:avLst/>
          </a:prstGeom>
          <a:noFill/>
          <a:ln/>
        </p:spPr>
        <p:txBody>
          <a:bodyPr wrap="square" lIns="0" tIns="0" rIns="0" bIns="0"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nptel.ac.in</a:t>
            </a:r>
            <a:endParaRPr lang="en-US" sz="1100" dirty="0"/>
          </a:p>
        </p:txBody>
      </p:sp>
      <p:sp>
        <p:nvSpPr>
          <p:cNvPr id="12" name="Shape 9"/>
          <p:cNvSpPr/>
          <p:nvPr/>
        </p:nvSpPr>
        <p:spPr>
          <a:xfrm>
            <a:off x="3246120" y="3657600"/>
            <a:ext cx="2651760" cy="640080"/>
          </a:xfrm>
          <a:prstGeom prst="roundRect">
            <a:avLst>
              <a:gd name="adj" fmla="val 42857"/>
            </a:avLst>
          </a:prstGeom>
          <a:solidFill>
            <a:srgbClr val="1E4E8C"/>
          </a:solidFill>
          <a:ln w="6350">
            <a:solidFill>
              <a:srgbClr val="2E7CD6"/>
            </a:solidFill>
            <a:prstDash val="solid"/>
          </a:ln>
        </p:spPr>
      </p:sp>
      <p:sp>
        <p:nvSpPr>
          <p:cNvPr id="13" name="Shape 10"/>
          <p:cNvSpPr/>
          <p:nvPr/>
        </p:nvSpPr>
        <p:spPr>
          <a:xfrm>
            <a:off x="3383280" y="3749040"/>
            <a:ext cx="457200" cy="457200"/>
          </a:xfrm>
          <a:prstGeom prst="ellipse">
            <a:avLst/>
          </a:prstGeom>
          <a:solidFill>
            <a:srgbClr val="F97316"/>
          </a:solidFill>
          <a:ln w="12700">
            <a:solidFill>
              <a:srgbClr val="F97316"/>
            </a:solidFill>
            <a:prstDash val="solid"/>
          </a:ln>
        </p:spPr>
      </p:sp>
      <p:pic>
        <p:nvPicPr>
          <p:cNvPr id="14" name="Image 1" descr="preencoded.png">    </p:cNvPr>
          <p:cNvPicPr>
            <a:picLocks noChangeAspect="1"/>
          </p:cNvPicPr>
          <p:nvPr/>
        </p:nvPicPr>
        <p:blipFill>
          <a:blip r:embed="rId2"/>
          <a:stretch>
            <a:fillRect/>
          </a:stretch>
        </p:blipFill>
        <p:spPr>
          <a:xfrm>
            <a:off x="3483864" y="3849624"/>
            <a:ext cx="256032" cy="256032"/>
          </a:xfrm>
          <a:prstGeom prst="rect">
            <a:avLst/>
          </a:prstGeom>
        </p:spPr>
      </p:pic>
      <p:sp>
        <p:nvSpPr>
          <p:cNvPr id="15" name="Text 11"/>
          <p:cNvSpPr/>
          <p:nvPr/>
        </p:nvSpPr>
        <p:spPr>
          <a:xfrm>
            <a:off x="3931920" y="3657600"/>
            <a:ext cx="1874520" cy="640080"/>
          </a:xfrm>
          <a:prstGeom prst="rect">
            <a:avLst/>
          </a:prstGeom>
          <a:noFill/>
          <a:ln/>
        </p:spPr>
        <p:txBody>
          <a:bodyPr wrap="square" lIns="0" tIns="0" rIns="0" bIns="0"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support@nptel.iitm.ac.in</a:t>
            </a:r>
            <a:endParaRPr lang="en-US" sz="1100" dirty="0"/>
          </a:p>
        </p:txBody>
      </p:sp>
      <p:sp>
        <p:nvSpPr>
          <p:cNvPr id="16" name="Shape 12"/>
          <p:cNvSpPr/>
          <p:nvPr/>
        </p:nvSpPr>
        <p:spPr>
          <a:xfrm>
            <a:off x="6035040" y="3657600"/>
            <a:ext cx="2651760" cy="640080"/>
          </a:xfrm>
          <a:prstGeom prst="roundRect">
            <a:avLst>
              <a:gd name="adj" fmla="val 42857"/>
            </a:avLst>
          </a:prstGeom>
          <a:solidFill>
            <a:srgbClr val="1E4E8C"/>
          </a:solidFill>
          <a:ln w="6350">
            <a:solidFill>
              <a:srgbClr val="2E7CD6"/>
            </a:solidFill>
            <a:prstDash val="solid"/>
          </a:ln>
        </p:spPr>
      </p:sp>
      <p:sp>
        <p:nvSpPr>
          <p:cNvPr id="17" name="Shape 13"/>
          <p:cNvSpPr/>
          <p:nvPr/>
        </p:nvSpPr>
        <p:spPr>
          <a:xfrm>
            <a:off x="6172200" y="3749040"/>
            <a:ext cx="457200" cy="457200"/>
          </a:xfrm>
          <a:prstGeom prst="ellipse">
            <a:avLst/>
          </a:prstGeom>
          <a:solidFill>
            <a:srgbClr val="F97316"/>
          </a:solidFill>
          <a:ln w="12700">
            <a:solidFill>
              <a:srgbClr val="F97316"/>
            </a:solidFill>
            <a:prstDash val="solid"/>
          </a:ln>
        </p:spPr>
      </p:sp>
      <p:pic>
        <p:nvPicPr>
          <p:cNvPr id="18" name="Image 2" descr="preencoded.png">    </p:cNvPr>
          <p:cNvPicPr>
            <a:picLocks noChangeAspect="1"/>
          </p:cNvPicPr>
          <p:nvPr/>
        </p:nvPicPr>
        <p:blipFill>
          <a:blip r:embed="rId3"/>
          <a:stretch>
            <a:fillRect/>
          </a:stretch>
        </p:blipFill>
        <p:spPr>
          <a:xfrm>
            <a:off x="6272784" y="3849624"/>
            <a:ext cx="256032" cy="256032"/>
          </a:xfrm>
          <a:prstGeom prst="rect">
            <a:avLst/>
          </a:prstGeom>
        </p:spPr>
      </p:pic>
      <p:sp>
        <p:nvSpPr>
          <p:cNvPr id="19" name="Text 14"/>
          <p:cNvSpPr/>
          <p:nvPr/>
        </p:nvSpPr>
        <p:spPr>
          <a:xfrm>
            <a:off x="6720840" y="3657600"/>
            <a:ext cx="1874520" cy="640080"/>
          </a:xfrm>
          <a:prstGeom prst="rect">
            <a:avLst/>
          </a:prstGeom>
          <a:noFill/>
          <a:ln/>
        </p:spPr>
        <p:txBody>
          <a:bodyPr wrap="square" lIns="0" tIns="0" rIns="0" bIns="0"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linkedin.com/company/nptel</a:t>
            </a:r>
            <a:endParaRPr lang="en-US" sz="1100" dirty="0"/>
          </a:p>
        </p:txBody>
      </p:sp>
      <p:sp>
        <p:nvSpPr>
          <p:cNvPr id="20" name="Text 15"/>
          <p:cNvSpPr/>
          <p:nvPr/>
        </p:nvSpPr>
        <p:spPr>
          <a:xfrm>
            <a:off x="457200" y="4572000"/>
            <a:ext cx="8229600" cy="365760"/>
          </a:xfrm>
          <a:prstGeom prst="rect">
            <a:avLst/>
          </a:prstGeom>
          <a:noFill/>
          <a:ln/>
        </p:spPr>
        <p:txBody>
          <a:bodyPr wrap="square" lIns="0" tIns="0" rIns="0" bIns="0" rtlCol="0" anchor="ctr"/>
          <a:lstStyle/>
          <a:p>
            <a:pPr algn="ctr" indent="0" marL="0">
              <a:buNone/>
            </a:pPr>
            <a:r>
              <a:rPr lang="en-US" sz="1400" i="1" dirty="0">
                <a:solidFill>
                  <a:srgbClr val="F97316"/>
                </a:solidFill>
                <a:latin typeface="Segoe UI" pitchFamily="34" charset="0"/>
                <a:ea typeface="Segoe UI" pitchFamily="34" charset="-122"/>
                <a:cs typeface="Segoe UI" pitchFamily="34" charset="-120"/>
              </a:rPr>
              <a:t>Start learning. Start earning credits. Start today.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Self-Learning &amp; Skill Development through NPTEL</dc:title>
  <dc:subject>PptxGenJS Presentation</dc:subject>
  <dc:creator>MuleRun Super Agent</dc:creator>
  <cp:lastModifiedBy>MuleRun Super Agent</cp:lastModifiedBy>
  <cp:revision>1</cp:revision>
  <dcterms:created xsi:type="dcterms:W3CDTF">2026-07-05T07:20:48Z</dcterms:created>
  <dcterms:modified xsi:type="dcterms:W3CDTF">2026-07-05T07:20:48Z</dcterms:modified>
</cp:coreProperties>
</file>