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png" ContentType="image/pn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Default Extension="jpg" ContentType="image/jpg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  <p:sldId id="579" r:id="rId329"/>
    <p:sldId id="580" r:id="rId330"/>
    <p:sldId id="581" r:id="rId331"/>
    <p:sldId id="582" r:id="rId332"/>
    <p:sldId id="583" r:id="rId333"/>
  </p:sldIdLst>
  <p:sldSz cx="6400800" cy="8401050"/>
  <p:notesSz cx="6400800" cy="840105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Relationship Id="rId228" Type="http://schemas.openxmlformats.org/officeDocument/2006/relationships/slide" Target="slides/slide223.xml"/><Relationship Id="rId229" Type="http://schemas.openxmlformats.org/officeDocument/2006/relationships/slide" Target="slides/slide224.xml"/><Relationship Id="rId230" Type="http://schemas.openxmlformats.org/officeDocument/2006/relationships/slide" Target="slides/slide225.xml"/><Relationship Id="rId231" Type="http://schemas.openxmlformats.org/officeDocument/2006/relationships/slide" Target="slides/slide226.xml"/><Relationship Id="rId232" Type="http://schemas.openxmlformats.org/officeDocument/2006/relationships/slide" Target="slides/slide227.xml"/><Relationship Id="rId233" Type="http://schemas.openxmlformats.org/officeDocument/2006/relationships/slide" Target="slides/slide228.xml"/><Relationship Id="rId234" Type="http://schemas.openxmlformats.org/officeDocument/2006/relationships/slide" Target="slides/slide229.xml"/><Relationship Id="rId235" Type="http://schemas.openxmlformats.org/officeDocument/2006/relationships/slide" Target="slides/slide230.xml"/><Relationship Id="rId236" Type="http://schemas.openxmlformats.org/officeDocument/2006/relationships/slide" Target="slides/slide231.xml"/><Relationship Id="rId237" Type="http://schemas.openxmlformats.org/officeDocument/2006/relationships/slide" Target="slides/slide232.xml"/><Relationship Id="rId238" Type="http://schemas.openxmlformats.org/officeDocument/2006/relationships/slide" Target="slides/slide233.xml"/><Relationship Id="rId239" Type="http://schemas.openxmlformats.org/officeDocument/2006/relationships/slide" Target="slides/slide234.xml"/><Relationship Id="rId240" Type="http://schemas.openxmlformats.org/officeDocument/2006/relationships/slide" Target="slides/slide235.xml"/><Relationship Id="rId241" Type="http://schemas.openxmlformats.org/officeDocument/2006/relationships/slide" Target="slides/slide236.xml"/><Relationship Id="rId242" Type="http://schemas.openxmlformats.org/officeDocument/2006/relationships/slide" Target="slides/slide237.xml"/><Relationship Id="rId243" Type="http://schemas.openxmlformats.org/officeDocument/2006/relationships/slide" Target="slides/slide238.xml"/><Relationship Id="rId244" Type="http://schemas.openxmlformats.org/officeDocument/2006/relationships/slide" Target="slides/slide239.xml"/><Relationship Id="rId245" Type="http://schemas.openxmlformats.org/officeDocument/2006/relationships/slide" Target="slides/slide240.xml"/><Relationship Id="rId246" Type="http://schemas.openxmlformats.org/officeDocument/2006/relationships/slide" Target="slides/slide241.xml"/><Relationship Id="rId247" Type="http://schemas.openxmlformats.org/officeDocument/2006/relationships/slide" Target="slides/slide242.xml"/><Relationship Id="rId248" Type="http://schemas.openxmlformats.org/officeDocument/2006/relationships/slide" Target="slides/slide243.xml"/><Relationship Id="rId249" Type="http://schemas.openxmlformats.org/officeDocument/2006/relationships/slide" Target="slides/slide244.xml"/><Relationship Id="rId250" Type="http://schemas.openxmlformats.org/officeDocument/2006/relationships/slide" Target="slides/slide245.xml"/><Relationship Id="rId251" Type="http://schemas.openxmlformats.org/officeDocument/2006/relationships/slide" Target="slides/slide246.xml"/><Relationship Id="rId252" Type="http://schemas.openxmlformats.org/officeDocument/2006/relationships/slide" Target="slides/slide247.xml"/><Relationship Id="rId253" Type="http://schemas.openxmlformats.org/officeDocument/2006/relationships/slide" Target="slides/slide248.xml"/><Relationship Id="rId254" Type="http://schemas.openxmlformats.org/officeDocument/2006/relationships/slide" Target="slides/slide249.xml"/><Relationship Id="rId255" Type="http://schemas.openxmlformats.org/officeDocument/2006/relationships/slide" Target="slides/slide250.xml"/><Relationship Id="rId256" Type="http://schemas.openxmlformats.org/officeDocument/2006/relationships/slide" Target="slides/slide251.xml"/><Relationship Id="rId257" Type="http://schemas.openxmlformats.org/officeDocument/2006/relationships/slide" Target="slides/slide252.xml"/><Relationship Id="rId258" Type="http://schemas.openxmlformats.org/officeDocument/2006/relationships/slide" Target="slides/slide253.xml"/><Relationship Id="rId259" Type="http://schemas.openxmlformats.org/officeDocument/2006/relationships/slide" Target="slides/slide254.xml"/><Relationship Id="rId260" Type="http://schemas.openxmlformats.org/officeDocument/2006/relationships/slide" Target="slides/slide255.xml"/><Relationship Id="rId261" Type="http://schemas.openxmlformats.org/officeDocument/2006/relationships/slide" Target="slides/slide256.xml"/><Relationship Id="rId262" Type="http://schemas.openxmlformats.org/officeDocument/2006/relationships/slide" Target="slides/slide257.xml"/><Relationship Id="rId263" Type="http://schemas.openxmlformats.org/officeDocument/2006/relationships/slide" Target="slides/slide258.xml"/><Relationship Id="rId264" Type="http://schemas.openxmlformats.org/officeDocument/2006/relationships/slide" Target="slides/slide259.xml"/><Relationship Id="rId265" Type="http://schemas.openxmlformats.org/officeDocument/2006/relationships/slide" Target="slides/slide260.xml"/><Relationship Id="rId266" Type="http://schemas.openxmlformats.org/officeDocument/2006/relationships/slide" Target="slides/slide261.xml"/><Relationship Id="rId267" Type="http://schemas.openxmlformats.org/officeDocument/2006/relationships/slide" Target="slides/slide262.xml"/><Relationship Id="rId268" Type="http://schemas.openxmlformats.org/officeDocument/2006/relationships/slide" Target="slides/slide263.xml"/><Relationship Id="rId269" Type="http://schemas.openxmlformats.org/officeDocument/2006/relationships/slide" Target="slides/slide264.xml"/><Relationship Id="rId270" Type="http://schemas.openxmlformats.org/officeDocument/2006/relationships/slide" Target="slides/slide265.xml"/><Relationship Id="rId271" Type="http://schemas.openxmlformats.org/officeDocument/2006/relationships/slide" Target="slides/slide266.xml"/><Relationship Id="rId272" Type="http://schemas.openxmlformats.org/officeDocument/2006/relationships/slide" Target="slides/slide267.xml"/><Relationship Id="rId273" Type="http://schemas.openxmlformats.org/officeDocument/2006/relationships/slide" Target="slides/slide268.xml"/><Relationship Id="rId274" Type="http://schemas.openxmlformats.org/officeDocument/2006/relationships/slide" Target="slides/slide269.xml"/><Relationship Id="rId275" Type="http://schemas.openxmlformats.org/officeDocument/2006/relationships/slide" Target="slides/slide270.xml"/><Relationship Id="rId276" Type="http://schemas.openxmlformats.org/officeDocument/2006/relationships/slide" Target="slides/slide271.xml"/><Relationship Id="rId277" Type="http://schemas.openxmlformats.org/officeDocument/2006/relationships/slide" Target="slides/slide272.xml"/><Relationship Id="rId278" Type="http://schemas.openxmlformats.org/officeDocument/2006/relationships/slide" Target="slides/slide273.xml"/><Relationship Id="rId279" Type="http://schemas.openxmlformats.org/officeDocument/2006/relationships/slide" Target="slides/slide274.xml"/><Relationship Id="rId280" Type="http://schemas.openxmlformats.org/officeDocument/2006/relationships/slide" Target="slides/slide275.xml"/><Relationship Id="rId281" Type="http://schemas.openxmlformats.org/officeDocument/2006/relationships/slide" Target="slides/slide276.xml"/><Relationship Id="rId282" Type="http://schemas.openxmlformats.org/officeDocument/2006/relationships/slide" Target="slides/slide277.xml"/><Relationship Id="rId283" Type="http://schemas.openxmlformats.org/officeDocument/2006/relationships/slide" Target="slides/slide278.xml"/><Relationship Id="rId284" Type="http://schemas.openxmlformats.org/officeDocument/2006/relationships/slide" Target="slides/slide279.xml"/><Relationship Id="rId285" Type="http://schemas.openxmlformats.org/officeDocument/2006/relationships/slide" Target="slides/slide280.xml"/><Relationship Id="rId286" Type="http://schemas.openxmlformats.org/officeDocument/2006/relationships/slide" Target="slides/slide281.xml"/><Relationship Id="rId287" Type="http://schemas.openxmlformats.org/officeDocument/2006/relationships/slide" Target="slides/slide282.xml"/><Relationship Id="rId288" Type="http://schemas.openxmlformats.org/officeDocument/2006/relationships/slide" Target="slides/slide283.xml"/><Relationship Id="rId289" Type="http://schemas.openxmlformats.org/officeDocument/2006/relationships/slide" Target="slides/slide284.xml"/><Relationship Id="rId290" Type="http://schemas.openxmlformats.org/officeDocument/2006/relationships/slide" Target="slides/slide285.xml"/><Relationship Id="rId291" Type="http://schemas.openxmlformats.org/officeDocument/2006/relationships/slide" Target="slides/slide286.xml"/><Relationship Id="rId292" Type="http://schemas.openxmlformats.org/officeDocument/2006/relationships/slide" Target="slides/slide287.xml"/><Relationship Id="rId293" Type="http://schemas.openxmlformats.org/officeDocument/2006/relationships/slide" Target="slides/slide288.xml"/><Relationship Id="rId294" Type="http://schemas.openxmlformats.org/officeDocument/2006/relationships/slide" Target="slides/slide289.xml"/><Relationship Id="rId295" Type="http://schemas.openxmlformats.org/officeDocument/2006/relationships/slide" Target="slides/slide290.xml"/><Relationship Id="rId296" Type="http://schemas.openxmlformats.org/officeDocument/2006/relationships/slide" Target="slides/slide291.xml"/><Relationship Id="rId297" Type="http://schemas.openxmlformats.org/officeDocument/2006/relationships/slide" Target="slides/slide292.xml"/><Relationship Id="rId298" Type="http://schemas.openxmlformats.org/officeDocument/2006/relationships/slide" Target="slides/slide293.xml"/><Relationship Id="rId299" Type="http://schemas.openxmlformats.org/officeDocument/2006/relationships/slide" Target="slides/slide294.xml"/><Relationship Id="rId300" Type="http://schemas.openxmlformats.org/officeDocument/2006/relationships/slide" Target="slides/slide295.xml"/><Relationship Id="rId301" Type="http://schemas.openxmlformats.org/officeDocument/2006/relationships/slide" Target="slides/slide296.xml"/><Relationship Id="rId302" Type="http://schemas.openxmlformats.org/officeDocument/2006/relationships/slide" Target="slides/slide297.xml"/><Relationship Id="rId303" Type="http://schemas.openxmlformats.org/officeDocument/2006/relationships/slide" Target="slides/slide298.xml"/><Relationship Id="rId304" Type="http://schemas.openxmlformats.org/officeDocument/2006/relationships/slide" Target="slides/slide299.xml"/><Relationship Id="rId305" Type="http://schemas.openxmlformats.org/officeDocument/2006/relationships/slide" Target="slides/slide300.xml"/><Relationship Id="rId306" Type="http://schemas.openxmlformats.org/officeDocument/2006/relationships/slide" Target="slides/slide301.xml"/><Relationship Id="rId307" Type="http://schemas.openxmlformats.org/officeDocument/2006/relationships/slide" Target="slides/slide302.xml"/><Relationship Id="rId308" Type="http://schemas.openxmlformats.org/officeDocument/2006/relationships/slide" Target="slides/slide303.xml"/><Relationship Id="rId309" Type="http://schemas.openxmlformats.org/officeDocument/2006/relationships/slide" Target="slides/slide304.xml"/><Relationship Id="rId310" Type="http://schemas.openxmlformats.org/officeDocument/2006/relationships/slide" Target="slides/slide305.xml"/><Relationship Id="rId311" Type="http://schemas.openxmlformats.org/officeDocument/2006/relationships/slide" Target="slides/slide306.xml"/><Relationship Id="rId312" Type="http://schemas.openxmlformats.org/officeDocument/2006/relationships/slide" Target="slides/slide307.xml"/><Relationship Id="rId313" Type="http://schemas.openxmlformats.org/officeDocument/2006/relationships/slide" Target="slides/slide308.xml"/><Relationship Id="rId314" Type="http://schemas.openxmlformats.org/officeDocument/2006/relationships/slide" Target="slides/slide309.xml"/><Relationship Id="rId315" Type="http://schemas.openxmlformats.org/officeDocument/2006/relationships/slide" Target="slides/slide310.xml"/><Relationship Id="rId316" Type="http://schemas.openxmlformats.org/officeDocument/2006/relationships/slide" Target="slides/slide311.xml"/><Relationship Id="rId317" Type="http://schemas.openxmlformats.org/officeDocument/2006/relationships/slide" Target="slides/slide312.xml"/><Relationship Id="rId318" Type="http://schemas.openxmlformats.org/officeDocument/2006/relationships/slide" Target="slides/slide313.xml"/><Relationship Id="rId319" Type="http://schemas.openxmlformats.org/officeDocument/2006/relationships/slide" Target="slides/slide314.xml"/><Relationship Id="rId320" Type="http://schemas.openxmlformats.org/officeDocument/2006/relationships/slide" Target="slides/slide315.xml"/><Relationship Id="rId321" Type="http://schemas.openxmlformats.org/officeDocument/2006/relationships/slide" Target="slides/slide316.xml"/><Relationship Id="rId322" Type="http://schemas.openxmlformats.org/officeDocument/2006/relationships/slide" Target="slides/slide317.xml"/><Relationship Id="rId323" Type="http://schemas.openxmlformats.org/officeDocument/2006/relationships/slide" Target="slides/slide318.xml"/><Relationship Id="rId324" Type="http://schemas.openxmlformats.org/officeDocument/2006/relationships/slide" Target="slides/slide319.xml"/><Relationship Id="rId325" Type="http://schemas.openxmlformats.org/officeDocument/2006/relationships/slide" Target="slides/slide320.xml"/><Relationship Id="rId326" Type="http://schemas.openxmlformats.org/officeDocument/2006/relationships/slide" Target="slides/slide321.xml"/><Relationship Id="rId327" Type="http://schemas.openxmlformats.org/officeDocument/2006/relationships/slide" Target="slides/slide322.xml"/><Relationship Id="rId328" Type="http://schemas.openxmlformats.org/officeDocument/2006/relationships/slide" Target="slides/slide323.xml"/><Relationship Id="rId329" Type="http://schemas.openxmlformats.org/officeDocument/2006/relationships/slide" Target="slides/slide324.xml"/><Relationship Id="rId330" Type="http://schemas.openxmlformats.org/officeDocument/2006/relationships/slide" Target="slides/slide325.xml"/><Relationship Id="rId331" Type="http://schemas.openxmlformats.org/officeDocument/2006/relationships/slide" Target="slides/slide326.xml"/><Relationship Id="rId332" Type="http://schemas.openxmlformats.org/officeDocument/2006/relationships/slide" Target="slides/slide327.xml"/><Relationship Id="rId333" Type="http://schemas.openxmlformats.org/officeDocument/2006/relationships/slide" Target="slides/slide328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393453" y="829027"/>
            <a:ext cx="5398770" cy="11684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7500" b="1" i="0">
                <a:solidFill>
                  <a:srgbClr val="231F2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960120" y="4704588"/>
            <a:ext cx="4480560" cy="210026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5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050" b="0" i="0">
                <a:solidFill>
                  <a:schemeClr val="tx1"/>
                </a:solidFill>
                <a:latin typeface="Palatino Linotype"/>
                <a:cs typeface="Palatino Linotype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914400" y="771366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bg object 17"/>
          <p:cNvSpPr/>
          <p:nvPr/>
        </p:nvSpPr>
        <p:spPr>
          <a:xfrm>
            <a:off x="914400" y="9159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5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901687" y="2669019"/>
            <a:ext cx="2195830" cy="4749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4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282939" y="2698140"/>
            <a:ext cx="2118995" cy="46888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0" i="0">
                <a:solidFill>
                  <a:schemeClr val="tx1"/>
                </a:solidFill>
                <a:latin typeface="Palatino Linotype"/>
                <a:cs typeface="Palatino Linotype"/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5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914400" y="771366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136537" y="1212513"/>
            <a:ext cx="3362960" cy="4102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5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901127" y="1605075"/>
            <a:ext cx="4598544" cy="56851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50" b="0" i="0">
                <a:solidFill>
                  <a:schemeClr val="tx1"/>
                </a:solidFill>
                <a:latin typeface="Palatino Linotype"/>
                <a:cs typeface="Palatino Linotype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176272" y="7812976"/>
            <a:ext cx="2048256" cy="420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20040" y="7812976"/>
            <a:ext cx="1472184" cy="420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4608576" y="7812976"/>
            <a:ext cx="1472184" cy="420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oreilly.com/" TargetMode="External"/><Relationship Id="rId3" Type="http://schemas.openxmlformats.org/officeDocument/2006/relationships/hyperlink" Target="mailto:corporate@oreilly.com" TargetMode="External"/><Relationship Id="rId4" Type="http://schemas.openxmlformats.org/officeDocument/2006/relationships/hyperlink" Target="http://oreilly.com/catalog/errata.csp?isbn=9781098155438" TargetMode="External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13.xml"/><Relationship Id="rId3" Type="http://schemas.openxmlformats.org/officeDocument/2006/relationships/slide" Target="slide21.xml"/><Relationship Id="rId4" Type="http://schemas.openxmlformats.org/officeDocument/2006/relationships/slide" Target="slide23.xml"/><Relationship Id="rId5" Type="http://schemas.openxmlformats.org/officeDocument/2006/relationships/slide" Target="slide24.xml"/><Relationship Id="rId6" Type="http://schemas.openxmlformats.org/officeDocument/2006/relationships/slide" Target="slide25.xml"/><Relationship Id="rId7" Type="http://schemas.openxmlformats.org/officeDocument/2006/relationships/slide" Target="slide26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31.xml"/><Relationship Id="rId11" Type="http://schemas.openxmlformats.org/officeDocument/2006/relationships/slide" Target="slide35.xml"/><Relationship Id="rId12" Type="http://schemas.openxmlformats.org/officeDocument/2006/relationships/slide" Target="slide36.xml"/><Relationship Id="rId13" Type="http://schemas.openxmlformats.org/officeDocument/2006/relationships/slide" Target="slide38.xml"/><Relationship Id="rId14" Type="http://schemas.openxmlformats.org/officeDocument/2006/relationships/slide" Target="slide39.xml"/><Relationship Id="rId15" Type="http://schemas.openxmlformats.org/officeDocument/2006/relationships/slide" Target="slide40.xml"/><Relationship Id="rId16" Type="http://schemas.openxmlformats.org/officeDocument/2006/relationships/slide" Target="slide41.xml"/><Relationship Id="rId17" Type="http://schemas.openxmlformats.org/officeDocument/2006/relationships/slide" Target="slide42.xml"/><Relationship Id="rId18" Type="http://schemas.openxmlformats.org/officeDocument/2006/relationships/slide" Target="slide43.xml"/><Relationship Id="rId19" Type="http://schemas.openxmlformats.org/officeDocument/2006/relationships/slide" Target="slide44.xml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47.xml"/><Relationship Id="rId3" Type="http://schemas.openxmlformats.org/officeDocument/2006/relationships/slide" Target="slide48.xml"/><Relationship Id="rId4" Type="http://schemas.openxmlformats.org/officeDocument/2006/relationships/slide" Target="slide49.xml"/><Relationship Id="rId5" Type="http://schemas.openxmlformats.org/officeDocument/2006/relationships/slide" Target="slide51.xml"/><Relationship Id="rId6" Type="http://schemas.openxmlformats.org/officeDocument/2006/relationships/slide" Target="slide52.xml"/><Relationship Id="rId7" Type="http://schemas.openxmlformats.org/officeDocument/2006/relationships/slide" Target="slide53.xml"/><Relationship Id="rId8" Type="http://schemas.openxmlformats.org/officeDocument/2006/relationships/slide" Target="slide54.xml"/><Relationship Id="rId9" Type="http://schemas.openxmlformats.org/officeDocument/2006/relationships/slide" Target="slide55.xml"/><Relationship Id="rId10" Type="http://schemas.openxmlformats.org/officeDocument/2006/relationships/slide" Target="slide56.xml"/><Relationship Id="rId11" Type="http://schemas.openxmlformats.org/officeDocument/2006/relationships/slide" Target="slide59.xml"/><Relationship Id="rId12" Type="http://schemas.openxmlformats.org/officeDocument/2006/relationships/slide" Target="slide61.xml"/><Relationship Id="rId13" Type="http://schemas.openxmlformats.org/officeDocument/2006/relationships/slide" Target="slide62.xml"/><Relationship Id="rId14" Type="http://schemas.openxmlformats.org/officeDocument/2006/relationships/slide" Target="slide64.xml"/><Relationship Id="rId15" Type="http://schemas.openxmlformats.org/officeDocument/2006/relationships/slide" Target="slide65.xml"/><Relationship Id="rId16" Type="http://schemas.openxmlformats.org/officeDocument/2006/relationships/slide" Target="slide67.xml"/><Relationship Id="rId17" Type="http://schemas.openxmlformats.org/officeDocument/2006/relationships/slide" Target="slide68.xml"/><Relationship Id="rId18" Type="http://schemas.openxmlformats.org/officeDocument/2006/relationships/slide" Target="slide69.xml"/><Relationship Id="rId19" Type="http://schemas.openxmlformats.org/officeDocument/2006/relationships/slide" Target="slide70.xml"/><Relationship Id="rId20" Type="http://schemas.openxmlformats.org/officeDocument/2006/relationships/slide" Target="slide75.xml"/><Relationship Id="rId21" Type="http://schemas.openxmlformats.org/officeDocument/2006/relationships/slide" Target="slide76.xml"/><Relationship Id="rId22" Type="http://schemas.openxmlformats.org/officeDocument/2006/relationships/slide" Target="slide78.xml"/><Relationship Id="rId23" Type="http://schemas.openxmlformats.org/officeDocument/2006/relationships/slide" Target="slide79.xml"/><Relationship Id="rId24" Type="http://schemas.openxmlformats.org/officeDocument/2006/relationships/slide" Target="slide80.xml"/><Relationship Id="rId25" Type="http://schemas.openxmlformats.org/officeDocument/2006/relationships/slide" Target="slide81.xml"/><Relationship Id="rId26" Type="http://schemas.openxmlformats.org/officeDocument/2006/relationships/slide" Target="slide83.xml"/><Relationship Id="rId27" Type="http://schemas.openxmlformats.org/officeDocument/2006/relationships/slide" Target="slide84.xml"/><Relationship Id="rId28" Type="http://schemas.openxmlformats.org/officeDocument/2006/relationships/slide" Target="slide85.xml"/><Relationship Id="rId29" Type="http://schemas.openxmlformats.org/officeDocument/2006/relationships/slide" Target="slide86.xml"/><Relationship Id="rId30" Type="http://schemas.openxmlformats.org/officeDocument/2006/relationships/slide" Target="slide87.xml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93.xml"/><Relationship Id="rId3" Type="http://schemas.openxmlformats.org/officeDocument/2006/relationships/slide" Target="slide95.xml"/><Relationship Id="rId4" Type="http://schemas.openxmlformats.org/officeDocument/2006/relationships/slide" Target="slide96.xml"/><Relationship Id="rId5" Type="http://schemas.openxmlformats.org/officeDocument/2006/relationships/slide" Target="slide97.xml"/><Relationship Id="rId6" Type="http://schemas.openxmlformats.org/officeDocument/2006/relationships/slide" Target="slide100.xml"/><Relationship Id="rId7" Type="http://schemas.openxmlformats.org/officeDocument/2006/relationships/slide" Target="slide101.xml"/><Relationship Id="rId8" Type="http://schemas.openxmlformats.org/officeDocument/2006/relationships/slide" Target="slide103.xml"/><Relationship Id="rId9" Type="http://schemas.openxmlformats.org/officeDocument/2006/relationships/slide" Target="slide104.xml"/><Relationship Id="rId10" Type="http://schemas.openxmlformats.org/officeDocument/2006/relationships/slide" Target="slide105.xml"/><Relationship Id="rId11" Type="http://schemas.openxmlformats.org/officeDocument/2006/relationships/slide" Target="slide107.xml"/><Relationship Id="rId12" Type="http://schemas.openxmlformats.org/officeDocument/2006/relationships/slide" Target="slide111.xml"/><Relationship Id="rId13" Type="http://schemas.openxmlformats.org/officeDocument/2006/relationships/slide" Target="slide113.xml"/><Relationship Id="rId14" Type="http://schemas.openxmlformats.org/officeDocument/2006/relationships/slide" Target="slide114.xml"/><Relationship Id="rId15" Type="http://schemas.openxmlformats.org/officeDocument/2006/relationships/slide" Target="slide115.xml"/><Relationship Id="rId16" Type="http://schemas.openxmlformats.org/officeDocument/2006/relationships/slide" Target="slide116.xml"/><Relationship Id="rId17" Type="http://schemas.openxmlformats.org/officeDocument/2006/relationships/slide" Target="slide118.xml"/><Relationship Id="rId18" Type="http://schemas.openxmlformats.org/officeDocument/2006/relationships/slide" Target="slide119.xml"/><Relationship Id="rId19" Type="http://schemas.openxmlformats.org/officeDocument/2006/relationships/slide" Target="slide120.xml"/><Relationship Id="rId20" Type="http://schemas.openxmlformats.org/officeDocument/2006/relationships/slide" Target="slide121.xml"/><Relationship Id="rId21" Type="http://schemas.openxmlformats.org/officeDocument/2006/relationships/slide" Target="slide125.xml"/><Relationship Id="rId22" Type="http://schemas.openxmlformats.org/officeDocument/2006/relationships/slide" Target="slide127.xml"/><Relationship Id="rId23" Type="http://schemas.openxmlformats.org/officeDocument/2006/relationships/slide" Target="slide128.xml"/><Relationship Id="rId24" Type="http://schemas.openxmlformats.org/officeDocument/2006/relationships/slide" Target="slide129.xml"/><Relationship Id="rId25" Type="http://schemas.openxmlformats.org/officeDocument/2006/relationships/slide" Target="slide130.xml"/><Relationship Id="rId26" Type="http://schemas.openxmlformats.org/officeDocument/2006/relationships/slide" Target="slide132.xml"/><Relationship Id="rId27" Type="http://schemas.openxmlformats.org/officeDocument/2006/relationships/slide" Target="slide133.xml"/><Relationship Id="rId28" Type="http://schemas.openxmlformats.org/officeDocument/2006/relationships/slide" Target="slide136.xml"/><Relationship Id="rId29" Type="http://schemas.openxmlformats.org/officeDocument/2006/relationships/slide" Target="slide137.xml"/><Relationship Id="rId30" Type="http://schemas.openxmlformats.org/officeDocument/2006/relationships/slide" Target="slide138.xml"/><Relationship Id="rId31" Type="http://schemas.openxmlformats.org/officeDocument/2006/relationships/slide" Target="slide139.xml"/><Relationship Id="rId32" Type="http://schemas.openxmlformats.org/officeDocument/2006/relationships/slide" Target="slide141.xml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42.xml"/><Relationship Id="rId3" Type="http://schemas.openxmlformats.org/officeDocument/2006/relationships/slide" Target="slide143.xml"/><Relationship Id="rId4" Type="http://schemas.openxmlformats.org/officeDocument/2006/relationships/slide" Target="slide144.xml"/><Relationship Id="rId5" Type="http://schemas.openxmlformats.org/officeDocument/2006/relationships/slide" Target="slide145.xml"/><Relationship Id="rId6" Type="http://schemas.openxmlformats.org/officeDocument/2006/relationships/slide" Target="slide146.xml"/><Relationship Id="rId7" Type="http://schemas.openxmlformats.org/officeDocument/2006/relationships/slide" Target="slide147.xml"/><Relationship Id="rId8" Type="http://schemas.openxmlformats.org/officeDocument/2006/relationships/slide" Target="slide148.xml"/><Relationship Id="rId9" Type="http://schemas.openxmlformats.org/officeDocument/2006/relationships/slide" Target="slide149.xml"/><Relationship Id="rId10" Type="http://schemas.openxmlformats.org/officeDocument/2006/relationships/slide" Target="slide150.xml"/><Relationship Id="rId11" Type="http://schemas.openxmlformats.org/officeDocument/2006/relationships/slide" Target="slide151.xml"/><Relationship Id="rId12" Type="http://schemas.openxmlformats.org/officeDocument/2006/relationships/slide" Target="slide153.xml"/><Relationship Id="rId13" Type="http://schemas.openxmlformats.org/officeDocument/2006/relationships/slide" Target="slide154.xml"/><Relationship Id="rId14" Type="http://schemas.openxmlformats.org/officeDocument/2006/relationships/slide" Target="slide157.xml"/><Relationship Id="rId15" Type="http://schemas.openxmlformats.org/officeDocument/2006/relationships/slide" Target="slide159.xml"/><Relationship Id="rId16" Type="http://schemas.openxmlformats.org/officeDocument/2006/relationships/slide" Target="slide160.xml"/><Relationship Id="rId17" Type="http://schemas.openxmlformats.org/officeDocument/2006/relationships/slide" Target="slide162.xml"/><Relationship Id="rId18" Type="http://schemas.openxmlformats.org/officeDocument/2006/relationships/slide" Target="slide163.xml"/><Relationship Id="rId19" Type="http://schemas.openxmlformats.org/officeDocument/2006/relationships/slide" Target="slide164.xml"/><Relationship Id="rId20" Type="http://schemas.openxmlformats.org/officeDocument/2006/relationships/slide" Target="slide166.xml"/><Relationship Id="rId21" Type="http://schemas.openxmlformats.org/officeDocument/2006/relationships/slide" Target="slide167.xml"/><Relationship Id="rId22" Type="http://schemas.openxmlformats.org/officeDocument/2006/relationships/slide" Target="slide168.xml"/><Relationship Id="rId23" Type="http://schemas.openxmlformats.org/officeDocument/2006/relationships/slide" Target="slide169.xml"/><Relationship Id="rId24" Type="http://schemas.openxmlformats.org/officeDocument/2006/relationships/slide" Target="slide173.xml"/><Relationship Id="rId25" Type="http://schemas.openxmlformats.org/officeDocument/2006/relationships/slide" Target="slide175.xml"/><Relationship Id="rId26" Type="http://schemas.openxmlformats.org/officeDocument/2006/relationships/slide" Target="slide176.xml"/><Relationship Id="rId27" Type="http://schemas.openxmlformats.org/officeDocument/2006/relationships/slide" Target="slide178.xml"/><Relationship Id="rId28" Type="http://schemas.openxmlformats.org/officeDocument/2006/relationships/slide" Target="slide179.xml"/><Relationship Id="rId29" Type="http://schemas.openxmlformats.org/officeDocument/2006/relationships/slide" Target="slide181.xml"/><Relationship Id="rId30" Type="http://schemas.openxmlformats.org/officeDocument/2006/relationships/slide" Target="slide183.xml"/><Relationship Id="rId31" Type="http://schemas.openxmlformats.org/officeDocument/2006/relationships/slide" Target="slide185.xml"/><Relationship Id="rId32" Type="http://schemas.openxmlformats.org/officeDocument/2006/relationships/slide" Target="slide186.xml"/><Relationship Id="rId33" Type="http://schemas.openxmlformats.org/officeDocument/2006/relationships/slide" Target="slide187.xml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91.xml"/><Relationship Id="rId3" Type="http://schemas.openxmlformats.org/officeDocument/2006/relationships/slide" Target="slide192.xml"/><Relationship Id="rId4" Type="http://schemas.openxmlformats.org/officeDocument/2006/relationships/slide" Target="slide195.xml"/><Relationship Id="rId5" Type="http://schemas.openxmlformats.org/officeDocument/2006/relationships/slide" Target="slide196.xml"/><Relationship Id="rId6" Type="http://schemas.openxmlformats.org/officeDocument/2006/relationships/slide" Target="slide197.xml"/><Relationship Id="rId7" Type="http://schemas.openxmlformats.org/officeDocument/2006/relationships/slide" Target="slide198.xml"/><Relationship Id="rId8" Type="http://schemas.openxmlformats.org/officeDocument/2006/relationships/slide" Target="slide201.xml"/><Relationship Id="rId9" Type="http://schemas.openxmlformats.org/officeDocument/2006/relationships/slide" Target="slide203.xml"/><Relationship Id="rId10" Type="http://schemas.openxmlformats.org/officeDocument/2006/relationships/slide" Target="slide205.xml"/><Relationship Id="rId11" Type="http://schemas.openxmlformats.org/officeDocument/2006/relationships/slide" Target="slide206.xml"/><Relationship Id="rId12" Type="http://schemas.openxmlformats.org/officeDocument/2006/relationships/slide" Target="slide208.xml"/><Relationship Id="rId13" Type="http://schemas.openxmlformats.org/officeDocument/2006/relationships/slide" Target="slide210.xml"/><Relationship Id="rId14" Type="http://schemas.openxmlformats.org/officeDocument/2006/relationships/slide" Target="slide211.xml"/><Relationship Id="rId15" Type="http://schemas.openxmlformats.org/officeDocument/2006/relationships/slide" Target="slide213.xml"/><Relationship Id="rId16" Type="http://schemas.openxmlformats.org/officeDocument/2006/relationships/slide" Target="slide215.xml"/><Relationship Id="rId17" Type="http://schemas.openxmlformats.org/officeDocument/2006/relationships/slide" Target="slide216.xml"/><Relationship Id="rId18" Type="http://schemas.openxmlformats.org/officeDocument/2006/relationships/slide" Target="slide219.xml"/><Relationship Id="rId19" Type="http://schemas.openxmlformats.org/officeDocument/2006/relationships/slide" Target="slide221.xml"/><Relationship Id="rId20" Type="http://schemas.openxmlformats.org/officeDocument/2006/relationships/slide" Target="slide223.xml"/><Relationship Id="rId21" Type="http://schemas.openxmlformats.org/officeDocument/2006/relationships/slide" Target="slide224.xml"/><Relationship Id="rId22" Type="http://schemas.openxmlformats.org/officeDocument/2006/relationships/slide" Target="slide225.xml"/><Relationship Id="rId23" Type="http://schemas.openxmlformats.org/officeDocument/2006/relationships/slide" Target="slide226.xml"/><Relationship Id="rId24" Type="http://schemas.openxmlformats.org/officeDocument/2006/relationships/slide" Target="slide229.xml"/><Relationship Id="rId25" Type="http://schemas.openxmlformats.org/officeDocument/2006/relationships/slide" Target="slide230.xml"/><Relationship Id="rId26" Type="http://schemas.openxmlformats.org/officeDocument/2006/relationships/slide" Target="slide232.xml"/><Relationship Id="rId27" Type="http://schemas.openxmlformats.org/officeDocument/2006/relationships/slide" Target="slide233.xml"/><Relationship Id="rId28" Type="http://schemas.openxmlformats.org/officeDocument/2006/relationships/slide" Target="slide234.xml"/><Relationship Id="rId29" Type="http://schemas.openxmlformats.org/officeDocument/2006/relationships/slide" Target="slide235.xml"/><Relationship Id="rId30" Type="http://schemas.openxmlformats.org/officeDocument/2006/relationships/slide" Target="slide237.xml"/><Relationship Id="rId31" Type="http://schemas.openxmlformats.org/officeDocument/2006/relationships/slide" Target="slide239.xml"/><Relationship Id="rId32" Type="http://schemas.openxmlformats.org/officeDocument/2006/relationships/slide" Target="slide240.xml"/><Relationship Id="rId33" Type="http://schemas.openxmlformats.org/officeDocument/2006/relationships/slide" Target="slide241.xml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3.xml"/><Relationship Id="rId3" Type="http://schemas.openxmlformats.org/officeDocument/2006/relationships/slide" Target="slide245.xml"/><Relationship Id="rId4" Type="http://schemas.openxmlformats.org/officeDocument/2006/relationships/slide" Target="slide247.xml"/><Relationship Id="rId5" Type="http://schemas.openxmlformats.org/officeDocument/2006/relationships/slide" Target="slide248.xml"/><Relationship Id="rId6" Type="http://schemas.openxmlformats.org/officeDocument/2006/relationships/slide" Target="slide249.xml"/><Relationship Id="rId7" Type="http://schemas.openxmlformats.org/officeDocument/2006/relationships/slide" Target="slide250.xml"/><Relationship Id="rId8" Type="http://schemas.openxmlformats.org/officeDocument/2006/relationships/slide" Target="slide251.xml"/><Relationship Id="rId9" Type="http://schemas.openxmlformats.org/officeDocument/2006/relationships/slide" Target="slide252.xml"/><Relationship Id="rId10" Type="http://schemas.openxmlformats.org/officeDocument/2006/relationships/slide" Target="slide253.xml"/><Relationship Id="rId11" Type="http://schemas.openxmlformats.org/officeDocument/2006/relationships/slide" Target="slide255.xml"/><Relationship Id="rId12" Type="http://schemas.openxmlformats.org/officeDocument/2006/relationships/slide" Target="slide257.xml"/><Relationship Id="rId13" Type="http://schemas.openxmlformats.org/officeDocument/2006/relationships/slide" Target="slide258.xml"/><Relationship Id="rId14" Type="http://schemas.openxmlformats.org/officeDocument/2006/relationships/slide" Target="slide260.xml"/><Relationship Id="rId15" Type="http://schemas.openxmlformats.org/officeDocument/2006/relationships/slide" Target="slide262.xml"/><Relationship Id="rId16" Type="http://schemas.openxmlformats.org/officeDocument/2006/relationships/slide" Target="slide264.xml"/><Relationship Id="rId17" Type="http://schemas.openxmlformats.org/officeDocument/2006/relationships/slide" Target="slide265.xml"/><Relationship Id="rId18" Type="http://schemas.openxmlformats.org/officeDocument/2006/relationships/slide" Target="slide266.xml"/><Relationship Id="rId19" Type="http://schemas.openxmlformats.org/officeDocument/2006/relationships/slide" Target="slide269.xml"/><Relationship Id="rId20" Type="http://schemas.openxmlformats.org/officeDocument/2006/relationships/slide" Target="slide271.xml"/><Relationship Id="rId21" Type="http://schemas.openxmlformats.org/officeDocument/2006/relationships/slide" Target="slide272.xml"/><Relationship Id="rId22" Type="http://schemas.openxmlformats.org/officeDocument/2006/relationships/slide" Target="slide276.xml"/><Relationship Id="rId23" Type="http://schemas.openxmlformats.org/officeDocument/2006/relationships/slide" Target="slide277.xml"/><Relationship Id="rId24" Type="http://schemas.openxmlformats.org/officeDocument/2006/relationships/slide" Target="slide279.xml"/><Relationship Id="rId25" Type="http://schemas.openxmlformats.org/officeDocument/2006/relationships/slide" Target="slide281.xml"/><Relationship Id="rId26" Type="http://schemas.openxmlformats.org/officeDocument/2006/relationships/slide" Target="slide282.xml"/><Relationship Id="rId27" Type="http://schemas.openxmlformats.org/officeDocument/2006/relationships/slide" Target="slide283.xml"/><Relationship Id="rId28" Type="http://schemas.openxmlformats.org/officeDocument/2006/relationships/slide" Target="slide284.xml"/><Relationship Id="rId29" Type="http://schemas.openxmlformats.org/officeDocument/2006/relationships/slide" Target="slide289.xml"/><Relationship Id="rId30" Type="http://schemas.openxmlformats.org/officeDocument/2006/relationships/slide" Target="slide292.xml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94.xml"/><Relationship Id="rId3" Type="http://schemas.openxmlformats.org/officeDocument/2006/relationships/slide" Target="slide295.xml"/><Relationship Id="rId4" Type="http://schemas.openxmlformats.org/officeDocument/2006/relationships/slide" Target="slide297.xml"/><Relationship Id="rId5" Type="http://schemas.openxmlformats.org/officeDocument/2006/relationships/slide" Target="slide299.xml"/><Relationship Id="rId6" Type="http://schemas.openxmlformats.org/officeDocument/2006/relationships/slide" Target="slide301.xml"/><Relationship Id="rId7" Type="http://schemas.openxmlformats.org/officeDocument/2006/relationships/slide" Target="slide303.xml"/><Relationship Id="rId8" Type="http://schemas.openxmlformats.org/officeDocument/2006/relationships/slide" Target="slide305.xml"/><Relationship Id="rId9" Type="http://schemas.openxmlformats.org/officeDocument/2006/relationships/slide" Target="slide306.xml"/><Relationship Id="rId10" Type="http://schemas.openxmlformats.org/officeDocument/2006/relationships/slide" Target="slide309.xml"/><Relationship Id="rId11" Type="http://schemas.openxmlformats.org/officeDocument/2006/relationships/slide" Target="slide313.xml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11.xml"/><Relationship Id="rId3" Type="http://schemas.openxmlformats.org/officeDocument/2006/relationships/slide" Target="slide125.xml"/><Relationship Id="rId4" Type="http://schemas.openxmlformats.org/officeDocument/2006/relationships/slide" Target="slide141.xml"/><Relationship Id="rId5" Type="http://schemas.openxmlformats.org/officeDocument/2006/relationships/slide" Target="slide191.xml"/><Relationship Id="rId6" Type="http://schemas.openxmlformats.org/officeDocument/2006/relationships/slide" Target="slide211.xml"/><Relationship Id="rId7" Type="http://schemas.openxmlformats.org/officeDocument/2006/relationships/slide" Target="slide229.xml"/><Relationship Id="rId8" Type="http://schemas.openxmlformats.org/officeDocument/2006/relationships/slide" Target="slide269.xml"/><Relationship Id="rId9" Type="http://schemas.openxmlformats.org/officeDocument/2006/relationships/slide" Target="slide289.xml"/><Relationship Id="rId10" Type="http://schemas.openxmlformats.org/officeDocument/2006/relationships/slide" Target="slide309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allendowney.github.io/ThinkPython" TargetMode="External"/><Relationship Id="rId3" Type="http://schemas.openxmlformats.org/officeDocument/2006/relationships/hyperlink" Target="https://oreil.ly/think-python-3e" TargetMode="External"/><Relationship Id="rId4" Type="http://schemas.openxmlformats.org/officeDocument/2006/relationships/hyperlink" Target="https://jupyter4edu.github.io/jupyter-edu-book" TargetMode="External"/><Relationship Id="rId5" Type="http://schemas.openxmlformats.org/officeDocument/2006/relationships/hyperlink" Target="https://carpentries.github.io/instructor-training" TargetMode="External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allendowney.github.io/ThinkPython" TargetMode="External"/><Relationship Id="rId3" Type="http://schemas.openxmlformats.org/officeDocument/2006/relationships/hyperlink" Target="mailto:support@oreilly.com" TargetMode="External"/><Relationship Id="rId4" Type="http://schemas.openxmlformats.org/officeDocument/2006/relationships/hyperlink" Target="mailto:permissions@oreilly.com" TargetMode="External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.png"/><Relationship Id="rId3" Type="http://schemas.openxmlformats.org/officeDocument/2006/relationships/hyperlink" Target="https://oreilly.com/" TargetMode="External"/><Relationship Id="rId4" Type="http://schemas.openxmlformats.org/officeDocument/2006/relationships/hyperlink" Target="mailto:support@oreilly.com" TargetMode="External"/><Relationship Id="rId5" Type="http://schemas.openxmlformats.org/officeDocument/2006/relationships/hyperlink" Target="https://www.oreilly.com/about/contact.html" TargetMode="External"/><Relationship Id="rId6" Type="http://schemas.openxmlformats.org/officeDocument/2006/relationships/hyperlink" Target="https://oreil.ly/think-python-3e" TargetMode="External"/><Relationship Id="rId7" Type="http://schemas.openxmlformats.org/officeDocument/2006/relationships/hyperlink" Target="https://linkedin.com/company/oreilly-media" TargetMode="External"/><Relationship Id="rId8" Type="http://schemas.openxmlformats.org/officeDocument/2006/relationships/hyperlink" Target="https://youtube.com/oreillymedia" TargetMode="External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mailto:feedback@thinkpython.com" TargetMode="External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iki.python.org/moin/BitwiseOperators" TargetMode="External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songfacts.com/lyrics/monty-python/the-spam-song" TargetMode="External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.jpg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.png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.png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.png"/><Relationship Id="rId3" Type="http://schemas.openxmlformats.org/officeDocument/2006/relationships/image" Target="../media/image10.png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.png"/><Relationship Id="rId3" Type="http://schemas.openxmlformats.org/officeDocument/2006/relationships/image" Target="../media/image12.png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png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.jpg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jpg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jpg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.png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.png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.png"/><Relationship Id="rId3" Type="http://schemas.openxmlformats.org/officeDocument/2006/relationships/image" Target="../media/image20.png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jpg"/><Relationship Id="rId3" Type="http://schemas.openxmlformats.org/officeDocument/2006/relationships/image" Target="../media/image22.jpg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3.png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9.xml"/></Relationships>
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.png"/><Relationship Id="rId3" Type="http://schemas.openxmlformats.org/officeDocument/2006/relationships/image" Target="../media/image25.jpg"/></Relationships>
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47.xml"/></Relationships>
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5.xml"/></Relationships>
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.jpg"/></Relationships>
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166.xml"/></Relationships>
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.png"/></Relationships>
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47.xml"/></Relationships>
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.png"/></Relationships>
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68.xml"/></Relationships>
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1.xml"/></Relationships>
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.png"/></Relationships>
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gutenberg.org/ebooks/345" TargetMode="External"/></Relationships>
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.jpg"/></Relationships>
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1.png"/><Relationship Id="rId3" Type="http://schemas.openxmlformats.org/officeDocument/2006/relationships/image" Target="../media/image32.png"/></Relationships>
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3.png"/></Relationships>
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4.jpg"/></Relationships>
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5.png"/></Relationships>
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73.xml"/></Relationships>
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04.xml"/><Relationship Id="rId3" Type="http://schemas.openxmlformats.org/officeDocument/2006/relationships/image" Target="../media/image36.png"/></Relationships>
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05.xml"/></Relationships>
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0.xml"/></Relationships>
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157.xml"/></Relationships>
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raw.githubusercontent.com/AllenDowney/ThinkPython/v3/structshape.py" TargetMode="External"/></Relationships>
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puzzlers.org/" TargetMode="External"/></Relationships>
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en.wikipedia.org/wiki/Rubber_duck_debugging" TargetMode="External"/></Relationships>
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30.xml"/></Relationships>
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89.xml"/></Relationships>
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219.xml"/></Relationships>
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23.xml"/><Relationship Id="rId3" Type="http://schemas.openxmlformats.org/officeDocument/2006/relationships/slide" Target="slide221.xml"/></Relationships>
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.png"/></Relationships>
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.jpg"/></Relationships>
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86.xml"/></Relationships>
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229.xml"/></Relationships>
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29.xml"/></Relationships>
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29.xml"/></Relationships>
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229.xml"/></Relationships>
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/Relationships>
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0.png"/><Relationship Id="rId3" Type="http://schemas.openxmlformats.org/officeDocument/2006/relationships/slide" Target="slide59.xml"/></Relationships>
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.png"/></Relationships>
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2.jpg"/></Relationships>
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3.png"/></Relationships>
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4.png"/></Relationships>
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.png"/></Relationships>
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6.jpg"/></Relationships>
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.png"/></Relationships>
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.png"/></Relationships>
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9.jpg"/></Relationships>
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73.xml"/></Relationships>
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97.xml"/></Relationships>
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11.xml"/></Relationships>
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57.xml"/></Relationships>
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173.xml"/></Relationships>
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151.xml"/></Relationships>
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4.xml"/></Relationships>
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111.xml"/><Relationship Id="rId3" Type="http://schemas.openxmlformats.org/officeDocument/2006/relationships/slide" Target="slide253.xml"/></Relationships>
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79.xml"/></Relationships>
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11.xml"/></Relationships>
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69.xml"/><Relationship Id="rId3" Type="http://schemas.openxmlformats.org/officeDocument/2006/relationships/slide" Target="slide173.xml"/></Relationships>
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6.xml"/><Relationship Id="rId3" Type="http://schemas.openxmlformats.org/officeDocument/2006/relationships/slide" Target="slide276.xml"/></Relationships>
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greenteapress.com/" TargetMode="External"/><Relationship Id="rId3" Type="http://schemas.openxmlformats.org/officeDocument/2006/relationships/slide" Target="slide206.xml"/><Relationship Id="rId4" Type="http://schemas.openxmlformats.org/officeDocument/2006/relationships/slide" Target="slide186.xml"/><Relationship Id="rId5" Type="http://schemas.openxmlformats.org/officeDocument/2006/relationships/slide" Target="slide239.xml"/><Relationship Id="rId6" Type="http://schemas.openxmlformats.org/officeDocument/2006/relationships/slide" Target="slide97.xml"/><Relationship Id="rId7" Type="http://schemas.openxmlformats.org/officeDocument/2006/relationships/slide" Target="slide62.xml"/></Relationships>
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slide" Target="slide24.xml"/><Relationship Id="rId3" Type="http://schemas.openxmlformats.org/officeDocument/2006/relationships/slide" Target="slide212.xml"/><Relationship Id="rId4" Type="http://schemas.openxmlformats.org/officeDocument/2006/relationships/slide" Target="slide165.xml"/><Relationship Id="rId5" Type="http://schemas.openxmlformats.org/officeDocument/2006/relationships/slide" Target="slide108.xml"/><Relationship Id="rId6" Type="http://schemas.openxmlformats.org/officeDocument/2006/relationships/slide" Target="slide289.xml"/><Relationship Id="rId7" Type="http://schemas.openxmlformats.org/officeDocument/2006/relationships/slide" Target="slide249.xml"/><Relationship Id="rId8" Type="http://schemas.openxmlformats.org/officeDocument/2006/relationships/slide" Target="slide21.xml"/><Relationship Id="rId9" Type="http://schemas.openxmlformats.org/officeDocument/2006/relationships/slide" Target="slide293.xml"/><Relationship Id="rId10" Type="http://schemas.openxmlformats.org/officeDocument/2006/relationships/slide" Target="slide245.xml"/><Relationship Id="rId11" Type="http://schemas.openxmlformats.org/officeDocument/2006/relationships/slide" Target="slide150.xml"/><Relationship Id="rId12" Type="http://schemas.openxmlformats.org/officeDocument/2006/relationships/slide" Target="slide151.xml"/><Relationship Id="rId13" Type="http://schemas.openxmlformats.org/officeDocument/2006/relationships/slide" Target="slide299.xml"/><Relationship Id="rId14" Type="http://schemas.openxmlformats.org/officeDocument/2006/relationships/slide" Target="slide219.xml"/><Relationship Id="rId15" Type="http://schemas.openxmlformats.org/officeDocument/2006/relationships/slide" Target="slide294.xml"/><Relationship Id="rId16" Type="http://schemas.openxmlformats.org/officeDocument/2006/relationships/slide" Target="slide154.xml"/><Relationship Id="rId17" Type="http://schemas.openxmlformats.org/officeDocument/2006/relationships/slide" Target="slide152.xml"/><Relationship Id="rId18" Type="http://schemas.openxmlformats.org/officeDocument/2006/relationships/slide" Target="slide78.xml"/><Relationship Id="rId19" Type="http://schemas.openxmlformats.org/officeDocument/2006/relationships/slide" Target="slide81.xml"/><Relationship Id="rId20" Type="http://schemas.openxmlformats.org/officeDocument/2006/relationships/slide" Target="slide25.xml"/><Relationship Id="rId21" Type="http://schemas.openxmlformats.org/officeDocument/2006/relationships/slide" Target="slide145.xml"/><Relationship Id="rId22" Type="http://schemas.openxmlformats.org/officeDocument/2006/relationships/slide" Target="slide278.xml"/><Relationship Id="rId23" Type="http://schemas.openxmlformats.org/officeDocument/2006/relationships/slide" Target="slide65.xml"/><Relationship Id="rId24" Type="http://schemas.openxmlformats.org/officeDocument/2006/relationships/slide" Target="slide179.xml"/><Relationship Id="rId25" Type="http://schemas.openxmlformats.org/officeDocument/2006/relationships/slide" Target="slide180.xml"/><Relationship Id="rId26" Type="http://schemas.openxmlformats.org/officeDocument/2006/relationships/slide" Target="slide301.xml"/><Relationship Id="rId27" Type="http://schemas.openxmlformats.org/officeDocument/2006/relationships/slide" Target="slide40.xml"/><Relationship Id="rId28" Type="http://schemas.openxmlformats.org/officeDocument/2006/relationships/slide" Target="slide48.xml"/><Relationship Id="rId29" Type="http://schemas.openxmlformats.org/officeDocument/2006/relationships/slide" Target="slide104.xml"/><Relationship Id="rId30" Type="http://schemas.openxmlformats.org/officeDocument/2006/relationships/slide" Target="slide64.xml"/><Relationship Id="rId31" Type="http://schemas.openxmlformats.org/officeDocument/2006/relationships/slide" Target="slide298.xml"/><Relationship Id="rId32" Type="http://schemas.openxmlformats.org/officeDocument/2006/relationships/slide" Target="slide231.xml"/><Relationship Id="rId33" Type="http://schemas.openxmlformats.org/officeDocument/2006/relationships/slide" Target="slide41.xml"/><Relationship Id="rId34" Type="http://schemas.openxmlformats.org/officeDocument/2006/relationships/slide" Target="slide33.xml"/><Relationship Id="rId35" Type="http://schemas.openxmlformats.org/officeDocument/2006/relationships/slide" Target="slide36.xml"/><Relationship Id="rId36" Type="http://schemas.openxmlformats.org/officeDocument/2006/relationships/slide" Target="slide23.xml"/><Relationship Id="rId37" Type="http://schemas.openxmlformats.org/officeDocument/2006/relationships/slide" Target="slide30.xml"/><Relationship Id="rId38" Type="http://schemas.openxmlformats.org/officeDocument/2006/relationships/slide" Target="slide291.xml"/><Relationship Id="rId39" Type="http://schemas.openxmlformats.org/officeDocument/2006/relationships/slide" Target="slide251.xml"/><Relationship Id="rId40" Type="http://schemas.openxmlformats.org/officeDocument/2006/relationships/slide" Target="slide304.xml"/><Relationship Id="rId41" Type="http://schemas.openxmlformats.org/officeDocument/2006/relationships/slide" Target="slide35.xml"/><Relationship Id="rId42" Type="http://schemas.openxmlformats.org/officeDocument/2006/relationships/slide" Target="slide115.xml"/><Relationship Id="rId43" Type="http://schemas.openxmlformats.org/officeDocument/2006/relationships/slide" Target="slide142.xml"/><Relationship Id="rId44" Type="http://schemas.openxmlformats.org/officeDocument/2006/relationships/slide" Target="slide176.xml"/><Relationship Id="rId45" Type="http://schemas.openxmlformats.org/officeDocument/2006/relationships/slide" Target="slide178.xml"/><Relationship Id="rId46" Type="http://schemas.openxmlformats.org/officeDocument/2006/relationships/slide" Target="slide114.xml"/><Relationship Id="rId47" Type="http://schemas.openxmlformats.org/officeDocument/2006/relationships/slide" Target="slide22.xml"/><Relationship Id="rId48" Type="http://schemas.openxmlformats.org/officeDocument/2006/relationships/slide" Target="slide144.xml"/><Relationship Id="rId49" Type="http://schemas.openxmlformats.org/officeDocument/2006/relationships/slide" Target="slide302.xml"/><Relationship Id="rId50" Type="http://schemas.openxmlformats.org/officeDocument/2006/relationships/slide" Target="slide153.xml"/><Relationship Id="rId51" Type="http://schemas.openxmlformats.org/officeDocument/2006/relationships/slide" Target="slide230.xml"/><Relationship Id="rId52" Type="http://schemas.openxmlformats.org/officeDocument/2006/relationships/slide" Target="slide232.xml"/><Relationship Id="rId53" Type="http://schemas.openxmlformats.org/officeDocument/2006/relationships/slide" Target="slide271.xml"/></Relationships>
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0.xml"/><Relationship Id="rId3" Type="http://schemas.openxmlformats.org/officeDocument/2006/relationships/slide" Target="slide280.xml"/><Relationship Id="rId4" Type="http://schemas.openxmlformats.org/officeDocument/2006/relationships/slide" Target="slide232.xml"/><Relationship Id="rId5" Type="http://schemas.openxmlformats.org/officeDocument/2006/relationships/slide" Target="slide213.xml"/><Relationship Id="rId6" Type="http://schemas.openxmlformats.org/officeDocument/2006/relationships/slide" Target="slide237.xml"/><Relationship Id="rId7" Type="http://schemas.openxmlformats.org/officeDocument/2006/relationships/slide" Target="slide239.xml"/><Relationship Id="rId8" Type="http://schemas.openxmlformats.org/officeDocument/2006/relationships/slide" Target="slide201.xml"/><Relationship Id="rId9" Type="http://schemas.openxmlformats.org/officeDocument/2006/relationships/slide" Target="slide202.xml"/><Relationship Id="rId10" Type="http://schemas.openxmlformats.org/officeDocument/2006/relationships/slide" Target="slide203.xml"/><Relationship Id="rId11" Type="http://schemas.openxmlformats.org/officeDocument/2006/relationships/slide" Target="slide221.xml"/><Relationship Id="rId12" Type="http://schemas.openxmlformats.org/officeDocument/2006/relationships/slide" Target="slide23.xml"/><Relationship Id="rId13" Type="http://schemas.openxmlformats.org/officeDocument/2006/relationships/slide" Target="slide79.xml"/><Relationship Id="rId14" Type="http://schemas.openxmlformats.org/officeDocument/2006/relationships/slide" Target="slide47.xml"/><Relationship Id="rId15" Type="http://schemas.openxmlformats.org/officeDocument/2006/relationships/slide" Target="slide51.xml"/><Relationship Id="rId16" Type="http://schemas.openxmlformats.org/officeDocument/2006/relationships/slide" Target="slide76.xml"/><Relationship Id="rId17" Type="http://schemas.openxmlformats.org/officeDocument/2006/relationships/slide" Target="slide78.xml"/><Relationship Id="rId18" Type="http://schemas.openxmlformats.org/officeDocument/2006/relationships/slide" Target="slide100.xml"/><Relationship Id="rId19" Type="http://schemas.openxmlformats.org/officeDocument/2006/relationships/slide" Target="slide108.xml"/><Relationship Id="rId20" Type="http://schemas.openxmlformats.org/officeDocument/2006/relationships/slide" Target="slide117.xml"/><Relationship Id="rId21" Type="http://schemas.openxmlformats.org/officeDocument/2006/relationships/slide" Target="slide125.xml"/><Relationship Id="rId22" Type="http://schemas.openxmlformats.org/officeDocument/2006/relationships/slide" Target="slide128.xml"/><Relationship Id="rId23" Type="http://schemas.openxmlformats.org/officeDocument/2006/relationships/slide" Target="slide297.xml"/><Relationship Id="rId24" Type="http://schemas.openxmlformats.org/officeDocument/2006/relationships/slide" Target="slide142.xml"/><Relationship Id="rId25" Type="http://schemas.openxmlformats.org/officeDocument/2006/relationships/slide" Target="slide141.xml"/><Relationship Id="rId26" Type="http://schemas.openxmlformats.org/officeDocument/2006/relationships/slide" Target="slide174.xml"/><Relationship Id="rId27" Type="http://schemas.openxmlformats.org/officeDocument/2006/relationships/slide" Target="slide158.xml"/><Relationship Id="rId28" Type="http://schemas.openxmlformats.org/officeDocument/2006/relationships/slide" Target="slide298.xml"/><Relationship Id="rId29" Type="http://schemas.openxmlformats.org/officeDocument/2006/relationships/slide" Target="slide217.xml"/><Relationship Id="rId30" Type="http://schemas.openxmlformats.org/officeDocument/2006/relationships/slide" Target="slide80.xml"/><Relationship Id="rId31" Type="http://schemas.openxmlformats.org/officeDocument/2006/relationships/slide" Target="slide81.xml"/><Relationship Id="rId32" Type="http://schemas.openxmlformats.org/officeDocument/2006/relationships/slide" Target="slide131.xml"/><Relationship Id="rId33" Type="http://schemas.openxmlformats.org/officeDocument/2006/relationships/slide" Target="slide29.xml"/><Relationship Id="rId34" Type="http://schemas.openxmlformats.org/officeDocument/2006/relationships/slide" Target="slide31.xml"/><Relationship Id="rId35" Type="http://schemas.openxmlformats.org/officeDocument/2006/relationships/slide" Target="slide166.xml"/><Relationship Id="rId36" Type="http://schemas.openxmlformats.org/officeDocument/2006/relationships/slide" Target="slide60.xml"/><Relationship Id="rId37" Type="http://schemas.openxmlformats.org/officeDocument/2006/relationships/slide" Target="slide256.xml"/><Relationship Id="rId38" Type="http://schemas.openxmlformats.org/officeDocument/2006/relationships/slide" Target="slide219.xml"/><Relationship Id="rId39" Type="http://schemas.openxmlformats.org/officeDocument/2006/relationships/slide" Target="slide269.xml"/><Relationship Id="rId40" Type="http://schemas.openxmlformats.org/officeDocument/2006/relationships/slide" Target="slide271.xml"/><Relationship Id="rId41" Type="http://schemas.openxmlformats.org/officeDocument/2006/relationships/slide" Target="slide276.xml"/><Relationship Id="rId42" Type="http://schemas.openxmlformats.org/officeDocument/2006/relationships/slide" Target="slide270.xml"/><Relationship Id="rId43" Type="http://schemas.openxmlformats.org/officeDocument/2006/relationships/slide" Target="slide272.xml"/><Relationship Id="rId44" Type="http://schemas.openxmlformats.org/officeDocument/2006/relationships/slide" Target="slide275.xml"/><Relationship Id="rId45" Type="http://schemas.openxmlformats.org/officeDocument/2006/relationships/slide" Target="slide136.xml"/><Relationship Id="rId46" Type="http://schemas.openxmlformats.org/officeDocument/2006/relationships/slide" Target="slide24.xml"/><Relationship Id="rId47" Type="http://schemas.openxmlformats.org/officeDocument/2006/relationships/slide" Target="slide253.xml"/><Relationship Id="rId48" Type="http://schemas.openxmlformats.org/officeDocument/2006/relationships/slide" Target="slide193.xml"/><Relationship Id="rId49" Type="http://schemas.openxmlformats.org/officeDocument/2006/relationships/slide" Target="slide199.xml"/><Relationship Id="rId50" Type="http://schemas.openxmlformats.org/officeDocument/2006/relationships/slide" Target="slide206.xml"/><Relationship Id="rId51" Type="http://schemas.openxmlformats.org/officeDocument/2006/relationships/slide" Target="slide200.xml"/><Relationship Id="rId52" Type="http://schemas.openxmlformats.org/officeDocument/2006/relationships/slide" Target="slide64.xml"/><Relationship Id="rId53" Type="http://schemas.openxmlformats.org/officeDocument/2006/relationships/slide" Target="slide281.xml"/><Relationship Id="rId54" Type="http://schemas.openxmlformats.org/officeDocument/2006/relationships/slide" Target="slide229.xml"/><Relationship Id="rId55" Type="http://schemas.openxmlformats.org/officeDocument/2006/relationships/slide" Target="slide299.xml"/><Relationship Id="rId56" Type="http://schemas.openxmlformats.org/officeDocument/2006/relationships/slide" Target="slide258.xml"/><Relationship Id="rId57" Type="http://schemas.openxmlformats.org/officeDocument/2006/relationships/slide" Target="slide243.xml"/><Relationship Id="rId58" Type="http://schemas.openxmlformats.org/officeDocument/2006/relationships/slide" Target="slide244.xml"/><Relationship Id="rId59" Type="http://schemas.openxmlformats.org/officeDocument/2006/relationships/slide" Target="slide254.xml"/><Relationship Id="rId60" Type="http://schemas.openxmlformats.org/officeDocument/2006/relationships/slide" Target="slide279.xml"/><Relationship Id="rId61" Type="http://schemas.openxmlformats.org/officeDocument/2006/relationships/slide" Target="slide282.xml"/><Relationship Id="rId62" Type="http://schemas.openxmlformats.org/officeDocument/2006/relationships/slide" Target="slide245.xml"/><Relationship Id="rId63" Type="http://schemas.openxmlformats.org/officeDocument/2006/relationships/slide" Target="slide247.xml"/><Relationship Id="rId64" Type="http://schemas.openxmlformats.org/officeDocument/2006/relationships/slide" Target="slide259.xml"/><Relationship Id="rId65" Type="http://schemas.openxmlformats.org/officeDocument/2006/relationships/slide" Target="slide292.xml"/><Relationship Id="rId66" Type="http://schemas.openxmlformats.org/officeDocument/2006/relationships/slide" Target="slide173.xml"/><Relationship Id="rId67" Type="http://schemas.openxmlformats.org/officeDocument/2006/relationships/slide" Target="slide28.xml"/><Relationship Id="rId68" Type="http://schemas.openxmlformats.org/officeDocument/2006/relationships/slide" Target="slide41.xml"/><Relationship Id="rId69" Type="http://schemas.openxmlformats.org/officeDocument/2006/relationships/slide" Target="slide183.xml"/><Relationship Id="rId70" Type="http://schemas.openxmlformats.org/officeDocument/2006/relationships/slide" Target="slide184.xml"/></Relationships>
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7.xml"/><Relationship Id="rId3" Type="http://schemas.openxmlformats.org/officeDocument/2006/relationships/slide" Target="slide291.xml"/><Relationship Id="rId4" Type="http://schemas.openxmlformats.org/officeDocument/2006/relationships/slide" Target="slide186.xml"/><Relationship Id="rId5" Type="http://schemas.openxmlformats.org/officeDocument/2006/relationships/slide" Target="slide21.xml"/><Relationship Id="rId6" Type="http://schemas.openxmlformats.org/officeDocument/2006/relationships/slide" Target="slide30.xml"/><Relationship Id="rId7" Type="http://schemas.openxmlformats.org/officeDocument/2006/relationships/slide" Target="slide26.xml"/><Relationship Id="rId8" Type="http://schemas.openxmlformats.org/officeDocument/2006/relationships/slide" Target="slide56.xml"/><Relationship Id="rId9" Type="http://schemas.openxmlformats.org/officeDocument/2006/relationships/slide" Target="slide144.xml"/><Relationship Id="rId10" Type="http://schemas.openxmlformats.org/officeDocument/2006/relationships/slide" Target="slide175.xml"/><Relationship Id="rId11" Type="http://schemas.openxmlformats.org/officeDocument/2006/relationships/slide" Target="slide295.xml"/><Relationship Id="rId12" Type="http://schemas.openxmlformats.org/officeDocument/2006/relationships/slide" Target="slide296.xml"/><Relationship Id="rId13" Type="http://schemas.openxmlformats.org/officeDocument/2006/relationships/slide" Target="slide79.xml"/><Relationship Id="rId14" Type="http://schemas.openxmlformats.org/officeDocument/2006/relationships/slide" Target="slide101.xml"/><Relationship Id="rId15" Type="http://schemas.openxmlformats.org/officeDocument/2006/relationships/slide" Target="slide80.xml"/><Relationship Id="rId16" Type="http://schemas.openxmlformats.org/officeDocument/2006/relationships/slide" Target="slide96.xml"/><Relationship Id="rId17" Type="http://schemas.openxmlformats.org/officeDocument/2006/relationships/slide" Target="slide215.xml"/><Relationship Id="rId18" Type="http://schemas.openxmlformats.org/officeDocument/2006/relationships/slide" Target="slide216.xml"/><Relationship Id="rId19" Type="http://schemas.openxmlformats.org/officeDocument/2006/relationships/slide" Target="slide253.xml"/><Relationship Id="rId20" Type="http://schemas.openxmlformats.org/officeDocument/2006/relationships/slide" Target="slide233.xml"/><Relationship Id="rId21" Type="http://schemas.openxmlformats.org/officeDocument/2006/relationships/slide" Target="slide234.xml"/><Relationship Id="rId22" Type="http://schemas.openxmlformats.org/officeDocument/2006/relationships/slide" Target="slide255.xml"/><Relationship Id="rId23" Type="http://schemas.openxmlformats.org/officeDocument/2006/relationships/slide" Target="slide263.xml"/><Relationship Id="rId24" Type="http://schemas.openxmlformats.org/officeDocument/2006/relationships/slide" Target="slide261.xml"/><Relationship Id="rId25" Type="http://schemas.openxmlformats.org/officeDocument/2006/relationships/slide" Target="slide159.xml"/><Relationship Id="rId26" Type="http://schemas.openxmlformats.org/officeDocument/2006/relationships/slide" Target="slide133.xml"/><Relationship Id="rId27" Type="http://schemas.openxmlformats.org/officeDocument/2006/relationships/slide" Target="slide116.xml"/><Relationship Id="rId28" Type="http://schemas.openxmlformats.org/officeDocument/2006/relationships/slide" Target="slide183.xml"/><Relationship Id="rId29" Type="http://schemas.openxmlformats.org/officeDocument/2006/relationships/slide" Target="slide292.xml"/><Relationship Id="rId30" Type="http://schemas.openxmlformats.org/officeDocument/2006/relationships/slide" Target="slide162.xml"/><Relationship Id="rId31" Type="http://schemas.openxmlformats.org/officeDocument/2006/relationships/slide" Target="slide114.xml"/><Relationship Id="rId32" Type="http://schemas.openxmlformats.org/officeDocument/2006/relationships/slide" Target="slide115.xml"/><Relationship Id="rId33" Type="http://schemas.openxmlformats.org/officeDocument/2006/relationships/slide" Target="slide158.xml"/><Relationship Id="rId34" Type="http://schemas.openxmlformats.org/officeDocument/2006/relationships/slide" Target="slide211.xml"/><Relationship Id="rId35" Type="http://schemas.openxmlformats.org/officeDocument/2006/relationships/slide" Target="slide219.xml"/><Relationship Id="rId36" Type="http://schemas.openxmlformats.org/officeDocument/2006/relationships/slide" Target="slide167.xml"/><Relationship Id="rId37" Type="http://schemas.openxmlformats.org/officeDocument/2006/relationships/slide" Target="slide218.xml"/><Relationship Id="rId38" Type="http://schemas.openxmlformats.org/officeDocument/2006/relationships/slide" Target="slide217.xml"/><Relationship Id="rId39" Type="http://schemas.openxmlformats.org/officeDocument/2006/relationships/slide" Target="slide97.xml"/><Relationship Id="rId40" Type="http://schemas.openxmlformats.org/officeDocument/2006/relationships/slide" Target="slide107.xml"/><Relationship Id="rId41" Type="http://schemas.openxmlformats.org/officeDocument/2006/relationships/slide" Target="slide29.xml"/><Relationship Id="rId42" Type="http://schemas.openxmlformats.org/officeDocument/2006/relationships/slide" Target="slide31.xml"/><Relationship Id="rId43" Type="http://schemas.openxmlformats.org/officeDocument/2006/relationships/slide" Target="slide42.xml"/><Relationship Id="rId44" Type="http://schemas.openxmlformats.org/officeDocument/2006/relationships/slide" Target="slide55.xml"/><Relationship Id="rId45" Type="http://schemas.openxmlformats.org/officeDocument/2006/relationships/slide" Target="slide265.xml"/><Relationship Id="rId46" Type="http://schemas.openxmlformats.org/officeDocument/2006/relationships/slide" Target="slide250.xml"/><Relationship Id="rId47" Type="http://schemas.openxmlformats.org/officeDocument/2006/relationships/slide" Target="slide239.xml"/><Relationship Id="rId48" Type="http://schemas.openxmlformats.org/officeDocument/2006/relationships/slide" Target="slide105.xml"/><Relationship Id="rId49" Type="http://schemas.openxmlformats.org/officeDocument/2006/relationships/slide" Target="slide69.xml"/><Relationship Id="rId50" Type="http://schemas.openxmlformats.org/officeDocument/2006/relationships/slide" Target="slide282.xml"/><Relationship Id="rId51" Type="http://schemas.openxmlformats.org/officeDocument/2006/relationships/slide" Target="slide298.xml"/><Relationship Id="rId52" Type="http://schemas.openxmlformats.org/officeDocument/2006/relationships/slide" Target="slide153.xml"/><Relationship Id="rId53" Type="http://schemas.openxmlformats.org/officeDocument/2006/relationships/slide" Target="slide206.xml"/><Relationship Id="rId54" Type="http://schemas.openxmlformats.org/officeDocument/2006/relationships/slide" Target="slide224.xml"/><Relationship Id="rId55" Type="http://schemas.openxmlformats.org/officeDocument/2006/relationships/slide" Target="slide137.xml"/><Relationship Id="rId56" Type="http://schemas.openxmlformats.org/officeDocument/2006/relationships/slide" Target="slide85.xml"/><Relationship Id="rId57" Type="http://schemas.openxmlformats.org/officeDocument/2006/relationships/slide" Target="slide303.xml"/><Relationship Id="rId58" Type="http://schemas.openxmlformats.org/officeDocument/2006/relationships/slide" Target="slide251.xml"/><Relationship Id="rId59" Type="http://schemas.openxmlformats.org/officeDocument/2006/relationships/slide" Target="slide304.xml"/><Relationship Id="rId60" Type="http://schemas.openxmlformats.org/officeDocument/2006/relationships/slide" Target="slide276.xml"/><Relationship Id="rId61" Type="http://schemas.openxmlformats.org/officeDocument/2006/relationships/slide" Target="slide277.xml"/><Relationship Id="rId62" Type="http://schemas.openxmlformats.org/officeDocument/2006/relationships/slide" Target="slide279.xml"/><Relationship Id="rId63" Type="http://schemas.openxmlformats.org/officeDocument/2006/relationships/slide" Target="slide262.xml"/><Relationship Id="rId64" Type="http://schemas.openxmlformats.org/officeDocument/2006/relationships/slide" Target="slide264.xml"/><Relationship Id="rId65" Type="http://schemas.openxmlformats.org/officeDocument/2006/relationships/slide" Target="slide47.xml"/><Relationship Id="rId66" Type="http://schemas.openxmlformats.org/officeDocument/2006/relationships/slide" Target="slide196.xml"/><Relationship Id="rId67" Type="http://schemas.openxmlformats.org/officeDocument/2006/relationships/slide" Target="slide294.xml"/><Relationship Id="rId68" Type="http://schemas.openxmlformats.org/officeDocument/2006/relationships/slide" Target="slide65.xml"/><Relationship Id="rId69" Type="http://schemas.openxmlformats.org/officeDocument/2006/relationships/slide" Target="slide147.xml"/><Relationship Id="rId70" Type="http://schemas.openxmlformats.org/officeDocument/2006/relationships/slide" Target="slide148.xml"/><Relationship Id="rId71" Type="http://schemas.openxmlformats.org/officeDocument/2006/relationships/slide" Target="slide237.xml"/><Relationship Id="rId72" Type="http://schemas.openxmlformats.org/officeDocument/2006/relationships/slide" Target="slide198.xml"/><Relationship Id="rId73" Type="http://schemas.openxmlformats.org/officeDocument/2006/relationships/slide" Target="slide67.xml"/><Relationship Id="rId74" Type="http://schemas.openxmlformats.org/officeDocument/2006/relationships/slide" Target="slide182.xml"/><Relationship Id="rId75" Type="http://schemas.openxmlformats.org/officeDocument/2006/relationships/slide" Target="slide157.xml"/><Relationship Id="rId76" Type="http://schemas.openxmlformats.org/officeDocument/2006/relationships/slide" Target="slide178.xml"/><Relationship Id="rId77" Type="http://schemas.openxmlformats.org/officeDocument/2006/relationships/slide" Target="slide240.xml"/></Relationships>
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94.xml"/><Relationship Id="rId3" Type="http://schemas.openxmlformats.org/officeDocument/2006/relationships/slide" Target="slide182.xml"/><Relationship Id="rId4" Type="http://schemas.openxmlformats.org/officeDocument/2006/relationships/slide" Target="slide167.xml"/><Relationship Id="rId5" Type="http://schemas.openxmlformats.org/officeDocument/2006/relationships/slide" Target="slide187.xml"/><Relationship Id="rId6" Type="http://schemas.openxmlformats.org/officeDocument/2006/relationships/slide" Target="slide281.xml"/><Relationship Id="rId7" Type="http://schemas.openxmlformats.org/officeDocument/2006/relationships/slide" Target="slide302.xml"/><Relationship Id="rId8" Type="http://schemas.openxmlformats.org/officeDocument/2006/relationships/slide" Target="slide303.xml"/><Relationship Id="rId9" Type="http://schemas.openxmlformats.org/officeDocument/2006/relationships/slide" Target="slide215.xml"/><Relationship Id="rId10" Type="http://schemas.openxmlformats.org/officeDocument/2006/relationships/slide" Target="slide185.xml"/><Relationship Id="rId11" Type="http://schemas.openxmlformats.org/officeDocument/2006/relationships/slide" Target="slide164.xml"/><Relationship Id="rId12" Type="http://schemas.openxmlformats.org/officeDocument/2006/relationships/slide" Target="slide202.xml"/><Relationship Id="rId13" Type="http://schemas.openxmlformats.org/officeDocument/2006/relationships/slide" Target="slide203.xml"/><Relationship Id="rId14" Type="http://schemas.openxmlformats.org/officeDocument/2006/relationships/slide" Target="slide157.xml"/><Relationship Id="rId15" Type="http://schemas.openxmlformats.org/officeDocument/2006/relationships/slide" Target="slide159.xml"/><Relationship Id="rId16" Type="http://schemas.openxmlformats.org/officeDocument/2006/relationships/slide" Target="slide166.xml"/><Relationship Id="rId17" Type="http://schemas.openxmlformats.org/officeDocument/2006/relationships/slide" Target="slide292.xml"/><Relationship Id="rId18" Type="http://schemas.openxmlformats.org/officeDocument/2006/relationships/slide" Target="slide217.xml"/><Relationship Id="rId19" Type="http://schemas.openxmlformats.org/officeDocument/2006/relationships/slide" Target="slide193.xml"/><Relationship Id="rId20" Type="http://schemas.openxmlformats.org/officeDocument/2006/relationships/slide" Target="slide291.xml"/><Relationship Id="rId21" Type="http://schemas.openxmlformats.org/officeDocument/2006/relationships/slide" Target="slide176.xml"/><Relationship Id="rId22" Type="http://schemas.openxmlformats.org/officeDocument/2006/relationships/slide" Target="slide191.xml"/><Relationship Id="rId23" Type="http://schemas.openxmlformats.org/officeDocument/2006/relationships/slide" Target="slide199.xml"/><Relationship Id="rId24" Type="http://schemas.openxmlformats.org/officeDocument/2006/relationships/slide" Target="slide163.xml"/><Relationship Id="rId25" Type="http://schemas.openxmlformats.org/officeDocument/2006/relationships/slide" Target="slide160.xml"/><Relationship Id="rId26" Type="http://schemas.openxmlformats.org/officeDocument/2006/relationships/slide" Target="slide162.xml"/><Relationship Id="rId27" Type="http://schemas.openxmlformats.org/officeDocument/2006/relationships/slide" Target="slide290.xml"/><Relationship Id="rId28" Type="http://schemas.openxmlformats.org/officeDocument/2006/relationships/slide" Target="slide197.xml"/><Relationship Id="rId29" Type="http://schemas.openxmlformats.org/officeDocument/2006/relationships/slide" Target="slide221.xml"/><Relationship Id="rId30" Type="http://schemas.openxmlformats.org/officeDocument/2006/relationships/slide" Target="slide213.xml"/><Relationship Id="rId31" Type="http://schemas.openxmlformats.org/officeDocument/2006/relationships/slide" Target="slide211.xml"/><Relationship Id="rId32" Type="http://schemas.openxmlformats.org/officeDocument/2006/relationships/slide" Target="slide212.xml"/><Relationship Id="rId33" Type="http://schemas.openxmlformats.org/officeDocument/2006/relationships/slide" Target="slide223.xml"/><Relationship Id="rId34" Type="http://schemas.openxmlformats.org/officeDocument/2006/relationships/slide" Target="slide97.xml"/><Relationship Id="rId35" Type="http://schemas.openxmlformats.org/officeDocument/2006/relationships/slide" Target="slide100.xml"/><Relationship Id="rId36" Type="http://schemas.openxmlformats.org/officeDocument/2006/relationships/slide" Target="slide22.xml"/><Relationship Id="rId37" Type="http://schemas.openxmlformats.org/officeDocument/2006/relationships/slide" Target="slide178.xml"/><Relationship Id="rId38" Type="http://schemas.openxmlformats.org/officeDocument/2006/relationships/slide" Target="slide179.xml"/><Relationship Id="rId39" Type="http://schemas.openxmlformats.org/officeDocument/2006/relationships/slide" Target="slide236.xml"/><Relationship Id="rId40" Type="http://schemas.openxmlformats.org/officeDocument/2006/relationships/slide" Target="slide238.xml"/><Relationship Id="rId41" Type="http://schemas.openxmlformats.org/officeDocument/2006/relationships/slide" Target="slide68.xml"/><Relationship Id="rId42" Type="http://schemas.openxmlformats.org/officeDocument/2006/relationships/slide" Target="slide119.xml"/><Relationship Id="rId43" Type="http://schemas.openxmlformats.org/officeDocument/2006/relationships/slide" Target="slide136.xml"/><Relationship Id="rId44" Type="http://schemas.openxmlformats.org/officeDocument/2006/relationships/slide" Target="slide38.xml"/><Relationship Id="rId45" Type="http://schemas.openxmlformats.org/officeDocument/2006/relationships/slide" Target="slide231.xml"/><Relationship Id="rId46" Type="http://schemas.openxmlformats.org/officeDocument/2006/relationships/slide" Target="slide230.xml"/><Relationship Id="rId47" Type="http://schemas.openxmlformats.org/officeDocument/2006/relationships/slide" Target="slide130.xml"/><Relationship Id="rId48" Type="http://schemas.openxmlformats.org/officeDocument/2006/relationships/slide" Target="slide248.xml"/><Relationship Id="rId49" Type="http://schemas.openxmlformats.org/officeDocument/2006/relationships/slide" Target="slide257.xml"/><Relationship Id="rId50" Type="http://schemas.openxmlformats.org/officeDocument/2006/relationships/slide" Target="slide260.xml"/><Relationship Id="rId51" Type="http://schemas.openxmlformats.org/officeDocument/2006/relationships/slide" Target="slide264.xml"/><Relationship Id="rId52" Type="http://schemas.openxmlformats.org/officeDocument/2006/relationships/slide" Target="slide216.xml"/><Relationship Id="rId53" Type="http://schemas.openxmlformats.org/officeDocument/2006/relationships/slide" Target="slide170.xml"/><Relationship Id="rId54" Type="http://schemas.openxmlformats.org/officeDocument/2006/relationships/slide" Target="slide227.xml"/><Relationship Id="rId55" Type="http://schemas.openxmlformats.org/officeDocument/2006/relationships/slide" Target="slide141.xml"/><Relationship Id="rId56" Type="http://schemas.openxmlformats.org/officeDocument/2006/relationships/slide" Target="slide143.xml"/><Relationship Id="rId57" Type="http://schemas.openxmlformats.org/officeDocument/2006/relationships/slide" Target="slide80.xml"/><Relationship Id="rId58" Type="http://schemas.openxmlformats.org/officeDocument/2006/relationships/slide" Target="slide79.xml"/><Relationship Id="rId59" Type="http://schemas.openxmlformats.org/officeDocument/2006/relationships/slide" Target="slide142.xml"/><Relationship Id="rId60" Type="http://schemas.openxmlformats.org/officeDocument/2006/relationships/slide" Target="slide148.xml"/><Relationship Id="rId61" Type="http://schemas.openxmlformats.org/officeDocument/2006/relationships/slide" Target="slide128.xml"/><Relationship Id="rId62" Type="http://schemas.openxmlformats.org/officeDocument/2006/relationships/slide" Target="slide147.xml"/><Relationship Id="rId63" Type="http://schemas.openxmlformats.org/officeDocument/2006/relationships/slide" Target="slide62.xml"/><Relationship Id="rId64" Type="http://schemas.openxmlformats.org/officeDocument/2006/relationships/slide" Target="slide67.xml"/><Relationship Id="rId65" Type="http://schemas.openxmlformats.org/officeDocument/2006/relationships/slide" Target="slide269.xml"/><Relationship Id="rId66" Type="http://schemas.openxmlformats.org/officeDocument/2006/relationships/slide" Target="slide111.xml"/><Relationship Id="rId67" Type="http://schemas.openxmlformats.org/officeDocument/2006/relationships/slide" Target="slide132.xml"/><Relationship Id="rId68" Type="http://schemas.openxmlformats.org/officeDocument/2006/relationships/slide" Target="slide258.xml"/><Relationship Id="rId69" Type="http://schemas.openxmlformats.org/officeDocument/2006/relationships/slide" Target="slide273.xml"/><Relationship Id="rId70" Type="http://schemas.openxmlformats.org/officeDocument/2006/relationships/slide" Target="slide300.xml"/><Relationship Id="rId71" Type="http://schemas.openxmlformats.org/officeDocument/2006/relationships/slide" Target="slide77.xml"/><Relationship Id="rId72" Type="http://schemas.openxmlformats.org/officeDocument/2006/relationships/slide" Target="slide101.xml"/><Relationship Id="rId73" Type="http://schemas.openxmlformats.org/officeDocument/2006/relationships/slide" Target="slide293.xml"/><Relationship Id="rId74" Type="http://schemas.openxmlformats.org/officeDocument/2006/relationships/slide" Target="slide129.xml"/><Relationship Id="rId75" Type="http://schemas.openxmlformats.org/officeDocument/2006/relationships/slide" Target="slide234.xml"/><Relationship Id="rId76" Type="http://schemas.openxmlformats.org/officeDocument/2006/relationships/slide" Target="slide149.xml"/><Relationship Id="rId77" Type="http://schemas.openxmlformats.org/officeDocument/2006/relationships/slide" Target="slide85.xml"/></Relationships>
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4.xml"/><Relationship Id="rId3" Type="http://schemas.openxmlformats.org/officeDocument/2006/relationships/slide" Target="slide32.xml"/><Relationship Id="rId4" Type="http://schemas.openxmlformats.org/officeDocument/2006/relationships/slide" Target="slide83.xml"/><Relationship Id="rId5" Type="http://schemas.openxmlformats.org/officeDocument/2006/relationships/slide" Target="slide28.xml"/><Relationship Id="rId6" Type="http://schemas.openxmlformats.org/officeDocument/2006/relationships/slide" Target="slide42.xml"/><Relationship Id="rId7" Type="http://schemas.openxmlformats.org/officeDocument/2006/relationships/slide" Target="slide39.xml"/><Relationship Id="rId8" Type="http://schemas.openxmlformats.org/officeDocument/2006/relationships/slide" Target="slide137.xml"/><Relationship Id="rId9" Type="http://schemas.openxmlformats.org/officeDocument/2006/relationships/slide" Target="slide23.xml"/><Relationship Id="rId10" Type="http://schemas.openxmlformats.org/officeDocument/2006/relationships/slide" Target="slide38.xml"/><Relationship Id="rId11" Type="http://schemas.openxmlformats.org/officeDocument/2006/relationships/slide" Target="slide30.xml"/><Relationship Id="rId12" Type="http://schemas.openxmlformats.org/officeDocument/2006/relationships/slide" Target="slide231.xml"/><Relationship Id="rId13" Type="http://schemas.openxmlformats.org/officeDocument/2006/relationships/slide" Target="slide295.xml"/><Relationship Id="rId14" Type="http://schemas.openxmlformats.org/officeDocument/2006/relationships/slide" Target="slide214.xml"/><Relationship Id="rId15" Type="http://schemas.openxmlformats.org/officeDocument/2006/relationships/slide" Target="slide126.xml"/><Relationship Id="rId16" Type="http://schemas.openxmlformats.org/officeDocument/2006/relationships/slide" Target="slide35.xml"/><Relationship Id="rId17" Type="http://schemas.openxmlformats.org/officeDocument/2006/relationships/slide" Target="slide96.xml"/><Relationship Id="rId18" Type="http://schemas.openxmlformats.org/officeDocument/2006/relationships/slide" Target="slide94.xml"/><Relationship Id="rId19" Type="http://schemas.openxmlformats.org/officeDocument/2006/relationships/slide" Target="slide33.xml"/><Relationship Id="rId20" Type="http://schemas.openxmlformats.org/officeDocument/2006/relationships/slide" Target="slide145.xml"/><Relationship Id="rId21" Type="http://schemas.openxmlformats.org/officeDocument/2006/relationships/slide" Target="slide289.xml"/><Relationship Id="rId22" Type="http://schemas.openxmlformats.org/officeDocument/2006/relationships/slide" Target="slide213.xml"/><Relationship Id="rId23" Type="http://schemas.openxmlformats.org/officeDocument/2006/relationships/slide" Target="slide215.xml"/><Relationship Id="rId24" Type="http://schemas.openxmlformats.org/officeDocument/2006/relationships/slide" Target="slide256.xml"/><Relationship Id="rId25" Type="http://schemas.openxmlformats.org/officeDocument/2006/relationships/slide" Target="slide101.xml"/><Relationship Id="rId26" Type="http://schemas.openxmlformats.org/officeDocument/2006/relationships/slide" Target="slide105.xml"/><Relationship Id="rId27" Type="http://schemas.openxmlformats.org/officeDocument/2006/relationships/slide" Target="slide106.xml"/><Relationship Id="rId28" Type="http://schemas.openxmlformats.org/officeDocument/2006/relationships/slide" Target="slide296.xml"/><Relationship Id="rId29" Type="http://schemas.openxmlformats.org/officeDocument/2006/relationships/slide" Target="slide294.xml"/><Relationship Id="rId30" Type="http://schemas.openxmlformats.org/officeDocument/2006/relationships/slide" Target="slide104.xml"/><Relationship Id="rId31" Type="http://schemas.openxmlformats.org/officeDocument/2006/relationships/slide" Target="slide166.xml"/><Relationship Id="rId32" Type="http://schemas.openxmlformats.org/officeDocument/2006/relationships/slide" Target="slide167.xml"/><Relationship Id="rId33" Type="http://schemas.openxmlformats.org/officeDocument/2006/relationships/slide" Target="slide113.xml"/><Relationship Id="rId34" Type="http://schemas.openxmlformats.org/officeDocument/2006/relationships/slide" Target="slide114.xml"/><Relationship Id="rId35" Type="http://schemas.openxmlformats.org/officeDocument/2006/relationships/slide" Target="slide221.xml"/><Relationship Id="rId36" Type="http://schemas.openxmlformats.org/officeDocument/2006/relationships/slide" Target="slide222.xml"/><Relationship Id="rId37" Type="http://schemas.openxmlformats.org/officeDocument/2006/relationships/slide" Target="slide211.xml"/><Relationship Id="rId38" Type="http://schemas.openxmlformats.org/officeDocument/2006/relationships/slide" Target="slide130.xml"/><Relationship Id="rId39" Type="http://schemas.openxmlformats.org/officeDocument/2006/relationships/slide" Target="slide132.xml"/><Relationship Id="rId40" Type="http://schemas.openxmlformats.org/officeDocument/2006/relationships/slide" Target="slide224.xml"/><Relationship Id="rId41" Type="http://schemas.openxmlformats.org/officeDocument/2006/relationships/slide" Target="slide152.xml"/><Relationship Id="rId42" Type="http://schemas.openxmlformats.org/officeDocument/2006/relationships/slide" Target="slide283.xml"/><Relationship Id="rId43" Type="http://schemas.openxmlformats.org/officeDocument/2006/relationships/slide" Target="slide27.xml"/><Relationship Id="rId44" Type="http://schemas.openxmlformats.org/officeDocument/2006/relationships/slide" Target="slide44.xml"/><Relationship Id="rId45" Type="http://schemas.openxmlformats.org/officeDocument/2006/relationships/slide" Target="slide24.xml"/><Relationship Id="rId46" Type="http://schemas.openxmlformats.org/officeDocument/2006/relationships/slide" Target="slide22.xml"/><Relationship Id="rId47" Type="http://schemas.openxmlformats.org/officeDocument/2006/relationships/slide" Target="slide75.xml"/><Relationship Id="rId48" Type="http://schemas.openxmlformats.org/officeDocument/2006/relationships/slide" Target="slide102.xml"/><Relationship Id="rId49" Type="http://schemas.openxmlformats.org/officeDocument/2006/relationships/slide" Target="slide282.xml"/><Relationship Id="rId50" Type="http://schemas.openxmlformats.org/officeDocument/2006/relationships/slide" Target="slide51.xml"/><Relationship Id="rId51" Type="http://schemas.openxmlformats.org/officeDocument/2006/relationships/slide" Target="slide58.xml"/><Relationship Id="rId52" Type="http://schemas.openxmlformats.org/officeDocument/2006/relationships/slide" Target="slide194.xml"/><Relationship Id="rId53" Type="http://schemas.openxmlformats.org/officeDocument/2006/relationships/slide" Target="slide218.xml"/><Relationship Id="rId54" Type="http://schemas.openxmlformats.org/officeDocument/2006/relationships/slide" Target="slide147.xml"/><Relationship Id="rId55" Type="http://schemas.openxmlformats.org/officeDocument/2006/relationships/slide" Target="slide193.xml"/><Relationship Id="rId56" Type="http://schemas.openxmlformats.org/officeDocument/2006/relationships/slide" Target="slide178.xml"/><Relationship Id="rId57" Type="http://schemas.openxmlformats.org/officeDocument/2006/relationships/slide" Target="slide61.xml"/><Relationship Id="rId58" Type="http://schemas.openxmlformats.org/officeDocument/2006/relationships/slide" Target="slide112.xml"/><Relationship Id="rId59" Type="http://schemas.openxmlformats.org/officeDocument/2006/relationships/slide" Target="slide151.xml"/><Relationship Id="rId60" Type="http://schemas.openxmlformats.org/officeDocument/2006/relationships/slide" Target="slide191.xml"/><Relationship Id="rId61" Type="http://schemas.openxmlformats.org/officeDocument/2006/relationships/slide" Target="slide163.xml"/><Relationship Id="rId62" Type="http://schemas.openxmlformats.org/officeDocument/2006/relationships/slide" Target="slide29.xml"/><Relationship Id="rId63" Type="http://schemas.openxmlformats.org/officeDocument/2006/relationships/slide" Target="slide31.xml"/><Relationship Id="rId64" Type="http://schemas.openxmlformats.org/officeDocument/2006/relationships/slide" Target="slide60.xml"/><Relationship Id="rId65" Type="http://schemas.openxmlformats.org/officeDocument/2006/relationships/slide" Target="slide53.xml"/><Relationship Id="rId66" Type="http://schemas.openxmlformats.org/officeDocument/2006/relationships/slide" Target="slide36.xml"/><Relationship Id="rId67" Type="http://schemas.openxmlformats.org/officeDocument/2006/relationships/slide" Target="slide25.xml"/><Relationship Id="rId68" Type="http://schemas.openxmlformats.org/officeDocument/2006/relationships/slide" Target="slide48.xml"/><Relationship Id="rId69" Type="http://schemas.openxmlformats.org/officeDocument/2006/relationships/slide" Target="slide223.xml"/><Relationship Id="rId70" Type="http://schemas.openxmlformats.org/officeDocument/2006/relationships/slide" Target="slide235.xml"/></Relationships>
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30.xml"/><Relationship Id="rId3" Type="http://schemas.openxmlformats.org/officeDocument/2006/relationships/slide" Target="slide47.xml"/><Relationship Id="rId4" Type="http://schemas.openxmlformats.org/officeDocument/2006/relationships/slide" Target="slide63.xml"/><Relationship Id="rId5" Type="http://schemas.openxmlformats.org/officeDocument/2006/relationships/slide" Target="slide54.xml"/><Relationship Id="rId6" Type="http://schemas.openxmlformats.org/officeDocument/2006/relationships/slide" Target="slide40.xml"/><Relationship Id="rId7" Type="http://schemas.openxmlformats.org/officeDocument/2006/relationships/slide" Target="slide56.xml"/><Relationship Id="rId8" Type="http://schemas.openxmlformats.org/officeDocument/2006/relationships/slide" Target="slide103.xml"/><Relationship Id="rId9" Type="http://schemas.openxmlformats.org/officeDocument/2006/relationships/slide" Target="slide100.xml"/><Relationship Id="rId10" Type="http://schemas.openxmlformats.org/officeDocument/2006/relationships/slide" Target="slide49.xml"/><Relationship Id="rId11" Type="http://schemas.openxmlformats.org/officeDocument/2006/relationships/slide" Target="slide50.xml"/><Relationship Id="rId12" Type="http://schemas.openxmlformats.org/officeDocument/2006/relationships/slide" Target="slide69.xml"/><Relationship Id="rId13" Type="http://schemas.openxmlformats.org/officeDocument/2006/relationships/slide" Target="slide67.xml"/><Relationship Id="rId14" Type="http://schemas.openxmlformats.org/officeDocument/2006/relationships/slide" Target="slide68.xml"/><Relationship Id="rId15" Type="http://schemas.openxmlformats.org/officeDocument/2006/relationships/slide" Target="slide64.xml"/><Relationship Id="rId16" Type="http://schemas.openxmlformats.org/officeDocument/2006/relationships/slide" Target="slide62.xml"/><Relationship Id="rId17" Type="http://schemas.openxmlformats.org/officeDocument/2006/relationships/slide" Target="slide112.xml"/><Relationship Id="rId18" Type="http://schemas.openxmlformats.org/officeDocument/2006/relationships/slide" Target="slide70.xml"/><Relationship Id="rId19" Type="http://schemas.openxmlformats.org/officeDocument/2006/relationships/slide" Target="slide52.xml"/><Relationship Id="rId20" Type="http://schemas.openxmlformats.org/officeDocument/2006/relationships/slide" Target="slide95.xml"/><Relationship Id="rId21" Type="http://schemas.openxmlformats.org/officeDocument/2006/relationships/slide" Target="slide96.xml"/><Relationship Id="rId22" Type="http://schemas.openxmlformats.org/officeDocument/2006/relationships/slide" Target="slide93.xml"/><Relationship Id="rId23" Type="http://schemas.openxmlformats.org/officeDocument/2006/relationships/slide" Target="slide83.xml"/><Relationship Id="rId24" Type="http://schemas.openxmlformats.org/officeDocument/2006/relationships/slide" Target="slide38.xml"/><Relationship Id="rId25" Type="http://schemas.openxmlformats.org/officeDocument/2006/relationships/slide" Target="slide196.xml"/><Relationship Id="rId26" Type="http://schemas.openxmlformats.org/officeDocument/2006/relationships/slide" Target="slide48.xml"/><Relationship Id="rId27" Type="http://schemas.openxmlformats.org/officeDocument/2006/relationships/slide" Target="slide234.xml"/><Relationship Id="rId28" Type="http://schemas.openxmlformats.org/officeDocument/2006/relationships/slide" Target="slide81.xml"/><Relationship Id="rId29" Type="http://schemas.openxmlformats.org/officeDocument/2006/relationships/slide" Target="slide65.xml"/><Relationship Id="rId30" Type="http://schemas.openxmlformats.org/officeDocument/2006/relationships/slide" Target="slide51.xml"/><Relationship Id="rId31" Type="http://schemas.openxmlformats.org/officeDocument/2006/relationships/slide" Target="slide53.xml"/><Relationship Id="rId32" Type="http://schemas.openxmlformats.org/officeDocument/2006/relationships/slide" Target="slide303.xml"/><Relationship Id="rId33" Type="http://schemas.openxmlformats.org/officeDocument/2006/relationships/slide" Target="slide275.xml"/><Relationship Id="rId34" Type="http://schemas.openxmlformats.org/officeDocument/2006/relationships/slide" Target="slide298.xml"/><Relationship Id="rId35" Type="http://schemas.openxmlformats.org/officeDocument/2006/relationships/slide" Target="slide299.xml"/><Relationship Id="rId36" Type="http://schemas.openxmlformats.org/officeDocument/2006/relationships/slide" Target="slide211.xml"/><Relationship Id="rId37" Type="http://schemas.openxmlformats.org/officeDocument/2006/relationships/slide" Target="slide77.xml"/><Relationship Id="rId38" Type="http://schemas.openxmlformats.org/officeDocument/2006/relationships/slide" Target="slide109.xml"/><Relationship Id="rId39" Type="http://schemas.openxmlformats.org/officeDocument/2006/relationships/slide" Target="slide134.xml"/><Relationship Id="rId40" Type="http://schemas.openxmlformats.org/officeDocument/2006/relationships/slide" Target="slide260.xml"/><Relationship Id="rId41" Type="http://schemas.openxmlformats.org/officeDocument/2006/relationships/slide" Target="slide279.xml"/><Relationship Id="rId42" Type="http://schemas.openxmlformats.org/officeDocument/2006/relationships/slide" Target="slide281.xml"/><Relationship Id="rId43" Type="http://schemas.openxmlformats.org/officeDocument/2006/relationships/slide" Target="slide240.xml"/><Relationship Id="rId44" Type="http://schemas.openxmlformats.org/officeDocument/2006/relationships/slide" Target="slide221.xml"/><Relationship Id="rId45" Type="http://schemas.openxmlformats.org/officeDocument/2006/relationships/slide" Target="slide222.xml"/><Relationship Id="rId46" Type="http://schemas.openxmlformats.org/officeDocument/2006/relationships/slide" Target="slide160.xml"/><Relationship Id="rId47" Type="http://schemas.openxmlformats.org/officeDocument/2006/relationships/slide" Target="slide164.xml"/><Relationship Id="rId48" Type="http://schemas.openxmlformats.org/officeDocument/2006/relationships/slide" Target="slide290.xml"/><Relationship Id="rId49" Type="http://schemas.openxmlformats.org/officeDocument/2006/relationships/slide" Target="slide137.xml"/><Relationship Id="rId50" Type="http://schemas.openxmlformats.org/officeDocument/2006/relationships/slide" Target="slide230.xml"/><Relationship Id="rId51" Type="http://schemas.openxmlformats.org/officeDocument/2006/relationships/slide" Target="slide147.xml"/><Relationship Id="rId52" Type="http://schemas.openxmlformats.org/officeDocument/2006/relationships/slide" Target="slide108.xml"/><Relationship Id="rId53" Type="http://schemas.openxmlformats.org/officeDocument/2006/relationships/slide" Target="slide149.xml"/><Relationship Id="rId54" Type="http://schemas.openxmlformats.org/officeDocument/2006/relationships/slide" Target="slide258.xml"/><Relationship Id="rId55" Type="http://schemas.openxmlformats.org/officeDocument/2006/relationships/slide" Target="slide79.xml"/><Relationship Id="rId56" Type="http://schemas.openxmlformats.org/officeDocument/2006/relationships/slide" Target="slide75.xml"/><Relationship Id="rId57" Type="http://schemas.openxmlformats.org/officeDocument/2006/relationships/slide" Target="slide117.xml"/><Relationship Id="rId58" Type="http://schemas.openxmlformats.org/officeDocument/2006/relationships/slide" Target="slide80.xml"/><Relationship Id="rId59" Type="http://schemas.openxmlformats.org/officeDocument/2006/relationships/slide" Target="slide301.xml"/><Relationship Id="rId60" Type="http://schemas.openxmlformats.org/officeDocument/2006/relationships/slide" Target="slide128.xml"/><Relationship Id="rId61" Type="http://schemas.openxmlformats.org/officeDocument/2006/relationships/slide" Target="slide175.xml"/><Relationship Id="rId62" Type="http://schemas.openxmlformats.org/officeDocument/2006/relationships/slide" Target="slide39.xml"/><Relationship Id="rId63" Type="http://schemas.openxmlformats.org/officeDocument/2006/relationships/slide" Target="slide257.xml"/><Relationship Id="rId64" Type="http://schemas.openxmlformats.org/officeDocument/2006/relationships/slide" Target="slide60.xml"/><Relationship Id="rId65" Type="http://schemas.openxmlformats.org/officeDocument/2006/relationships/slide" Target="slide116.xml"/><Relationship Id="rId66" Type="http://schemas.openxmlformats.org/officeDocument/2006/relationships/slide" Target="slide218.xml"/><Relationship Id="rId67" Type="http://schemas.openxmlformats.org/officeDocument/2006/relationships/slide" Target="slide152.xml"/><Relationship Id="rId68" Type="http://schemas.openxmlformats.org/officeDocument/2006/relationships/slide" Target="slide197.xml"/><Relationship Id="rId69" Type="http://schemas.openxmlformats.org/officeDocument/2006/relationships/slide" Target="slide132.xml"/><Relationship Id="rId70" Type="http://schemas.openxmlformats.org/officeDocument/2006/relationships/slide" Target="slide135.xml"/><Relationship Id="rId71" Type="http://schemas.openxmlformats.org/officeDocument/2006/relationships/slide" Target="slide162.xml"/></Relationships>
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43.xml"/><Relationship Id="rId3" Type="http://schemas.openxmlformats.org/officeDocument/2006/relationships/slide" Target="slide97.xml"/><Relationship Id="rId4" Type="http://schemas.openxmlformats.org/officeDocument/2006/relationships/slide" Target="slide100.xml"/><Relationship Id="rId5" Type="http://schemas.openxmlformats.org/officeDocument/2006/relationships/slide" Target="slide102.xml"/><Relationship Id="rId6" Type="http://schemas.openxmlformats.org/officeDocument/2006/relationships/slide" Target="slide115.xml"/><Relationship Id="rId7" Type="http://schemas.openxmlformats.org/officeDocument/2006/relationships/slide" Target="slide86.xml"/><Relationship Id="rId8" Type="http://schemas.openxmlformats.org/officeDocument/2006/relationships/slide" Target="slide126.xml"/><Relationship Id="rId9" Type="http://schemas.openxmlformats.org/officeDocument/2006/relationships/slide" Target="slide125.xml"/><Relationship Id="rId10" Type="http://schemas.openxmlformats.org/officeDocument/2006/relationships/slide" Target="slide142.xml"/><Relationship Id="rId11" Type="http://schemas.openxmlformats.org/officeDocument/2006/relationships/slide" Target="slide127.xml"/><Relationship Id="rId12" Type="http://schemas.openxmlformats.org/officeDocument/2006/relationships/slide" Target="slide83.xml"/><Relationship Id="rId13" Type="http://schemas.openxmlformats.org/officeDocument/2006/relationships/slide" Target="slide104.xml"/><Relationship Id="rId14" Type="http://schemas.openxmlformats.org/officeDocument/2006/relationships/slide" Target="slide269.xml"/><Relationship Id="rId15" Type="http://schemas.openxmlformats.org/officeDocument/2006/relationships/slide" Target="slide282.xml"/><Relationship Id="rId16" Type="http://schemas.openxmlformats.org/officeDocument/2006/relationships/slide" Target="slide271.xml"/><Relationship Id="rId17" Type="http://schemas.openxmlformats.org/officeDocument/2006/relationships/slide" Target="slide272.xml"/><Relationship Id="rId18" Type="http://schemas.openxmlformats.org/officeDocument/2006/relationships/slide" Target="slide275.xml"/><Relationship Id="rId19" Type="http://schemas.openxmlformats.org/officeDocument/2006/relationships/slide" Target="slide277.xml"/><Relationship Id="rId20" Type="http://schemas.openxmlformats.org/officeDocument/2006/relationships/slide" Target="slide279.xml"/><Relationship Id="rId21" Type="http://schemas.openxmlformats.org/officeDocument/2006/relationships/slide" Target="slide276.xml"/><Relationship Id="rId22" Type="http://schemas.openxmlformats.org/officeDocument/2006/relationships/slide" Target="slide281.xml"/><Relationship Id="rId23" Type="http://schemas.openxmlformats.org/officeDocument/2006/relationships/slide" Target="slide248.xml"/><Relationship Id="rId24" Type="http://schemas.openxmlformats.org/officeDocument/2006/relationships/slide" Target="slide250.xml"/><Relationship Id="rId25" Type="http://schemas.openxmlformats.org/officeDocument/2006/relationships/slide" Target="slide255.xml"/><Relationship Id="rId26" Type="http://schemas.openxmlformats.org/officeDocument/2006/relationships/slide" Target="slide259.xml"/><Relationship Id="rId27" Type="http://schemas.openxmlformats.org/officeDocument/2006/relationships/slide" Target="slide300.xml"/><Relationship Id="rId28" Type="http://schemas.openxmlformats.org/officeDocument/2006/relationships/slide" Target="slide280.xml"/><Relationship Id="rId29" Type="http://schemas.openxmlformats.org/officeDocument/2006/relationships/slide" Target="slide296.xml"/><Relationship Id="rId30" Type="http://schemas.openxmlformats.org/officeDocument/2006/relationships/slide" Target="slide84.xml"/><Relationship Id="rId31" Type="http://schemas.openxmlformats.org/officeDocument/2006/relationships/slide" Target="slide105.xml"/><Relationship Id="rId32" Type="http://schemas.openxmlformats.org/officeDocument/2006/relationships/slide" Target="slide246.xml"/><Relationship Id="rId33" Type="http://schemas.openxmlformats.org/officeDocument/2006/relationships/slide" Target="slide230.xml"/><Relationship Id="rId34" Type="http://schemas.openxmlformats.org/officeDocument/2006/relationships/slide" Target="slide27.xml"/><Relationship Id="rId35" Type="http://schemas.openxmlformats.org/officeDocument/2006/relationships/slide" Target="slide85.xml"/><Relationship Id="rId36" Type="http://schemas.openxmlformats.org/officeDocument/2006/relationships/slide" Target="slide40.xml"/><Relationship Id="rId37" Type="http://schemas.openxmlformats.org/officeDocument/2006/relationships/slide" Target="slide28.xml"/><Relationship Id="rId38" Type="http://schemas.openxmlformats.org/officeDocument/2006/relationships/slide" Target="slide44.xml"/><Relationship Id="rId39" Type="http://schemas.openxmlformats.org/officeDocument/2006/relationships/slide" Target="slide22.xml"/><Relationship Id="rId40" Type="http://schemas.openxmlformats.org/officeDocument/2006/relationships/slide" Target="slide75.xml"/><Relationship Id="rId41" Type="http://schemas.openxmlformats.org/officeDocument/2006/relationships/slide" Target="slide30.xml"/><Relationship Id="rId42" Type="http://schemas.openxmlformats.org/officeDocument/2006/relationships/slide" Target="slide238.xml"/><Relationship Id="rId43" Type="http://schemas.openxmlformats.org/officeDocument/2006/relationships/slide" Target="slide67.xml"/><Relationship Id="rId44" Type="http://schemas.openxmlformats.org/officeDocument/2006/relationships/slide" Target="slide69.xml"/><Relationship Id="rId45" Type="http://schemas.openxmlformats.org/officeDocument/2006/relationships/slide" Target="slide45.xml"/><Relationship Id="rId46" Type="http://schemas.openxmlformats.org/officeDocument/2006/relationships/slide" Target="slide293.xml"/><Relationship Id="rId47" Type="http://schemas.openxmlformats.org/officeDocument/2006/relationships/slide" Target="slide130.xml"/><Relationship Id="rId48" Type="http://schemas.openxmlformats.org/officeDocument/2006/relationships/slide" Target="slide149.xml"/><Relationship Id="rId49" Type="http://schemas.openxmlformats.org/officeDocument/2006/relationships/slide" Target="slide234.xml"/><Relationship Id="rId50" Type="http://schemas.openxmlformats.org/officeDocument/2006/relationships/slide" Target="slide258.xml"/><Relationship Id="rId51" Type="http://schemas.openxmlformats.org/officeDocument/2006/relationships/slide" Target="slide213.xml"/><Relationship Id="rId52" Type="http://schemas.openxmlformats.org/officeDocument/2006/relationships/slide" Target="slide239.xml"/><Relationship Id="rId53" Type="http://schemas.openxmlformats.org/officeDocument/2006/relationships/slide" Target="slide158.xml"/><Relationship Id="rId54" Type="http://schemas.openxmlformats.org/officeDocument/2006/relationships/slide" Target="slide178.xml"/><Relationship Id="rId55" Type="http://schemas.openxmlformats.org/officeDocument/2006/relationships/slide" Target="slide195.xml"/><Relationship Id="rId56" Type="http://schemas.openxmlformats.org/officeDocument/2006/relationships/slide" Target="slide218.xml"/><Relationship Id="rId57" Type="http://schemas.openxmlformats.org/officeDocument/2006/relationships/slide" Target="slide147.xml"/><Relationship Id="rId58" Type="http://schemas.openxmlformats.org/officeDocument/2006/relationships/slide" Target="slide155.xml"/><Relationship Id="rId59" Type="http://schemas.openxmlformats.org/officeDocument/2006/relationships/slide" Target="slide148.xml"/><Relationship Id="rId60" Type="http://schemas.openxmlformats.org/officeDocument/2006/relationships/slide" Target="slide256.xml"/><Relationship Id="rId61" Type="http://schemas.openxmlformats.org/officeDocument/2006/relationships/slide" Target="slide93.xml"/><Relationship Id="rId62" Type="http://schemas.openxmlformats.org/officeDocument/2006/relationships/slide" Target="slide245.xml"/><Relationship Id="rId63" Type="http://schemas.openxmlformats.org/officeDocument/2006/relationships/slide" Target="slide59.xml"/><Relationship Id="rId64" Type="http://schemas.openxmlformats.org/officeDocument/2006/relationships/slide" Target="slide61.xml"/><Relationship Id="rId65" Type="http://schemas.openxmlformats.org/officeDocument/2006/relationships/slide" Target="slide90.xml"/><Relationship Id="rId66" Type="http://schemas.openxmlformats.org/officeDocument/2006/relationships/slide" Target="slide91.xml"/><Relationship Id="rId67" Type="http://schemas.openxmlformats.org/officeDocument/2006/relationships/slide" Target="slide70.xml"/><Relationship Id="rId68" Type="http://schemas.openxmlformats.org/officeDocument/2006/relationships/slide" Target="slide159.xml"/><Relationship Id="rId69" Type="http://schemas.openxmlformats.org/officeDocument/2006/relationships/slide" Target="slide199.xml"/><Relationship Id="rId70" Type="http://schemas.openxmlformats.org/officeDocument/2006/relationships/slide" Target="slide160.xml"/><Relationship Id="rId71" Type="http://schemas.openxmlformats.org/officeDocument/2006/relationships/slide" Target="slide185.xml"/><Relationship Id="rId72" Type="http://schemas.openxmlformats.org/officeDocument/2006/relationships/slide" Target="slide163.xml"/><Relationship Id="rId73" Type="http://schemas.openxmlformats.org/officeDocument/2006/relationships/slide" Target="slide164.xml"/><Relationship Id="rId74" Type="http://schemas.openxmlformats.org/officeDocument/2006/relationships/slide" Target="slide217.xml"/><Relationship Id="rId75" Type="http://schemas.openxmlformats.org/officeDocument/2006/relationships/slide" Target="slide220.xml"/><Relationship Id="rId76" Type="http://schemas.openxmlformats.org/officeDocument/2006/relationships/slide" Target="slide216.xml"/></Relationships>
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84.xml"/><Relationship Id="rId3" Type="http://schemas.openxmlformats.org/officeDocument/2006/relationships/slide" Target="slide158.xml"/><Relationship Id="rId4" Type="http://schemas.openxmlformats.org/officeDocument/2006/relationships/slide" Target="slide218.xml"/><Relationship Id="rId5" Type="http://schemas.openxmlformats.org/officeDocument/2006/relationships/slide" Target="slide64.xml"/><Relationship Id="rId6" Type="http://schemas.openxmlformats.org/officeDocument/2006/relationships/slide" Target="slide301.xml"/><Relationship Id="rId7" Type="http://schemas.openxmlformats.org/officeDocument/2006/relationships/slide" Target="slide37.xml"/><Relationship Id="rId8" Type="http://schemas.openxmlformats.org/officeDocument/2006/relationships/slide" Target="slide44.xml"/><Relationship Id="rId9" Type="http://schemas.openxmlformats.org/officeDocument/2006/relationships/slide" Target="slide90.xml"/><Relationship Id="rId10" Type="http://schemas.openxmlformats.org/officeDocument/2006/relationships/slide" Target="slide302.xml"/><Relationship Id="rId11" Type="http://schemas.openxmlformats.org/officeDocument/2006/relationships/slide" Target="slide191.xml"/><Relationship Id="rId12" Type="http://schemas.openxmlformats.org/officeDocument/2006/relationships/slide" Target="slide275.xml"/><Relationship Id="rId13" Type="http://schemas.openxmlformats.org/officeDocument/2006/relationships/slide" Target="slide103.xml"/><Relationship Id="rId14" Type="http://schemas.openxmlformats.org/officeDocument/2006/relationships/slide" Target="slide104.xml"/><Relationship Id="rId15" Type="http://schemas.openxmlformats.org/officeDocument/2006/relationships/slide" Target="slide60.xml"/><Relationship Id="rId16" Type="http://schemas.openxmlformats.org/officeDocument/2006/relationships/slide" Target="slide26.xml"/><Relationship Id="rId17" Type="http://schemas.openxmlformats.org/officeDocument/2006/relationships/slide" Target="slide56.xml"/><Relationship Id="rId18" Type="http://schemas.openxmlformats.org/officeDocument/2006/relationships/slide" Target="slide126.xml"/><Relationship Id="rId19" Type="http://schemas.openxmlformats.org/officeDocument/2006/relationships/slide" Target="slide142.xml"/><Relationship Id="rId20" Type="http://schemas.openxmlformats.org/officeDocument/2006/relationships/slide" Target="slide192.xml"/><Relationship Id="rId21" Type="http://schemas.openxmlformats.org/officeDocument/2006/relationships/slide" Target="slide77.xml"/><Relationship Id="rId22" Type="http://schemas.openxmlformats.org/officeDocument/2006/relationships/slide" Target="slide183.xml"/><Relationship Id="rId23" Type="http://schemas.openxmlformats.org/officeDocument/2006/relationships/slide" Target="slide274.xml"/><Relationship Id="rId24" Type="http://schemas.openxmlformats.org/officeDocument/2006/relationships/slide" Target="slide291.xml"/><Relationship Id="rId25" Type="http://schemas.openxmlformats.org/officeDocument/2006/relationships/slide" Target="slide255.xml"/><Relationship Id="rId26" Type="http://schemas.openxmlformats.org/officeDocument/2006/relationships/slide" Target="slide256.xml"/><Relationship Id="rId27" Type="http://schemas.openxmlformats.org/officeDocument/2006/relationships/slide" Target="slide260.xml"/><Relationship Id="rId28" Type="http://schemas.openxmlformats.org/officeDocument/2006/relationships/slide" Target="slide118.xml"/><Relationship Id="rId29" Type="http://schemas.openxmlformats.org/officeDocument/2006/relationships/slide" Target="slide131.xml"/><Relationship Id="rId30" Type="http://schemas.openxmlformats.org/officeDocument/2006/relationships/slide" Target="slide257.xml"/><Relationship Id="rId31" Type="http://schemas.openxmlformats.org/officeDocument/2006/relationships/slide" Target="slide281.xml"/><Relationship Id="rId32" Type="http://schemas.openxmlformats.org/officeDocument/2006/relationships/slide" Target="slide297.xml"/><Relationship Id="rId33" Type="http://schemas.openxmlformats.org/officeDocument/2006/relationships/slide" Target="slide298.xml"/><Relationship Id="rId34" Type="http://schemas.openxmlformats.org/officeDocument/2006/relationships/slide" Target="slide144.xml"/><Relationship Id="rId35" Type="http://schemas.openxmlformats.org/officeDocument/2006/relationships/slide" Target="slide146.xml"/><Relationship Id="rId36" Type="http://schemas.openxmlformats.org/officeDocument/2006/relationships/slide" Target="slide155.xml"/><Relationship Id="rId37" Type="http://schemas.openxmlformats.org/officeDocument/2006/relationships/slide" Target="slide212.xml"/><Relationship Id="rId38" Type="http://schemas.openxmlformats.org/officeDocument/2006/relationships/slide" Target="slide223.xml"/><Relationship Id="rId39" Type="http://schemas.openxmlformats.org/officeDocument/2006/relationships/slide" Target="slide141.xml"/><Relationship Id="rId40" Type="http://schemas.openxmlformats.org/officeDocument/2006/relationships/slide" Target="slide150.xml"/><Relationship Id="rId41" Type="http://schemas.openxmlformats.org/officeDocument/2006/relationships/slide" Target="slide164.xml"/><Relationship Id="rId42" Type="http://schemas.openxmlformats.org/officeDocument/2006/relationships/slide" Target="slide166.xml"/><Relationship Id="rId43" Type="http://schemas.openxmlformats.org/officeDocument/2006/relationships/slide" Target="slide148.xml"/><Relationship Id="rId44" Type="http://schemas.openxmlformats.org/officeDocument/2006/relationships/slide" Target="slide294.xml"/><Relationship Id="rId45" Type="http://schemas.openxmlformats.org/officeDocument/2006/relationships/slide" Target="slide153.xml"/><Relationship Id="rId46" Type="http://schemas.openxmlformats.org/officeDocument/2006/relationships/slide" Target="slide186.xml"/><Relationship Id="rId47" Type="http://schemas.openxmlformats.org/officeDocument/2006/relationships/slide" Target="slide215.xml"/><Relationship Id="rId48" Type="http://schemas.openxmlformats.org/officeDocument/2006/relationships/slide" Target="slide182.xml"/><Relationship Id="rId49" Type="http://schemas.openxmlformats.org/officeDocument/2006/relationships/slide" Target="slide147.xml"/><Relationship Id="rId50" Type="http://schemas.openxmlformats.org/officeDocument/2006/relationships/slide" Target="slide151.xml"/><Relationship Id="rId51" Type="http://schemas.openxmlformats.org/officeDocument/2006/relationships/slide" Target="slide145.xml"/><Relationship Id="rId52" Type="http://schemas.openxmlformats.org/officeDocument/2006/relationships/slide" Target="slide149.xml"/><Relationship Id="rId53" Type="http://schemas.openxmlformats.org/officeDocument/2006/relationships/slide" Target="slide173.xml"/><Relationship Id="rId54" Type="http://schemas.openxmlformats.org/officeDocument/2006/relationships/slide" Target="slide175.xml"/><Relationship Id="rId55" Type="http://schemas.openxmlformats.org/officeDocument/2006/relationships/slide" Target="slide143.xml"/><Relationship Id="rId56" Type="http://schemas.openxmlformats.org/officeDocument/2006/relationships/slide" Target="slide201.xml"/><Relationship Id="rId57" Type="http://schemas.openxmlformats.org/officeDocument/2006/relationships/slide" Target="slide52.xml"/><Relationship Id="rId58" Type="http://schemas.openxmlformats.org/officeDocument/2006/relationships/slide" Target="slide95.xml"/><Relationship Id="rId59" Type="http://schemas.openxmlformats.org/officeDocument/2006/relationships/slide" Target="slide78.xml"/><Relationship Id="rId60" Type="http://schemas.openxmlformats.org/officeDocument/2006/relationships/slide" Target="slide81.xml"/><Relationship Id="rId61" Type="http://schemas.openxmlformats.org/officeDocument/2006/relationships/slide" Target="slide112.xml"/><Relationship Id="rId62" Type="http://schemas.openxmlformats.org/officeDocument/2006/relationships/slide" Target="slide51.xml"/><Relationship Id="rId63" Type="http://schemas.openxmlformats.org/officeDocument/2006/relationships/slide" Target="slide115.xml"/><Relationship Id="rId64" Type="http://schemas.openxmlformats.org/officeDocument/2006/relationships/slide" Target="slide163.xml"/><Relationship Id="rId65" Type="http://schemas.openxmlformats.org/officeDocument/2006/relationships/slide" Target="slide111.xml"/><Relationship Id="rId66" Type="http://schemas.openxmlformats.org/officeDocument/2006/relationships/slide" Target="slide113.xml"/><Relationship Id="rId67" Type="http://schemas.openxmlformats.org/officeDocument/2006/relationships/slide" Target="slide117.xml"/><Relationship Id="rId68" Type="http://schemas.openxmlformats.org/officeDocument/2006/relationships/slide" Target="slide129.xml"/><Relationship Id="rId69" Type="http://schemas.openxmlformats.org/officeDocument/2006/relationships/slide" Target="slide279.xml"/><Relationship Id="rId70" Type="http://schemas.openxmlformats.org/officeDocument/2006/relationships/slide" Target="slide304.xml"/><Relationship Id="rId71" Type="http://schemas.openxmlformats.org/officeDocument/2006/relationships/slide" Target="slide217.xml"/><Relationship Id="rId72" Type="http://schemas.openxmlformats.org/officeDocument/2006/relationships/slide" Target="slide276.xml"/><Relationship Id="rId73" Type="http://schemas.openxmlformats.org/officeDocument/2006/relationships/slide" Target="slide59.xml"/><Relationship Id="rId74" Type="http://schemas.openxmlformats.org/officeDocument/2006/relationships/slide" Target="slide203.xml"/><Relationship Id="rId75" Type="http://schemas.openxmlformats.org/officeDocument/2006/relationships/slide" Target="slide205.xml"/><Relationship Id="rId76" Type="http://schemas.openxmlformats.org/officeDocument/2006/relationships/slide" Target="slide198.xml"/></Relationships>
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34.xml"/><Relationship Id="rId3" Type="http://schemas.openxmlformats.org/officeDocument/2006/relationships/slide" Target="slide38.xml"/><Relationship Id="rId4" Type="http://schemas.openxmlformats.org/officeDocument/2006/relationships/slide" Target="slide40.xml"/><Relationship Id="rId5" Type="http://schemas.openxmlformats.org/officeDocument/2006/relationships/slide" Target="slide99.xml"/><Relationship Id="rId6" Type="http://schemas.openxmlformats.org/officeDocument/2006/relationships/slide" Target="slide93.xml"/><Relationship Id="rId7" Type="http://schemas.openxmlformats.org/officeDocument/2006/relationships/slide" Target="slide184.xml"/><Relationship Id="rId8" Type="http://schemas.openxmlformats.org/officeDocument/2006/relationships/slide" Target="slide145.xml"/><Relationship Id="rId9" Type="http://schemas.openxmlformats.org/officeDocument/2006/relationships/slide" Target="slide222.xml"/><Relationship Id="rId10" Type="http://schemas.openxmlformats.org/officeDocument/2006/relationships/slide" Target="slide180.xml"/><Relationship Id="rId11" Type="http://schemas.openxmlformats.org/officeDocument/2006/relationships/slide" Target="slide302.xml"/><Relationship Id="rId12" Type="http://schemas.openxmlformats.org/officeDocument/2006/relationships/slide" Target="slide167.xml"/><Relationship Id="rId13" Type="http://schemas.openxmlformats.org/officeDocument/2006/relationships/slide" Target="slide283.xml"/><Relationship Id="rId14" Type="http://schemas.openxmlformats.org/officeDocument/2006/relationships/slide" Target="slide113.xml"/><Relationship Id="rId15" Type="http://schemas.openxmlformats.org/officeDocument/2006/relationships/slide" Target="slide281.xml"/><Relationship Id="rId16" Type="http://schemas.openxmlformats.org/officeDocument/2006/relationships/slide" Target="slide243.xml"/><Relationship Id="rId17" Type="http://schemas.openxmlformats.org/officeDocument/2006/relationships/slide" Target="slide244.xml"/><Relationship Id="rId18" Type="http://schemas.openxmlformats.org/officeDocument/2006/relationships/slide" Target="slide254.xml"/><Relationship Id="rId19" Type="http://schemas.openxmlformats.org/officeDocument/2006/relationships/slide" Target="slide280.xml"/><Relationship Id="rId20" Type="http://schemas.openxmlformats.org/officeDocument/2006/relationships/slide" Target="slide282.xml"/><Relationship Id="rId21" Type="http://schemas.openxmlformats.org/officeDocument/2006/relationships/slide" Target="slide130.xml"/><Relationship Id="rId22" Type="http://schemas.openxmlformats.org/officeDocument/2006/relationships/slide" Target="slide249.xml"/><Relationship Id="rId23" Type="http://schemas.openxmlformats.org/officeDocument/2006/relationships/slide" Target="slide248.xml"/><Relationship Id="rId24" Type="http://schemas.openxmlformats.org/officeDocument/2006/relationships/slide" Target="slide247.xml"/><Relationship Id="rId25" Type="http://schemas.openxmlformats.org/officeDocument/2006/relationships/slide" Target="slide245.xml"/><Relationship Id="rId26" Type="http://schemas.openxmlformats.org/officeDocument/2006/relationships/slide" Target="slide129.xml"/><Relationship Id="rId27" Type="http://schemas.openxmlformats.org/officeDocument/2006/relationships/slide" Target="slide255.xml"/><Relationship Id="rId28" Type="http://schemas.openxmlformats.org/officeDocument/2006/relationships/slide" Target="slide179.xml"/><Relationship Id="rId29" Type="http://schemas.openxmlformats.org/officeDocument/2006/relationships/slide" Target="slide119.xml"/><Relationship Id="rId30" Type="http://schemas.openxmlformats.org/officeDocument/2006/relationships/slide" Target="slide76.xml"/><Relationship Id="rId31" Type="http://schemas.openxmlformats.org/officeDocument/2006/relationships/slide" Target="slide293.xml"/><Relationship Id="rId32" Type="http://schemas.openxmlformats.org/officeDocument/2006/relationships/slide" Target="slide256.xml"/><Relationship Id="rId33" Type="http://schemas.openxmlformats.org/officeDocument/2006/relationships/slide" Target="slide68.xml"/><Relationship Id="rId34" Type="http://schemas.openxmlformats.org/officeDocument/2006/relationships/slide" Target="slide22.xml"/><Relationship Id="rId35" Type="http://schemas.openxmlformats.org/officeDocument/2006/relationships/slide" Target="slide175.xml"/><Relationship Id="rId36" Type="http://schemas.openxmlformats.org/officeDocument/2006/relationships/slide" Target="slide144.xml"/><Relationship Id="rId37" Type="http://schemas.openxmlformats.org/officeDocument/2006/relationships/slide" Target="slide26.xml"/><Relationship Id="rId38" Type="http://schemas.openxmlformats.org/officeDocument/2006/relationships/slide" Target="slide142.xml"/><Relationship Id="rId39" Type="http://schemas.openxmlformats.org/officeDocument/2006/relationships/slide" Target="slide232.xml"/><Relationship Id="rId40" Type="http://schemas.openxmlformats.org/officeDocument/2006/relationships/slide" Target="slide201.xml"/><Relationship Id="rId41" Type="http://schemas.openxmlformats.org/officeDocument/2006/relationships/slide" Target="slide299.xml"/><Relationship Id="rId42" Type="http://schemas.openxmlformats.org/officeDocument/2006/relationships/slide" Target="slide301.xml"/><Relationship Id="rId43" Type="http://schemas.openxmlformats.org/officeDocument/2006/relationships/slide" Target="slide300.xml"/><Relationship Id="rId44" Type="http://schemas.openxmlformats.org/officeDocument/2006/relationships/slide" Target="slide29.xml"/><Relationship Id="rId45" Type="http://schemas.openxmlformats.org/officeDocument/2006/relationships/slide" Target="slide30.xml"/><Relationship Id="rId46" Type="http://schemas.openxmlformats.org/officeDocument/2006/relationships/slide" Target="slide273.xml"/><Relationship Id="rId47" Type="http://schemas.openxmlformats.org/officeDocument/2006/relationships/slide" Target="slide24.xml"/><Relationship Id="rId48" Type="http://schemas.openxmlformats.org/officeDocument/2006/relationships/slide" Target="slide80.xml"/><Relationship Id="rId49" Type="http://schemas.openxmlformats.org/officeDocument/2006/relationships/slide" Target="slide143.xml"/><Relationship Id="rId50" Type="http://schemas.openxmlformats.org/officeDocument/2006/relationships/slide" Target="slide85.xml"/><Relationship Id="rId51" Type="http://schemas.openxmlformats.org/officeDocument/2006/relationships/slide" Target="slide215.xml"/><Relationship Id="rId52" Type="http://schemas.openxmlformats.org/officeDocument/2006/relationships/slide" Target="slide87.xml"/><Relationship Id="rId53" Type="http://schemas.openxmlformats.org/officeDocument/2006/relationships/slide" Target="slide214.xml"/><Relationship Id="rId54" Type="http://schemas.openxmlformats.org/officeDocument/2006/relationships/slide" Target="slide224.xml"/><Relationship Id="rId55" Type="http://schemas.openxmlformats.org/officeDocument/2006/relationships/slide" Target="slide199.xml"/><Relationship Id="rId56" Type="http://schemas.openxmlformats.org/officeDocument/2006/relationships/slide" Target="slide95.xml"/><Relationship Id="rId57" Type="http://schemas.openxmlformats.org/officeDocument/2006/relationships/slide" Target="slide146.xml"/><Relationship Id="rId58" Type="http://schemas.openxmlformats.org/officeDocument/2006/relationships/slide" Target="slide153.xml"/><Relationship Id="rId59" Type="http://schemas.openxmlformats.org/officeDocument/2006/relationships/slide" Target="slide77.xml"/><Relationship Id="rId60" Type="http://schemas.openxmlformats.org/officeDocument/2006/relationships/slide" Target="slide78.xml"/><Relationship Id="rId61" Type="http://schemas.openxmlformats.org/officeDocument/2006/relationships/slide" Target="slide27.xml"/><Relationship Id="rId62" Type="http://schemas.openxmlformats.org/officeDocument/2006/relationships/slide" Target="slide230.xml"/><Relationship Id="rId63" Type="http://schemas.openxmlformats.org/officeDocument/2006/relationships/slide" Target="slide229.xml"/><Relationship Id="rId64" Type="http://schemas.openxmlformats.org/officeDocument/2006/relationships/slide" Target="slide253.xml"/><Relationship Id="rId65" Type="http://schemas.openxmlformats.org/officeDocument/2006/relationships/slide" Target="slide269.xml"/><Relationship Id="rId66" Type="http://schemas.openxmlformats.org/officeDocument/2006/relationships/slide" Target="slide150.xml"/><Relationship Id="rId67" Type="http://schemas.openxmlformats.org/officeDocument/2006/relationships/slide" Target="slide265.xml"/><Relationship Id="rId68" Type="http://schemas.openxmlformats.org/officeDocument/2006/relationships/slide" Target="slide233.xml"/><Relationship Id="rId69" Type="http://schemas.openxmlformats.org/officeDocument/2006/relationships/slide" Target="slide239.xml"/></Relationships>
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57.xml"/><Relationship Id="rId3" Type="http://schemas.openxmlformats.org/officeDocument/2006/relationships/slide" Target="slide231.xml"/><Relationship Id="rId4" Type="http://schemas.openxmlformats.org/officeDocument/2006/relationships/slide" Target="slide248.xml"/><Relationship Id="rId5" Type="http://schemas.openxmlformats.org/officeDocument/2006/relationships/slide" Target="slide113.xml"/><Relationship Id="rId6" Type="http://schemas.openxmlformats.org/officeDocument/2006/relationships/slide" Target="slide232.xml"/><Relationship Id="rId7" Type="http://schemas.openxmlformats.org/officeDocument/2006/relationships/slide" Target="slide235.xml"/><Relationship Id="rId8" Type="http://schemas.openxmlformats.org/officeDocument/2006/relationships/slide" Target="slide254.xml"/><Relationship Id="rId9" Type="http://schemas.openxmlformats.org/officeDocument/2006/relationships/slide" Target="slide264.xml"/><Relationship Id="rId10" Type="http://schemas.openxmlformats.org/officeDocument/2006/relationships/slide" Target="slide244.xml"/><Relationship Id="rId11" Type="http://schemas.openxmlformats.org/officeDocument/2006/relationships/slide" Target="slide150.xml"/><Relationship Id="rId12" Type="http://schemas.openxmlformats.org/officeDocument/2006/relationships/slide" Target="slide216.xml"/><Relationship Id="rId13" Type="http://schemas.openxmlformats.org/officeDocument/2006/relationships/slide" Target="slide128.xml"/><Relationship Id="rId14" Type="http://schemas.openxmlformats.org/officeDocument/2006/relationships/slide" Target="slide149.xml"/><Relationship Id="rId15" Type="http://schemas.openxmlformats.org/officeDocument/2006/relationships/slide" Target="slide131.xml"/><Relationship Id="rId16" Type="http://schemas.openxmlformats.org/officeDocument/2006/relationships/slide" Target="slide28.xml"/><Relationship Id="rId17" Type="http://schemas.openxmlformats.org/officeDocument/2006/relationships/slide" Target="slide30.xml"/><Relationship Id="rId18" Type="http://schemas.openxmlformats.org/officeDocument/2006/relationships/slide" Target="slide213.xml"/><Relationship Id="rId19" Type="http://schemas.openxmlformats.org/officeDocument/2006/relationships/slide" Target="slide224.xml"/><Relationship Id="rId20" Type="http://schemas.openxmlformats.org/officeDocument/2006/relationships/slide" Target="slide126.xml"/><Relationship Id="rId21" Type="http://schemas.openxmlformats.org/officeDocument/2006/relationships/slide" Target="slide214.xml"/><Relationship Id="rId22" Type="http://schemas.openxmlformats.org/officeDocument/2006/relationships/slide" Target="slide144.xml"/><Relationship Id="rId23" Type="http://schemas.openxmlformats.org/officeDocument/2006/relationships/slide" Target="slide249.xml"/><Relationship Id="rId24" Type="http://schemas.openxmlformats.org/officeDocument/2006/relationships/slide" Target="slide296.xml"/><Relationship Id="rId25" Type="http://schemas.openxmlformats.org/officeDocument/2006/relationships/slide" Target="slide196.xml"/><Relationship Id="rId26" Type="http://schemas.openxmlformats.org/officeDocument/2006/relationships/slide" Target="slide78.xml"/><Relationship Id="rId27" Type="http://schemas.openxmlformats.org/officeDocument/2006/relationships/slide" Target="slide23.xml"/><Relationship Id="rId28" Type="http://schemas.openxmlformats.org/officeDocument/2006/relationships/slide" Target="slide43.xml"/><Relationship Id="rId29" Type="http://schemas.openxmlformats.org/officeDocument/2006/relationships/slide" Target="slide211.xml"/><Relationship Id="rId30" Type="http://schemas.openxmlformats.org/officeDocument/2006/relationships/slide" Target="slide212.xml"/><Relationship Id="rId31" Type="http://schemas.openxmlformats.org/officeDocument/2006/relationships/slide" Target="slide223.xml"/><Relationship Id="rId32" Type="http://schemas.openxmlformats.org/officeDocument/2006/relationships/slide" Target="slide217.xml"/><Relationship Id="rId33" Type="http://schemas.openxmlformats.org/officeDocument/2006/relationships/slide" Target="slide179.xml"/><Relationship Id="rId34" Type="http://schemas.openxmlformats.org/officeDocument/2006/relationships/slide" Target="slide301.xml"/><Relationship Id="rId35" Type="http://schemas.openxmlformats.org/officeDocument/2006/relationships/slide" Target="slide181.xml"/><Relationship Id="rId36" Type="http://schemas.openxmlformats.org/officeDocument/2006/relationships/slide" Target="slide155.xml"/><Relationship Id="rId37" Type="http://schemas.openxmlformats.org/officeDocument/2006/relationships/slide" Target="slide164.xml"/><Relationship Id="rId38" Type="http://schemas.openxmlformats.org/officeDocument/2006/relationships/slide" Target="slide166.xml"/><Relationship Id="rId39" Type="http://schemas.openxmlformats.org/officeDocument/2006/relationships/slide" Target="slide298.xml"/><Relationship Id="rId40" Type="http://schemas.openxmlformats.org/officeDocument/2006/relationships/slide" Target="slide48.xml"/><Relationship Id="rId41" Type="http://schemas.openxmlformats.org/officeDocument/2006/relationships/slide" Target="slide63.xml"/><Relationship Id="rId42" Type="http://schemas.openxmlformats.org/officeDocument/2006/relationships/slide" Target="slide105.xml"/><Relationship Id="rId43" Type="http://schemas.openxmlformats.org/officeDocument/2006/relationships/slide" Target="slide52.xml"/><Relationship Id="rId44" Type="http://schemas.openxmlformats.org/officeDocument/2006/relationships/slide" Target="slide280.xml"/><Relationship Id="rId45" Type="http://schemas.openxmlformats.org/officeDocument/2006/relationships/slide" Target="slide174.xml"/><Relationship Id="rId46" Type="http://schemas.openxmlformats.org/officeDocument/2006/relationships/slide" Target="slide24.xml"/><Relationship Id="rId47" Type="http://schemas.openxmlformats.org/officeDocument/2006/relationships/slide" Target="slide136.xml"/><Relationship Id="rId48" Type="http://schemas.openxmlformats.org/officeDocument/2006/relationships/slide" Target="slide79.xml"/><Relationship Id="rId49" Type="http://schemas.openxmlformats.org/officeDocument/2006/relationships/slide" Target="slide237.xml"/><Relationship Id="rId50" Type="http://schemas.openxmlformats.org/officeDocument/2006/relationships/slide" Target="slide135.xml"/><Relationship Id="rId51" Type="http://schemas.openxmlformats.org/officeDocument/2006/relationships/slide" Target="slide133.xml"/><Relationship Id="rId52" Type="http://schemas.openxmlformats.org/officeDocument/2006/relationships/slide" Target="slide70.xml"/><Relationship Id="rId53" Type="http://schemas.openxmlformats.org/officeDocument/2006/relationships/slide" Target="slide258.xml"/><Relationship Id="rId54" Type="http://schemas.openxmlformats.org/officeDocument/2006/relationships/slide" Target="slide259.xml"/><Relationship Id="rId55" Type="http://schemas.openxmlformats.org/officeDocument/2006/relationships/slide" Target="slide256.xml"/><Relationship Id="rId56" Type="http://schemas.openxmlformats.org/officeDocument/2006/relationships/slide" Target="slide255.xml"/><Relationship Id="rId57" Type="http://schemas.openxmlformats.org/officeDocument/2006/relationships/slide" Target="slide303.xml"/><Relationship Id="rId58" Type="http://schemas.openxmlformats.org/officeDocument/2006/relationships/slide" Target="slide300.xml"/><Relationship Id="rId59" Type="http://schemas.openxmlformats.org/officeDocument/2006/relationships/slide" Target="slide253.xml"/></Relationships>
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4.xml"/><Relationship Id="rId3" Type="http://schemas.openxmlformats.org/officeDocument/2006/relationships/slide" Target="slide65.xml"/><Relationship Id="rId4" Type="http://schemas.openxmlformats.org/officeDocument/2006/relationships/slide" Target="slide264.xml"/><Relationship Id="rId5" Type="http://schemas.openxmlformats.org/officeDocument/2006/relationships/slide" Target="slide280.xml"/><Relationship Id="rId6" Type="http://schemas.openxmlformats.org/officeDocument/2006/relationships/slide" Target="slide145.xml"/><Relationship Id="rId7" Type="http://schemas.openxmlformats.org/officeDocument/2006/relationships/slide" Target="slide277.xml"/><Relationship Id="rId8" Type="http://schemas.openxmlformats.org/officeDocument/2006/relationships/slide" Target="slide24.xml"/><Relationship Id="rId9" Type="http://schemas.openxmlformats.org/officeDocument/2006/relationships/slide" Target="slide69.xml"/><Relationship Id="rId10" Type="http://schemas.openxmlformats.org/officeDocument/2006/relationships/slide" Target="slide41.xml"/><Relationship Id="rId11" Type="http://schemas.openxmlformats.org/officeDocument/2006/relationships/slide" Target="slide38.xml"/><Relationship Id="rId12" Type="http://schemas.openxmlformats.org/officeDocument/2006/relationships/slide" Target="slide168.xml"/><Relationship Id="rId13" Type="http://schemas.openxmlformats.org/officeDocument/2006/relationships/slide" Target="slide39.xml"/><Relationship Id="rId14" Type="http://schemas.openxmlformats.org/officeDocument/2006/relationships/slide" Target="slide282.xml"/><Relationship Id="rId15" Type="http://schemas.openxmlformats.org/officeDocument/2006/relationships/slide" Target="slide256.xml"/><Relationship Id="rId16" Type="http://schemas.openxmlformats.org/officeDocument/2006/relationships/slide" Target="slide53.xml"/><Relationship Id="rId17" Type="http://schemas.openxmlformats.org/officeDocument/2006/relationships/slide" Target="slide106.xml"/><Relationship Id="rId18" Type="http://schemas.openxmlformats.org/officeDocument/2006/relationships/slide" Target="slide240.xml"/><Relationship Id="rId19" Type="http://schemas.openxmlformats.org/officeDocument/2006/relationships/slide" Target="slide21.xml"/><Relationship Id="rId20" Type="http://schemas.openxmlformats.org/officeDocument/2006/relationships/slide" Target="slide29.xml"/><Relationship Id="rId21" Type="http://schemas.openxmlformats.org/officeDocument/2006/relationships/slide" Target="slide119.xml"/><Relationship Id="rId22" Type="http://schemas.openxmlformats.org/officeDocument/2006/relationships/slide" Target="slide235.xml"/><Relationship Id="rId23" Type="http://schemas.openxmlformats.org/officeDocument/2006/relationships/slide" Target="slide237.xml"/><Relationship Id="rId24" Type="http://schemas.openxmlformats.org/officeDocument/2006/relationships/slide" Target="slide199.xml"/><Relationship Id="rId25" Type="http://schemas.openxmlformats.org/officeDocument/2006/relationships/slide" Target="slide192.xml"/><Relationship Id="rId26" Type="http://schemas.openxmlformats.org/officeDocument/2006/relationships/slide" Target="slide195.xml"/><Relationship Id="rId27" Type="http://schemas.openxmlformats.org/officeDocument/2006/relationships/slide" Target="slide96.xml"/><Relationship Id="rId28" Type="http://schemas.openxmlformats.org/officeDocument/2006/relationships/slide" Target="slide99.xml"/><Relationship Id="rId29" Type="http://schemas.openxmlformats.org/officeDocument/2006/relationships/slide" Target="slide234.xml"/><Relationship Id="rId30" Type="http://schemas.openxmlformats.org/officeDocument/2006/relationships/slide" Target="slide97.xml"/><Relationship Id="rId31" Type="http://schemas.openxmlformats.org/officeDocument/2006/relationships/slide" Target="slide136.xml"/><Relationship Id="rId32" Type="http://schemas.openxmlformats.org/officeDocument/2006/relationships/slide" Target="slide68.xml"/><Relationship Id="rId33" Type="http://schemas.openxmlformats.org/officeDocument/2006/relationships/slide" Target="slide25.xml"/><Relationship Id="rId34" Type="http://schemas.openxmlformats.org/officeDocument/2006/relationships/slide" Target="slide27.xml"/><Relationship Id="rId35" Type="http://schemas.openxmlformats.org/officeDocument/2006/relationships/slide" Target="slide178.xml"/><Relationship Id="rId36" Type="http://schemas.openxmlformats.org/officeDocument/2006/relationships/slide" Target="slide278.xml"/><Relationship Id="rId37" Type="http://schemas.openxmlformats.org/officeDocument/2006/relationships/slide" Target="slide200.xml"/><Relationship Id="rId38" Type="http://schemas.openxmlformats.org/officeDocument/2006/relationships/slide" Target="slide111.xml"/><Relationship Id="rId39" Type="http://schemas.openxmlformats.org/officeDocument/2006/relationships/slide" Target="slide138.xml"/><Relationship Id="rId40" Type="http://schemas.openxmlformats.org/officeDocument/2006/relationships/slide" Target="slide134.xml"/><Relationship Id="rId41" Type="http://schemas.openxmlformats.org/officeDocument/2006/relationships/slide" Target="slide152.xml"/><Relationship Id="rId42" Type="http://schemas.openxmlformats.org/officeDocument/2006/relationships/slide" Target="slide131.xml"/><Relationship Id="rId43" Type="http://schemas.openxmlformats.org/officeDocument/2006/relationships/slide" Target="slide113.xml"/><Relationship Id="rId44" Type="http://schemas.openxmlformats.org/officeDocument/2006/relationships/slide" Target="slide244.xml"/><Relationship Id="rId45" Type="http://schemas.openxmlformats.org/officeDocument/2006/relationships/slide" Target="slide260.xml"/><Relationship Id="rId46" Type="http://schemas.openxmlformats.org/officeDocument/2006/relationships/slide" Target="slide262.xml"/><Relationship Id="rId47" Type="http://schemas.openxmlformats.org/officeDocument/2006/relationships/slide" Target="slide258.xml"/><Relationship Id="rId48" Type="http://schemas.openxmlformats.org/officeDocument/2006/relationships/slide" Target="slide81.xml"/><Relationship Id="rId49" Type="http://schemas.openxmlformats.org/officeDocument/2006/relationships/slide" Target="slide83.xml"/><Relationship Id="rId50" Type="http://schemas.openxmlformats.org/officeDocument/2006/relationships/slide" Target="slide104.xml"/><Relationship Id="rId51" Type="http://schemas.openxmlformats.org/officeDocument/2006/relationships/slide" Target="slide82.xml"/><Relationship Id="rId52" Type="http://schemas.openxmlformats.org/officeDocument/2006/relationships/slide" Target="slide103.xml"/><Relationship Id="rId53" Type="http://schemas.openxmlformats.org/officeDocument/2006/relationships/slide" Target="slide101.xml"/><Relationship Id="rId54" Type="http://schemas.openxmlformats.org/officeDocument/2006/relationships/slide" Target="slide137.xml"/><Relationship Id="rId55" Type="http://schemas.openxmlformats.org/officeDocument/2006/relationships/slide" Target="slide66.xml"/><Relationship Id="rId56" Type="http://schemas.openxmlformats.org/officeDocument/2006/relationships/slide" Target="slide150.xml"/><Relationship Id="rId57" Type="http://schemas.openxmlformats.org/officeDocument/2006/relationships/slide" Target="slide151.xml"/><Relationship Id="rId58" Type="http://schemas.openxmlformats.org/officeDocument/2006/relationships/slide" Target="slide133.xml"/><Relationship Id="rId59" Type="http://schemas.openxmlformats.org/officeDocument/2006/relationships/slide" Target="slide77.xml"/><Relationship Id="rId60" Type="http://schemas.openxmlformats.org/officeDocument/2006/relationships/slide" Target="slide273.xml"/><Relationship Id="rId61" Type="http://schemas.openxmlformats.org/officeDocument/2006/relationships/slide" Target="slide275.xml"/><Relationship Id="rId62" Type="http://schemas.openxmlformats.org/officeDocument/2006/relationships/slide" Target="slide129.xml"/><Relationship Id="rId63" Type="http://schemas.openxmlformats.org/officeDocument/2006/relationships/slide" Target="slide183.xml"/><Relationship Id="rId64" Type="http://schemas.openxmlformats.org/officeDocument/2006/relationships/slide" Target="slide212.xml"/><Relationship Id="rId65" Type="http://schemas.openxmlformats.org/officeDocument/2006/relationships/slide" Target="slide76.xml"/><Relationship Id="rId66" Type="http://schemas.openxmlformats.org/officeDocument/2006/relationships/slide" Target="slide146.xml"/><Relationship Id="rId67" Type="http://schemas.openxmlformats.org/officeDocument/2006/relationships/slide" Target="slide153.xml"/><Relationship Id="rId68" Type="http://schemas.openxmlformats.org/officeDocument/2006/relationships/slide" Target="slide180.xml"/><Relationship Id="rId69" Type="http://schemas.openxmlformats.org/officeDocument/2006/relationships/slide" Target="slide56.xml"/><Relationship Id="rId70" Type="http://schemas.openxmlformats.org/officeDocument/2006/relationships/slide" Target="slide51.xml"/><Relationship Id="rId71" Type="http://schemas.openxmlformats.org/officeDocument/2006/relationships/slide" Target="slide132.xml"/><Relationship Id="rId72" Type="http://schemas.openxmlformats.org/officeDocument/2006/relationships/slide" Target="slide224.xml"/><Relationship Id="rId73" Type="http://schemas.openxmlformats.org/officeDocument/2006/relationships/slide" Target="slide94.xml"/><Relationship Id="rId74" Type="http://schemas.openxmlformats.org/officeDocument/2006/relationships/slide" Target="slide93.xml"/><Relationship Id="rId75" Type="http://schemas.openxmlformats.org/officeDocument/2006/relationships/slide" Target="slide95.xml"/><Relationship Id="rId76" Type="http://schemas.openxmlformats.org/officeDocument/2006/relationships/slide" Target="slide107.xml"/><Relationship Id="rId77" Type="http://schemas.openxmlformats.org/officeDocument/2006/relationships/slide" Target="slide232.xml"/><Relationship Id="rId78" Type="http://schemas.openxmlformats.org/officeDocument/2006/relationships/slide" Target="slide155.xml"/><Relationship Id="rId79" Type="http://schemas.openxmlformats.org/officeDocument/2006/relationships/slide" Target="slide175.xml"/><Relationship Id="rId80" Type="http://schemas.openxmlformats.org/officeDocument/2006/relationships/slide" Target="slide60.xml"/></Relationships>
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.xml"/><Relationship Id="rId3" Type="http://schemas.openxmlformats.org/officeDocument/2006/relationships/slide" Target="slide40.xml"/><Relationship Id="rId4" Type="http://schemas.openxmlformats.org/officeDocument/2006/relationships/slide" Target="slide32.xml"/><Relationship Id="rId5" Type="http://schemas.openxmlformats.org/officeDocument/2006/relationships/slide" Target="slide196.xml"/><Relationship Id="rId6" Type="http://schemas.openxmlformats.org/officeDocument/2006/relationships/slide" Target="slide207.xml"/><Relationship Id="rId7" Type="http://schemas.openxmlformats.org/officeDocument/2006/relationships/slide" Target="slide42.xml"/><Relationship Id="rId8" Type="http://schemas.openxmlformats.org/officeDocument/2006/relationships/slide" Target="slide86.xml"/><Relationship Id="rId9" Type="http://schemas.openxmlformats.org/officeDocument/2006/relationships/slide" Target="slide53.xml"/><Relationship Id="rId10" Type="http://schemas.openxmlformats.org/officeDocument/2006/relationships/slide" Target="slide119.xml"/><Relationship Id="rId11" Type="http://schemas.openxmlformats.org/officeDocument/2006/relationships/slide" Target="slide304.xml"/><Relationship Id="rId12" Type="http://schemas.openxmlformats.org/officeDocument/2006/relationships/slide" Target="slide100.xml"/><Relationship Id="rId13" Type="http://schemas.openxmlformats.org/officeDocument/2006/relationships/slide" Target="slide118.xml"/><Relationship Id="rId14" Type="http://schemas.openxmlformats.org/officeDocument/2006/relationships/slide" Target="slide134.xml"/><Relationship Id="rId15" Type="http://schemas.openxmlformats.org/officeDocument/2006/relationships/slide" Target="slide244.xml"/><Relationship Id="rId16" Type="http://schemas.openxmlformats.org/officeDocument/2006/relationships/slide" Target="slide245.xml"/><Relationship Id="rId17" Type="http://schemas.openxmlformats.org/officeDocument/2006/relationships/slide" Target="slide246.xml"/><Relationship Id="rId18" Type="http://schemas.openxmlformats.org/officeDocument/2006/relationships/slide" Target="slide125.xml"/><Relationship Id="rId19" Type="http://schemas.openxmlformats.org/officeDocument/2006/relationships/slide" Target="slide141.xml"/><Relationship Id="rId20" Type="http://schemas.openxmlformats.org/officeDocument/2006/relationships/slide" Target="slide290.xml"/><Relationship Id="rId21" Type="http://schemas.openxmlformats.org/officeDocument/2006/relationships/slide" Target="slide148.xml"/><Relationship Id="rId22" Type="http://schemas.openxmlformats.org/officeDocument/2006/relationships/slide" Target="slide127.xml"/><Relationship Id="rId23" Type="http://schemas.openxmlformats.org/officeDocument/2006/relationships/slide" Target="slide177.xml"/><Relationship Id="rId24" Type="http://schemas.openxmlformats.org/officeDocument/2006/relationships/slide" Target="slide216.xml"/><Relationship Id="rId25" Type="http://schemas.openxmlformats.org/officeDocument/2006/relationships/slide" Target="slide197.xml"/><Relationship Id="rId26" Type="http://schemas.openxmlformats.org/officeDocument/2006/relationships/slide" Target="slide289.xml"/><Relationship Id="rId27" Type="http://schemas.openxmlformats.org/officeDocument/2006/relationships/slide" Target="slide292.xml"/><Relationship Id="rId28" Type="http://schemas.openxmlformats.org/officeDocument/2006/relationships/slide" Target="slide237.xml"/><Relationship Id="rId29" Type="http://schemas.openxmlformats.org/officeDocument/2006/relationships/slide" Target="slide263.xml"/><Relationship Id="rId30" Type="http://schemas.openxmlformats.org/officeDocument/2006/relationships/slide" Target="slide264.xml"/><Relationship Id="rId31" Type="http://schemas.openxmlformats.org/officeDocument/2006/relationships/slide" Target="slide217.xml"/><Relationship Id="rId32" Type="http://schemas.openxmlformats.org/officeDocument/2006/relationships/slide" Target="slide219.xml"/><Relationship Id="rId33" Type="http://schemas.openxmlformats.org/officeDocument/2006/relationships/slide" Target="slide137.xml"/><Relationship Id="rId34" Type="http://schemas.openxmlformats.org/officeDocument/2006/relationships/slide" Target="slide278.xml"/><Relationship Id="rId35" Type="http://schemas.openxmlformats.org/officeDocument/2006/relationships/slide" Target="slide91.xml"/><Relationship Id="rId36" Type="http://schemas.openxmlformats.org/officeDocument/2006/relationships/slide" Target="slide143.xml"/><Relationship Id="rId37" Type="http://schemas.openxmlformats.org/officeDocument/2006/relationships/slide" Target="slide175.xml"/><Relationship Id="rId38" Type="http://schemas.openxmlformats.org/officeDocument/2006/relationships/slide" Target="slide192.xml"/><Relationship Id="rId39" Type="http://schemas.openxmlformats.org/officeDocument/2006/relationships/slide" Target="slide184.xml"/><Relationship Id="rId40" Type="http://schemas.openxmlformats.org/officeDocument/2006/relationships/slide" Target="slide195.xml"/><Relationship Id="rId41" Type="http://schemas.openxmlformats.org/officeDocument/2006/relationships/slide" Target="slide106.xml"/><Relationship Id="rId42" Type="http://schemas.openxmlformats.org/officeDocument/2006/relationships/slide" Target="slide224.xml"/><Relationship Id="rId43" Type="http://schemas.openxmlformats.org/officeDocument/2006/relationships/slide" Target="slide248.xml"/><Relationship Id="rId44" Type="http://schemas.openxmlformats.org/officeDocument/2006/relationships/slide" Target="slide282.xml"/><Relationship Id="rId45" Type="http://schemas.openxmlformats.org/officeDocument/2006/relationships/slide" Target="slide146.xml"/><Relationship Id="rId46" Type="http://schemas.openxmlformats.org/officeDocument/2006/relationships/slide" Target="slide147.xml"/><Relationship Id="rId47" Type="http://schemas.openxmlformats.org/officeDocument/2006/relationships/slide" Target="slide191.xml"/><Relationship Id="rId48" Type="http://schemas.openxmlformats.org/officeDocument/2006/relationships/slide" Target="slide152.xml"/><Relationship Id="rId49" Type="http://schemas.openxmlformats.org/officeDocument/2006/relationships/slide" Target="slide99.xml"/><Relationship Id="rId50" Type="http://schemas.openxmlformats.org/officeDocument/2006/relationships/slide" Target="slide93.xml"/><Relationship Id="rId51" Type="http://schemas.openxmlformats.org/officeDocument/2006/relationships/slide" Target="slide158.xml"/><Relationship Id="rId52" Type="http://schemas.openxmlformats.org/officeDocument/2006/relationships/slide" Target="slide61.xml"/><Relationship Id="rId53" Type="http://schemas.openxmlformats.org/officeDocument/2006/relationships/slide" Target="slide67.xml"/><Relationship Id="rId54" Type="http://schemas.openxmlformats.org/officeDocument/2006/relationships/slide" Target="slide89.xml"/><Relationship Id="rId55" Type="http://schemas.openxmlformats.org/officeDocument/2006/relationships/slide" Target="slide103.xml"/><Relationship Id="rId56" Type="http://schemas.openxmlformats.org/officeDocument/2006/relationships/slide" Target="slide83.xml"/><Relationship Id="rId57" Type="http://schemas.openxmlformats.org/officeDocument/2006/relationships/slide" Target="slide130.xml"/><Relationship Id="rId58" Type="http://schemas.openxmlformats.org/officeDocument/2006/relationships/slide" Target="slide36.xml"/><Relationship Id="rId59" Type="http://schemas.openxmlformats.org/officeDocument/2006/relationships/slide" Target="slide159.xml"/><Relationship Id="rId60" Type="http://schemas.openxmlformats.org/officeDocument/2006/relationships/slide" Target="slide35.xml"/><Relationship Id="rId61" Type="http://schemas.openxmlformats.org/officeDocument/2006/relationships/slide" Target="slide39.xml"/><Relationship Id="rId62" Type="http://schemas.openxmlformats.org/officeDocument/2006/relationships/slide" Target="slide247.xml"/><Relationship Id="rId63" Type="http://schemas.openxmlformats.org/officeDocument/2006/relationships/slide" Target="slide28.xml"/><Relationship Id="rId64" Type="http://schemas.openxmlformats.org/officeDocument/2006/relationships/slide" Target="slide213.xml"/><Relationship Id="rId65" Type="http://schemas.openxmlformats.org/officeDocument/2006/relationships/slide" Target="slide27.xml"/><Relationship Id="rId66" Type="http://schemas.openxmlformats.org/officeDocument/2006/relationships/slide" Target="slide44.xml"/><Relationship Id="rId67" Type="http://schemas.openxmlformats.org/officeDocument/2006/relationships/slide" Target="slide250.xml"/><Relationship Id="rId68" Type="http://schemas.openxmlformats.org/officeDocument/2006/relationships/slide" Target="slide255.xml"/><Relationship Id="rId69" Type="http://schemas.openxmlformats.org/officeDocument/2006/relationships/slide" Target="slide259.xml"/><Relationship Id="rId70" Type="http://schemas.openxmlformats.org/officeDocument/2006/relationships/slide" Target="slide272.xml"/><Relationship Id="rId71" Type="http://schemas.openxmlformats.org/officeDocument/2006/relationships/slide" Target="slide300.xml"/><Relationship Id="rId72" Type="http://schemas.openxmlformats.org/officeDocument/2006/relationships/slide" Target="slide276.xml"/><Relationship Id="rId73" Type="http://schemas.openxmlformats.org/officeDocument/2006/relationships/slide" Target="slide256.xml"/><Relationship Id="rId74" Type="http://schemas.openxmlformats.org/officeDocument/2006/relationships/slide" Target="slide25.xml"/><Relationship Id="rId75" Type="http://schemas.openxmlformats.org/officeDocument/2006/relationships/slide" Target="slide30.xml"/><Relationship Id="rId76" Type="http://schemas.openxmlformats.org/officeDocument/2006/relationships/slide" Target="slide116.xml"/><Relationship Id="rId77" Type="http://schemas.openxmlformats.org/officeDocument/2006/relationships/slide" Target="slide129.xml"/><Relationship Id="rId78" Type="http://schemas.openxmlformats.org/officeDocument/2006/relationships/slide" Target="slide117.xml"/><Relationship Id="rId79" Type="http://schemas.openxmlformats.org/officeDocument/2006/relationships/slide" Target="slide215.xml"/><Relationship Id="rId80" Type="http://schemas.openxmlformats.org/officeDocument/2006/relationships/slide" Target="slide132.xml"/><Relationship Id="rId81" Type="http://schemas.openxmlformats.org/officeDocument/2006/relationships/slide" Target="slide133.xml"/><Relationship Id="rId82" Type="http://schemas.openxmlformats.org/officeDocument/2006/relationships/slide" Target="slide136.xml"/><Relationship Id="rId83" Type="http://schemas.openxmlformats.org/officeDocument/2006/relationships/slide" Target="slide112.xml"/><Relationship Id="rId84" Type="http://schemas.openxmlformats.org/officeDocument/2006/relationships/slide" Target="slide126.xml"/><Relationship Id="rId85" Type="http://schemas.openxmlformats.org/officeDocument/2006/relationships/slide" Target="slide128.xml"/></Relationships>
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46.xml"/><Relationship Id="rId3" Type="http://schemas.openxmlformats.org/officeDocument/2006/relationships/slide" Target="slide141.xml"/><Relationship Id="rId4" Type="http://schemas.openxmlformats.org/officeDocument/2006/relationships/slide" Target="slide147.xml"/><Relationship Id="rId5" Type="http://schemas.openxmlformats.org/officeDocument/2006/relationships/slide" Target="slide129.xml"/><Relationship Id="rId6" Type="http://schemas.openxmlformats.org/officeDocument/2006/relationships/slide" Target="slide68.xml"/><Relationship Id="rId7" Type="http://schemas.openxmlformats.org/officeDocument/2006/relationships/slide" Target="slide149.xml"/><Relationship Id="rId8" Type="http://schemas.openxmlformats.org/officeDocument/2006/relationships/slide" Target="slide130.xml"/><Relationship Id="rId9" Type="http://schemas.openxmlformats.org/officeDocument/2006/relationships/slide" Target="slide132.xml"/><Relationship Id="rId10" Type="http://schemas.openxmlformats.org/officeDocument/2006/relationships/slide" Target="slide39.xml"/><Relationship Id="rId11" Type="http://schemas.openxmlformats.org/officeDocument/2006/relationships/slide" Target="slide152.xml"/><Relationship Id="rId12" Type="http://schemas.openxmlformats.org/officeDocument/2006/relationships/slide" Target="slide113.xml"/><Relationship Id="rId13" Type="http://schemas.openxmlformats.org/officeDocument/2006/relationships/slide" Target="slide118.xml"/><Relationship Id="rId14" Type="http://schemas.openxmlformats.org/officeDocument/2006/relationships/slide" Target="slide125.xml"/><Relationship Id="rId15" Type="http://schemas.openxmlformats.org/officeDocument/2006/relationships/slide" Target="slide127.xml"/><Relationship Id="rId16" Type="http://schemas.openxmlformats.org/officeDocument/2006/relationships/slide" Target="slide148.xml"/><Relationship Id="rId17" Type="http://schemas.openxmlformats.org/officeDocument/2006/relationships/slide" Target="slide153.xml"/><Relationship Id="rId18" Type="http://schemas.openxmlformats.org/officeDocument/2006/relationships/slide" Target="slide114.xml"/><Relationship Id="rId19" Type="http://schemas.openxmlformats.org/officeDocument/2006/relationships/slide" Target="slide214.xml"/><Relationship Id="rId20" Type="http://schemas.openxmlformats.org/officeDocument/2006/relationships/slide" Target="slide193.xml"/><Relationship Id="rId21" Type="http://schemas.openxmlformats.org/officeDocument/2006/relationships/slide" Target="slide186.xml"/><Relationship Id="rId22" Type="http://schemas.openxmlformats.org/officeDocument/2006/relationships/slide" Target="slide240.xml"/><Relationship Id="rId23" Type="http://schemas.openxmlformats.org/officeDocument/2006/relationships/slide" Target="slide137.xml"/><Relationship Id="rId24" Type="http://schemas.openxmlformats.org/officeDocument/2006/relationships/slide" Target="slide197.xml"/><Relationship Id="rId25" Type="http://schemas.openxmlformats.org/officeDocument/2006/relationships/slide" Target="slide22.xml"/><Relationship Id="rId26" Type="http://schemas.openxmlformats.org/officeDocument/2006/relationships/slide" Target="slide291.xml"/><Relationship Id="rId27" Type="http://schemas.openxmlformats.org/officeDocument/2006/relationships/slide" Target="slide293.xml"/><Relationship Id="rId28" Type="http://schemas.openxmlformats.org/officeDocument/2006/relationships/slide" Target="slide145.xml"/><Relationship Id="rId29" Type="http://schemas.openxmlformats.org/officeDocument/2006/relationships/slide" Target="slide25.xml"/><Relationship Id="rId30" Type="http://schemas.openxmlformats.org/officeDocument/2006/relationships/slide" Target="slide30.xml"/><Relationship Id="rId31" Type="http://schemas.openxmlformats.org/officeDocument/2006/relationships/slide" Target="slide42.xml"/><Relationship Id="rId32" Type="http://schemas.openxmlformats.org/officeDocument/2006/relationships/slide" Target="slide86.xml"/><Relationship Id="rId33" Type="http://schemas.openxmlformats.org/officeDocument/2006/relationships/slide" Target="slide224.xml"/><Relationship Id="rId34" Type="http://schemas.openxmlformats.org/officeDocument/2006/relationships/slide" Target="slide304.xml"/><Relationship Id="rId35" Type="http://schemas.openxmlformats.org/officeDocument/2006/relationships/slide" Target="slide305.xml"/><Relationship Id="rId36" Type="http://schemas.openxmlformats.org/officeDocument/2006/relationships/slide" Target="slide97.xml"/><Relationship Id="rId37" Type="http://schemas.openxmlformats.org/officeDocument/2006/relationships/slide" Target="slide100.xml"/><Relationship Id="rId38" Type="http://schemas.openxmlformats.org/officeDocument/2006/relationships/slide" Target="slide119.xml"/><Relationship Id="rId39" Type="http://schemas.openxmlformats.org/officeDocument/2006/relationships/slide" Target="slide191.xml"/><Relationship Id="rId40" Type="http://schemas.openxmlformats.org/officeDocument/2006/relationships/slide" Target="slide192.xml"/><Relationship Id="rId41" Type="http://schemas.openxmlformats.org/officeDocument/2006/relationships/slide" Target="slide195.xml"/><Relationship Id="rId42" Type="http://schemas.openxmlformats.org/officeDocument/2006/relationships/slide" Target="slide201.xml"/><Relationship Id="rId43" Type="http://schemas.openxmlformats.org/officeDocument/2006/relationships/slide" Target="slide203.xml"/><Relationship Id="rId44" Type="http://schemas.openxmlformats.org/officeDocument/2006/relationships/slide" Target="slide205.xml"/><Relationship Id="rId45" Type="http://schemas.openxmlformats.org/officeDocument/2006/relationships/slide" Target="slide196.xml"/><Relationship Id="rId46" Type="http://schemas.openxmlformats.org/officeDocument/2006/relationships/slide" Target="slide198.xml"/><Relationship Id="rId47" Type="http://schemas.openxmlformats.org/officeDocument/2006/relationships/slide" Target="slide202.xml"/><Relationship Id="rId48" Type="http://schemas.openxmlformats.org/officeDocument/2006/relationships/slide" Target="slide21.xml"/><Relationship Id="rId49" Type="http://schemas.openxmlformats.org/officeDocument/2006/relationships/slide" Target="slide89.xml"/><Relationship Id="rId50" Type="http://schemas.openxmlformats.org/officeDocument/2006/relationships/slide" Target="slide79.xml"/><Relationship Id="rId51" Type="http://schemas.openxmlformats.org/officeDocument/2006/relationships/slide" Target="slide116.xml"/><Relationship Id="rId52" Type="http://schemas.openxmlformats.org/officeDocument/2006/relationships/slide" Target="slide275.xml"/><Relationship Id="rId53" Type="http://schemas.openxmlformats.org/officeDocument/2006/relationships/slide" Target="slide53.xml"/><Relationship Id="rId54" Type="http://schemas.openxmlformats.org/officeDocument/2006/relationships/slide" Target="slide84.xml"/><Relationship Id="rId55" Type="http://schemas.openxmlformats.org/officeDocument/2006/relationships/slide" Target="slide260.xml"/><Relationship Id="rId56" Type="http://schemas.openxmlformats.org/officeDocument/2006/relationships/slide" Target="slide261.xml"/><Relationship Id="rId57" Type="http://schemas.openxmlformats.org/officeDocument/2006/relationships/slide" Target="slide180.xml"/><Relationship Id="rId58" Type="http://schemas.openxmlformats.org/officeDocument/2006/relationships/slide" Target="slide77.xml"/><Relationship Id="rId59" Type="http://schemas.openxmlformats.org/officeDocument/2006/relationships/slide" Target="slide174.xml"/><Relationship Id="rId60" Type="http://schemas.openxmlformats.org/officeDocument/2006/relationships/slide" Target="slide173.xml"/><Relationship Id="rId61" Type="http://schemas.openxmlformats.org/officeDocument/2006/relationships/slide" Target="slide179.xml"/><Relationship Id="rId62" Type="http://schemas.openxmlformats.org/officeDocument/2006/relationships/slide" Target="slide176.xml"/><Relationship Id="rId63" Type="http://schemas.openxmlformats.org/officeDocument/2006/relationships/slide" Target="slide178.xml"/><Relationship Id="rId64" Type="http://schemas.openxmlformats.org/officeDocument/2006/relationships/slide" Target="slide183.xml"/><Relationship Id="rId65" Type="http://schemas.openxmlformats.org/officeDocument/2006/relationships/slide" Target="slide184.xml"/><Relationship Id="rId66" Type="http://schemas.openxmlformats.org/officeDocument/2006/relationships/slide" Target="slide274.xml"/><Relationship Id="rId67" Type="http://schemas.openxmlformats.org/officeDocument/2006/relationships/slide" Target="slide187.xml"/><Relationship Id="rId68" Type="http://schemas.openxmlformats.org/officeDocument/2006/relationships/slide" Target="slide175.xml"/><Relationship Id="rId69" Type="http://schemas.openxmlformats.org/officeDocument/2006/relationships/slide" Target="slide299.xml"/><Relationship Id="rId70" Type="http://schemas.openxmlformats.org/officeDocument/2006/relationships/slide" Target="slide301.xml"/><Relationship Id="rId71" Type="http://schemas.openxmlformats.org/officeDocument/2006/relationships/slide" Target="slide181.xml"/><Relationship Id="rId72" Type="http://schemas.openxmlformats.org/officeDocument/2006/relationships/slide" Target="slide101.xml"/><Relationship Id="rId73" Type="http://schemas.openxmlformats.org/officeDocument/2006/relationships/slide" Target="slide256.xml"/><Relationship Id="rId74" Type="http://schemas.openxmlformats.org/officeDocument/2006/relationships/slide" Target="slide27.xml"/><Relationship Id="rId75" Type="http://schemas.openxmlformats.org/officeDocument/2006/relationships/slide" Target="slide32.xml"/><Relationship Id="rId76" Type="http://schemas.openxmlformats.org/officeDocument/2006/relationships/slide" Target="slide41.xml"/><Relationship Id="rId77" Type="http://schemas.openxmlformats.org/officeDocument/2006/relationships/slide" Target="slide29.xml"/><Relationship Id="rId78" Type="http://schemas.openxmlformats.org/officeDocument/2006/relationships/slide" Target="slide104.xml"/><Relationship Id="rId79" Type="http://schemas.openxmlformats.org/officeDocument/2006/relationships/slide" Target="slide229.xml"/><Relationship Id="rId80" Type="http://schemas.openxmlformats.org/officeDocument/2006/relationships/slide" Target="slide43.xml"/><Relationship Id="rId81" Type="http://schemas.openxmlformats.org/officeDocument/2006/relationships/slide" Target="slide28.xml"/><Relationship Id="rId82" Type="http://schemas.openxmlformats.org/officeDocument/2006/relationships/slide" Target="slide37.xml"/></Relationships>
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8.xml"/><Relationship Id="rId3" Type="http://schemas.openxmlformats.org/officeDocument/2006/relationships/slide" Target="slide193.xml"/><Relationship Id="rId4" Type="http://schemas.openxmlformats.org/officeDocument/2006/relationships/slide" Target="slide291.xml"/><Relationship Id="rId5" Type="http://schemas.openxmlformats.org/officeDocument/2006/relationships/slide" Target="slide293.xml"/><Relationship Id="rId6" Type="http://schemas.openxmlformats.org/officeDocument/2006/relationships/slide" Target="slide304.xml"/><Relationship Id="rId7" Type="http://schemas.openxmlformats.org/officeDocument/2006/relationships/slide" Target="slide303.xml"/><Relationship Id="rId8" Type="http://schemas.openxmlformats.org/officeDocument/2006/relationships/slide" Target="slide179.xml"/><Relationship Id="rId9" Type="http://schemas.openxmlformats.org/officeDocument/2006/relationships/slide" Target="slide222.xml"/><Relationship Id="rId10" Type="http://schemas.openxmlformats.org/officeDocument/2006/relationships/slide" Target="slide115.xml"/><Relationship Id="rId11" Type="http://schemas.openxmlformats.org/officeDocument/2006/relationships/slide" Target="slide129.xml"/><Relationship Id="rId12" Type="http://schemas.openxmlformats.org/officeDocument/2006/relationships/slide" Target="slide89.xml"/><Relationship Id="rId13" Type="http://schemas.openxmlformats.org/officeDocument/2006/relationships/slide" Target="slide85.xml"/><Relationship Id="rId14" Type="http://schemas.openxmlformats.org/officeDocument/2006/relationships/slide" Target="slide86.xml"/><Relationship Id="rId15" Type="http://schemas.openxmlformats.org/officeDocument/2006/relationships/slide" Target="slide146.xml"/><Relationship Id="rId16" Type="http://schemas.openxmlformats.org/officeDocument/2006/relationships/slide" Target="slide30.xml"/><Relationship Id="rId17" Type="http://schemas.openxmlformats.org/officeDocument/2006/relationships/slide" Target="slide149.xml"/><Relationship Id="rId18" Type="http://schemas.openxmlformats.org/officeDocument/2006/relationships/slide" Target="slide176.xml"/><Relationship Id="rId19" Type="http://schemas.openxmlformats.org/officeDocument/2006/relationships/slide" Target="slide26.xml"/><Relationship Id="rId20" Type="http://schemas.openxmlformats.org/officeDocument/2006/relationships/slide" Target="slide29.xml"/><Relationship Id="rId21" Type="http://schemas.openxmlformats.org/officeDocument/2006/relationships/slide" Target="slide23.xml"/><Relationship Id="rId22" Type="http://schemas.openxmlformats.org/officeDocument/2006/relationships/slide" Target="slide160.xml"/><Relationship Id="rId23" Type="http://schemas.openxmlformats.org/officeDocument/2006/relationships/slide" Target="slide163.xml"/><Relationship Id="rId24" Type="http://schemas.openxmlformats.org/officeDocument/2006/relationships/slide" Target="slide218.xml"/><Relationship Id="rId25" Type="http://schemas.openxmlformats.org/officeDocument/2006/relationships/slide" Target="slide35.xml"/><Relationship Id="rId26" Type="http://schemas.openxmlformats.org/officeDocument/2006/relationships/slide" Target="slide150.xml"/><Relationship Id="rId27" Type="http://schemas.openxmlformats.org/officeDocument/2006/relationships/slide" Target="slide270.xml"/><Relationship Id="rId28" Type="http://schemas.openxmlformats.org/officeDocument/2006/relationships/slide" Target="slide126.xml"/><Relationship Id="rId29" Type="http://schemas.openxmlformats.org/officeDocument/2006/relationships/slide" Target="slide52.xml"/><Relationship Id="rId30" Type="http://schemas.openxmlformats.org/officeDocument/2006/relationships/slide" Target="slide42.xml"/><Relationship Id="rId31" Type="http://schemas.openxmlformats.org/officeDocument/2006/relationships/slide" Target="slide36.xml"/><Relationship Id="rId32" Type="http://schemas.openxmlformats.org/officeDocument/2006/relationships/slide" Target="slide93.xml"/><Relationship Id="rId33" Type="http://schemas.openxmlformats.org/officeDocument/2006/relationships/slide" Target="slide114.xml"/><Relationship Id="rId34" Type="http://schemas.openxmlformats.org/officeDocument/2006/relationships/slide" Target="slide49.xml"/><Relationship Id="rId35" Type="http://schemas.openxmlformats.org/officeDocument/2006/relationships/slide" Target="slide240.xml"/><Relationship Id="rId36" Type="http://schemas.openxmlformats.org/officeDocument/2006/relationships/slide" Target="slide135.xml"/><Relationship Id="rId37" Type="http://schemas.openxmlformats.org/officeDocument/2006/relationships/slide" Target="slide136.xml"/><Relationship Id="rId38" Type="http://schemas.openxmlformats.org/officeDocument/2006/relationships/slide" Target="slide107.xml"/><Relationship Id="rId39" Type="http://schemas.openxmlformats.org/officeDocument/2006/relationships/slide" Target="slide31.xml"/><Relationship Id="rId40" Type="http://schemas.openxmlformats.org/officeDocument/2006/relationships/slide" Target="slide154.xml"/><Relationship Id="rId41" Type="http://schemas.openxmlformats.org/officeDocument/2006/relationships/slide" Target="slide56.xml"/><Relationship Id="rId42" Type="http://schemas.openxmlformats.org/officeDocument/2006/relationships/slide" Target="slide223.xml"/><Relationship Id="rId43" Type="http://schemas.openxmlformats.org/officeDocument/2006/relationships/slide" Target="slide202.xml"/><Relationship Id="rId44" Type="http://schemas.openxmlformats.org/officeDocument/2006/relationships/slide" Target="slide200.xml"/><Relationship Id="rId45" Type="http://schemas.openxmlformats.org/officeDocument/2006/relationships/slide" Target="slide214.xml"/><Relationship Id="rId46" Type="http://schemas.openxmlformats.org/officeDocument/2006/relationships/slide" Target="slide224.xml"/><Relationship Id="rId47" Type="http://schemas.openxmlformats.org/officeDocument/2006/relationships/slide" Target="slide113.xml"/><Relationship Id="rId48" Type="http://schemas.openxmlformats.org/officeDocument/2006/relationships/slide" Target="slide130.xml"/><Relationship Id="rId49" Type="http://schemas.openxmlformats.org/officeDocument/2006/relationships/slide" Target="slide195.xml"/><Relationship Id="rId50" Type="http://schemas.openxmlformats.org/officeDocument/2006/relationships/slide" Target="slide151.xml"/><Relationship Id="rId51" Type="http://schemas.openxmlformats.org/officeDocument/2006/relationships/slide" Target="slide191.xml"/><Relationship Id="rId52" Type="http://schemas.openxmlformats.org/officeDocument/2006/relationships/slide" Target="slide213.xml"/><Relationship Id="rId53" Type="http://schemas.openxmlformats.org/officeDocument/2006/relationships/slide" Target="slide131.xml"/><Relationship Id="rId54" Type="http://schemas.openxmlformats.org/officeDocument/2006/relationships/slide" Target="slide257.xml"/><Relationship Id="rId55" Type="http://schemas.openxmlformats.org/officeDocument/2006/relationships/slide" Target="slide215.xml"/><Relationship Id="rId56" Type="http://schemas.openxmlformats.org/officeDocument/2006/relationships/slide" Target="slide181.xml"/><Relationship Id="rId57" Type="http://schemas.openxmlformats.org/officeDocument/2006/relationships/slide" Target="slide183.xml"/></Relationships>
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oreilly.com/" TargetMode="External"/><Relationship Id="rId3" Type="http://schemas.openxmlformats.org/officeDocument/2006/relationships/image" Target="../media/image50.png"/><Relationship Id="rId4" Type="http://schemas.openxmlformats.org/officeDocument/2006/relationships/image" Target="../media/image51.png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1830596"/>
            <a:ext cx="6400800" cy="6570453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3929421" y="7651521"/>
            <a:ext cx="2026920" cy="360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200" spc="65">
                <a:solidFill>
                  <a:srgbClr val="231F20"/>
                </a:solidFill>
                <a:latin typeface="Calibri"/>
                <a:cs typeface="Calibri"/>
              </a:rPr>
              <a:t>Allen</a:t>
            </a:r>
            <a:r>
              <a:rPr dirty="0" sz="22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2200" spc="65">
                <a:solidFill>
                  <a:srgbClr val="231F20"/>
                </a:solidFill>
                <a:latin typeface="Calibri"/>
                <a:cs typeface="Calibri"/>
              </a:rPr>
              <a:t>B.</a:t>
            </a:r>
            <a:r>
              <a:rPr dirty="0" sz="2200" spc="-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2200" spc="114">
                <a:solidFill>
                  <a:srgbClr val="231F20"/>
                </a:solidFill>
                <a:latin typeface="Calibri"/>
                <a:cs typeface="Calibri"/>
              </a:rPr>
              <a:t>Downey</a:t>
            </a:r>
            <a:endParaRPr sz="22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424799" y="453831"/>
            <a:ext cx="1231265" cy="211454"/>
            <a:chOff x="424799" y="453831"/>
            <a:chExt cx="1231265" cy="211454"/>
          </a:xfrm>
        </p:grpSpPr>
        <p:sp>
          <p:nvSpPr>
            <p:cNvPr id="5" name="object 5" descr=""/>
            <p:cNvSpPr/>
            <p:nvPr/>
          </p:nvSpPr>
          <p:spPr>
            <a:xfrm>
              <a:off x="898537" y="457987"/>
              <a:ext cx="532765" cy="201930"/>
            </a:xfrm>
            <a:custGeom>
              <a:avLst/>
              <a:gdLst/>
              <a:ahLst/>
              <a:cxnLst/>
              <a:rect l="l" t="t" r="r" b="b"/>
              <a:pathLst>
                <a:path w="532765" h="201929">
                  <a:moveTo>
                    <a:pt x="140068" y="1016"/>
                  </a:moveTo>
                  <a:lnTo>
                    <a:pt x="0" y="1016"/>
                  </a:lnTo>
                  <a:lnTo>
                    <a:pt x="0" y="34036"/>
                  </a:lnTo>
                  <a:lnTo>
                    <a:pt x="0" y="84836"/>
                  </a:lnTo>
                  <a:lnTo>
                    <a:pt x="0" y="117856"/>
                  </a:lnTo>
                  <a:lnTo>
                    <a:pt x="0" y="168656"/>
                  </a:lnTo>
                  <a:lnTo>
                    <a:pt x="0" y="201676"/>
                  </a:lnTo>
                  <a:lnTo>
                    <a:pt x="140068" y="201676"/>
                  </a:lnTo>
                  <a:lnTo>
                    <a:pt x="140068" y="168656"/>
                  </a:lnTo>
                  <a:lnTo>
                    <a:pt x="33578" y="168656"/>
                  </a:lnTo>
                  <a:lnTo>
                    <a:pt x="33578" y="117856"/>
                  </a:lnTo>
                  <a:lnTo>
                    <a:pt x="134937" y="117856"/>
                  </a:lnTo>
                  <a:lnTo>
                    <a:pt x="134937" y="84836"/>
                  </a:lnTo>
                  <a:lnTo>
                    <a:pt x="33578" y="84836"/>
                  </a:lnTo>
                  <a:lnTo>
                    <a:pt x="33578" y="34036"/>
                  </a:lnTo>
                  <a:lnTo>
                    <a:pt x="140068" y="34036"/>
                  </a:lnTo>
                  <a:lnTo>
                    <a:pt x="140068" y="1016"/>
                  </a:lnTo>
                  <a:close/>
                </a:path>
                <a:path w="532765" h="201929">
                  <a:moveTo>
                    <a:pt x="208889" y="457"/>
                  </a:moveTo>
                  <a:lnTo>
                    <a:pt x="175323" y="457"/>
                  </a:lnTo>
                  <a:lnTo>
                    <a:pt x="175323" y="201930"/>
                  </a:lnTo>
                  <a:lnTo>
                    <a:pt x="208889" y="201930"/>
                  </a:lnTo>
                  <a:lnTo>
                    <a:pt x="208889" y="457"/>
                  </a:lnTo>
                  <a:close/>
                </a:path>
                <a:path w="532765" h="201929">
                  <a:moveTo>
                    <a:pt x="374459" y="168910"/>
                  </a:moveTo>
                  <a:lnTo>
                    <a:pt x="277583" y="168910"/>
                  </a:lnTo>
                  <a:lnTo>
                    <a:pt x="277583" y="0"/>
                  </a:lnTo>
                  <a:lnTo>
                    <a:pt x="244005" y="0"/>
                  </a:lnTo>
                  <a:lnTo>
                    <a:pt x="244005" y="168910"/>
                  </a:lnTo>
                  <a:lnTo>
                    <a:pt x="244005" y="201930"/>
                  </a:lnTo>
                  <a:lnTo>
                    <a:pt x="374459" y="201930"/>
                  </a:lnTo>
                  <a:lnTo>
                    <a:pt x="374459" y="168910"/>
                  </a:lnTo>
                  <a:close/>
                </a:path>
                <a:path w="532765" h="201929">
                  <a:moveTo>
                    <a:pt x="532282" y="168910"/>
                  </a:moveTo>
                  <a:lnTo>
                    <a:pt x="435406" y="168910"/>
                  </a:lnTo>
                  <a:lnTo>
                    <a:pt x="435406" y="0"/>
                  </a:lnTo>
                  <a:lnTo>
                    <a:pt x="401828" y="0"/>
                  </a:lnTo>
                  <a:lnTo>
                    <a:pt x="401828" y="168910"/>
                  </a:lnTo>
                  <a:lnTo>
                    <a:pt x="401828" y="201930"/>
                  </a:lnTo>
                  <a:lnTo>
                    <a:pt x="532282" y="201930"/>
                  </a:lnTo>
                  <a:lnTo>
                    <a:pt x="532282" y="168910"/>
                  </a:lnTo>
                  <a:close/>
                </a:path>
              </a:pathLst>
            </a:custGeom>
            <a:solidFill>
              <a:srgbClr val="D2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4876" y="458447"/>
              <a:ext cx="170179" cy="201472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424789" y="453834"/>
              <a:ext cx="1231265" cy="211454"/>
            </a:xfrm>
            <a:custGeom>
              <a:avLst/>
              <a:gdLst/>
              <a:ahLst/>
              <a:cxnLst/>
              <a:rect l="l" t="t" r="r" b="b"/>
              <a:pathLst>
                <a:path w="1231264" h="211454">
                  <a:moveTo>
                    <a:pt x="209867" y="106273"/>
                  </a:moveTo>
                  <a:lnTo>
                    <a:pt x="201625" y="65417"/>
                  </a:lnTo>
                  <a:lnTo>
                    <a:pt x="181063" y="34912"/>
                  </a:lnTo>
                  <a:lnTo>
                    <a:pt x="179146" y="32067"/>
                  </a:lnTo>
                  <a:lnTo>
                    <a:pt x="176276" y="30137"/>
                  </a:lnTo>
                  <a:lnTo>
                    <a:pt x="176276" y="106273"/>
                  </a:lnTo>
                  <a:lnTo>
                    <a:pt x="174840" y="120662"/>
                  </a:lnTo>
                  <a:lnTo>
                    <a:pt x="155397" y="156718"/>
                  </a:lnTo>
                  <a:lnTo>
                    <a:pt x="119341" y="176174"/>
                  </a:lnTo>
                  <a:lnTo>
                    <a:pt x="104952" y="177622"/>
                  </a:lnTo>
                  <a:lnTo>
                    <a:pt x="90551" y="176174"/>
                  </a:lnTo>
                  <a:lnTo>
                    <a:pt x="54470" y="156718"/>
                  </a:lnTo>
                  <a:lnTo>
                    <a:pt x="35039" y="120662"/>
                  </a:lnTo>
                  <a:lnTo>
                    <a:pt x="33578" y="106273"/>
                  </a:lnTo>
                  <a:lnTo>
                    <a:pt x="35039" y="91871"/>
                  </a:lnTo>
                  <a:lnTo>
                    <a:pt x="54470" y="55791"/>
                  </a:lnTo>
                  <a:lnTo>
                    <a:pt x="90551" y="36372"/>
                  </a:lnTo>
                  <a:lnTo>
                    <a:pt x="104952" y="34912"/>
                  </a:lnTo>
                  <a:lnTo>
                    <a:pt x="119341" y="36372"/>
                  </a:lnTo>
                  <a:lnTo>
                    <a:pt x="155397" y="55791"/>
                  </a:lnTo>
                  <a:lnTo>
                    <a:pt x="174840" y="91871"/>
                  </a:lnTo>
                  <a:lnTo>
                    <a:pt x="176276" y="106273"/>
                  </a:lnTo>
                  <a:lnTo>
                    <a:pt x="176276" y="30137"/>
                  </a:lnTo>
                  <a:lnTo>
                    <a:pt x="145796" y="9575"/>
                  </a:lnTo>
                  <a:lnTo>
                    <a:pt x="104952" y="1320"/>
                  </a:lnTo>
                  <a:lnTo>
                    <a:pt x="64096" y="9575"/>
                  </a:lnTo>
                  <a:lnTo>
                    <a:pt x="30734" y="32067"/>
                  </a:lnTo>
                  <a:lnTo>
                    <a:pt x="8255" y="65417"/>
                  </a:lnTo>
                  <a:lnTo>
                    <a:pt x="0" y="106273"/>
                  </a:lnTo>
                  <a:lnTo>
                    <a:pt x="8255" y="147116"/>
                  </a:lnTo>
                  <a:lnTo>
                    <a:pt x="30734" y="180467"/>
                  </a:lnTo>
                  <a:lnTo>
                    <a:pt x="64096" y="202958"/>
                  </a:lnTo>
                  <a:lnTo>
                    <a:pt x="104952" y="211201"/>
                  </a:lnTo>
                  <a:lnTo>
                    <a:pt x="145796" y="202958"/>
                  </a:lnTo>
                  <a:lnTo>
                    <a:pt x="179146" y="180467"/>
                  </a:lnTo>
                  <a:lnTo>
                    <a:pt x="181051" y="177622"/>
                  </a:lnTo>
                  <a:lnTo>
                    <a:pt x="201625" y="147116"/>
                  </a:lnTo>
                  <a:lnTo>
                    <a:pt x="209867" y="106273"/>
                  </a:lnTo>
                  <a:close/>
                </a:path>
                <a:path w="1231264" h="211454">
                  <a:moveTo>
                    <a:pt x="256286" y="26060"/>
                  </a:moveTo>
                  <a:lnTo>
                    <a:pt x="254342" y="16433"/>
                  </a:lnTo>
                  <a:lnTo>
                    <a:pt x="249047" y="8559"/>
                  </a:lnTo>
                  <a:lnTo>
                    <a:pt x="241185" y="3263"/>
                  </a:lnTo>
                  <a:lnTo>
                    <a:pt x="231571" y="1320"/>
                  </a:lnTo>
                  <a:lnTo>
                    <a:pt x="221945" y="3263"/>
                  </a:lnTo>
                  <a:lnTo>
                    <a:pt x="214083" y="8559"/>
                  </a:lnTo>
                  <a:lnTo>
                    <a:pt x="208800" y="16433"/>
                  </a:lnTo>
                  <a:lnTo>
                    <a:pt x="206857" y="26060"/>
                  </a:lnTo>
                  <a:lnTo>
                    <a:pt x="208800" y="35674"/>
                  </a:lnTo>
                  <a:lnTo>
                    <a:pt x="214083" y="43535"/>
                  </a:lnTo>
                  <a:lnTo>
                    <a:pt x="221945" y="48831"/>
                  </a:lnTo>
                  <a:lnTo>
                    <a:pt x="231571" y="50774"/>
                  </a:lnTo>
                  <a:lnTo>
                    <a:pt x="241185" y="48831"/>
                  </a:lnTo>
                  <a:lnTo>
                    <a:pt x="249047" y="43535"/>
                  </a:lnTo>
                  <a:lnTo>
                    <a:pt x="254342" y="35674"/>
                  </a:lnTo>
                  <a:lnTo>
                    <a:pt x="256286" y="26060"/>
                  </a:lnTo>
                  <a:close/>
                </a:path>
                <a:path w="1231264" h="211454">
                  <a:moveTo>
                    <a:pt x="1155725" y="4610"/>
                  </a:moveTo>
                  <a:lnTo>
                    <a:pt x="1114920" y="4610"/>
                  </a:lnTo>
                  <a:lnTo>
                    <a:pt x="1063244" y="79413"/>
                  </a:lnTo>
                  <a:lnTo>
                    <a:pt x="1011555" y="4610"/>
                  </a:lnTo>
                  <a:lnTo>
                    <a:pt x="970749" y="4610"/>
                  </a:lnTo>
                  <a:lnTo>
                    <a:pt x="1046416" y="114147"/>
                  </a:lnTo>
                  <a:lnTo>
                    <a:pt x="1046416" y="206082"/>
                  </a:lnTo>
                  <a:lnTo>
                    <a:pt x="1079995" y="206082"/>
                  </a:lnTo>
                  <a:lnTo>
                    <a:pt x="1079995" y="114223"/>
                  </a:lnTo>
                  <a:lnTo>
                    <a:pt x="1155725" y="4610"/>
                  </a:lnTo>
                  <a:close/>
                </a:path>
                <a:path w="1231264" h="211454">
                  <a:moveTo>
                    <a:pt x="1216571" y="16179"/>
                  </a:moveTo>
                  <a:lnTo>
                    <a:pt x="1213091" y="12687"/>
                  </a:lnTo>
                  <a:lnTo>
                    <a:pt x="1212100" y="12687"/>
                  </a:lnTo>
                  <a:lnTo>
                    <a:pt x="1212100" y="18656"/>
                  </a:lnTo>
                  <a:lnTo>
                    <a:pt x="1212100" y="22377"/>
                  </a:lnTo>
                  <a:lnTo>
                    <a:pt x="1210627" y="23863"/>
                  </a:lnTo>
                  <a:lnTo>
                    <a:pt x="1198422" y="23863"/>
                  </a:lnTo>
                  <a:lnTo>
                    <a:pt x="1198422" y="17157"/>
                  </a:lnTo>
                  <a:lnTo>
                    <a:pt x="1210627" y="17157"/>
                  </a:lnTo>
                  <a:lnTo>
                    <a:pt x="1212100" y="18656"/>
                  </a:lnTo>
                  <a:lnTo>
                    <a:pt x="1212100" y="12687"/>
                  </a:lnTo>
                  <a:lnTo>
                    <a:pt x="1193965" y="12687"/>
                  </a:lnTo>
                  <a:lnTo>
                    <a:pt x="1193965" y="39471"/>
                  </a:lnTo>
                  <a:lnTo>
                    <a:pt x="1198422" y="39471"/>
                  </a:lnTo>
                  <a:lnTo>
                    <a:pt x="1198422" y="28321"/>
                  </a:lnTo>
                  <a:lnTo>
                    <a:pt x="1205915" y="28321"/>
                  </a:lnTo>
                  <a:lnTo>
                    <a:pt x="1211287" y="39471"/>
                  </a:lnTo>
                  <a:lnTo>
                    <a:pt x="1216253" y="39471"/>
                  </a:lnTo>
                  <a:lnTo>
                    <a:pt x="1210881" y="28321"/>
                  </a:lnTo>
                  <a:lnTo>
                    <a:pt x="1210754" y="28054"/>
                  </a:lnTo>
                  <a:lnTo>
                    <a:pt x="1214120" y="27178"/>
                  </a:lnTo>
                  <a:lnTo>
                    <a:pt x="1216571" y="24142"/>
                  </a:lnTo>
                  <a:lnTo>
                    <a:pt x="1216571" y="23863"/>
                  </a:lnTo>
                  <a:lnTo>
                    <a:pt x="1216571" y="17157"/>
                  </a:lnTo>
                  <a:lnTo>
                    <a:pt x="1216571" y="16179"/>
                  </a:lnTo>
                  <a:close/>
                </a:path>
                <a:path w="1231264" h="211454">
                  <a:moveTo>
                    <a:pt x="1231061" y="26289"/>
                  </a:moveTo>
                  <a:lnTo>
                    <a:pt x="1228991" y="16052"/>
                  </a:lnTo>
                  <a:lnTo>
                    <a:pt x="1226858" y="12890"/>
                  </a:lnTo>
                  <a:lnTo>
                    <a:pt x="1226858" y="26289"/>
                  </a:lnTo>
                  <a:lnTo>
                    <a:pt x="1225118" y="34874"/>
                  </a:lnTo>
                  <a:lnTo>
                    <a:pt x="1220381" y="41897"/>
                  </a:lnTo>
                  <a:lnTo>
                    <a:pt x="1213358" y="46634"/>
                  </a:lnTo>
                  <a:lnTo>
                    <a:pt x="1204785" y="48361"/>
                  </a:lnTo>
                  <a:lnTo>
                    <a:pt x="1196187" y="46634"/>
                  </a:lnTo>
                  <a:lnTo>
                    <a:pt x="1189164" y="41897"/>
                  </a:lnTo>
                  <a:lnTo>
                    <a:pt x="1184440" y="34874"/>
                  </a:lnTo>
                  <a:lnTo>
                    <a:pt x="1182700" y="26289"/>
                  </a:lnTo>
                  <a:lnTo>
                    <a:pt x="1184440" y="17691"/>
                  </a:lnTo>
                  <a:lnTo>
                    <a:pt x="1189164" y="10668"/>
                  </a:lnTo>
                  <a:lnTo>
                    <a:pt x="1196187" y="5930"/>
                  </a:lnTo>
                  <a:lnTo>
                    <a:pt x="1204785" y="4191"/>
                  </a:lnTo>
                  <a:lnTo>
                    <a:pt x="1213358" y="5930"/>
                  </a:lnTo>
                  <a:lnTo>
                    <a:pt x="1220381" y="10668"/>
                  </a:lnTo>
                  <a:lnTo>
                    <a:pt x="1225118" y="17691"/>
                  </a:lnTo>
                  <a:lnTo>
                    <a:pt x="1226858" y="26289"/>
                  </a:lnTo>
                  <a:lnTo>
                    <a:pt x="1226858" y="12890"/>
                  </a:lnTo>
                  <a:lnTo>
                    <a:pt x="1223365" y="7696"/>
                  </a:lnTo>
                  <a:lnTo>
                    <a:pt x="1218158" y="4191"/>
                  </a:lnTo>
                  <a:lnTo>
                    <a:pt x="1215009" y="2070"/>
                  </a:lnTo>
                  <a:lnTo>
                    <a:pt x="1204785" y="0"/>
                  </a:lnTo>
                  <a:lnTo>
                    <a:pt x="1194549" y="2070"/>
                  </a:lnTo>
                  <a:lnTo>
                    <a:pt x="1186180" y="7696"/>
                  </a:lnTo>
                  <a:lnTo>
                    <a:pt x="1180553" y="16052"/>
                  </a:lnTo>
                  <a:lnTo>
                    <a:pt x="1178483" y="26289"/>
                  </a:lnTo>
                  <a:lnTo>
                    <a:pt x="1180553" y="36512"/>
                  </a:lnTo>
                  <a:lnTo>
                    <a:pt x="1186180" y="44869"/>
                  </a:lnTo>
                  <a:lnTo>
                    <a:pt x="1194549" y="50507"/>
                  </a:lnTo>
                  <a:lnTo>
                    <a:pt x="1204785" y="52565"/>
                  </a:lnTo>
                  <a:lnTo>
                    <a:pt x="1215009" y="50507"/>
                  </a:lnTo>
                  <a:lnTo>
                    <a:pt x="1218171" y="48361"/>
                  </a:lnTo>
                  <a:lnTo>
                    <a:pt x="1223365" y="44869"/>
                  </a:lnTo>
                  <a:lnTo>
                    <a:pt x="1228991" y="36512"/>
                  </a:lnTo>
                  <a:lnTo>
                    <a:pt x="1231061" y="26289"/>
                  </a:lnTo>
                  <a:close/>
                </a:path>
              </a:pathLst>
            </a:custGeom>
            <a:solidFill>
              <a:srgbClr val="D2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>
            <a:spLocks noGrp="1"/>
          </p:cNvSpPr>
          <p:nvPr>
            <p:ph type="ctr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Think</a:t>
            </a:r>
            <a:r>
              <a:rPr dirty="0" spc="-280"/>
              <a:t> </a:t>
            </a:r>
            <a:r>
              <a:rPr dirty="0" spc="195"/>
              <a:t>Python</a:t>
            </a:r>
          </a:p>
        </p:txBody>
      </p:sp>
      <p:grpSp>
        <p:nvGrpSpPr>
          <p:cNvPr id="9" name="object 9" descr=""/>
          <p:cNvGrpSpPr/>
          <p:nvPr/>
        </p:nvGrpSpPr>
        <p:grpSpPr>
          <a:xfrm>
            <a:off x="4271810" y="0"/>
            <a:ext cx="2129155" cy="2317115"/>
            <a:chOff x="4271810" y="0"/>
            <a:chExt cx="2129155" cy="2317115"/>
          </a:xfrm>
        </p:grpSpPr>
        <p:sp>
          <p:nvSpPr>
            <p:cNvPr id="10" name="object 10" descr=""/>
            <p:cNvSpPr/>
            <p:nvPr/>
          </p:nvSpPr>
          <p:spPr>
            <a:xfrm>
              <a:off x="4271810" y="0"/>
              <a:ext cx="2129155" cy="2317115"/>
            </a:xfrm>
            <a:custGeom>
              <a:avLst/>
              <a:gdLst/>
              <a:ahLst/>
              <a:cxnLst/>
              <a:rect l="l" t="t" r="r" b="b"/>
              <a:pathLst>
                <a:path w="2129154" h="2317115">
                  <a:moveTo>
                    <a:pt x="2128989" y="0"/>
                  </a:moveTo>
                  <a:lnTo>
                    <a:pt x="0" y="0"/>
                  </a:lnTo>
                  <a:lnTo>
                    <a:pt x="0" y="2317038"/>
                  </a:lnTo>
                  <a:lnTo>
                    <a:pt x="2128989" y="2317038"/>
                  </a:lnTo>
                  <a:lnTo>
                    <a:pt x="2128989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447927" y="0"/>
              <a:ext cx="1953260" cy="1953260"/>
            </a:xfrm>
            <a:custGeom>
              <a:avLst/>
              <a:gdLst/>
              <a:ahLst/>
              <a:cxnLst/>
              <a:rect l="l" t="t" r="r" b="b"/>
              <a:pathLst>
                <a:path w="1953260" h="1953260">
                  <a:moveTo>
                    <a:pt x="1084173" y="0"/>
                  </a:moveTo>
                  <a:lnTo>
                    <a:pt x="0" y="0"/>
                  </a:lnTo>
                  <a:lnTo>
                    <a:pt x="1952879" y="1952879"/>
                  </a:lnTo>
                  <a:lnTo>
                    <a:pt x="1952879" y="868705"/>
                  </a:lnTo>
                  <a:lnTo>
                    <a:pt x="10841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 rot="2700000">
            <a:off x="5525232" y="558060"/>
            <a:ext cx="572161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800" spc="-440" b="1">
                <a:solidFill>
                  <a:srgbClr val="231F20"/>
                </a:solidFill>
                <a:latin typeface="Calibri"/>
                <a:cs typeface="Calibri"/>
              </a:rPr>
              <a:t>Third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 rot="2700000">
            <a:off x="5270403" y="719756"/>
            <a:ext cx="758531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800" spc="-540" b="1">
                <a:solidFill>
                  <a:srgbClr val="231F20"/>
                </a:solidFill>
                <a:latin typeface="Calibri"/>
                <a:cs typeface="Calibri"/>
              </a:rPr>
              <a:t>Edition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0943" y="1985952"/>
            <a:ext cx="450151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400" spc="-185">
                <a:solidFill>
                  <a:srgbClr val="3C5CAA"/>
                </a:solidFill>
                <a:latin typeface="Tahoma"/>
                <a:cs typeface="Tahoma"/>
              </a:rPr>
              <a:t>How</a:t>
            </a:r>
            <a:r>
              <a:rPr dirty="0" sz="2400" spc="-225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2400" spc="-120">
                <a:solidFill>
                  <a:srgbClr val="3C5CAA"/>
                </a:solidFill>
                <a:latin typeface="Tahoma"/>
                <a:cs typeface="Tahoma"/>
              </a:rPr>
              <a:t>to</a:t>
            </a:r>
            <a:r>
              <a:rPr dirty="0" sz="2400" spc="-270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2400" spc="-185">
                <a:solidFill>
                  <a:srgbClr val="3C5CAA"/>
                </a:solidFill>
                <a:latin typeface="Tahoma"/>
                <a:cs typeface="Tahoma"/>
              </a:rPr>
              <a:t>Think</a:t>
            </a:r>
            <a:r>
              <a:rPr dirty="0" sz="2400" spc="-225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2400" spc="-165">
                <a:solidFill>
                  <a:srgbClr val="3C5CAA"/>
                </a:solidFill>
                <a:latin typeface="Tahoma"/>
                <a:cs typeface="Tahoma"/>
              </a:rPr>
              <a:t>Like</a:t>
            </a:r>
            <a:r>
              <a:rPr dirty="0" sz="2400" spc="-225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2400" spc="-220">
                <a:solidFill>
                  <a:srgbClr val="3C5CAA"/>
                </a:solidFill>
                <a:latin typeface="Tahoma"/>
                <a:cs typeface="Tahoma"/>
              </a:rPr>
              <a:t>a </a:t>
            </a:r>
            <a:r>
              <a:rPr dirty="0" sz="2400" spc="-185">
                <a:solidFill>
                  <a:srgbClr val="3C5CAA"/>
                </a:solidFill>
                <a:latin typeface="Tahoma"/>
                <a:cs typeface="Tahoma"/>
              </a:rPr>
              <a:t>Computer</a:t>
            </a:r>
            <a:r>
              <a:rPr dirty="0" sz="2400" spc="-225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2400" spc="-120">
                <a:solidFill>
                  <a:srgbClr val="3C5CAA"/>
                </a:solidFill>
                <a:latin typeface="Tahoma"/>
                <a:cs typeface="Tahoma"/>
              </a:rPr>
              <a:t>Scientist</a:t>
            </a:r>
            <a:endParaRPr sz="24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41953" y="6922241"/>
            <a:ext cx="11080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231F20"/>
                </a:solidFill>
                <a:latin typeface="Tahoma"/>
                <a:cs typeface="Tahoma"/>
              </a:rPr>
              <a:t>PYTHON</a:t>
            </a:r>
            <a:r>
              <a:rPr dirty="0" sz="700" spc="21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899207" y="1128141"/>
            <a:ext cx="2044700" cy="5455920"/>
          </a:xfrm>
          <a:custGeom>
            <a:avLst/>
            <a:gdLst/>
            <a:ahLst/>
            <a:cxnLst/>
            <a:rect l="l" t="t" r="r" b="b"/>
            <a:pathLst>
              <a:path w="2044700" h="5455920">
                <a:moveTo>
                  <a:pt x="1758645" y="0"/>
                </a:moveTo>
                <a:lnTo>
                  <a:pt x="0" y="0"/>
                </a:lnTo>
                <a:lnTo>
                  <a:pt x="0" y="5455488"/>
                </a:lnTo>
                <a:lnTo>
                  <a:pt x="2044395" y="5455488"/>
                </a:lnTo>
                <a:lnTo>
                  <a:pt x="2044395" y="285750"/>
                </a:lnTo>
                <a:lnTo>
                  <a:pt x="2040655" y="239401"/>
                </a:lnTo>
                <a:lnTo>
                  <a:pt x="2029826" y="195432"/>
                </a:lnTo>
                <a:lnTo>
                  <a:pt x="2012499" y="154433"/>
                </a:lnTo>
                <a:lnTo>
                  <a:pt x="1989260" y="116991"/>
                </a:lnTo>
                <a:lnTo>
                  <a:pt x="1960699" y="83696"/>
                </a:lnTo>
                <a:lnTo>
                  <a:pt x="1927403" y="55134"/>
                </a:lnTo>
                <a:lnTo>
                  <a:pt x="1889961" y="31895"/>
                </a:lnTo>
                <a:lnTo>
                  <a:pt x="1848962" y="14568"/>
                </a:lnTo>
                <a:lnTo>
                  <a:pt x="1804994" y="3740"/>
                </a:lnTo>
                <a:lnTo>
                  <a:pt x="1758645" y="0"/>
                </a:lnTo>
                <a:close/>
              </a:path>
            </a:pathLst>
          </a:custGeom>
          <a:solidFill>
            <a:srgbClr val="E9E9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4010665" y="1329219"/>
            <a:ext cx="1765300" cy="23914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9690" marR="243204" indent="-47625">
              <a:lnSpc>
                <a:spcPct val="106500"/>
              </a:lnSpc>
              <a:spcBef>
                <a:spcPts val="100"/>
              </a:spcBef>
            </a:pP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“An</a:t>
            </a:r>
            <a:r>
              <a:rPr dirty="0" sz="1150" spc="-3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outstanding</a:t>
            </a:r>
            <a:r>
              <a:rPr dirty="0" sz="1150" spc="-3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5">
                <a:solidFill>
                  <a:srgbClr val="3C5CAA"/>
                </a:solidFill>
                <a:latin typeface="Calibri"/>
                <a:cs typeface="Calibri"/>
              </a:rPr>
              <a:t>guide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for 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interested</a:t>
            </a:r>
            <a:r>
              <a:rPr dirty="0" sz="1150" spc="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adults 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to</a:t>
            </a:r>
            <a:r>
              <a:rPr dirty="0" sz="1150" spc="-4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55">
                <a:solidFill>
                  <a:srgbClr val="3C5CAA"/>
                </a:solidFill>
                <a:latin typeface="Calibri"/>
                <a:cs typeface="Calibri"/>
              </a:rPr>
              <a:t>learn</a:t>
            </a:r>
            <a:r>
              <a:rPr dirty="0" sz="1150" spc="-4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programming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from</a:t>
            </a:r>
            <a:r>
              <a:rPr dirty="0" sz="1150" spc="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scratch</a:t>
            </a:r>
            <a:r>
              <a:rPr dirty="0" sz="1150" spc="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through</a:t>
            </a:r>
            <a:endParaRPr sz="1150">
              <a:latin typeface="Calibri"/>
              <a:cs typeface="Calibri"/>
            </a:endParaRPr>
          </a:p>
          <a:p>
            <a:pPr marL="59690" marR="45085">
              <a:lnSpc>
                <a:spcPct val="106500"/>
              </a:lnSpc>
            </a:pP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exercises</a:t>
            </a:r>
            <a:r>
              <a:rPr dirty="0" sz="1150" spc="7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(the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only</a:t>
            </a:r>
            <a:r>
              <a:rPr dirty="0" sz="1150" spc="7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20">
                <a:solidFill>
                  <a:srgbClr val="3C5CAA"/>
                </a:solidFill>
                <a:latin typeface="Calibri"/>
                <a:cs typeface="Calibri"/>
              </a:rPr>
              <a:t>way). 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Even</a:t>
            </a:r>
            <a:r>
              <a:rPr dirty="0" sz="1150" spc="10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better,</a:t>
            </a:r>
            <a:r>
              <a:rPr dirty="0" sz="1150" spc="10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this</a:t>
            </a:r>
            <a:r>
              <a:rPr dirty="0" sz="1150" spc="11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20">
                <a:solidFill>
                  <a:srgbClr val="3C5CAA"/>
                </a:solidFill>
                <a:latin typeface="Calibri"/>
                <a:cs typeface="Calibri"/>
              </a:rPr>
              <a:t>third 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edition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80">
                <a:solidFill>
                  <a:srgbClr val="3C5CAA"/>
                </a:solidFill>
                <a:latin typeface="Calibri"/>
                <a:cs typeface="Calibri"/>
              </a:rPr>
              <a:t>makes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readers </a:t>
            </a:r>
            <a:r>
              <a:rPr dirty="0" sz="1150" spc="55">
                <a:solidFill>
                  <a:srgbClr val="3C5CAA"/>
                </a:solidFill>
                <a:latin typeface="Calibri"/>
                <a:cs typeface="Calibri"/>
              </a:rPr>
              <a:t>comfortable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with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40">
                <a:solidFill>
                  <a:srgbClr val="3C5CAA"/>
                </a:solidFill>
                <a:latin typeface="Calibri"/>
                <a:cs typeface="Calibri"/>
              </a:rPr>
              <a:t>modern 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tools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of</a:t>
            </a:r>
            <a:r>
              <a:rPr dirty="0" sz="1150" spc="11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the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10">
                <a:solidFill>
                  <a:srgbClr val="3C5CAA"/>
                </a:solidFill>
                <a:latin typeface="Calibri"/>
                <a:cs typeface="Calibri"/>
              </a:rPr>
              <a:t>trade— 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Jupyter</a:t>
            </a:r>
            <a:r>
              <a:rPr dirty="0" sz="1150" spc="-5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55">
                <a:solidFill>
                  <a:srgbClr val="3C5CAA"/>
                </a:solidFill>
                <a:latin typeface="Calibri"/>
                <a:cs typeface="Calibri"/>
              </a:rPr>
              <a:t>Notebooks</a:t>
            </a:r>
            <a:r>
              <a:rPr dirty="0" sz="1150" spc="-5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80">
                <a:solidFill>
                  <a:srgbClr val="3C5CAA"/>
                </a:solidFill>
                <a:latin typeface="Calibri"/>
                <a:cs typeface="Calibri"/>
              </a:rPr>
              <a:t>and</a:t>
            </a:r>
            <a:endParaRPr sz="1150">
              <a:latin typeface="Calibri"/>
              <a:cs typeface="Calibri"/>
            </a:endParaRPr>
          </a:p>
          <a:p>
            <a:pPr marL="5969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AI</a:t>
            </a:r>
            <a:r>
              <a:rPr dirty="0" sz="1150" spc="-1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90">
                <a:solidFill>
                  <a:srgbClr val="3C5CAA"/>
                </a:solidFill>
                <a:latin typeface="Calibri"/>
                <a:cs typeface="Calibri"/>
              </a:rPr>
              <a:t>coding</a:t>
            </a:r>
            <a:r>
              <a:rPr dirty="0" sz="1150" spc="-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assistants.”</a:t>
            </a:r>
            <a:endParaRPr sz="1150">
              <a:latin typeface="Calibri"/>
              <a:cs typeface="Calibri"/>
            </a:endParaRPr>
          </a:p>
          <a:p>
            <a:pPr marL="803910">
              <a:lnSpc>
                <a:spcPct val="100000"/>
              </a:lnSpc>
              <a:spcBef>
                <a:spcPts val="370"/>
              </a:spcBef>
            </a:pPr>
            <a:r>
              <a:rPr dirty="0" sz="900" spc="-145">
                <a:solidFill>
                  <a:srgbClr val="3C5CAA"/>
                </a:solidFill>
                <a:latin typeface="Tahoma"/>
                <a:cs typeface="Tahoma"/>
              </a:rPr>
              <a:t>—</a:t>
            </a:r>
            <a:r>
              <a:rPr dirty="0" sz="900">
                <a:solidFill>
                  <a:srgbClr val="3C5CAA"/>
                </a:solidFill>
                <a:latin typeface="Tahoma"/>
                <a:cs typeface="Tahoma"/>
              </a:rPr>
              <a:t>Luciano</a:t>
            </a:r>
            <a:r>
              <a:rPr dirty="0" sz="900" spc="-65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900" spc="-10">
                <a:solidFill>
                  <a:srgbClr val="3C5CAA"/>
                </a:solidFill>
                <a:latin typeface="Tahoma"/>
                <a:cs typeface="Tahoma"/>
              </a:rPr>
              <a:t>Ramalho</a:t>
            </a:r>
            <a:endParaRPr sz="900">
              <a:latin typeface="Tahoma"/>
              <a:cs typeface="Tahoma"/>
            </a:endParaRPr>
          </a:p>
          <a:p>
            <a:pPr marL="756920">
              <a:lnSpc>
                <a:spcPct val="100000"/>
              </a:lnSpc>
              <a:spcBef>
                <a:spcPts val="20"/>
              </a:spcBef>
            </a:pPr>
            <a:r>
              <a:rPr dirty="0" sz="800" spc="-20">
                <a:solidFill>
                  <a:srgbClr val="3C5CAA"/>
                </a:solidFill>
                <a:latin typeface="Tahoma"/>
                <a:cs typeface="Tahoma"/>
              </a:rPr>
              <a:t>Author</a:t>
            </a:r>
            <a:r>
              <a:rPr dirty="0" sz="800" spc="-80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800" spc="-25">
                <a:solidFill>
                  <a:srgbClr val="3C5CAA"/>
                </a:solidFill>
                <a:latin typeface="Tahoma"/>
                <a:cs typeface="Tahoma"/>
              </a:rPr>
              <a:t>of</a:t>
            </a:r>
            <a:r>
              <a:rPr dirty="0" sz="800" spc="-20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800" spc="-90" i="1">
                <a:solidFill>
                  <a:srgbClr val="3C5CAA"/>
                </a:solidFill>
                <a:latin typeface="Verdana"/>
                <a:cs typeface="Verdana"/>
              </a:rPr>
              <a:t>Fluent</a:t>
            </a:r>
            <a:r>
              <a:rPr dirty="0" sz="800" spc="-105" i="1">
                <a:solidFill>
                  <a:srgbClr val="3C5CAA"/>
                </a:solidFill>
                <a:latin typeface="Verdana"/>
                <a:cs typeface="Verdana"/>
              </a:rPr>
              <a:t> </a:t>
            </a:r>
            <a:r>
              <a:rPr dirty="0" sz="800" spc="-55" i="1">
                <a:solidFill>
                  <a:srgbClr val="3C5CAA"/>
                </a:solidFill>
                <a:latin typeface="Verdana"/>
                <a:cs typeface="Verdana"/>
              </a:rPr>
              <a:t>Python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000077" y="3818418"/>
            <a:ext cx="1772920" cy="2543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0485" marR="60325" indent="-58419">
              <a:lnSpc>
                <a:spcPct val="105100"/>
              </a:lnSpc>
              <a:spcBef>
                <a:spcPts val="100"/>
              </a:spcBef>
            </a:pP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“An</a:t>
            </a:r>
            <a:r>
              <a:rPr dirty="0" sz="1150" spc="229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excellent</a:t>
            </a:r>
            <a:r>
              <a:rPr dirty="0" sz="1150" spc="23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10">
                <a:solidFill>
                  <a:srgbClr val="3C5CAA"/>
                </a:solidFill>
                <a:latin typeface="Calibri"/>
                <a:cs typeface="Calibri"/>
              </a:rPr>
              <a:t>introduction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to</a:t>
            </a:r>
            <a:r>
              <a:rPr dirty="0" sz="1150" spc="-3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Python</a:t>
            </a:r>
            <a:r>
              <a:rPr dirty="0" sz="1150" spc="-3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programming without</a:t>
            </a:r>
            <a:r>
              <a:rPr dirty="0" sz="1150" spc="1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175">
                <a:solidFill>
                  <a:srgbClr val="3C5CAA"/>
                </a:solidFill>
                <a:latin typeface="Calibri"/>
                <a:cs typeface="Calibri"/>
              </a:rPr>
              <a:t>a</a:t>
            </a:r>
            <a:r>
              <a:rPr dirty="0" sz="1150" spc="1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single 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superfluous</a:t>
            </a:r>
            <a:r>
              <a:rPr dirty="0" sz="1150" spc="-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word</a:t>
            </a:r>
            <a:r>
              <a:rPr dirty="0" sz="1150" spc="3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or</a:t>
            </a:r>
            <a:r>
              <a:rPr dirty="0" sz="1150" spc="5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20">
                <a:solidFill>
                  <a:srgbClr val="3C5CAA"/>
                </a:solidFill>
                <a:latin typeface="Calibri"/>
                <a:cs typeface="Calibri"/>
              </a:rPr>
              <a:t>line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of</a:t>
            </a:r>
            <a:r>
              <a:rPr dirty="0" sz="1150" spc="-2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code.</a:t>
            </a:r>
            <a:r>
              <a:rPr dirty="0" sz="1150" spc="-13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55">
                <a:solidFill>
                  <a:srgbClr val="3C5CAA"/>
                </a:solidFill>
                <a:latin typeface="Calibri"/>
                <a:cs typeface="Calibri"/>
              </a:rPr>
              <a:t>The</a:t>
            </a:r>
            <a:r>
              <a:rPr dirty="0" sz="1150" spc="-1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third</a:t>
            </a:r>
            <a:r>
              <a:rPr dirty="0" sz="1150" spc="-1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10">
                <a:solidFill>
                  <a:srgbClr val="3C5CAA"/>
                </a:solidFill>
                <a:latin typeface="Calibri"/>
                <a:cs typeface="Calibri"/>
              </a:rPr>
              <a:t>edition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is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0">
                <a:solidFill>
                  <a:srgbClr val="3C5CAA"/>
                </a:solidFill>
                <a:latin typeface="Calibri"/>
                <a:cs typeface="Calibri"/>
              </a:rPr>
              <a:t>especially</a:t>
            </a:r>
            <a:r>
              <a:rPr dirty="0" sz="1150" spc="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50">
                <a:solidFill>
                  <a:srgbClr val="3C5CAA"/>
                </a:solidFill>
                <a:latin typeface="Calibri"/>
                <a:cs typeface="Calibri"/>
              </a:rPr>
              <a:t>exciting </a:t>
            </a:r>
            <a:r>
              <a:rPr dirty="0" sz="1150" spc="100">
                <a:solidFill>
                  <a:srgbClr val="3C5CAA"/>
                </a:solidFill>
                <a:latin typeface="Calibri"/>
                <a:cs typeface="Calibri"/>
              </a:rPr>
              <a:t>because</a:t>
            </a:r>
            <a:r>
              <a:rPr dirty="0" sz="1150" spc="1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it</a:t>
            </a:r>
            <a:r>
              <a:rPr dirty="0" sz="1150" spc="1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85">
                <a:solidFill>
                  <a:srgbClr val="3C5CAA"/>
                </a:solidFill>
                <a:latin typeface="Calibri"/>
                <a:cs typeface="Calibri"/>
              </a:rPr>
              <a:t>teaches</a:t>
            </a:r>
            <a:r>
              <a:rPr dirty="0" sz="1150" spc="1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30">
                <a:solidFill>
                  <a:srgbClr val="3C5CAA"/>
                </a:solidFill>
                <a:latin typeface="Calibri"/>
                <a:cs typeface="Calibri"/>
              </a:rPr>
              <a:t>you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how</a:t>
            </a:r>
            <a:r>
              <a:rPr dirty="0" sz="1150" spc="4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you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100">
                <a:solidFill>
                  <a:srgbClr val="3C5CAA"/>
                </a:solidFill>
                <a:latin typeface="Calibri"/>
                <a:cs typeface="Calibri"/>
              </a:rPr>
              <a:t>can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0">
                <a:solidFill>
                  <a:srgbClr val="3C5CAA"/>
                </a:solidFill>
                <a:latin typeface="Calibri"/>
                <a:cs typeface="Calibri"/>
              </a:rPr>
              <a:t>use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60">
                <a:solidFill>
                  <a:srgbClr val="3C5CAA"/>
                </a:solidFill>
                <a:latin typeface="Calibri"/>
                <a:cs typeface="Calibri"/>
              </a:rPr>
              <a:t>large </a:t>
            </a:r>
            <a:r>
              <a:rPr dirty="0" sz="1150" spc="110">
                <a:solidFill>
                  <a:srgbClr val="3C5CAA"/>
                </a:solidFill>
                <a:latin typeface="Calibri"/>
                <a:cs typeface="Calibri"/>
              </a:rPr>
              <a:t>language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0">
                <a:solidFill>
                  <a:srgbClr val="3C5CAA"/>
                </a:solidFill>
                <a:latin typeface="Calibri"/>
                <a:cs typeface="Calibri"/>
              </a:rPr>
              <a:t>models</a:t>
            </a:r>
            <a:r>
              <a:rPr dirty="0" sz="1150" spc="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25">
                <a:solidFill>
                  <a:srgbClr val="3C5CAA"/>
                </a:solidFill>
                <a:latin typeface="Calibri"/>
                <a:cs typeface="Calibri"/>
              </a:rPr>
              <a:t>to </a:t>
            </a:r>
            <a:r>
              <a:rPr dirty="0" sz="1150" spc="85">
                <a:solidFill>
                  <a:srgbClr val="3C5CAA"/>
                </a:solidFill>
                <a:latin typeface="Calibri"/>
                <a:cs typeface="Calibri"/>
              </a:rPr>
              <a:t>deepen</a:t>
            </a:r>
            <a:r>
              <a:rPr dirty="0" sz="1150" spc="-1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your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55">
                <a:solidFill>
                  <a:srgbClr val="3C5CAA"/>
                </a:solidFill>
                <a:latin typeface="Calibri"/>
                <a:cs typeface="Calibri"/>
              </a:rPr>
              <a:t>knowledge 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of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75">
                <a:solidFill>
                  <a:srgbClr val="3C5CAA"/>
                </a:solidFill>
                <a:latin typeface="Calibri"/>
                <a:cs typeface="Calibri"/>
              </a:rPr>
              <a:t>programming</a:t>
            </a:r>
            <a:r>
              <a:rPr dirty="0" sz="1150" spc="2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45">
                <a:solidFill>
                  <a:srgbClr val="3C5CAA"/>
                </a:solidFill>
                <a:latin typeface="Calibri"/>
                <a:cs typeface="Calibri"/>
              </a:rPr>
              <a:t>even</a:t>
            </a:r>
            <a:r>
              <a:rPr dirty="0" sz="1150" spc="40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125">
                <a:solidFill>
                  <a:srgbClr val="3C5CAA"/>
                </a:solidFill>
                <a:latin typeface="Calibri"/>
                <a:cs typeface="Calibri"/>
              </a:rPr>
              <a:t>as</a:t>
            </a:r>
            <a:r>
              <a:rPr dirty="0" sz="1150" spc="-25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175">
                <a:solidFill>
                  <a:srgbClr val="3C5CAA"/>
                </a:solidFill>
                <a:latin typeface="Calibri"/>
                <a:cs typeface="Calibri"/>
              </a:rPr>
              <a:t>a</a:t>
            </a:r>
            <a:r>
              <a:rPr dirty="0" sz="1150">
                <a:solidFill>
                  <a:srgbClr val="3C5CAA"/>
                </a:solidFill>
                <a:latin typeface="Calibri"/>
                <a:cs typeface="Calibri"/>
              </a:rPr>
              <a:t> </a:t>
            </a:r>
            <a:r>
              <a:rPr dirty="0" sz="1150" spc="-10">
                <a:solidFill>
                  <a:srgbClr val="3C5CAA"/>
                </a:solidFill>
                <a:latin typeface="Calibri"/>
                <a:cs typeface="Calibri"/>
              </a:rPr>
              <a:t>beginner.”</a:t>
            </a:r>
            <a:endParaRPr sz="11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70"/>
              </a:spcBef>
            </a:pPr>
            <a:r>
              <a:rPr dirty="0" sz="900" spc="-130">
                <a:solidFill>
                  <a:srgbClr val="3C5CAA"/>
                </a:solidFill>
                <a:latin typeface="Tahoma"/>
                <a:cs typeface="Tahoma"/>
              </a:rPr>
              <a:t>—</a:t>
            </a:r>
            <a:r>
              <a:rPr dirty="0" sz="900" spc="-40">
                <a:solidFill>
                  <a:srgbClr val="3C5CAA"/>
                </a:solidFill>
                <a:latin typeface="Tahoma"/>
                <a:cs typeface="Tahoma"/>
              </a:rPr>
              <a:t>Sam</a:t>
            </a:r>
            <a:r>
              <a:rPr dirty="0" sz="900" spc="-95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900" spc="-25">
                <a:solidFill>
                  <a:srgbClr val="3C5CAA"/>
                </a:solidFill>
                <a:latin typeface="Tahoma"/>
                <a:cs typeface="Tahoma"/>
              </a:rPr>
              <a:t>Lau</a:t>
            </a:r>
            <a:endParaRPr sz="900">
              <a:latin typeface="Tahoma"/>
              <a:cs typeface="Tahoma"/>
            </a:endParaRPr>
          </a:p>
          <a:p>
            <a:pPr marL="339725">
              <a:lnSpc>
                <a:spcPct val="100000"/>
              </a:lnSpc>
              <a:spcBef>
                <a:spcPts val="20"/>
              </a:spcBef>
            </a:pPr>
            <a:r>
              <a:rPr dirty="0" sz="800" spc="-30">
                <a:solidFill>
                  <a:srgbClr val="3C5CAA"/>
                </a:solidFill>
                <a:latin typeface="Tahoma"/>
                <a:cs typeface="Tahoma"/>
              </a:rPr>
              <a:t>Coauthor</a:t>
            </a:r>
            <a:r>
              <a:rPr dirty="0" sz="800" spc="-70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3C5CAA"/>
                </a:solidFill>
                <a:latin typeface="Tahoma"/>
                <a:cs typeface="Tahoma"/>
              </a:rPr>
              <a:t>of</a:t>
            </a:r>
            <a:r>
              <a:rPr dirty="0" sz="800" spc="10">
                <a:solidFill>
                  <a:srgbClr val="3C5CAA"/>
                </a:solidFill>
                <a:latin typeface="Tahoma"/>
                <a:cs typeface="Tahoma"/>
              </a:rPr>
              <a:t> </a:t>
            </a:r>
            <a:r>
              <a:rPr dirty="0" sz="800" spc="-95" i="1">
                <a:solidFill>
                  <a:srgbClr val="3C5CAA"/>
                </a:solidFill>
                <a:latin typeface="Verdana"/>
                <a:cs typeface="Verdana"/>
              </a:rPr>
              <a:t>Learning</a:t>
            </a:r>
            <a:r>
              <a:rPr dirty="0" sz="800" spc="-100" i="1">
                <a:solidFill>
                  <a:srgbClr val="3C5CAA"/>
                </a:solidFill>
                <a:latin typeface="Verdana"/>
                <a:cs typeface="Verdana"/>
              </a:rPr>
              <a:t> </a:t>
            </a:r>
            <a:r>
              <a:rPr dirty="0" sz="800" spc="-95" i="1">
                <a:solidFill>
                  <a:srgbClr val="3C5CAA"/>
                </a:solidFill>
                <a:latin typeface="Verdana"/>
                <a:cs typeface="Verdana"/>
              </a:rPr>
              <a:t>Data </a:t>
            </a:r>
            <a:r>
              <a:rPr dirty="0" sz="800" spc="-75" i="1">
                <a:solidFill>
                  <a:srgbClr val="3C5CAA"/>
                </a:solidFill>
                <a:latin typeface="Verdana"/>
                <a:cs typeface="Verdana"/>
              </a:rPr>
              <a:t>Science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427349" y="1038785"/>
            <a:ext cx="153225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231F20"/>
                </a:solidFill>
                <a:latin typeface="Calibri"/>
                <a:cs typeface="Calibri"/>
              </a:rPr>
              <a:t>Think</a:t>
            </a:r>
            <a:r>
              <a:rPr dirty="0" sz="2000" spc="2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2000" spc="75">
                <a:solidFill>
                  <a:srgbClr val="231F20"/>
                </a:solidFill>
                <a:latin typeface="Calibri"/>
                <a:cs typeface="Calibri"/>
              </a:rPr>
              <a:t>Python</a:t>
            </a:r>
            <a:endParaRPr sz="2000">
              <a:latin typeface="Calibri"/>
              <a:cs typeface="Calibri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46352" y="6764267"/>
            <a:ext cx="5492750" cy="0"/>
          </a:xfrm>
          <a:custGeom>
            <a:avLst/>
            <a:gdLst/>
            <a:ahLst/>
            <a:cxnLst/>
            <a:rect l="l" t="t" r="r" b="b"/>
            <a:pathLst>
              <a:path w="5492750" h="0">
                <a:moveTo>
                  <a:pt x="0" y="0"/>
                </a:moveTo>
                <a:lnTo>
                  <a:pt x="5492750" y="0"/>
                </a:lnTo>
              </a:path>
            </a:pathLst>
          </a:custGeom>
          <a:ln w="6350">
            <a:solidFill>
              <a:srgbClr val="D2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883558" y="6896793"/>
            <a:ext cx="1776095" cy="3022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>
              <a:lnSpc>
                <a:spcPct val="101899"/>
              </a:lnSpc>
              <a:spcBef>
                <a:spcPts val="80"/>
              </a:spcBef>
            </a:pPr>
            <a:r>
              <a:rPr dirty="0" sz="900" spc="-30">
                <a:solidFill>
                  <a:srgbClr val="231F20"/>
                </a:solidFill>
                <a:latin typeface="Tahoma"/>
                <a:cs typeface="Tahoma"/>
              </a:rPr>
              <a:t>linkedin.com/company/oreilly-</a:t>
            </a:r>
            <a:r>
              <a:rPr dirty="0" sz="900" spc="-10">
                <a:solidFill>
                  <a:srgbClr val="231F20"/>
                </a:solidFill>
                <a:latin typeface="Tahoma"/>
                <a:cs typeface="Tahoma"/>
              </a:rPr>
              <a:t>media youtube.com/oreillymedia</a:t>
            </a:r>
            <a:endParaRPr sz="900">
              <a:latin typeface="Tahoma"/>
              <a:cs typeface="Tahom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8525" y="1432469"/>
            <a:ext cx="3261995" cy="4483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1594">
              <a:lnSpc>
                <a:spcPct val="106700"/>
              </a:lnSpc>
              <a:spcBef>
                <a:spcPts val="100"/>
              </a:spcBef>
            </a:pP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Python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is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an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excellent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way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to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get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started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in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programming,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this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clear,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concise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guide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walks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you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through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language 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a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step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at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a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time—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beginning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with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basic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concepts,</a:t>
            </a:r>
            <a:endParaRPr sz="1000">
              <a:latin typeface="Tahoma"/>
              <a:cs typeface="Tahoma"/>
            </a:endParaRPr>
          </a:p>
          <a:p>
            <a:pPr marL="12700" marR="5080">
              <a:lnSpc>
                <a:spcPct val="106700"/>
              </a:lnSpc>
            </a:pPr>
            <a:r>
              <a:rPr dirty="0" sz="1000" spc="-45">
                <a:solidFill>
                  <a:srgbClr val="231F20"/>
                </a:solidFill>
                <a:latin typeface="Tahoma"/>
                <a:cs typeface="Tahoma"/>
              </a:rPr>
              <a:t>then</a:t>
            </a:r>
            <a:r>
              <a:rPr dirty="0" sz="1000" spc="-12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moving</a:t>
            </a:r>
            <a:r>
              <a:rPr dirty="0" sz="1000" spc="-12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on</a:t>
            </a:r>
            <a:r>
              <a:rPr dirty="0" sz="1000" spc="-12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to</a:t>
            </a:r>
            <a:r>
              <a:rPr dirty="0" sz="1000" spc="-12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ahoma"/>
                <a:cs typeface="Tahoma"/>
              </a:rPr>
              <a:t>functions,</a:t>
            </a:r>
            <a:r>
              <a:rPr dirty="0" sz="1000" spc="-12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data</a:t>
            </a:r>
            <a:r>
              <a:rPr dirty="0" sz="1000" spc="-12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structures,</a:t>
            </a:r>
            <a:r>
              <a:rPr dirty="0" sz="1000" spc="-12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12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object-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oriented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programming.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ahoma"/>
                <a:cs typeface="Tahoma"/>
              </a:rPr>
              <a:t>This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revised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third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edition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reflects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growing role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of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large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language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models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(LLMs)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in</a:t>
            </a:r>
            <a:r>
              <a:rPr dirty="0" sz="1000" spc="-5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endParaRPr sz="1000">
              <a:latin typeface="Tahoma"/>
              <a:cs typeface="Tahoma"/>
            </a:endParaRPr>
          </a:p>
          <a:p>
            <a:pPr marL="12700" marR="236854">
              <a:lnSpc>
                <a:spcPct val="106700"/>
              </a:lnSpc>
            </a:pP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includes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exercises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on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effective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LLM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prompts,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testing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code,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debugging.</a:t>
            </a:r>
            <a:endParaRPr sz="1000">
              <a:latin typeface="Tahoma"/>
              <a:cs typeface="Tahoma"/>
            </a:endParaRPr>
          </a:p>
          <a:p>
            <a:pPr marL="12700" marR="61594">
              <a:lnSpc>
                <a:spcPct val="107100"/>
              </a:lnSpc>
              <a:spcBef>
                <a:spcPts val="440"/>
              </a:spcBef>
            </a:pP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Through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exercises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in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ahoma"/>
                <a:cs typeface="Tahoma"/>
              </a:rPr>
              <a:t>each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chapter,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you’ll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try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out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programming skills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ahoma"/>
                <a:cs typeface="Tahoma"/>
              </a:rPr>
              <a:t>as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you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learn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them.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Author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Allen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Downey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focuses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on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fundamental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concepts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that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will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ahoma"/>
                <a:cs typeface="Tahoma"/>
              </a:rPr>
              <a:t>remain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relevant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even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as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tools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evolve.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With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this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popular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hands-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on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guide,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you’ll</a:t>
            </a:r>
            <a:r>
              <a:rPr dirty="0" sz="1000" spc="-5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learn:</a:t>
            </a:r>
            <a:endParaRPr sz="1000">
              <a:latin typeface="Tahoma"/>
              <a:cs typeface="Tahoma"/>
            </a:endParaRPr>
          </a:p>
          <a:p>
            <a:pPr marL="127000" indent="-114935">
              <a:lnSpc>
                <a:spcPct val="100000"/>
              </a:lnSpc>
              <a:spcBef>
                <a:spcPts val="53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000" spc="-11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syntax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ahoma"/>
                <a:cs typeface="Tahoma"/>
              </a:rPr>
              <a:t>semantics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of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Python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language</a:t>
            </a:r>
            <a:endParaRPr sz="1000">
              <a:latin typeface="Tahoma"/>
              <a:cs typeface="Tahoma"/>
            </a:endParaRPr>
          </a:p>
          <a:p>
            <a:pPr marL="127000" marR="567690" indent="-114300">
              <a:lnSpc>
                <a:spcPct val="106700"/>
              </a:lnSpc>
              <a:spcBef>
                <a:spcPts val="36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A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clear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definition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of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each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concept,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with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emphasis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on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important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vocabulary</a:t>
            </a:r>
            <a:endParaRPr sz="1000">
              <a:latin typeface="Tahoma"/>
              <a:cs typeface="Tahoma"/>
            </a:endParaRPr>
          </a:p>
          <a:p>
            <a:pPr marL="127000" marR="980440" indent="-114300">
              <a:lnSpc>
                <a:spcPct val="106700"/>
              </a:lnSpc>
              <a:spcBef>
                <a:spcPts val="36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How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to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work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with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variables,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statements, functions,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data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structures</a:t>
            </a:r>
            <a:endParaRPr sz="1000">
              <a:latin typeface="Tahoma"/>
              <a:cs typeface="Tahoma"/>
            </a:endParaRPr>
          </a:p>
          <a:p>
            <a:pPr marL="127000" indent="-114935">
              <a:lnSpc>
                <a:spcPct val="100000"/>
              </a:lnSpc>
              <a:spcBef>
                <a:spcPts val="44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Techniques</a:t>
            </a:r>
            <a:r>
              <a:rPr dirty="0" sz="1000" spc="-10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for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reading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writing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files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9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databases</a:t>
            </a:r>
            <a:endParaRPr sz="1000">
              <a:latin typeface="Tahoma"/>
              <a:cs typeface="Tahoma"/>
            </a:endParaRPr>
          </a:p>
          <a:p>
            <a:pPr marL="127000" marR="1247140" indent="-114300">
              <a:lnSpc>
                <a:spcPct val="106700"/>
              </a:lnSpc>
              <a:spcBef>
                <a:spcPts val="36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Fundamentals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of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objects,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methods,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114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object-oriented</a:t>
            </a:r>
            <a:r>
              <a:rPr dirty="0" sz="1000" spc="-11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endParaRPr sz="1000">
              <a:latin typeface="Tahoma"/>
              <a:cs typeface="Tahoma"/>
            </a:endParaRPr>
          </a:p>
          <a:p>
            <a:pPr marL="127000" marR="917575" indent="-114300">
              <a:lnSpc>
                <a:spcPct val="106700"/>
              </a:lnSpc>
              <a:spcBef>
                <a:spcPts val="36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Debugging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strategies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for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syntax,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runtime,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10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semantic</a:t>
            </a:r>
            <a:r>
              <a:rPr dirty="0" sz="1000" spc="-9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errors</a:t>
            </a:r>
            <a:endParaRPr sz="1000">
              <a:latin typeface="Tahoma"/>
              <a:cs typeface="Tahoma"/>
            </a:endParaRPr>
          </a:p>
          <a:p>
            <a:pPr marL="127000" marR="179070" indent="-114300">
              <a:lnSpc>
                <a:spcPct val="108300"/>
              </a:lnSpc>
              <a:spcBef>
                <a:spcPts val="340"/>
              </a:spcBef>
              <a:buSzPct val="110000"/>
              <a:buFont typeface="Arial"/>
              <a:buChar char="•"/>
              <a:tabLst>
                <a:tab pos="127635" algn="l"/>
              </a:tabLst>
            </a:pP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How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to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use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LLMs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to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accelerate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your</a:t>
            </a:r>
            <a:r>
              <a:rPr dirty="0" sz="1000" spc="-8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learning—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including effective</a:t>
            </a:r>
            <a:r>
              <a:rPr dirty="0" sz="1000" spc="-114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prompts,</a:t>
            </a:r>
            <a:r>
              <a:rPr dirty="0" sz="1000" spc="-11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testing</a:t>
            </a:r>
            <a:r>
              <a:rPr dirty="0" sz="1000" spc="-11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code,</a:t>
            </a:r>
            <a:r>
              <a:rPr dirty="0" sz="1000" spc="-11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11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debugging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6107808"/>
            <a:ext cx="290258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6700"/>
              </a:lnSpc>
              <a:spcBef>
                <a:spcPts val="100"/>
              </a:spcBef>
            </a:pPr>
            <a:r>
              <a:rPr dirty="0" sz="1000">
                <a:solidFill>
                  <a:srgbClr val="231F20"/>
                </a:solidFill>
                <a:latin typeface="Tahoma"/>
                <a:cs typeface="Tahoma"/>
              </a:rPr>
              <a:t>Allen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B.</a:t>
            </a:r>
            <a:r>
              <a:rPr dirty="0" sz="1000" spc="-13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Downey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is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a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professor</a:t>
            </a:r>
            <a:r>
              <a:rPr dirty="0" sz="1000" spc="-7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emeritus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at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Olin</a:t>
            </a:r>
            <a:r>
              <a:rPr dirty="0" sz="1000" spc="-8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College of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Engineering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author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of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ahoma"/>
                <a:cs typeface="Tahoma"/>
              </a:rPr>
              <a:t>several</a:t>
            </a:r>
            <a:r>
              <a:rPr dirty="0" sz="1000" spc="-65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other</a:t>
            </a:r>
            <a:r>
              <a:rPr dirty="0" sz="1000" spc="-6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ahoma"/>
                <a:cs typeface="Tahoma"/>
              </a:rPr>
              <a:t>books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on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programming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ahoma"/>
                <a:cs typeface="Tahoma"/>
              </a:rPr>
              <a:t>and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ahoma"/>
                <a:cs typeface="Tahoma"/>
              </a:rPr>
              <a:t>data</a:t>
            </a:r>
            <a:r>
              <a:rPr dirty="0" sz="1000" spc="-7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ahoma"/>
                <a:cs typeface="Tahoma"/>
              </a:rPr>
              <a:t>science.</a:t>
            </a:r>
            <a:endParaRPr sz="1000">
              <a:latin typeface="Tahoma"/>
              <a:cs typeface="Tahoma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442294" y="452119"/>
            <a:ext cx="1231265" cy="211454"/>
            <a:chOff x="442294" y="452119"/>
            <a:chExt cx="1231265" cy="211454"/>
          </a:xfrm>
        </p:grpSpPr>
        <p:sp>
          <p:nvSpPr>
            <p:cNvPr id="12" name="object 12" descr=""/>
            <p:cNvSpPr/>
            <p:nvPr/>
          </p:nvSpPr>
          <p:spPr>
            <a:xfrm>
              <a:off x="916038" y="456272"/>
              <a:ext cx="532765" cy="201930"/>
            </a:xfrm>
            <a:custGeom>
              <a:avLst/>
              <a:gdLst/>
              <a:ahLst/>
              <a:cxnLst/>
              <a:rect l="l" t="t" r="r" b="b"/>
              <a:pathLst>
                <a:path w="532765" h="201929">
                  <a:moveTo>
                    <a:pt x="140068" y="1016"/>
                  </a:moveTo>
                  <a:lnTo>
                    <a:pt x="0" y="1016"/>
                  </a:lnTo>
                  <a:lnTo>
                    <a:pt x="0" y="34036"/>
                  </a:lnTo>
                  <a:lnTo>
                    <a:pt x="0" y="84836"/>
                  </a:lnTo>
                  <a:lnTo>
                    <a:pt x="0" y="117856"/>
                  </a:lnTo>
                  <a:lnTo>
                    <a:pt x="0" y="168656"/>
                  </a:lnTo>
                  <a:lnTo>
                    <a:pt x="0" y="201676"/>
                  </a:lnTo>
                  <a:lnTo>
                    <a:pt x="140068" y="201676"/>
                  </a:lnTo>
                  <a:lnTo>
                    <a:pt x="140068" y="168656"/>
                  </a:lnTo>
                  <a:lnTo>
                    <a:pt x="33578" y="168656"/>
                  </a:lnTo>
                  <a:lnTo>
                    <a:pt x="33578" y="117856"/>
                  </a:lnTo>
                  <a:lnTo>
                    <a:pt x="134937" y="117856"/>
                  </a:lnTo>
                  <a:lnTo>
                    <a:pt x="134937" y="84836"/>
                  </a:lnTo>
                  <a:lnTo>
                    <a:pt x="33578" y="84836"/>
                  </a:lnTo>
                  <a:lnTo>
                    <a:pt x="33578" y="34036"/>
                  </a:lnTo>
                  <a:lnTo>
                    <a:pt x="140068" y="34036"/>
                  </a:lnTo>
                  <a:lnTo>
                    <a:pt x="140068" y="1016"/>
                  </a:lnTo>
                  <a:close/>
                </a:path>
                <a:path w="532765" h="201929">
                  <a:moveTo>
                    <a:pt x="208876" y="457"/>
                  </a:moveTo>
                  <a:lnTo>
                    <a:pt x="175310" y="457"/>
                  </a:lnTo>
                  <a:lnTo>
                    <a:pt x="175310" y="201930"/>
                  </a:lnTo>
                  <a:lnTo>
                    <a:pt x="208876" y="201930"/>
                  </a:lnTo>
                  <a:lnTo>
                    <a:pt x="208876" y="457"/>
                  </a:lnTo>
                  <a:close/>
                </a:path>
                <a:path w="532765" h="201929">
                  <a:moveTo>
                    <a:pt x="374446" y="168910"/>
                  </a:moveTo>
                  <a:lnTo>
                    <a:pt x="277571" y="168910"/>
                  </a:lnTo>
                  <a:lnTo>
                    <a:pt x="277571" y="0"/>
                  </a:lnTo>
                  <a:lnTo>
                    <a:pt x="243992" y="0"/>
                  </a:lnTo>
                  <a:lnTo>
                    <a:pt x="243992" y="168910"/>
                  </a:lnTo>
                  <a:lnTo>
                    <a:pt x="243992" y="201930"/>
                  </a:lnTo>
                  <a:lnTo>
                    <a:pt x="374446" y="201930"/>
                  </a:lnTo>
                  <a:lnTo>
                    <a:pt x="374446" y="168910"/>
                  </a:lnTo>
                  <a:close/>
                </a:path>
                <a:path w="532765" h="201929">
                  <a:moveTo>
                    <a:pt x="532269" y="168910"/>
                  </a:moveTo>
                  <a:lnTo>
                    <a:pt x="435394" y="168910"/>
                  </a:lnTo>
                  <a:lnTo>
                    <a:pt x="435394" y="0"/>
                  </a:lnTo>
                  <a:lnTo>
                    <a:pt x="401815" y="0"/>
                  </a:lnTo>
                  <a:lnTo>
                    <a:pt x="401815" y="168910"/>
                  </a:lnTo>
                  <a:lnTo>
                    <a:pt x="401815" y="201930"/>
                  </a:lnTo>
                  <a:lnTo>
                    <a:pt x="532269" y="201930"/>
                  </a:lnTo>
                  <a:lnTo>
                    <a:pt x="532269" y="168910"/>
                  </a:lnTo>
                  <a:close/>
                </a:path>
              </a:pathLst>
            </a:custGeom>
            <a:solidFill>
              <a:srgbClr val="D2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22372" y="456733"/>
              <a:ext cx="170179" cy="201472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442290" y="452119"/>
              <a:ext cx="1231265" cy="211454"/>
            </a:xfrm>
            <a:custGeom>
              <a:avLst/>
              <a:gdLst/>
              <a:ahLst/>
              <a:cxnLst/>
              <a:rect l="l" t="t" r="r" b="b"/>
              <a:pathLst>
                <a:path w="1231264" h="211454">
                  <a:moveTo>
                    <a:pt x="209867" y="106286"/>
                  </a:moveTo>
                  <a:lnTo>
                    <a:pt x="201612" y="65430"/>
                  </a:lnTo>
                  <a:lnTo>
                    <a:pt x="181051" y="34925"/>
                  </a:lnTo>
                  <a:lnTo>
                    <a:pt x="179133" y="32067"/>
                  </a:lnTo>
                  <a:lnTo>
                    <a:pt x="176276" y="30149"/>
                  </a:lnTo>
                  <a:lnTo>
                    <a:pt x="176276" y="106286"/>
                  </a:lnTo>
                  <a:lnTo>
                    <a:pt x="174828" y="120675"/>
                  </a:lnTo>
                  <a:lnTo>
                    <a:pt x="155397" y="156730"/>
                  </a:lnTo>
                  <a:lnTo>
                    <a:pt x="119341" y="176187"/>
                  </a:lnTo>
                  <a:lnTo>
                    <a:pt x="104952" y="177634"/>
                  </a:lnTo>
                  <a:lnTo>
                    <a:pt x="90538" y="176187"/>
                  </a:lnTo>
                  <a:lnTo>
                    <a:pt x="54470" y="156730"/>
                  </a:lnTo>
                  <a:lnTo>
                    <a:pt x="35026" y="120675"/>
                  </a:lnTo>
                  <a:lnTo>
                    <a:pt x="33578" y="106286"/>
                  </a:lnTo>
                  <a:lnTo>
                    <a:pt x="35026" y="91884"/>
                  </a:lnTo>
                  <a:lnTo>
                    <a:pt x="54470" y="55803"/>
                  </a:lnTo>
                  <a:lnTo>
                    <a:pt x="90538" y="36372"/>
                  </a:lnTo>
                  <a:lnTo>
                    <a:pt x="104952" y="34925"/>
                  </a:lnTo>
                  <a:lnTo>
                    <a:pt x="119341" y="36372"/>
                  </a:lnTo>
                  <a:lnTo>
                    <a:pt x="155397" y="55803"/>
                  </a:lnTo>
                  <a:lnTo>
                    <a:pt x="174828" y="91884"/>
                  </a:lnTo>
                  <a:lnTo>
                    <a:pt x="176276" y="106286"/>
                  </a:lnTo>
                  <a:lnTo>
                    <a:pt x="176276" y="30149"/>
                  </a:lnTo>
                  <a:lnTo>
                    <a:pt x="145783" y="9575"/>
                  </a:lnTo>
                  <a:lnTo>
                    <a:pt x="104952" y="1333"/>
                  </a:lnTo>
                  <a:lnTo>
                    <a:pt x="64096" y="9575"/>
                  </a:lnTo>
                  <a:lnTo>
                    <a:pt x="30734" y="32067"/>
                  </a:lnTo>
                  <a:lnTo>
                    <a:pt x="8242" y="65430"/>
                  </a:lnTo>
                  <a:lnTo>
                    <a:pt x="0" y="106286"/>
                  </a:lnTo>
                  <a:lnTo>
                    <a:pt x="8242" y="147116"/>
                  </a:lnTo>
                  <a:lnTo>
                    <a:pt x="30734" y="180467"/>
                  </a:lnTo>
                  <a:lnTo>
                    <a:pt x="64096" y="202958"/>
                  </a:lnTo>
                  <a:lnTo>
                    <a:pt x="104952" y="211213"/>
                  </a:lnTo>
                  <a:lnTo>
                    <a:pt x="145783" y="202958"/>
                  </a:lnTo>
                  <a:lnTo>
                    <a:pt x="179133" y="180467"/>
                  </a:lnTo>
                  <a:lnTo>
                    <a:pt x="181051" y="177634"/>
                  </a:lnTo>
                  <a:lnTo>
                    <a:pt x="201612" y="147116"/>
                  </a:lnTo>
                  <a:lnTo>
                    <a:pt x="209867" y="106286"/>
                  </a:lnTo>
                  <a:close/>
                </a:path>
                <a:path w="1231264" h="211454">
                  <a:moveTo>
                    <a:pt x="256286" y="26060"/>
                  </a:moveTo>
                  <a:lnTo>
                    <a:pt x="254330" y="16433"/>
                  </a:lnTo>
                  <a:lnTo>
                    <a:pt x="249034" y="8572"/>
                  </a:lnTo>
                  <a:lnTo>
                    <a:pt x="241185" y="3263"/>
                  </a:lnTo>
                  <a:lnTo>
                    <a:pt x="231571" y="1320"/>
                  </a:lnTo>
                  <a:lnTo>
                    <a:pt x="221945" y="3263"/>
                  </a:lnTo>
                  <a:lnTo>
                    <a:pt x="214083" y="8572"/>
                  </a:lnTo>
                  <a:lnTo>
                    <a:pt x="208788" y="16433"/>
                  </a:lnTo>
                  <a:lnTo>
                    <a:pt x="206857" y="26060"/>
                  </a:lnTo>
                  <a:lnTo>
                    <a:pt x="208788" y="35674"/>
                  </a:lnTo>
                  <a:lnTo>
                    <a:pt x="214083" y="43535"/>
                  </a:lnTo>
                  <a:lnTo>
                    <a:pt x="221945" y="48831"/>
                  </a:lnTo>
                  <a:lnTo>
                    <a:pt x="231571" y="50774"/>
                  </a:lnTo>
                  <a:lnTo>
                    <a:pt x="241185" y="48831"/>
                  </a:lnTo>
                  <a:lnTo>
                    <a:pt x="249034" y="43535"/>
                  </a:lnTo>
                  <a:lnTo>
                    <a:pt x="254330" y="35674"/>
                  </a:lnTo>
                  <a:lnTo>
                    <a:pt x="256286" y="26060"/>
                  </a:lnTo>
                  <a:close/>
                </a:path>
                <a:path w="1231264" h="211454">
                  <a:moveTo>
                    <a:pt x="1155712" y="4622"/>
                  </a:moveTo>
                  <a:lnTo>
                    <a:pt x="1114907" y="4622"/>
                  </a:lnTo>
                  <a:lnTo>
                    <a:pt x="1063231" y="79425"/>
                  </a:lnTo>
                  <a:lnTo>
                    <a:pt x="1011542" y="4622"/>
                  </a:lnTo>
                  <a:lnTo>
                    <a:pt x="970737" y="4622"/>
                  </a:lnTo>
                  <a:lnTo>
                    <a:pt x="1046403" y="114160"/>
                  </a:lnTo>
                  <a:lnTo>
                    <a:pt x="1046403" y="206095"/>
                  </a:lnTo>
                  <a:lnTo>
                    <a:pt x="1079982" y="206095"/>
                  </a:lnTo>
                  <a:lnTo>
                    <a:pt x="1079982" y="114236"/>
                  </a:lnTo>
                  <a:lnTo>
                    <a:pt x="1155712" y="4622"/>
                  </a:lnTo>
                  <a:close/>
                </a:path>
                <a:path w="1231264" h="211454">
                  <a:moveTo>
                    <a:pt x="1219365" y="16179"/>
                  </a:moveTo>
                  <a:lnTo>
                    <a:pt x="1215453" y="12687"/>
                  </a:lnTo>
                  <a:lnTo>
                    <a:pt x="1214335" y="12687"/>
                  </a:lnTo>
                  <a:lnTo>
                    <a:pt x="1214335" y="18656"/>
                  </a:lnTo>
                  <a:lnTo>
                    <a:pt x="1214335" y="22377"/>
                  </a:lnTo>
                  <a:lnTo>
                    <a:pt x="1212684" y="23863"/>
                  </a:lnTo>
                  <a:lnTo>
                    <a:pt x="1198968" y="23863"/>
                  </a:lnTo>
                  <a:lnTo>
                    <a:pt x="1198968" y="17157"/>
                  </a:lnTo>
                  <a:lnTo>
                    <a:pt x="1212684" y="17157"/>
                  </a:lnTo>
                  <a:lnTo>
                    <a:pt x="1214335" y="18656"/>
                  </a:lnTo>
                  <a:lnTo>
                    <a:pt x="1214335" y="12687"/>
                  </a:lnTo>
                  <a:lnTo>
                    <a:pt x="1193965" y="12687"/>
                  </a:lnTo>
                  <a:lnTo>
                    <a:pt x="1193965" y="39471"/>
                  </a:lnTo>
                  <a:lnTo>
                    <a:pt x="1198968" y="39471"/>
                  </a:lnTo>
                  <a:lnTo>
                    <a:pt x="1198968" y="28321"/>
                  </a:lnTo>
                  <a:lnTo>
                    <a:pt x="1207389" y="28321"/>
                  </a:lnTo>
                  <a:lnTo>
                    <a:pt x="1213434" y="39471"/>
                  </a:lnTo>
                  <a:lnTo>
                    <a:pt x="1219009" y="39471"/>
                  </a:lnTo>
                  <a:lnTo>
                    <a:pt x="1212964" y="28321"/>
                  </a:lnTo>
                  <a:lnTo>
                    <a:pt x="1212824" y="28054"/>
                  </a:lnTo>
                  <a:lnTo>
                    <a:pt x="1216609" y="27178"/>
                  </a:lnTo>
                  <a:lnTo>
                    <a:pt x="1219365" y="24142"/>
                  </a:lnTo>
                  <a:lnTo>
                    <a:pt x="1219365" y="23863"/>
                  </a:lnTo>
                  <a:lnTo>
                    <a:pt x="1219365" y="17157"/>
                  </a:lnTo>
                  <a:lnTo>
                    <a:pt x="1219365" y="16179"/>
                  </a:lnTo>
                  <a:close/>
                </a:path>
                <a:path w="1231264" h="211454">
                  <a:moveTo>
                    <a:pt x="1231049" y="26289"/>
                  </a:moveTo>
                  <a:lnTo>
                    <a:pt x="1228991" y="16052"/>
                  </a:lnTo>
                  <a:lnTo>
                    <a:pt x="1226845" y="12877"/>
                  </a:lnTo>
                  <a:lnTo>
                    <a:pt x="1226845" y="26289"/>
                  </a:lnTo>
                  <a:lnTo>
                    <a:pt x="1225105" y="34886"/>
                  </a:lnTo>
                  <a:lnTo>
                    <a:pt x="1220368" y="41897"/>
                  </a:lnTo>
                  <a:lnTo>
                    <a:pt x="1213358" y="46634"/>
                  </a:lnTo>
                  <a:lnTo>
                    <a:pt x="1204772" y="48361"/>
                  </a:lnTo>
                  <a:lnTo>
                    <a:pt x="1196187" y="46634"/>
                  </a:lnTo>
                  <a:lnTo>
                    <a:pt x="1189164" y="41897"/>
                  </a:lnTo>
                  <a:lnTo>
                    <a:pt x="1184427" y="34886"/>
                  </a:lnTo>
                  <a:lnTo>
                    <a:pt x="1182687" y="26289"/>
                  </a:lnTo>
                  <a:lnTo>
                    <a:pt x="1184427" y="17691"/>
                  </a:lnTo>
                  <a:lnTo>
                    <a:pt x="1189164" y="10668"/>
                  </a:lnTo>
                  <a:lnTo>
                    <a:pt x="1196187" y="5930"/>
                  </a:lnTo>
                  <a:lnTo>
                    <a:pt x="1204772" y="4191"/>
                  </a:lnTo>
                  <a:lnTo>
                    <a:pt x="1213358" y="5930"/>
                  </a:lnTo>
                  <a:lnTo>
                    <a:pt x="1220368" y="10668"/>
                  </a:lnTo>
                  <a:lnTo>
                    <a:pt x="1225105" y="17691"/>
                  </a:lnTo>
                  <a:lnTo>
                    <a:pt x="1226845" y="26289"/>
                  </a:lnTo>
                  <a:lnTo>
                    <a:pt x="1226845" y="12877"/>
                  </a:lnTo>
                  <a:lnTo>
                    <a:pt x="1223352" y="7696"/>
                  </a:lnTo>
                  <a:lnTo>
                    <a:pt x="1218158" y="4191"/>
                  </a:lnTo>
                  <a:lnTo>
                    <a:pt x="1214996" y="2070"/>
                  </a:lnTo>
                  <a:lnTo>
                    <a:pt x="1204772" y="0"/>
                  </a:lnTo>
                  <a:lnTo>
                    <a:pt x="1194536" y="2070"/>
                  </a:lnTo>
                  <a:lnTo>
                    <a:pt x="1186180" y="7696"/>
                  </a:lnTo>
                  <a:lnTo>
                    <a:pt x="1180541" y="16052"/>
                  </a:lnTo>
                  <a:lnTo>
                    <a:pt x="1178471" y="26289"/>
                  </a:lnTo>
                  <a:lnTo>
                    <a:pt x="1180541" y="36525"/>
                  </a:lnTo>
                  <a:lnTo>
                    <a:pt x="1186180" y="44869"/>
                  </a:lnTo>
                  <a:lnTo>
                    <a:pt x="1194536" y="50507"/>
                  </a:lnTo>
                  <a:lnTo>
                    <a:pt x="1204772" y="52565"/>
                  </a:lnTo>
                  <a:lnTo>
                    <a:pt x="1214996" y="50507"/>
                  </a:lnTo>
                  <a:lnTo>
                    <a:pt x="1218171" y="48361"/>
                  </a:lnTo>
                  <a:lnTo>
                    <a:pt x="1223352" y="44869"/>
                  </a:lnTo>
                  <a:lnTo>
                    <a:pt x="1228991" y="36525"/>
                  </a:lnTo>
                  <a:lnTo>
                    <a:pt x="1231049" y="26289"/>
                  </a:lnTo>
                  <a:close/>
                </a:path>
              </a:pathLst>
            </a:custGeom>
            <a:solidFill>
              <a:srgbClr val="D2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458457" y="7589228"/>
            <a:ext cx="955040" cy="353695"/>
          </a:xfrm>
          <a:custGeom>
            <a:avLst/>
            <a:gdLst/>
            <a:ahLst/>
            <a:cxnLst/>
            <a:rect l="l" t="t" r="r" b="b"/>
            <a:pathLst>
              <a:path w="955040" h="353695">
                <a:moveTo>
                  <a:pt x="12077" y="0"/>
                </a:moveTo>
                <a:lnTo>
                  <a:pt x="0" y="0"/>
                </a:lnTo>
                <a:lnTo>
                  <a:pt x="0" y="353390"/>
                </a:lnTo>
                <a:lnTo>
                  <a:pt x="12077" y="353390"/>
                </a:lnTo>
                <a:lnTo>
                  <a:pt x="12077" y="0"/>
                </a:lnTo>
                <a:close/>
              </a:path>
              <a:path w="955040" h="353695">
                <a:moveTo>
                  <a:pt x="36258" y="0"/>
                </a:moveTo>
                <a:lnTo>
                  <a:pt x="24168" y="0"/>
                </a:lnTo>
                <a:lnTo>
                  <a:pt x="24168" y="353390"/>
                </a:lnTo>
                <a:lnTo>
                  <a:pt x="36258" y="353390"/>
                </a:lnTo>
                <a:lnTo>
                  <a:pt x="36258" y="0"/>
                </a:lnTo>
                <a:close/>
              </a:path>
              <a:path w="955040" h="353695">
                <a:moveTo>
                  <a:pt x="84594" y="0"/>
                </a:moveTo>
                <a:lnTo>
                  <a:pt x="47409" y="0"/>
                </a:lnTo>
                <a:lnTo>
                  <a:pt x="47409" y="292963"/>
                </a:lnTo>
                <a:lnTo>
                  <a:pt x="84594" y="292963"/>
                </a:lnTo>
                <a:lnTo>
                  <a:pt x="84594" y="0"/>
                </a:lnTo>
                <a:close/>
              </a:path>
              <a:path w="955040" h="353695">
                <a:moveTo>
                  <a:pt x="120840" y="0"/>
                </a:moveTo>
                <a:lnTo>
                  <a:pt x="95745" y="0"/>
                </a:lnTo>
                <a:lnTo>
                  <a:pt x="95745" y="292963"/>
                </a:lnTo>
                <a:lnTo>
                  <a:pt x="120840" y="292963"/>
                </a:lnTo>
                <a:lnTo>
                  <a:pt x="120840" y="0"/>
                </a:lnTo>
                <a:close/>
              </a:path>
              <a:path w="955040" h="353695">
                <a:moveTo>
                  <a:pt x="169176" y="0"/>
                </a:moveTo>
                <a:lnTo>
                  <a:pt x="158026" y="0"/>
                </a:lnTo>
                <a:lnTo>
                  <a:pt x="158026" y="292963"/>
                </a:lnTo>
                <a:lnTo>
                  <a:pt x="169176" y="292963"/>
                </a:lnTo>
                <a:lnTo>
                  <a:pt x="169176" y="0"/>
                </a:lnTo>
                <a:close/>
              </a:path>
              <a:path w="955040" h="353695">
                <a:moveTo>
                  <a:pt x="205435" y="0"/>
                </a:moveTo>
                <a:lnTo>
                  <a:pt x="194284" y="0"/>
                </a:lnTo>
                <a:lnTo>
                  <a:pt x="194284" y="292963"/>
                </a:lnTo>
                <a:lnTo>
                  <a:pt x="205435" y="292963"/>
                </a:lnTo>
                <a:lnTo>
                  <a:pt x="205435" y="0"/>
                </a:lnTo>
                <a:close/>
              </a:path>
              <a:path w="955040" h="353695">
                <a:moveTo>
                  <a:pt x="241681" y="0"/>
                </a:moveTo>
                <a:lnTo>
                  <a:pt x="216585" y="0"/>
                </a:lnTo>
                <a:lnTo>
                  <a:pt x="216585" y="292963"/>
                </a:lnTo>
                <a:lnTo>
                  <a:pt x="241681" y="292963"/>
                </a:lnTo>
                <a:lnTo>
                  <a:pt x="241681" y="0"/>
                </a:lnTo>
                <a:close/>
              </a:path>
              <a:path w="955040" h="353695">
                <a:moveTo>
                  <a:pt x="290029" y="0"/>
                </a:moveTo>
                <a:lnTo>
                  <a:pt x="264934" y="0"/>
                </a:lnTo>
                <a:lnTo>
                  <a:pt x="264934" y="292963"/>
                </a:lnTo>
                <a:lnTo>
                  <a:pt x="290029" y="292963"/>
                </a:lnTo>
                <a:lnTo>
                  <a:pt x="290029" y="0"/>
                </a:lnTo>
                <a:close/>
              </a:path>
              <a:path w="955040" h="353695">
                <a:moveTo>
                  <a:pt x="350443" y="0"/>
                </a:moveTo>
                <a:lnTo>
                  <a:pt x="326288" y="0"/>
                </a:lnTo>
                <a:lnTo>
                  <a:pt x="326288" y="292963"/>
                </a:lnTo>
                <a:lnTo>
                  <a:pt x="350443" y="292963"/>
                </a:lnTo>
                <a:lnTo>
                  <a:pt x="350443" y="0"/>
                </a:lnTo>
                <a:close/>
              </a:path>
              <a:path w="955040" h="353695">
                <a:moveTo>
                  <a:pt x="374599" y="0"/>
                </a:moveTo>
                <a:lnTo>
                  <a:pt x="362521" y="0"/>
                </a:lnTo>
                <a:lnTo>
                  <a:pt x="362521" y="292963"/>
                </a:lnTo>
                <a:lnTo>
                  <a:pt x="374599" y="292963"/>
                </a:lnTo>
                <a:lnTo>
                  <a:pt x="374599" y="0"/>
                </a:lnTo>
                <a:close/>
              </a:path>
              <a:path w="955040" h="353695">
                <a:moveTo>
                  <a:pt x="410870" y="0"/>
                </a:moveTo>
                <a:lnTo>
                  <a:pt x="398792" y="0"/>
                </a:lnTo>
                <a:lnTo>
                  <a:pt x="398792" y="292963"/>
                </a:lnTo>
                <a:lnTo>
                  <a:pt x="410870" y="292963"/>
                </a:lnTo>
                <a:lnTo>
                  <a:pt x="410870" y="0"/>
                </a:lnTo>
                <a:close/>
              </a:path>
              <a:path w="955040" h="353695">
                <a:moveTo>
                  <a:pt x="459219" y="0"/>
                </a:moveTo>
                <a:lnTo>
                  <a:pt x="422960" y="0"/>
                </a:lnTo>
                <a:lnTo>
                  <a:pt x="422960" y="292963"/>
                </a:lnTo>
                <a:lnTo>
                  <a:pt x="459219" y="292963"/>
                </a:lnTo>
                <a:lnTo>
                  <a:pt x="459219" y="0"/>
                </a:lnTo>
                <a:close/>
              </a:path>
              <a:path w="955040" h="353695">
                <a:moveTo>
                  <a:pt x="495465" y="0"/>
                </a:moveTo>
                <a:lnTo>
                  <a:pt x="470369" y="0"/>
                </a:lnTo>
                <a:lnTo>
                  <a:pt x="470369" y="292963"/>
                </a:lnTo>
                <a:lnTo>
                  <a:pt x="495465" y="292963"/>
                </a:lnTo>
                <a:lnTo>
                  <a:pt x="495465" y="0"/>
                </a:lnTo>
                <a:close/>
              </a:path>
              <a:path w="955040" h="353695">
                <a:moveTo>
                  <a:pt x="543788" y="0"/>
                </a:moveTo>
                <a:lnTo>
                  <a:pt x="506615" y="0"/>
                </a:lnTo>
                <a:lnTo>
                  <a:pt x="506615" y="292963"/>
                </a:lnTo>
                <a:lnTo>
                  <a:pt x="543788" y="292963"/>
                </a:lnTo>
                <a:lnTo>
                  <a:pt x="543788" y="0"/>
                </a:lnTo>
                <a:close/>
              </a:path>
              <a:path w="955040" h="353695">
                <a:moveTo>
                  <a:pt x="567969" y="0"/>
                </a:moveTo>
                <a:lnTo>
                  <a:pt x="555891" y="0"/>
                </a:lnTo>
                <a:lnTo>
                  <a:pt x="555891" y="353390"/>
                </a:lnTo>
                <a:lnTo>
                  <a:pt x="567969" y="353390"/>
                </a:lnTo>
                <a:lnTo>
                  <a:pt x="567969" y="0"/>
                </a:lnTo>
                <a:close/>
              </a:path>
              <a:path w="955040" h="353695">
                <a:moveTo>
                  <a:pt x="592124" y="0"/>
                </a:moveTo>
                <a:lnTo>
                  <a:pt x="580059" y="0"/>
                </a:lnTo>
                <a:lnTo>
                  <a:pt x="580059" y="353390"/>
                </a:lnTo>
                <a:lnTo>
                  <a:pt x="592124" y="353390"/>
                </a:lnTo>
                <a:lnTo>
                  <a:pt x="592124" y="0"/>
                </a:lnTo>
                <a:close/>
              </a:path>
              <a:path w="955040" h="353695">
                <a:moveTo>
                  <a:pt x="629323" y="0"/>
                </a:moveTo>
                <a:lnTo>
                  <a:pt x="604227" y="0"/>
                </a:lnTo>
                <a:lnTo>
                  <a:pt x="604227" y="292963"/>
                </a:lnTo>
                <a:lnTo>
                  <a:pt x="629323" y="292963"/>
                </a:lnTo>
                <a:lnTo>
                  <a:pt x="629323" y="0"/>
                </a:lnTo>
                <a:close/>
              </a:path>
              <a:path w="955040" h="353695">
                <a:moveTo>
                  <a:pt x="677659" y="0"/>
                </a:moveTo>
                <a:lnTo>
                  <a:pt x="652564" y="0"/>
                </a:lnTo>
                <a:lnTo>
                  <a:pt x="652564" y="292963"/>
                </a:lnTo>
                <a:lnTo>
                  <a:pt x="677659" y="292963"/>
                </a:lnTo>
                <a:lnTo>
                  <a:pt x="677659" y="0"/>
                </a:lnTo>
                <a:close/>
              </a:path>
              <a:path w="955040" h="353695">
                <a:moveTo>
                  <a:pt x="700900" y="0"/>
                </a:moveTo>
                <a:lnTo>
                  <a:pt x="688822" y="0"/>
                </a:lnTo>
                <a:lnTo>
                  <a:pt x="688822" y="292963"/>
                </a:lnTo>
                <a:lnTo>
                  <a:pt x="700900" y="292963"/>
                </a:lnTo>
                <a:lnTo>
                  <a:pt x="700900" y="0"/>
                </a:lnTo>
                <a:close/>
              </a:path>
              <a:path w="955040" h="353695">
                <a:moveTo>
                  <a:pt x="761326" y="0"/>
                </a:moveTo>
                <a:lnTo>
                  <a:pt x="725068" y="0"/>
                </a:lnTo>
                <a:lnTo>
                  <a:pt x="725068" y="292963"/>
                </a:lnTo>
                <a:lnTo>
                  <a:pt x="761326" y="292963"/>
                </a:lnTo>
                <a:lnTo>
                  <a:pt x="761326" y="0"/>
                </a:lnTo>
                <a:close/>
              </a:path>
              <a:path w="955040" h="353695">
                <a:moveTo>
                  <a:pt x="785495" y="0"/>
                </a:moveTo>
                <a:lnTo>
                  <a:pt x="773417" y="0"/>
                </a:lnTo>
                <a:lnTo>
                  <a:pt x="773417" y="292963"/>
                </a:lnTo>
                <a:lnTo>
                  <a:pt x="785495" y="292963"/>
                </a:lnTo>
                <a:lnTo>
                  <a:pt x="785495" y="0"/>
                </a:lnTo>
                <a:close/>
              </a:path>
              <a:path w="955040" h="353695">
                <a:moveTo>
                  <a:pt x="845921" y="0"/>
                </a:moveTo>
                <a:lnTo>
                  <a:pt x="809663" y="0"/>
                </a:lnTo>
                <a:lnTo>
                  <a:pt x="809663" y="292963"/>
                </a:lnTo>
                <a:lnTo>
                  <a:pt x="845921" y="292963"/>
                </a:lnTo>
                <a:lnTo>
                  <a:pt x="845921" y="0"/>
                </a:lnTo>
                <a:close/>
              </a:path>
              <a:path w="955040" h="353695">
                <a:moveTo>
                  <a:pt x="870077" y="0"/>
                </a:moveTo>
                <a:lnTo>
                  <a:pt x="857999" y="0"/>
                </a:lnTo>
                <a:lnTo>
                  <a:pt x="857999" y="292963"/>
                </a:lnTo>
                <a:lnTo>
                  <a:pt x="870077" y="292963"/>
                </a:lnTo>
                <a:lnTo>
                  <a:pt x="870077" y="0"/>
                </a:lnTo>
                <a:close/>
              </a:path>
              <a:path w="955040" h="353695">
                <a:moveTo>
                  <a:pt x="918425" y="0"/>
                </a:moveTo>
                <a:lnTo>
                  <a:pt x="882167" y="0"/>
                </a:lnTo>
                <a:lnTo>
                  <a:pt x="882167" y="292963"/>
                </a:lnTo>
                <a:lnTo>
                  <a:pt x="918425" y="292963"/>
                </a:lnTo>
                <a:lnTo>
                  <a:pt x="918425" y="0"/>
                </a:lnTo>
                <a:close/>
              </a:path>
              <a:path w="955040" h="353695">
                <a:moveTo>
                  <a:pt x="954671" y="0"/>
                </a:moveTo>
                <a:lnTo>
                  <a:pt x="942594" y="0"/>
                </a:lnTo>
                <a:lnTo>
                  <a:pt x="942594" y="292963"/>
                </a:lnTo>
                <a:lnTo>
                  <a:pt x="954671" y="292963"/>
                </a:lnTo>
                <a:lnTo>
                  <a:pt x="95467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1461477" y="7589228"/>
            <a:ext cx="145415" cy="353695"/>
          </a:xfrm>
          <a:custGeom>
            <a:avLst/>
            <a:gdLst/>
            <a:ahLst/>
            <a:cxnLst/>
            <a:rect l="l" t="t" r="r" b="b"/>
            <a:pathLst>
              <a:path w="145415" h="353695">
                <a:moveTo>
                  <a:pt x="12090" y="0"/>
                </a:moveTo>
                <a:lnTo>
                  <a:pt x="0" y="0"/>
                </a:lnTo>
                <a:lnTo>
                  <a:pt x="0" y="292963"/>
                </a:lnTo>
                <a:lnTo>
                  <a:pt x="12090" y="292963"/>
                </a:lnTo>
                <a:lnTo>
                  <a:pt x="12090" y="0"/>
                </a:lnTo>
                <a:close/>
              </a:path>
              <a:path w="145415" h="353695">
                <a:moveTo>
                  <a:pt x="35318" y="0"/>
                </a:moveTo>
                <a:lnTo>
                  <a:pt x="24168" y="0"/>
                </a:lnTo>
                <a:lnTo>
                  <a:pt x="24168" y="292963"/>
                </a:lnTo>
                <a:lnTo>
                  <a:pt x="35318" y="292963"/>
                </a:lnTo>
                <a:lnTo>
                  <a:pt x="35318" y="0"/>
                </a:lnTo>
                <a:close/>
              </a:path>
              <a:path w="145415" h="353695">
                <a:moveTo>
                  <a:pt x="71577" y="0"/>
                </a:moveTo>
                <a:lnTo>
                  <a:pt x="60426" y="0"/>
                </a:lnTo>
                <a:lnTo>
                  <a:pt x="60426" y="292963"/>
                </a:lnTo>
                <a:lnTo>
                  <a:pt x="71577" y="292963"/>
                </a:lnTo>
                <a:lnTo>
                  <a:pt x="71577" y="0"/>
                </a:lnTo>
                <a:close/>
              </a:path>
              <a:path w="145415" h="353695">
                <a:moveTo>
                  <a:pt x="120840" y="0"/>
                </a:moveTo>
                <a:lnTo>
                  <a:pt x="108762" y="0"/>
                </a:lnTo>
                <a:lnTo>
                  <a:pt x="108762" y="353390"/>
                </a:lnTo>
                <a:lnTo>
                  <a:pt x="120840" y="353390"/>
                </a:lnTo>
                <a:lnTo>
                  <a:pt x="120840" y="0"/>
                </a:lnTo>
                <a:close/>
              </a:path>
              <a:path w="145415" h="353695">
                <a:moveTo>
                  <a:pt x="145021" y="0"/>
                </a:moveTo>
                <a:lnTo>
                  <a:pt x="132930" y="0"/>
                </a:lnTo>
                <a:lnTo>
                  <a:pt x="132930" y="353390"/>
                </a:lnTo>
                <a:lnTo>
                  <a:pt x="145021" y="353390"/>
                </a:lnTo>
                <a:lnTo>
                  <a:pt x="14502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1741932" y="7714094"/>
            <a:ext cx="568325" cy="228600"/>
          </a:xfrm>
          <a:custGeom>
            <a:avLst/>
            <a:gdLst/>
            <a:ahLst/>
            <a:cxnLst/>
            <a:rect l="l" t="t" r="r" b="b"/>
            <a:pathLst>
              <a:path w="568325" h="228600">
                <a:moveTo>
                  <a:pt x="12077" y="12"/>
                </a:moveTo>
                <a:lnTo>
                  <a:pt x="0" y="12"/>
                </a:lnTo>
                <a:lnTo>
                  <a:pt x="0" y="228523"/>
                </a:lnTo>
                <a:lnTo>
                  <a:pt x="12077" y="228523"/>
                </a:lnTo>
                <a:lnTo>
                  <a:pt x="12077" y="12"/>
                </a:lnTo>
                <a:close/>
              </a:path>
              <a:path w="568325" h="228600">
                <a:moveTo>
                  <a:pt x="48323" y="12"/>
                </a:moveTo>
                <a:lnTo>
                  <a:pt x="24168" y="12"/>
                </a:lnTo>
                <a:lnTo>
                  <a:pt x="24168" y="228523"/>
                </a:lnTo>
                <a:lnTo>
                  <a:pt x="48323" y="228523"/>
                </a:lnTo>
                <a:lnTo>
                  <a:pt x="48323" y="12"/>
                </a:lnTo>
                <a:close/>
              </a:path>
              <a:path w="568325" h="228600">
                <a:moveTo>
                  <a:pt x="96685" y="12"/>
                </a:moveTo>
                <a:lnTo>
                  <a:pt x="60426" y="12"/>
                </a:lnTo>
                <a:lnTo>
                  <a:pt x="60426" y="228523"/>
                </a:lnTo>
                <a:lnTo>
                  <a:pt x="96685" y="228523"/>
                </a:lnTo>
                <a:lnTo>
                  <a:pt x="96685" y="12"/>
                </a:lnTo>
                <a:close/>
              </a:path>
              <a:path w="568325" h="228600">
                <a:moveTo>
                  <a:pt x="132918" y="0"/>
                </a:moveTo>
                <a:lnTo>
                  <a:pt x="120853" y="0"/>
                </a:lnTo>
                <a:lnTo>
                  <a:pt x="120853" y="228523"/>
                </a:lnTo>
                <a:lnTo>
                  <a:pt x="132918" y="228523"/>
                </a:lnTo>
                <a:lnTo>
                  <a:pt x="132918" y="0"/>
                </a:lnTo>
                <a:close/>
              </a:path>
              <a:path w="568325" h="228600">
                <a:moveTo>
                  <a:pt x="157099" y="0"/>
                </a:moveTo>
                <a:lnTo>
                  <a:pt x="145008" y="0"/>
                </a:lnTo>
                <a:lnTo>
                  <a:pt x="145008" y="228523"/>
                </a:lnTo>
                <a:lnTo>
                  <a:pt x="157099" y="228523"/>
                </a:lnTo>
                <a:lnTo>
                  <a:pt x="157099" y="0"/>
                </a:lnTo>
                <a:close/>
              </a:path>
              <a:path w="568325" h="228600">
                <a:moveTo>
                  <a:pt x="181267" y="0"/>
                </a:moveTo>
                <a:lnTo>
                  <a:pt x="169189" y="0"/>
                </a:lnTo>
                <a:lnTo>
                  <a:pt x="169189" y="228523"/>
                </a:lnTo>
                <a:lnTo>
                  <a:pt x="181267" y="228523"/>
                </a:lnTo>
                <a:lnTo>
                  <a:pt x="181267" y="0"/>
                </a:lnTo>
                <a:close/>
              </a:path>
              <a:path w="568325" h="228600">
                <a:moveTo>
                  <a:pt x="241693" y="0"/>
                </a:moveTo>
                <a:lnTo>
                  <a:pt x="217525" y="0"/>
                </a:lnTo>
                <a:lnTo>
                  <a:pt x="217525" y="228511"/>
                </a:lnTo>
                <a:lnTo>
                  <a:pt x="241693" y="228511"/>
                </a:lnTo>
                <a:lnTo>
                  <a:pt x="241693" y="0"/>
                </a:lnTo>
                <a:close/>
              </a:path>
              <a:path w="568325" h="228600">
                <a:moveTo>
                  <a:pt x="265861" y="12"/>
                </a:moveTo>
                <a:lnTo>
                  <a:pt x="253784" y="12"/>
                </a:lnTo>
                <a:lnTo>
                  <a:pt x="253784" y="228511"/>
                </a:lnTo>
                <a:lnTo>
                  <a:pt x="265861" y="228511"/>
                </a:lnTo>
                <a:lnTo>
                  <a:pt x="265861" y="12"/>
                </a:lnTo>
                <a:close/>
              </a:path>
              <a:path w="568325" h="228600">
                <a:moveTo>
                  <a:pt x="302107" y="0"/>
                </a:moveTo>
                <a:lnTo>
                  <a:pt x="277012" y="0"/>
                </a:lnTo>
                <a:lnTo>
                  <a:pt x="277012" y="228511"/>
                </a:lnTo>
                <a:lnTo>
                  <a:pt x="302107" y="228511"/>
                </a:lnTo>
                <a:lnTo>
                  <a:pt x="302107" y="0"/>
                </a:lnTo>
                <a:close/>
              </a:path>
              <a:path w="568325" h="228600">
                <a:moveTo>
                  <a:pt x="350456" y="0"/>
                </a:moveTo>
                <a:lnTo>
                  <a:pt x="313270" y="0"/>
                </a:lnTo>
                <a:lnTo>
                  <a:pt x="313270" y="228511"/>
                </a:lnTo>
                <a:lnTo>
                  <a:pt x="350456" y="228511"/>
                </a:lnTo>
                <a:lnTo>
                  <a:pt x="350456" y="0"/>
                </a:lnTo>
                <a:close/>
              </a:path>
              <a:path w="568325" h="228600">
                <a:moveTo>
                  <a:pt x="374624" y="12"/>
                </a:moveTo>
                <a:lnTo>
                  <a:pt x="362534" y="12"/>
                </a:lnTo>
                <a:lnTo>
                  <a:pt x="362534" y="228511"/>
                </a:lnTo>
                <a:lnTo>
                  <a:pt x="374624" y="228511"/>
                </a:lnTo>
                <a:lnTo>
                  <a:pt x="374624" y="12"/>
                </a:lnTo>
                <a:close/>
              </a:path>
              <a:path w="568325" h="228600">
                <a:moveTo>
                  <a:pt x="422960" y="12"/>
                </a:moveTo>
                <a:lnTo>
                  <a:pt x="410870" y="12"/>
                </a:lnTo>
                <a:lnTo>
                  <a:pt x="410870" y="228511"/>
                </a:lnTo>
                <a:lnTo>
                  <a:pt x="422960" y="228511"/>
                </a:lnTo>
                <a:lnTo>
                  <a:pt x="422960" y="12"/>
                </a:lnTo>
                <a:close/>
              </a:path>
              <a:path w="568325" h="228600">
                <a:moveTo>
                  <a:pt x="459219" y="0"/>
                </a:moveTo>
                <a:lnTo>
                  <a:pt x="435051" y="0"/>
                </a:lnTo>
                <a:lnTo>
                  <a:pt x="435051" y="228511"/>
                </a:lnTo>
                <a:lnTo>
                  <a:pt x="459219" y="228511"/>
                </a:lnTo>
                <a:lnTo>
                  <a:pt x="459219" y="0"/>
                </a:lnTo>
                <a:close/>
              </a:path>
              <a:path w="568325" h="228600">
                <a:moveTo>
                  <a:pt x="483374" y="12"/>
                </a:moveTo>
                <a:lnTo>
                  <a:pt x="471309" y="12"/>
                </a:lnTo>
                <a:lnTo>
                  <a:pt x="471309" y="228511"/>
                </a:lnTo>
                <a:lnTo>
                  <a:pt x="483374" y="228511"/>
                </a:lnTo>
                <a:lnTo>
                  <a:pt x="483374" y="12"/>
                </a:lnTo>
                <a:close/>
              </a:path>
              <a:path w="568325" h="228600">
                <a:moveTo>
                  <a:pt x="519633" y="12"/>
                </a:moveTo>
                <a:lnTo>
                  <a:pt x="507555" y="12"/>
                </a:lnTo>
                <a:lnTo>
                  <a:pt x="507555" y="228511"/>
                </a:lnTo>
                <a:lnTo>
                  <a:pt x="519633" y="228511"/>
                </a:lnTo>
                <a:lnTo>
                  <a:pt x="519633" y="12"/>
                </a:lnTo>
                <a:close/>
              </a:path>
              <a:path w="568325" h="228600">
                <a:moveTo>
                  <a:pt x="567969" y="0"/>
                </a:moveTo>
                <a:lnTo>
                  <a:pt x="531723" y="0"/>
                </a:lnTo>
                <a:lnTo>
                  <a:pt x="531723" y="228511"/>
                </a:lnTo>
                <a:lnTo>
                  <a:pt x="567969" y="228511"/>
                </a:lnTo>
                <a:lnTo>
                  <a:pt x="56796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24905" y="7241309"/>
            <a:ext cx="1996439" cy="7626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446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US</a:t>
            </a:r>
            <a:r>
              <a:rPr dirty="0" sz="800" spc="4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$48.99</a:t>
            </a:r>
            <a:r>
              <a:rPr dirty="0" sz="800" spc="335">
                <a:solidFill>
                  <a:srgbClr val="231F20"/>
                </a:solidFill>
                <a:latin typeface="Tahoma"/>
                <a:cs typeface="Tahoma"/>
              </a:rPr>
              <a:t>  </a:t>
            </a: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CAN</a:t>
            </a:r>
            <a:r>
              <a:rPr dirty="0" sz="800" spc="5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ahoma"/>
                <a:cs typeface="Tahoma"/>
              </a:rPr>
              <a:t>$61.99</a:t>
            </a:r>
            <a:endParaRPr sz="800">
              <a:latin typeface="Tahoma"/>
              <a:cs typeface="Tahoma"/>
            </a:endParaRPr>
          </a:p>
          <a:p>
            <a:pPr marL="12446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ISBN:</a:t>
            </a:r>
            <a:r>
              <a:rPr dirty="0" sz="800" spc="140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978-</a:t>
            </a:r>
            <a:r>
              <a:rPr dirty="0" sz="800" spc="-10">
                <a:solidFill>
                  <a:srgbClr val="231F20"/>
                </a:solidFill>
                <a:latin typeface="Tahoma"/>
                <a:cs typeface="Tahoma"/>
              </a:rPr>
              <a:t>1-098-15543-</a:t>
            </a:r>
            <a:r>
              <a:rPr dirty="0" sz="800" spc="-50">
                <a:solidFill>
                  <a:srgbClr val="231F20"/>
                </a:solidFill>
                <a:latin typeface="Tahoma"/>
                <a:cs typeface="Tahoma"/>
              </a:rPr>
              <a:t>8</a:t>
            </a:r>
            <a:endParaRPr sz="800">
              <a:latin typeface="Tahoma"/>
              <a:cs typeface="Tahoma"/>
            </a:endParaRPr>
          </a:p>
          <a:p>
            <a:pPr algn="r" marR="5080">
              <a:lnSpc>
                <a:spcPct val="100000"/>
              </a:lnSpc>
              <a:spcBef>
                <a:spcPts val="225"/>
              </a:spcBef>
            </a:pPr>
            <a:r>
              <a:rPr dirty="0" sz="900" spc="114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114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114">
                <a:solidFill>
                  <a:srgbClr val="231F20"/>
                </a:solidFill>
                <a:latin typeface="Arial"/>
                <a:cs typeface="Arial"/>
              </a:rPr>
              <a:t>8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114">
                <a:solidFill>
                  <a:srgbClr val="231F20"/>
                </a:solidFill>
                <a:latin typeface="Arial"/>
                <a:cs typeface="Arial"/>
              </a:rPr>
              <a:t>9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9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 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13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9</a:t>
            </a:r>
            <a:r>
              <a:rPr dirty="0" sz="800" spc="24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800" spc="190">
                <a:solidFill>
                  <a:srgbClr val="231F20"/>
                </a:solidFill>
                <a:latin typeface="Arial"/>
                <a:cs typeface="Arial"/>
              </a:rPr>
              <a:t>781098</a:t>
            </a:r>
            <a:r>
              <a:rPr dirty="0" sz="800" spc="3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180">
                <a:solidFill>
                  <a:srgbClr val="231F20"/>
                </a:solidFill>
                <a:latin typeface="Arial"/>
                <a:cs typeface="Arial"/>
              </a:rPr>
              <a:t>155438 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8303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097020" y="4633048"/>
            <a:ext cx="14020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85" b="1" i="1">
                <a:latin typeface="Palatino Linotype"/>
                <a:cs typeface="Palatino Linotype"/>
              </a:rPr>
              <a:t>Allen</a:t>
            </a:r>
            <a:r>
              <a:rPr dirty="0" sz="1600" spc="-25" b="1" i="1">
                <a:latin typeface="Palatino Linotype"/>
                <a:cs typeface="Palatino Linotype"/>
              </a:rPr>
              <a:t> </a:t>
            </a:r>
            <a:r>
              <a:rPr dirty="0" sz="1600" spc="-60" b="1" i="1">
                <a:latin typeface="Palatino Linotype"/>
                <a:cs typeface="Palatino Linotype"/>
              </a:rPr>
              <a:t>B.</a:t>
            </a:r>
            <a:r>
              <a:rPr dirty="0" sz="1600" spc="-25" b="1" i="1">
                <a:latin typeface="Palatino Linotype"/>
                <a:cs typeface="Palatino Linotype"/>
              </a:rPr>
              <a:t> </a:t>
            </a:r>
            <a:r>
              <a:rPr dirty="0" sz="1600" spc="-100" b="1" i="1">
                <a:latin typeface="Palatino Linotype"/>
                <a:cs typeface="Palatino Linotype"/>
              </a:rPr>
              <a:t>Downey</a:t>
            </a:r>
            <a:endParaRPr sz="1600">
              <a:latin typeface="Palatino Linotype"/>
              <a:cs typeface="Palatino Linotype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814150" y="1800701"/>
            <a:ext cx="3685540" cy="75057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928495">
              <a:lnSpc>
                <a:spcPts val="3665"/>
              </a:lnSpc>
              <a:spcBef>
                <a:spcPts val="100"/>
              </a:spcBef>
            </a:pPr>
            <a:r>
              <a:rPr dirty="0" sz="3150" spc="-520"/>
              <a:t>Think</a:t>
            </a:r>
            <a:r>
              <a:rPr dirty="0" sz="3150" spc="-434"/>
              <a:t> </a:t>
            </a:r>
            <a:r>
              <a:rPr dirty="0" sz="3150" spc="-495"/>
              <a:t>Python</a:t>
            </a:r>
            <a:endParaRPr sz="3150"/>
          </a:p>
          <a:p>
            <a:pPr marL="12700">
              <a:lnSpc>
                <a:spcPts val="2045"/>
              </a:lnSpc>
            </a:pPr>
            <a:r>
              <a:rPr dirty="0" sz="1800" spc="-180" i="1">
                <a:latin typeface="Palatino Linotype"/>
                <a:cs typeface="Palatino Linotype"/>
              </a:rPr>
              <a:t>How</a:t>
            </a:r>
            <a:r>
              <a:rPr dirty="0" sz="1800" spc="-35" i="1">
                <a:latin typeface="Palatino Linotype"/>
                <a:cs typeface="Palatino Linotype"/>
              </a:rPr>
              <a:t> </a:t>
            </a:r>
            <a:r>
              <a:rPr dirty="0" sz="1800" spc="-145" i="1">
                <a:latin typeface="Palatino Linotype"/>
                <a:cs typeface="Palatino Linotype"/>
              </a:rPr>
              <a:t>to</a:t>
            </a:r>
            <a:r>
              <a:rPr dirty="0" sz="1800" spc="-30" i="1">
                <a:latin typeface="Palatino Linotype"/>
                <a:cs typeface="Palatino Linotype"/>
              </a:rPr>
              <a:t> </a:t>
            </a:r>
            <a:r>
              <a:rPr dirty="0" sz="1800" spc="-100" i="1">
                <a:latin typeface="Palatino Linotype"/>
                <a:cs typeface="Palatino Linotype"/>
              </a:rPr>
              <a:t>Think</a:t>
            </a:r>
            <a:r>
              <a:rPr dirty="0" sz="1800" spc="-30" i="1">
                <a:latin typeface="Palatino Linotype"/>
                <a:cs typeface="Palatino Linotype"/>
              </a:rPr>
              <a:t> </a:t>
            </a:r>
            <a:r>
              <a:rPr dirty="0" sz="1800" spc="-125" i="1">
                <a:latin typeface="Palatino Linotype"/>
                <a:cs typeface="Palatino Linotype"/>
              </a:rPr>
              <a:t>Like</a:t>
            </a:r>
            <a:r>
              <a:rPr dirty="0" sz="1800" spc="-30" i="1">
                <a:latin typeface="Palatino Linotype"/>
                <a:cs typeface="Palatino Linotype"/>
              </a:rPr>
              <a:t> </a:t>
            </a:r>
            <a:r>
              <a:rPr dirty="0" sz="1800" spc="-100" i="1">
                <a:latin typeface="Palatino Linotype"/>
                <a:cs typeface="Palatino Linotype"/>
              </a:rPr>
              <a:t>a</a:t>
            </a:r>
            <a:r>
              <a:rPr dirty="0" sz="1800" spc="-30" i="1">
                <a:latin typeface="Palatino Linotype"/>
                <a:cs typeface="Palatino Linotype"/>
              </a:rPr>
              <a:t> </a:t>
            </a:r>
            <a:r>
              <a:rPr dirty="0" sz="1800" spc="-90" i="1">
                <a:latin typeface="Palatino Linotype"/>
                <a:cs typeface="Palatino Linotype"/>
              </a:rPr>
              <a:t>Computer</a:t>
            </a:r>
            <a:r>
              <a:rPr dirty="0" sz="1800" spc="-30" i="1">
                <a:latin typeface="Palatino Linotype"/>
                <a:cs typeface="Palatino Linotype"/>
              </a:rPr>
              <a:t> </a:t>
            </a:r>
            <a:r>
              <a:rPr dirty="0" sz="1800" spc="-90" i="1">
                <a:latin typeface="Palatino Linotype"/>
                <a:cs typeface="Palatino Linotype"/>
              </a:rPr>
              <a:t>Scientist</a:t>
            </a:r>
            <a:endParaRPr sz="18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773059" y="1540192"/>
            <a:ext cx="726440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-204" b="1">
                <a:latin typeface="Trebuchet MS"/>
                <a:cs typeface="Trebuchet MS"/>
              </a:rPr>
              <a:t>THIRD</a:t>
            </a:r>
            <a:r>
              <a:rPr dirty="0" sz="1150" spc="-120" b="1">
                <a:latin typeface="Trebuchet MS"/>
                <a:cs typeface="Trebuchet MS"/>
              </a:rPr>
              <a:t> </a:t>
            </a:r>
            <a:r>
              <a:rPr dirty="0" sz="1150" spc="-180" b="1">
                <a:latin typeface="Trebuchet MS"/>
                <a:cs typeface="Trebuchet MS"/>
              </a:rPr>
              <a:t>EDITION</a:t>
            </a:r>
            <a:endParaRPr sz="1150">
              <a:latin typeface="Trebuchet MS"/>
              <a:cs typeface="Trebuchet MS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2234450" y="7603985"/>
            <a:ext cx="24765" cy="29209"/>
          </a:xfrm>
          <a:custGeom>
            <a:avLst/>
            <a:gdLst/>
            <a:ahLst/>
            <a:cxnLst/>
            <a:rect l="l" t="t" r="r" b="b"/>
            <a:pathLst>
              <a:path w="24764" h="29209">
                <a:moveTo>
                  <a:pt x="24447" y="5562"/>
                </a:moveTo>
                <a:lnTo>
                  <a:pt x="20002" y="0"/>
                </a:lnTo>
                <a:lnTo>
                  <a:pt x="5562" y="0"/>
                </a:lnTo>
                <a:lnTo>
                  <a:pt x="0" y="6667"/>
                </a:lnTo>
                <a:lnTo>
                  <a:pt x="0" y="14452"/>
                </a:lnTo>
                <a:lnTo>
                  <a:pt x="0" y="23342"/>
                </a:lnTo>
                <a:lnTo>
                  <a:pt x="5562" y="27787"/>
                </a:lnTo>
                <a:lnTo>
                  <a:pt x="12230" y="28905"/>
                </a:lnTo>
                <a:lnTo>
                  <a:pt x="20002" y="28905"/>
                </a:lnTo>
                <a:lnTo>
                  <a:pt x="24447" y="23342"/>
                </a:lnTo>
                <a:lnTo>
                  <a:pt x="24447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716796" y="7603985"/>
            <a:ext cx="24765" cy="29209"/>
          </a:xfrm>
          <a:custGeom>
            <a:avLst/>
            <a:gdLst/>
            <a:ahLst/>
            <a:cxnLst/>
            <a:rect l="l" t="t" r="r" b="b"/>
            <a:pathLst>
              <a:path w="24764" h="29209">
                <a:moveTo>
                  <a:pt x="24447" y="5562"/>
                </a:moveTo>
                <a:lnTo>
                  <a:pt x="20002" y="0"/>
                </a:lnTo>
                <a:lnTo>
                  <a:pt x="5562" y="0"/>
                </a:lnTo>
                <a:lnTo>
                  <a:pt x="0" y="6667"/>
                </a:lnTo>
                <a:lnTo>
                  <a:pt x="0" y="14452"/>
                </a:lnTo>
                <a:lnTo>
                  <a:pt x="0" y="23342"/>
                </a:lnTo>
                <a:lnTo>
                  <a:pt x="6667" y="27787"/>
                </a:lnTo>
                <a:lnTo>
                  <a:pt x="12230" y="28905"/>
                </a:lnTo>
                <a:lnTo>
                  <a:pt x="20002" y="28905"/>
                </a:lnTo>
                <a:lnTo>
                  <a:pt x="24447" y="23342"/>
                </a:lnTo>
                <a:lnTo>
                  <a:pt x="24447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295827" y="7603985"/>
            <a:ext cx="24765" cy="29209"/>
          </a:xfrm>
          <a:custGeom>
            <a:avLst/>
            <a:gdLst/>
            <a:ahLst/>
            <a:cxnLst/>
            <a:rect l="l" t="t" r="r" b="b"/>
            <a:pathLst>
              <a:path w="24764" h="29209">
                <a:moveTo>
                  <a:pt x="24460" y="5562"/>
                </a:moveTo>
                <a:lnTo>
                  <a:pt x="20015" y="0"/>
                </a:lnTo>
                <a:lnTo>
                  <a:pt x="5562" y="0"/>
                </a:lnTo>
                <a:lnTo>
                  <a:pt x="0" y="6667"/>
                </a:lnTo>
                <a:lnTo>
                  <a:pt x="0" y="14452"/>
                </a:lnTo>
                <a:lnTo>
                  <a:pt x="0" y="23342"/>
                </a:lnTo>
                <a:lnTo>
                  <a:pt x="6680" y="27787"/>
                </a:lnTo>
                <a:lnTo>
                  <a:pt x="12230" y="28905"/>
                </a:lnTo>
                <a:lnTo>
                  <a:pt x="20015" y="28905"/>
                </a:lnTo>
                <a:lnTo>
                  <a:pt x="24460" y="23342"/>
                </a:lnTo>
                <a:lnTo>
                  <a:pt x="24460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988232" y="7603985"/>
            <a:ext cx="24765" cy="29209"/>
          </a:xfrm>
          <a:custGeom>
            <a:avLst/>
            <a:gdLst/>
            <a:ahLst/>
            <a:cxnLst/>
            <a:rect l="l" t="t" r="r" b="b"/>
            <a:pathLst>
              <a:path w="24764" h="29209">
                <a:moveTo>
                  <a:pt x="24447" y="5562"/>
                </a:moveTo>
                <a:lnTo>
                  <a:pt x="20002" y="0"/>
                </a:lnTo>
                <a:lnTo>
                  <a:pt x="5562" y="0"/>
                </a:lnTo>
                <a:lnTo>
                  <a:pt x="0" y="6667"/>
                </a:lnTo>
                <a:lnTo>
                  <a:pt x="0" y="14452"/>
                </a:lnTo>
                <a:lnTo>
                  <a:pt x="0" y="23342"/>
                </a:lnTo>
                <a:lnTo>
                  <a:pt x="5562" y="27787"/>
                </a:lnTo>
                <a:lnTo>
                  <a:pt x="12230" y="28905"/>
                </a:lnTo>
                <a:lnTo>
                  <a:pt x="20002" y="28905"/>
                </a:lnTo>
                <a:lnTo>
                  <a:pt x="24447" y="23342"/>
                </a:lnTo>
                <a:lnTo>
                  <a:pt x="24447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4512816" y="7463947"/>
            <a:ext cx="974725" cy="266065"/>
            <a:chOff x="4512816" y="7463947"/>
            <a:chExt cx="974725" cy="266065"/>
          </a:xfrm>
        </p:grpSpPr>
        <p:sp>
          <p:nvSpPr>
            <p:cNvPr id="11" name="object 11" descr=""/>
            <p:cNvSpPr/>
            <p:nvPr/>
          </p:nvSpPr>
          <p:spPr>
            <a:xfrm>
              <a:off x="4512816" y="7463947"/>
              <a:ext cx="974725" cy="266065"/>
            </a:xfrm>
            <a:custGeom>
              <a:avLst/>
              <a:gdLst/>
              <a:ahLst/>
              <a:cxnLst/>
              <a:rect l="l" t="t" r="r" b="b"/>
              <a:pathLst>
                <a:path w="974725" h="266065">
                  <a:moveTo>
                    <a:pt x="974692" y="265623"/>
                  </a:moveTo>
                  <a:lnTo>
                    <a:pt x="0" y="265623"/>
                  </a:lnTo>
                  <a:lnTo>
                    <a:pt x="0" y="0"/>
                  </a:lnTo>
                  <a:lnTo>
                    <a:pt x="974692" y="0"/>
                  </a:lnTo>
                  <a:lnTo>
                    <a:pt x="974692" y="265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580610" y="7525080"/>
              <a:ext cx="845185" cy="142875"/>
            </a:xfrm>
            <a:custGeom>
              <a:avLst/>
              <a:gdLst/>
              <a:ahLst/>
              <a:cxnLst/>
              <a:rect l="l" t="t" r="r" b="b"/>
              <a:pathLst>
                <a:path w="845185" h="142875">
                  <a:moveTo>
                    <a:pt x="142252" y="71132"/>
                  </a:moveTo>
                  <a:lnTo>
                    <a:pt x="136766" y="43599"/>
                  </a:lnTo>
                  <a:lnTo>
                    <a:pt x="122529" y="22225"/>
                  </a:lnTo>
                  <a:lnTo>
                    <a:pt x="121691" y="20980"/>
                  </a:lnTo>
                  <a:lnTo>
                    <a:pt x="120027" y="19850"/>
                  </a:lnTo>
                  <a:lnTo>
                    <a:pt x="120027" y="71132"/>
                  </a:lnTo>
                  <a:lnTo>
                    <a:pt x="119024" y="80886"/>
                  </a:lnTo>
                  <a:lnTo>
                    <a:pt x="90017" y="116141"/>
                  </a:lnTo>
                  <a:lnTo>
                    <a:pt x="71120" y="120027"/>
                  </a:lnTo>
                  <a:lnTo>
                    <a:pt x="61366" y="119024"/>
                  </a:lnTo>
                  <a:lnTo>
                    <a:pt x="26111" y="90017"/>
                  </a:lnTo>
                  <a:lnTo>
                    <a:pt x="22225" y="71132"/>
                  </a:lnTo>
                  <a:lnTo>
                    <a:pt x="23228" y="61366"/>
                  </a:lnTo>
                  <a:lnTo>
                    <a:pt x="52235" y="26123"/>
                  </a:lnTo>
                  <a:lnTo>
                    <a:pt x="71120" y="22225"/>
                  </a:lnTo>
                  <a:lnTo>
                    <a:pt x="80886" y="23241"/>
                  </a:lnTo>
                  <a:lnTo>
                    <a:pt x="116141" y="52235"/>
                  </a:lnTo>
                  <a:lnTo>
                    <a:pt x="120027" y="71132"/>
                  </a:lnTo>
                  <a:lnTo>
                    <a:pt x="120027" y="19850"/>
                  </a:lnTo>
                  <a:lnTo>
                    <a:pt x="99123" y="5638"/>
                  </a:lnTo>
                  <a:lnTo>
                    <a:pt x="71120" y="0"/>
                  </a:lnTo>
                  <a:lnTo>
                    <a:pt x="43599" y="5486"/>
                  </a:lnTo>
                  <a:lnTo>
                    <a:pt x="20967" y="20561"/>
                  </a:lnTo>
                  <a:lnTo>
                    <a:pt x="5638" y="43141"/>
                  </a:lnTo>
                  <a:lnTo>
                    <a:pt x="0" y="71132"/>
                  </a:lnTo>
                  <a:lnTo>
                    <a:pt x="5638" y="99275"/>
                  </a:lnTo>
                  <a:lnTo>
                    <a:pt x="20967" y="122110"/>
                  </a:lnTo>
                  <a:lnTo>
                    <a:pt x="43599" y="137236"/>
                  </a:lnTo>
                  <a:lnTo>
                    <a:pt x="71120" y="142252"/>
                  </a:lnTo>
                  <a:lnTo>
                    <a:pt x="98653" y="136766"/>
                  </a:lnTo>
                  <a:lnTo>
                    <a:pt x="121272" y="121691"/>
                  </a:lnTo>
                  <a:lnTo>
                    <a:pt x="122402" y="120027"/>
                  </a:lnTo>
                  <a:lnTo>
                    <a:pt x="136613" y="99123"/>
                  </a:lnTo>
                  <a:lnTo>
                    <a:pt x="142252" y="71132"/>
                  </a:lnTo>
                  <a:close/>
                </a:path>
                <a:path w="845185" h="142875">
                  <a:moveTo>
                    <a:pt x="174485" y="7785"/>
                  </a:moveTo>
                  <a:lnTo>
                    <a:pt x="167817" y="0"/>
                  </a:lnTo>
                  <a:lnTo>
                    <a:pt x="148920" y="0"/>
                  </a:lnTo>
                  <a:lnTo>
                    <a:pt x="141147" y="7785"/>
                  </a:lnTo>
                  <a:lnTo>
                    <a:pt x="141147" y="25565"/>
                  </a:lnTo>
                  <a:lnTo>
                    <a:pt x="148920" y="33337"/>
                  </a:lnTo>
                  <a:lnTo>
                    <a:pt x="166700" y="33337"/>
                  </a:lnTo>
                  <a:lnTo>
                    <a:pt x="174485" y="25565"/>
                  </a:lnTo>
                  <a:lnTo>
                    <a:pt x="174485" y="16675"/>
                  </a:lnTo>
                  <a:lnTo>
                    <a:pt x="174485" y="7785"/>
                  </a:lnTo>
                  <a:close/>
                </a:path>
                <a:path w="845185" h="142875">
                  <a:moveTo>
                    <a:pt x="307848" y="138925"/>
                  </a:moveTo>
                  <a:lnTo>
                    <a:pt x="271868" y="81127"/>
                  </a:lnTo>
                  <a:lnTo>
                    <a:pt x="271170" y="80022"/>
                  </a:lnTo>
                  <a:lnTo>
                    <a:pt x="282727" y="74726"/>
                  </a:lnTo>
                  <a:lnTo>
                    <a:pt x="291871" y="65989"/>
                  </a:lnTo>
                  <a:lnTo>
                    <a:pt x="295605" y="58902"/>
                  </a:lnTo>
                  <a:lnTo>
                    <a:pt x="297903" y="54546"/>
                  </a:lnTo>
                  <a:lnTo>
                    <a:pt x="300075" y="41122"/>
                  </a:lnTo>
                  <a:lnTo>
                    <a:pt x="296951" y="25488"/>
                  </a:lnTo>
                  <a:lnTo>
                    <a:pt x="296240" y="24447"/>
                  </a:lnTo>
                  <a:lnTo>
                    <a:pt x="288404" y="12776"/>
                  </a:lnTo>
                  <a:lnTo>
                    <a:pt x="277837" y="5689"/>
                  </a:lnTo>
                  <a:lnTo>
                    <a:pt x="277837" y="32232"/>
                  </a:lnTo>
                  <a:lnTo>
                    <a:pt x="277837" y="51130"/>
                  </a:lnTo>
                  <a:lnTo>
                    <a:pt x="270065" y="57797"/>
                  </a:lnTo>
                  <a:lnTo>
                    <a:pt x="214490" y="57797"/>
                  </a:lnTo>
                  <a:lnTo>
                    <a:pt x="214490" y="24447"/>
                  </a:lnTo>
                  <a:lnTo>
                    <a:pt x="271170" y="24447"/>
                  </a:lnTo>
                  <a:lnTo>
                    <a:pt x="277837" y="32232"/>
                  </a:lnTo>
                  <a:lnTo>
                    <a:pt x="277837" y="5689"/>
                  </a:lnTo>
                  <a:lnTo>
                    <a:pt x="275691" y="4241"/>
                  </a:lnTo>
                  <a:lnTo>
                    <a:pt x="260057" y="1117"/>
                  </a:lnTo>
                  <a:lnTo>
                    <a:pt x="191160" y="1117"/>
                  </a:lnTo>
                  <a:lnTo>
                    <a:pt x="191160" y="138925"/>
                  </a:lnTo>
                  <a:lnTo>
                    <a:pt x="214490" y="138925"/>
                  </a:lnTo>
                  <a:lnTo>
                    <a:pt x="214490" y="81127"/>
                  </a:lnTo>
                  <a:lnTo>
                    <a:pt x="246722" y="81127"/>
                  </a:lnTo>
                  <a:lnTo>
                    <a:pt x="281178" y="138925"/>
                  </a:lnTo>
                  <a:lnTo>
                    <a:pt x="307848" y="138925"/>
                  </a:lnTo>
                  <a:close/>
                </a:path>
                <a:path w="845185" h="142875">
                  <a:moveTo>
                    <a:pt x="418985" y="2222"/>
                  </a:moveTo>
                  <a:lnTo>
                    <a:pt x="323405" y="2222"/>
                  </a:lnTo>
                  <a:lnTo>
                    <a:pt x="323405" y="140030"/>
                  </a:lnTo>
                  <a:lnTo>
                    <a:pt x="418985" y="140030"/>
                  </a:lnTo>
                  <a:lnTo>
                    <a:pt x="418985" y="116700"/>
                  </a:lnTo>
                  <a:lnTo>
                    <a:pt x="345643" y="116700"/>
                  </a:lnTo>
                  <a:lnTo>
                    <a:pt x="345643" y="82245"/>
                  </a:lnTo>
                  <a:lnTo>
                    <a:pt x="415658" y="82245"/>
                  </a:lnTo>
                  <a:lnTo>
                    <a:pt x="415658" y="58902"/>
                  </a:lnTo>
                  <a:lnTo>
                    <a:pt x="345643" y="58902"/>
                  </a:lnTo>
                  <a:lnTo>
                    <a:pt x="345643" y="24447"/>
                  </a:lnTo>
                  <a:lnTo>
                    <a:pt x="418985" y="24447"/>
                  </a:lnTo>
                  <a:lnTo>
                    <a:pt x="418985" y="2222"/>
                  </a:lnTo>
                  <a:close/>
                </a:path>
                <a:path w="845185" h="142875">
                  <a:moveTo>
                    <a:pt x="465670" y="2222"/>
                  </a:moveTo>
                  <a:lnTo>
                    <a:pt x="442328" y="2222"/>
                  </a:lnTo>
                  <a:lnTo>
                    <a:pt x="442328" y="140030"/>
                  </a:lnTo>
                  <a:lnTo>
                    <a:pt x="465670" y="140030"/>
                  </a:lnTo>
                  <a:lnTo>
                    <a:pt x="465670" y="2222"/>
                  </a:lnTo>
                  <a:close/>
                </a:path>
                <a:path w="845185" h="142875">
                  <a:moveTo>
                    <a:pt x="579031" y="116674"/>
                  </a:moveTo>
                  <a:lnTo>
                    <a:pt x="512343" y="116674"/>
                  </a:lnTo>
                  <a:lnTo>
                    <a:pt x="512343" y="2374"/>
                  </a:lnTo>
                  <a:lnTo>
                    <a:pt x="490118" y="2374"/>
                  </a:lnTo>
                  <a:lnTo>
                    <a:pt x="490118" y="116674"/>
                  </a:lnTo>
                  <a:lnTo>
                    <a:pt x="490118" y="139534"/>
                  </a:lnTo>
                  <a:lnTo>
                    <a:pt x="579031" y="139534"/>
                  </a:lnTo>
                  <a:lnTo>
                    <a:pt x="579031" y="116674"/>
                  </a:lnTo>
                  <a:close/>
                </a:path>
                <a:path w="845185" h="142875">
                  <a:moveTo>
                    <a:pt x="686841" y="116674"/>
                  </a:moveTo>
                  <a:lnTo>
                    <a:pt x="620153" y="116674"/>
                  </a:lnTo>
                  <a:lnTo>
                    <a:pt x="620153" y="2374"/>
                  </a:lnTo>
                  <a:lnTo>
                    <a:pt x="597928" y="2374"/>
                  </a:lnTo>
                  <a:lnTo>
                    <a:pt x="597928" y="116674"/>
                  </a:lnTo>
                  <a:lnTo>
                    <a:pt x="597928" y="139534"/>
                  </a:lnTo>
                  <a:lnTo>
                    <a:pt x="686841" y="139534"/>
                  </a:lnTo>
                  <a:lnTo>
                    <a:pt x="686841" y="116674"/>
                  </a:lnTo>
                  <a:close/>
                </a:path>
                <a:path w="845185" h="142875">
                  <a:moveTo>
                    <a:pt x="789089" y="2222"/>
                  </a:moveTo>
                  <a:lnTo>
                    <a:pt x="760183" y="2222"/>
                  </a:lnTo>
                  <a:lnTo>
                    <a:pt x="725741" y="53352"/>
                  </a:lnTo>
                  <a:lnTo>
                    <a:pt x="690168" y="2222"/>
                  </a:lnTo>
                  <a:lnTo>
                    <a:pt x="662381" y="2222"/>
                  </a:lnTo>
                  <a:lnTo>
                    <a:pt x="713511" y="76682"/>
                  </a:lnTo>
                  <a:lnTo>
                    <a:pt x="713511" y="140030"/>
                  </a:lnTo>
                  <a:lnTo>
                    <a:pt x="736854" y="140030"/>
                  </a:lnTo>
                  <a:lnTo>
                    <a:pt x="736854" y="76682"/>
                  </a:lnTo>
                  <a:lnTo>
                    <a:pt x="789089" y="2222"/>
                  </a:lnTo>
                  <a:close/>
                </a:path>
                <a:path w="845185" h="142875">
                  <a:moveTo>
                    <a:pt x="832434" y="15557"/>
                  </a:moveTo>
                  <a:lnTo>
                    <a:pt x="829094" y="13335"/>
                  </a:lnTo>
                  <a:lnTo>
                    <a:pt x="827989" y="13335"/>
                  </a:lnTo>
                  <a:lnTo>
                    <a:pt x="827989" y="18897"/>
                  </a:lnTo>
                  <a:lnTo>
                    <a:pt x="827989" y="23342"/>
                  </a:lnTo>
                  <a:lnTo>
                    <a:pt x="826871" y="24447"/>
                  </a:lnTo>
                  <a:lnTo>
                    <a:pt x="815759" y="24447"/>
                  </a:lnTo>
                  <a:lnTo>
                    <a:pt x="815759" y="17780"/>
                  </a:lnTo>
                  <a:lnTo>
                    <a:pt x="825766" y="17780"/>
                  </a:lnTo>
                  <a:lnTo>
                    <a:pt x="827989" y="18897"/>
                  </a:lnTo>
                  <a:lnTo>
                    <a:pt x="827989" y="13335"/>
                  </a:lnTo>
                  <a:lnTo>
                    <a:pt x="812419" y="13335"/>
                  </a:lnTo>
                  <a:lnTo>
                    <a:pt x="812419" y="37782"/>
                  </a:lnTo>
                  <a:lnTo>
                    <a:pt x="816864" y="37782"/>
                  </a:lnTo>
                  <a:lnTo>
                    <a:pt x="816864" y="27787"/>
                  </a:lnTo>
                  <a:lnTo>
                    <a:pt x="823544" y="27787"/>
                  </a:lnTo>
                  <a:lnTo>
                    <a:pt x="827989" y="37782"/>
                  </a:lnTo>
                  <a:lnTo>
                    <a:pt x="832434" y="37782"/>
                  </a:lnTo>
                  <a:lnTo>
                    <a:pt x="826871" y="27787"/>
                  </a:lnTo>
                  <a:lnTo>
                    <a:pt x="830211" y="26670"/>
                  </a:lnTo>
                  <a:lnTo>
                    <a:pt x="831684" y="24447"/>
                  </a:lnTo>
                  <a:lnTo>
                    <a:pt x="832434" y="23342"/>
                  </a:lnTo>
                  <a:lnTo>
                    <a:pt x="832434" y="17780"/>
                  </a:lnTo>
                  <a:lnTo>
                    <a:pt x="832434" y="15557"/>
                  </a:lnTo>
                  <a:close/>
                </a:path>
                <a:path w="845185" h="142875">
                  <a:moveTo>
                    <a:pt x="844651" y="25565"/>
                  </a:moveTo>
                  <a:lnTo>
                    <a:pt x="843356" y="16294"/>
                  </a:lnTo>
                  <a:lnTo>
                    <a:pt x="841324" y="13258"/>
                  </a:lnTo>
                  <a:lnTo>
                    <a:pt x="841324" y="25565"/>
                  </a:lnTo>
                  <a:lnTo>
                    <a:pt x="839762" y="33375"/>
                  </a:lnTo>
                  <a:lnTo>
                    <a:pt x="835482" y="39738"/>
                  </a:lnTo>
                  <a:lnTo>
                    <a:pt x="829132" y="44005"/>
                  </a:lnTo>
                  <a:lnTo>
                    <a:pt x="821309" y="45567"/>
                  </a:lnTo>
                  <a:lnTo>
                    <a:pt x="813498" y="44005"/>
                  </a:lnTo>
                  <a:lnTo>
                    <a:pt x="807148" y="39738"/>
                  </a:lnTo>
                  <a:lnTo>
                    <a:pt x="802868" y="33375"/>
                  </a:lnTo>
                  <a:lnTo>
                    <a:pt x="801306" y="25565"/>
                  </a:lnTo>
                  <a:lnTo>
                    <a:pt x="802868" y="17741"/>
                  </a:lnTo>
                  <a:lnTo>
                    <a:pt x="807148" y="11391"/>
                  </a:lnTo>
                  <a:lnTo>
                    <a:pt x="813498" y="7124"/>
                  </a:lnTo>
                  <a:lnTo>
                    <a:pt x="821309" y="5562"/>
                  </a:lnTo>
                  <a:lnTo>
                    <a:pt x="829132" y="7124"/>
                  </a:lnTo>
                  <a:lnTo>
                    <a:pt x="835482" y="11391"/>
                  </a:lnTo>
                  <a:lnTo>
                    <a:pt x="839762" y="17741"/>
                  </a:lnTo>
                  <a:lnTo>
                    <a:pt x="841324" y="25565"/>
                  </a:lnTo>
                  <a:lnTo>
                    <a:pt x="841324" y="13258"/>
                  </a:lnTo>
                  <a:lnTo>
                    <a:pt x="838403" y="8890"/>
                  </a:lnTo>
                  <a:lnTo>
                    <a:pt x="833183" y="5562"/>
                  </a:lnTo>
                  <a:lnTo>
                    <a:pt x="830745" y="3987"/>
                  </a:lnTo>
                  <a:lnTo>
                    <a:pt x="797979" y="25565"/>
                  </a:lnTo>
                  <a:lnTo>
                    <a:pt x="799909" y="34836"/>
                  </a:lnTo>
                  <a:lnTo>
                    <a:pt x="805065" y="42227"/>
                  </a:lnTo>
                  <a:lnTo>
                    <a:pt x="812507" y="47129"/>
                  </a:lnTo>
                  <a:lnTo>
                    <a:pt x="821309" y="48907"/>
                  </a:lnTo>
                  <a:lnTo>
                    <a:pt x="830592" y="46977"/>
                  </a:lnTo>
                  <a:lnTo>
                    <a:pt x="832612" y="45567"/>
                  </a:lnTo>
                  <a:lnTo>
                    <a:pt x="837984" y="41821"/>
                  </a:lnTo>
                  <a:lnTo>
                    <a:pt x="842886" y="34366"/>
                  </a:lnTo>
                  <a:lnTo>
                    <a:pt x="844651" y="255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816102" y="7498026"/>
            <a:ext cx="2554605" cy="2127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11175" algn="l"/>
                <a:tab pos="991235" algn="l"/>
                <a:tab pos="1570990" algn="l"/>
                <a:tab pos="2258060" algn="l"/>
              </a:tabLst>
            </a:pPr>
            <a:r>
              <a:rPr dirty="0" sz="1200" spc="-10">
                <a:latin typeface="Trebuchet MS"/>
                <a:cs typeface="Trebuchet MS"/>
              </a:rPr>
              <a:t>Beijing</a:t>
            </a:r>
            <a:r>
              <a:rPr dirty="0" sz="1200">
                <a:latin typeface="Trebuchet MS"/>
                <a:cs typeface="Trebuchet MS"/>
              </a:rPr>
              <a:t>	</a:t>
            </a:r>
            <a:r>
              <a:rPr dirty="0" sz="1200" spc="-10">
                <a:latin typeface="Trebuchet MS"/>
                <a:cs typeface="Trebuchet MS"/>
              </a:rPr>
              <a:t>Boston</a:t>
            </a:r>
            <a:r>
              <a:rPr dirty="0" sz="1200">
                <a:latin typeface="Trebuchet MS"/>
                <a:cs typeface="Trebuchet MS"/>
              </a:rPr>
              <a:t>	</a:t>
            </a:r>
            <a:r>
              <a:rPr dirty="0" sz="1200" spc="-30">
                <a:latin typeface="Trebuchet MS"/>
                <a:cs typeface="Trebuchet MS"/>
              </a:rPr>
              <a:t>Farnham</a:t>
            </a:r>
            <a:r>
              <a:rPr dirty="0" sz="1200">
                <a:latin typeface="Trebuchet MS"/>
                <a:cs typeface="Trebuchet MS"/>
              </a:rPr>
              <a:t>	</a:t>
            </a:r>
            <a:r>
              <a:rPr dirty="0" sz="1200" spc="-50">
                <a:latin typeface="Trebuchet MS"/>
                <a:cs typeface="Trebuchet MS"/>
              </a:rPr>
              <a:t>Sebastopol</a:t>
            </a:r>
            <a:r>
              <a:rPr dirty="0" sz="1200">
                <a:latin typeface="Trebuchet MS"/>
                <a:cs typeface="Trebuchet MS"/>
              </a:rPr>
              <a:t>	</a:t>
            </a:r>
            <a:r>
              <a:rPr dirty="0" sz="1200" spc="-185">
                <a:latin typeface="Trebuchet MS"/>
                <a:cs typeface="Trebuchet MS"/>
              </a:rPr>
              <a:t>Tokyo</a:t>
            </a:r>
            <a:endParaRPr sz="12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700" y="6975214"/>
            <a:ext cx="852805" cy="436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8800"/>
              </a:lnSpc>
              <a:spcBef>
                <a:spcPts val="100"/>
              </a:spcBef>
            </a:pPr>
            <a:r>
              <a:rPr dirty="0" sz="850" spc="-20">
                <a:latin typeface="Palatino Linotype"/>
                <a:cs typeface="Palatino Linotype"/>
              </a:rPr>
              <a:t>978-1-098-15543-</a:t>
            </a:r>
            <a:r>
              <a:rPr dirty="0" sz="850" spc="-50">
                <a:latin typeface="Palatino Linotype"/>
                <a:cs typeface="Palatino Linotype"/>
              </a:rPr>
              <a:t>8</a:t>
            </a:r>
            <a:r>
              <a:rPr dirty="0" sz="850" spc="-10">
                <a:latin typeface="Palatino Linotype"/>
                <a:cs typeface="Palatino Linotype"/>
              </a:rPr>
              <a:t> [LSI]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642" y="711618"/>
            <a:ext cx="4598035" cy="141097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1000" spc="-170" b="1">
                <a:latin typeface="Trebuchet MS"/>
                <a:cs typeface="Trebuchet MS"/>
              </a:rPr>
              <a:t>Think</a:t>
            </a:r>
            <a:r>
              <a:rPr dirty="0" sz="1000" spc="-114" b="1">
                <a:latin typeface="Trebuchet MS"/>
                <a:cs typeface="Trebuchet MS"/>
              </a:rPr>
              <a:t> </a:t>
            </a:r>
            <a:r>
              <a:rPr dirty="0" sz="1000" spc="-10" b="1">
                <a:latin typeface="Trebuchet MS"/>
                <a:cs typeface="Trebuchet MS"/>
              </a:rPr>
              <a:t>Python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50" spc="-70">
                <a:latin typeface="Palatino Linotype"/>
                <a:cs typeface="Palatino Linotype"/>
              </a:rPr>
              <a:t>by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Allen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B.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Downey</a:t>
            </a:r>
            <a:endParaRPr sz="850">
              <a:latin typeface="Palatino Linotype"/>
              <a:cs typeface="Palatino Linotype"/>
            </a:endParaRPr>
          </a:p>
          <a:p>
            <a:pPr marL="12700" marR="2188210">
              <a:lnSpc>
                <a:spcPct val="158800"/>
              </a:lnSpc>
            </a:pPr>
            <a:r>
              <a:rPr dirty="0" sz="850" spc="-50">
                <a:latin typeface="Palatino Linotype"/>
                <a:cs typeface="Palatino Linotype"/>
              </a:rPr>
              <a:t>Copyright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©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2024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Allen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B.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65">
                <a:latin typeface="Palatino Linotype"/>
                <a:cs typeface="Palatino Linotype"/>
              </a:rPr>
              <a:t>Downey.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All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rights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reserved.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Printed</a:t>
            </a:r>
            <a:r>
              <a:rPr dirty="0" sz="850" spc="-1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in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the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United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States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of</a:t>
            </a:r>
            <a:r>
              <a:rPr dirty="0" sz="850" spc="-1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America.</a:t>
            </a:r>
            <a:endParaRPr sz="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50" spc="-50">
                <a:latin typeface="Palatino Linotype"/>
                <a:cs typeface="Palatino Linotype"/>
              </a:rPr>
              <a:t>Published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70">
                <a:latin typeface="Palatino Linotype"/>
                <a:cs typeface="Palatino Linotype"/>
              </a:rPr>
              <a:t>by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O’Reilly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Media,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Inc.,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1005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Gravenstein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75">
                <a:latin typeface="Palatino Linotype"/>
                <a:cs typeface="Palatino Linotype"/>
              </a:rPr>
              <a:t>Highway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North,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Sebastopol,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65">
                <a:latin typeface="Palatino Linotype"/>
                <a:cs typeface="Palatino Linotype"/>
              </a:rPr>
              <a:t>CA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95472.</a:t>
            </a:r>
            <a:endParaRPr sz="8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850" spc="-50">
                <a:latin typeface="Palatino Linotype"/>
                <a:cs typeface="Palatino Linotype"/>
              </a:rPr>
              <a:t>O’Reilly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books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85">
                <a:latin typeface="Palatino Linotype"/>
                <a:cs typeface="Palatino Linotype"/>
              </a:rPr>
              <a:t>may</a:t>
            </a:r>
            <a:r>
              <a:rPr dirty="0" sz="850" spc="3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be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purchased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for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educational,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business,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or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sales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promotional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use.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Online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editions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are</a:t>
            </a:r>
            <a:r>
              <a:rPr dirty="0" sz="850" spc="-10">
                <a:latin typeface="Palatino Linotype"/>
                <a:cs typeface="Palatino Linotype"/>
              </a:rPr>
              <a:t> also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available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for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most</a:t>
            </a:r>
            <a:r>
              <a:rPr dirty="0" sz="850" spc="-10">
                <a:latin typeface="Palatino Linotype"/>
                <a:cs typeface="Palatino Linotype"/>
              </a:rPr>
              <a:t> titles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(</a:t>
            </a:r>
            <a:r>
              <a:rPr dirty="0" sz="8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https://oreilly.com</a:t>
            </a:r>
            <a:r>
              <a:rPr dirty="0" sz="850" spc="-10">
                <a:latin typeface="Palatino Linotype"/>
                <a:cs typeface="Palatino Linotype"/>
              </a:rPr>
              <a:t>).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For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more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information,</a:t>
            </a:r>
            <a:r>
              <a:rPr dirty="0" sz="850" spc="-10">
                <a:latin typeface="Palatino Linotype"/>
                <a:cs typeface="Palatino Linotype"/>
              </a:rPr>
              <a:t> contact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our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corporate/institu‐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tional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sales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department: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800-998-</a:t>
            </a:r>
            <a:r>
              <a:rPr dirty="0" sz="850" spc="-10">
                <a:latin typeface="Palatino Linotype"/>
                <a:cs typeface="Palatino Linotype"/>
              </a:rPr>
              <a:t>9938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or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10" i="1">
                <a:latin typeface="Palatino Linotype"/>
                <a:cs typeface="Palatino Linotype"/>
                <a:hlinkClick r:id="rId3"/>
              </a:rPr>
              <a:t>corporate@oreilly.com</a:t>
            </a:r>
            <a:r>
              <a:rPr dirty="0" sz="850" spc="-10">
                <a:latin typeface="Palatino Linotype"/>
                <a:cs typeface="Palatino Linotype"/>
                <a:hlinkClick r:id="rId3"/>
              </a:rPr>
              <a:t>.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43" y="2187575"/>
            <a:ext cx="1629410" cy="712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Acquisitions</a:t>
            </a:r>
            <a:r>
              <a:rPr dirty="0" sz="900" spc="-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Editor:</a:t>
            </a:r>
            <a:r>
              <a:rPr dirty="0" sz="900" spc="-20" b="1">
                <a:latin typeface="Trebuchet MS"/>
                <a:cs typeface="Trebuchet MS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Brian</a:t>
            </a:r>
            <a:r>
              <a:rPr dirty="0" sz="850" spc="4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Guerin </a:t>
            </a:r>
            <a:r>
              <a:rPr dirty="0" sz="900" spc="-155" b="1">
                <a:latin typeface="Trebuchet MS"/>
                <a:cs typeface="Trebuchet MS"/>
              </a:rPr>
              <a:t>Development</a:t>
            </a:r>
            <a:r>
              <a:rPr dirty="0" sz="900" spc="-8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Editor:</a:t>
            </a:r>
            <a:r>
              <a:rPr dirty="0" sz="900" spc="-10" b="1">
                <a:latin typeface="Trebuchet MS"/>
                <a:cs typeface="Trebuchet MS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Jeff</a:t>
            </a:r>
            <a:r>
              <a:rPr dirty="0" sz="850" spc="5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Bleiel </a:t>
            </a:r>
            <a:r>
              <a:rPr dirty="0" sz="900" spc="-145" b="1">
                <a:latin typeface="Trebuchet MS"/>
                <a:cs typeface="Trebuchet MS"/>
              </a:rPr>
              <a:t>Production</a:t>
            </a:r>
            <a:r>
              <a:rPr dirty="0" sz="900" spc="-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Editor:</a:t>
            </a:r>
            <a:r>
              <a:rPr dirty="0" sz="900" spc="-20" b="1">
                <a:latin typeface="Trebuchet MS"/>
                <a:cs typeface="Trebuchet MS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Christopher</a:t>
            </a:r>
            <a:r>
              <a:rPr dirty="0" sz="850" spc="3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Faucher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Copyeditor:</a:t>
            </a:r>
            <a:r>
              <a:rPr dirty="0" sz="900" spc="-45" b="1">
                <a:latin typeface="Trebuchet MS"/>
                <a:cs typeface="Trebuchet MS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Sonia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Saruba</a:t>
            </a:r>
            <a:endParaRPr sz="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-145" b="1">
                <a:latin typeface="Trebuchet MS"/>
                <a:cs typeface="Trebuchet MS"/>
              </a:rPr>
              <a:t>Proofreader:</a:t>
            </a:r>
            <a:r>
              <a:rPr dirty="0" sz="900" spc="-40" b="1">
                <a:latin typeface="Trebuchet MS"/>
                <a:cs typeface="Trebuchet MS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Kim</a:t>
            </a:r>
            <a:r>
              <a:rPr dirty="0" sz="850" spc="2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Cofer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82894" y="2187575"/>
            <a:ext cx="1495425" cy="575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Indexer:</a:t>
            </a:r>
            <a:r>
              <a:rPr dirty="0" sz="900" spc="-25" b="1">
                <a:latin typeface="Trebuchet MS"/>
                <a:cs typeface="Trebuchet MS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Ellen</a:t>
            </a:r>
            <a:r>
              <a:rPr dirty="0" sz="850" spc="3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Troutman-</a:t>
            </a:r>
            <a:r>
              <a:rPr dirty="0" sz="850" spc="-20">
                <a:latin typeface="Palatino Linotype"/>
                <a:cs typeface="Palatino Linotype"/>
              </a:rPr>
              <a:t>Zaig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Interior</a:t>
            </a:r>
            <a:r>
              <a:rPr dirty="0" sz="900" spc="-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Designer:</a:t>
            </a:r>
            <a:r>
              <a:rPr dirty="0" sz="900" spc="-25" b="1">
                <a:latin typeface="Trebuchet MS"/>
                <a:cs typeface="Trebuchet MS"/>
              </a:rPr>
              <a:t> </a:t>
            </a:r>
            <a:r>
              <a:rPr dirty="0" sz="850" spc="-60">
                <a:latin typeface="Palatino Linotype"/>
                <a:cs typeface="Palatino Linotype"/>
              </a:rPr>
              <a:t>David</a:t>
            </a:r>
            <a:r>
              <a:rPr dirty="0" sz="850" spc="4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Futato</a:t>
            </a:r>
            <a:r>
              <a:rPr dirty="0" sz="850" spc="200">
                <a:latin typeface="Palatino Linotype"/>
                <a:cs typeface="Palatino Linotype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Cover</a:t>
            </a:r>
            <a:r>
              <a:rPr dirty="0" sz="900" spc="-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Designer:</a:t>
            </a:r>
            <a:r>
              <a:rPr dirty="0" sz="900" spc="-20" b="1">
                <a:latin typeface="Trebuchet MS"/>
                <a:cs typeface="Trebuchet MS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Karen</a:t>
            </a:r>
            <a:r>
              <a:rPr dirty="0" sz="850" spc="4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Montgomery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Illustrator:</a:t>
            </a:r>
            <a:r>
              <a:rPr dirty="0" sz="900" spc="-25" b="1">
                <a:latin typeface="Trebuchet MS"/>
                <a:cs typeface="Trebuchet MS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Kate</a:t>
            </a:r>
            <a:r>
              <a:rPr dirty="0" sz="850" spc="4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Dullea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663" y="3038246"/>
            <a:ext cx="728345" cy="414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75">
                <a:latin typeface="Palatino Linotype"/>
                <a:cs typeface="Palatino Linotype"/>
              </a:rPr>
              <a:t>August</a:t>
            </a:r>
            <a:r>
              <a:rPr dirty="0" sz="850" spc="3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2012:</a:t>
            </a:r>
            <a:endParaRPr sz="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50" spc="-40">
                <a:latin typeface="Palatino Linotype"/>
                <a:cs typeface="Palatino Linotype"/>
              </a:rPr>
              <a:t>December</a:t>
            </a:r>
            <a:r>
              <a:rPr dirty="0" sz="850" spc="-1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2015:</a:t>
            </a:r>
            <a:endParaRPr sz="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50" spc="-45">
                <a:latin typeface="Palatino Linotype"/>
                <a:cs typeface="Palatino Linotype"/>
              </a:rPr>
              <a:t>June</a:t>
            </a:r>
            <a:r>
              <a:rPr dirty="0" sz="850" spc="-2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2024: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40612" y="3038246"/>
            <a:ext cx="687070" cy="414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850" spc="-30">
                <a:latin typeface="Palatino Linotype"/>
                <a:cs typeface="Palatino Linotype"/>
              </a:rPr>
              <a:t>First</a:t>
            </a:r>
            <a:r>
              <a:rPr dirty="0" sz="850" spc="-10">
                <a:latin typeface="Palatino Linotype"/>
                <a:cs typeface="Palatino Linotype"/>
              </a:rPr>
              <a:t> Edition </a:t>
            </a:r>
            <a:r>
              <a:rPr dirty="0" sz="850" spc="-45">
                <a:latin typeface="Palatino Linotype"/>
                <a:cs typeface="Palatino Linotype"/>
              </a:rPr>
              <a:t>Second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Edition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Third</a:t>
            </a:r>
            <a:r>
              <a:rPr dirty="0" sz="850" spc="-2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Edition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1656" y="3555617"/>
            <a:ext cx="4598035" cy="2169795"/>
          </a:xfrm>
          <a:prstGeom prst="rect">
            <a:avLst/>
          </a:prstGeom>
        </p:spPr>
        <p:txBody>
          <a:bodyPr wrap="square" lIns="0" tIns="361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dirty="0" sz="900" spc="-135" b="1">
                <a:latin typeface="Trebuchet MS"/>
                <a:cs typeface="Trebuchet MS"/>
              </a:rPr>
              <a:t>Revision</a:t>
            </a:r>
            <a:r>
              <a:rPr dirty="0" sz="900" spc="-95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History</a:t>
            </a:r>
            <a:r>
              <a:rPr dirty="0" sz="900" spc="-95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for</a:t>
            </a:r>
            <a:r>
              <a:rPr dirty="0" sz="900" spc="-9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the</a:t>
            </a:r>
            <a:r>
              <a:rPr dirty="0" sz="900" spc="-95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Third</a:t>
            </a:r>
            <a:r>
              <a:rPr dirty="0" sz="900" spc="-90" b="1">
                <a:latin typeface="Trebuchet MS"/>
                <a:cs typeface="Trebuchet MS"/>
              </a:rPr>
              <a:t> </a:t>
            </a:r>
            <a:r>
              <a:rPr dirty="0" sz="900" spc="-10" b="1">
                <a:latin typeface="Trebuchet MS"/>
                <a:cs typeface="Trebuchet MS"/>
              </a:rPr>
              <a:t>Edition</a:t>
            </a:r>
            <a:endParaRPr sz="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850" spc="-20">
                <a:latin typeface="Palatino Linotype"/>
                <a:cs typeface="Palatino Linotype"/>
              </a:rPr>
              <a:t>2024-05-</a:t>
            </a:r>
            <a:r>
              <a:rPr dirty="0" sz="850">
                <a:latin typeface="Palatino Linotype"/>
                <a:cs typeface="Palatino Linotype"/>
              </a:rPr>
              <a:t>24:</a:t>
            </a:r>
            <a:r>
              <a:rPr dirty="0" sz="850" spc="229">
                <a:latin typeface="Palatino Linotype"/>
                <a:cs typeface="Palatino Linotype"/>
              </a:rPr>
              <a:t>  </a:t>
            </a:r>
            <a:r>
              <a:rPr dirty="0" sz="850" spc="-30">
                <a:latin typeface="Palatino Linotype"/>
                <a:cs typeface="Palatino Linotype"/>
              </a:rPr>
              <a:t>First</a:t>
            </a:r>
            <a:r>
              <a:rPr dirty="0" sz="850" spc="-10">
                <a:latin typeface="Palatino Linotype"/>
                <a:cs typeface="Palatino Linotype"/>
              </a:rPr>
              <a:t> Release</a:t>
            </a:r>
            <a:endParaRPr sz="8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50" spc="-55">
                <a:latin typeface="Palatino Linotype"/>
                <a:cs typeface="Palatino Linotype"/>
              </a:rPr>
              <a:t>See</a:t>
            </a:r>
            <a:r>
              <a:rPr dirty="0" sz="850" spc="105">
                <a:latin typeface="Palatino Linotype"/>
                <a:cs typeface="Palatino Linotype"/>
              </a:rPr>
              <a:t> </a:t>
            </a:r>
            <a:r>
              <a:rPr dirty="0" sz="850" spc="-25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http://oreilly.com/catalog/errata.csp?isbn=9781098155438</a:t>
            </a:r>
            <a:r>
              <a:rPr dirty="0" sz="850" spc="11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for</a:t>
            </a:r>
            <a:r>
              <a:rPr dirty="0" sz="850" spc="110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release</a:t>
            </a:r>
            <a:r>
              <a:rPr dirty="0" sz="850" spc="11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details.</a:t>
            </a:r>
            <a:endParaRPr sz="8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850">
                <a:latin typeface="Palatino Linotype"/>
                <a:cs typeface="Palatino Linotype"/>
              </a:rPr>
              <a:t>The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O’Reilly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logo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is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a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registered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trademark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of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O’Reilly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Media,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Inc.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i="1">
                <a:latin typeface="Palatino Linotype"/>
                <a:cs typeface="Palatino Linotype"/>
              </a:rPr>
              <a:t>Think</a:t>
            </a:r>
            <a:r>
              <a:rPr dirty="0" sz="850" spc="15" i="1">
                <a:latin typeface="Palatino Linotype"/>
                <a:cs typeface="Palatino Linotype"/>
              </a:rPr>
              <a:t> </a:t>
            </a:r>
            <a:r>
              <a:rPr dirty="0" sz="850" spc="-10" i="1">
                <a:latin typeface="Palatino Linotype"/>
                <a:cs typeface="Palatino Linotype"/>
              </a:rPr>
              <a:t>Python</a:t>
            </a:r>
            <a:r>
              <a:rPr dirty="0" sz="850" spc="-10">
                <a:latin typeface="Palatino Linotype"/>
                <a:cs typeface="Palatino Linotype"/>
              </a:rPr>
              <a:t>,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the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cover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image,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and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related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trade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dress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are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trademarks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of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O’Reilly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Media,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Inc.</a:t>
            </a:r>
            <a:endParaRPr sz="8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850" spc="-35">
                <a:latin typeface="Palatino Linotype"/>
                <a:cs typeface="Palatino Linotype"/>
              </a:rPr>
              <a:t>The</a:t>
            </a:r>
            <a:r>
              <a:rPr dirty="0" sz="850" spc="-20">
                <a:latin typeface="Palatino Linotype"/>
                <a:cs typeface="Palatino Linotype"/>
              </a:rPr>
              <a:t> </a:t>
            </a:r>
            <a:r>
              <a:rPr dirty="0" sz="850" spc="-80">
                <a:latin typeface="Palatino Linotype"/>
                <a:cs typeface="Palatino Linotype"/>
              </a:rPr>
              <a:t>views</a:t>
            </a:r>
            <a:r>
              <a:rPr dirty="0" sz="850" spc="2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expressed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in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this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70">
                <a:latin typeface="Palatino Linotype"/>
                <a:cs typeface="Palatino Linotype"/>
              </a:rPr>
              <a:t>work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are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those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of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the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author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65">
                <a:latin typeface="Palatino Linotype"/>
                <a:cs typeface="Palatino Linotype"/>
              </a:rPr>
              <a:t>and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85">
                <a:latin typeface="Palatino Linotype"/>
                <a:cs typeface="Palatino Linotype"/>
              </a:rPr>
              <a:t>do</a:t>
            </a:r>
            <a:r>
              <a:rPr dirty="0" sz="850" spc="3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not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represent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the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publisher’s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70">
                <a:latin typeface="Palatino Linotype"/>
                <a:cs typeface="Palatino Linotype"/>
              </a:rPr>
              <a:t>views.</a:t>
            </a:r>
            <a:r>
              <a:rPr dirty="0" sz="850" spc="1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While </a:t>
            </a:r>
            <a:r>
              <a:rPr dirty="0" sz="850" spc="-30">
                <a:latin typeface="Palatino Linotype"/>
                <a:cs typeface="Palatino Linotype"/>
              </a:rPr>
              <a:t>the</a:t>
            </a:r>
            <a:r>
              <a:rPr dirty="0" sz="850" spc="-1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publisher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and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the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author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65">
                <a:latin typeface="Palatino Linotype"/>
                <a:cs typeface="Palatino Linotype"/>
              </a:rPr>
              <a:t>have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60">
                <a:latin typeface="Palatino Linotype"/>
                <a:cs typeface="Palatino Linotype"/>
              </a:rPr>
              <a:t>used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good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faith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efforts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to </a:t>
            </a:r>
            <a:r>
              <a:rPr dirty="0" sz="850" spc="-40">
                <a:latin typeface="Palatino Linotype"/>
                <a:cs typeface="Palatino Linotype"/>
              </a:rPr>
              <a:t>ensure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that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the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information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and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instructions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contained</a:t>
            </a:r>
            <a:r>
              <a:rPr dirty="0" sz="85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in </a:t>
            </a:r>
            <a:r>
              <a:rPr dirty="0" sz="850" spc="-25">
                <a:latin typeface="Palatino Linotype"/>
                <a:cs typeface="Palatino Linotype"/>
              </a:rPr>
              <a:t>this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work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are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accurate,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the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publisher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and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the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author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disclaim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all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responsibility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for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errors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or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omissions,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including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without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limitation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responsibility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for </a:t>
            </a:r>
            <a:r>
              <a:rPr dirty="0" sz="850" spc="-50">
                <a:latin typeface="Palatino Linotype"/>
                <a:cs typeface="Palatino Linotype"/>
              </a:rPr>
              <a:t>damages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resulting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from</a:t>
            </a:r>
            <a:r>
              <a:rPr dirty="0" sz="850">
                <a:latin typeface="Palatino Linotype"/>
                <a:cs typeface="Palatino Linotype"/>
              </a:rPr>
              <a:t> the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use</a:t>
            </a:r>
            <a:r>
              <a:rPr dirty="0" sz="850">
                <a:latin typeface="Palatino Linotype"/>
                <a:cs typeface="Palatino Linotype"/>
              </a:rPr>
              <a:t> of or </a:t>
            </a:r>
            <a:r>
              <a:rPr dirty="0" sz="850" spc="-25">
                <a:latin typeface="Palatino Linotype"/>
                <a:cs typeface="Palatino Linotype"/>
              </a:rPr>
              <a:t>reliance</a:t>
            </a:r>
            <a:r>
              <a:rPr dirty="0" sz="850">
                <a:latin typeface="Palatino Linotype"/>
                <a:cs typeface="Palatino Linotype"/>
              </a:rPr>
              <a:t> on</a:t>
            </a:r>
            <a:r>
              <a:rPr dirty="0" sz="850" spc="-2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this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work.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Use</a:t>
            </a:r>
            <a:r>
              <a:rPr dirty="0" sz="850">
                <a:latin typeface="Palatino Linotype"/>
                <a:cs typeface="Palatino Linotype"/>
              </a:rPr>
              <a:t> of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the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information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and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instructions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contained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in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this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work</a:t>
            </a:r>
            <a:r>
              <a:rPr dirty="0" sz="850">
                <a:latin typeface="Palatino Linotype"/>
                <a:cs typeface="Palatino Linotype"/>
              </a:rPr>
              <a:t> is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at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your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own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risk.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If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any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code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65">
                <a:latin typeface="Palatino Linotype"/>
                <a:cs typeface="Palatino Linotype"/>
              </a:rPr>
              <a:t>samples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or</a:t>
            </a:r>
            <a:r>
              <a:rPr dirty="0" sz="850" spc="-25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other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technology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this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65">
                <a:latin typeface="Palatino Linotype"/>
                <a:cs typeface="Palatino Linotype"/>
              </a:rPr>
              <a:t>work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contains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or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describes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0">
                <a:latin typeface="Palatino Linotype"/>
                <a:cs typeface="Palatino Linotype"/>
              </a:rPr>
              <a:t>is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subject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to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open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source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licenses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or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the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intellectual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property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rights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of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others,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it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is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your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responsibility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to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ensure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that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your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use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thereof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Palatino Linotype"/>
                <a:cs typeface="Palatino Linotype"/>
              </a:rPr>
              <a:t>complies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60">
                <a:latin typeface="Palatino Linotype"/>
                <a:cs typeface="Palatino Linotype"/>
              </a:rPr>
              <a:t>with</a:t>
            </a:r>
            <a:r>
              <a:rPr dirty="0" sz="850" spc="-5">
                <a:latin typeface="Palatino Linotype"/>
                <a:cs typeface="Palatino Linotype"/>
              </a:rPr>
              <a:t> </a:t>
            </a:r>
            <a:r>
              <a:rPr dirty="0" sz="850" spc="-45">
                <a:latin typeface="Palatino Linotype"/>
                <a:cs typeface="Palatino Linotype"/>
              </a:rPr>
              <a:t>such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licenses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35">
                <a:latin typeface="Palatino Linotype"/>
                <a:cs typeface="Palatino Linotype"/>
              </a:rPr>
              <a:t>and/or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rights.</a:t>
            </a:r>
            <a:endParaRPr sz="8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9159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640213" y="862514"/>
            <a:ext cx="185928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405"/>
              <a:t>Table</a:t>
            </a:r>
            <a:r>
              <a:rPr dirty="0" spc="-350"/>
              <a:t> </a:t>
            </a:r>
            <a:r>
              <a:rPr dirty="0" spc="-330"/>
              <a:t>of</a:t>
            </a:r>
            <a:r>
              <a:rPr dirty="0" spc="-345"/>
              <a:t> </a:t>
            </a:r>
            <a:r>
              <a:rPr dirty="0" spc="-390"/>
              <a:t>Contents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901700" y="2883014"/>
            <a:ext cx="4597400" cy="52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Preface.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xi</a:t>
            </a:r>
            <a:endParaRPr sz="1200">
              <a:latin typeface="Trebuchet MS"/>
              <a:cs typeface="Trebuchet MS"/>
            </a:endParaRPr>
          </a:p>
          <a:p>
            <a:pPr marL="24130">
              <a:lnSpc>
                <a:spcPct val="100000"/>
              </a:lnSpc>
              <a:spcBef>
                <a:spcPts val="1080"/>
              </a:spcBef>
            </a:pPr>
            <a:r>
              <a:rPr dirty="0" sz="1200" spc="-105" b="1">
                <a:latin typeface="Trebuchet MS"/>
                <a:cs typeface="Trebuchet MS"/>
              </a:rPr>
              <a:t>1.</a:t>
            </a:r>
            <a:r>
              <a:rPr dirty="0" sz="1200" spc="245" b="1">
                <a:latin typeface="Trebuchet MS"/>
                <a:cs typeface="Trebuchet MS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Programming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6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as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a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22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Way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of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Thinking.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.</a:t>
            </a:r>
            <a:r>
              <a:rPr dirty="0" sz="1200" spc="395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 </a:t>
            </a:r>
            <a:r>
              <a:rPr dirty="0" sz="1200" spc="-50" b="1">
                <a:solidFill>
                  <a:srgbClr val="231F20"/>
                </a:solidFill>
                <a:latin typeface="Trebuchet MS"/>
                <a:cs typeface="Trebuchet MS"/>
                <a:hlinkClick r:id="rId3" action="ppaction://hlinksldjump"/>
              </a:rPr>
              <a:t>1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84618" y="3385725"/>
            <a:ext cx="1673225" cy="1465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953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Arithmetic</a:t>
            </a:r>
            <a:r>
              <a:rPr dirty="0" sz="1050" spc="2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Operators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Expressions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Arithmetic</a:t>
            </a:r>
            <a:r>
              <a:rPr dirty="0" sz="1050" spc="2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Functions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Strings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Values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and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Types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Formal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and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Natural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Languages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116078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45687" y="3385725"/>
            <a:ext cx="153670" cy="1465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3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4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5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6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13286" y="4963275"/>
            <a:ext cx="45859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0" b="1">
                <a:latin typeface="Trebuchet MS"/>
                <a:cs typeface="Trebuchet MS"/>
              </a:rPr>
              <a:t>2.</a:t>
            </a:r>
            <a:r>
              <a:rPr dirty="0" sz="1200" spc="-200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Variables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Statements.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15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4622" y="5145945"/>
            <a:ext cx="1509395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Variables</a:t>
            </a:r>
            <a:endParaRPr sz="1050">
              <a:latin typeface="Palatino Linotype"/>
              <a:cs typeface="Palatino Linotype"/>
            </a:endParaRPr>
          </a:p>
          <a:p>
            <a:pPr marL="12700" marR="648335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State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Diagrams</a:t>
            </a: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Variable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Names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The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import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Statement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Expressions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and</a:t>
            </a:r>
            <a:r>
              <a:rPr dirty="0" sz="1050" spc="1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Statements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The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print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Function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Arguments</a:t>
            </a:r>
            <a:endParaRPr sz="1050">
              <a:latin typeface="Palatino Linotype"/>
              <a:cs typeface="Palatino Linotype"/>
            </a:endParaRPr>
          </a:p>
          <a:p>
            <a:pPr marL="12700" marR="896619">
              <a:lnSpc>
                <a:spcPct val="100000"/>
              </a:lnSpc>
            </a:pP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Comments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Glossary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345688" y="5145945"/>
            <a:ext cx="153670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03409" y="7731125"/>
            <a:ext cx="958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75" b="1">
                <a:latin typeface="Trebuchet MS"/>
                <a:cs typeface="Trebuchet MS"/>
              </a:rPr>
              <a:t>iii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914400" y="670864"/>
          <a:ext cx="4581525" cy="7211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510"/>
                <a:gridCol w="4259580"/>
                <a:gridCol w="177800"/>
              </a:tblGrid>
              <a:tr h="179070">
                <a:tc>
                  <a:txBody>
                    <a:bodyPr/>
                    <a:lstStyle/>
                    <a:p>
                      <a:pPr marL="11430">
                        <a:lnSpc>
                          <a:spcPts val="1315"/>
                        </a:lnSpc>
                      </a:pPr>
                      <a:r>
                        <a:rPr dirty="0" sz="1200" spc="-85" b="1">
                          <a:latin typeface="Trebuchet MS"/>
                          <a:cs typeface="Trebuchet MS"/>
                        </a:rPr>
                        <a:t>3.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315"/>
                        </a:lnSpc>
                      </a:pP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Functions.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.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1315"/>
                        </a:lnSpc>
                      </a:pPr>
                      <a:r>
                        <a:rPr dirty="0" sz="1200" spc="-2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" action="ppaction://hlinksldjump"/>
                        </a:rPr>
                        <a:t>27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</a:tr>
              <a:tr h="1663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215"/>
                        </a:lnSpc>
                      </a:pPr>
                      <a:r>
                        <a:rPr dirty="0" sz="1050" spc="-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" action="ppaction://hlinksldjump"/>
                        </a:rPr>
                        <a:t>Defining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" action="ppaction://hlinksldjump"/>
                        </a:rPr>
                        <a:t> </a:t>
                      </a:r>
                      <a:r>
                        <a:rPr dirty="0" sz="1050" spc="-1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" action="ppaction://hlinksldjump"/>
                        </a:rPr>
                        <a:t>New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" action="ppaction://hlinksldjump"/>
                        </a:rPr>
                        <a:t>Functions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215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27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3" action="ppaction://hlinksldjump"/>
                        </a:rPr>
                        <a:t>Parameters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28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4" action="ppaction://hlinksldjump"/>
                        </a:rPr>
                        <a:t>Calling</a:t>
                      </a:r>
                      <a:r>
                        <a:rPr dirty="0" sz="1050" spc="-1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4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4" action="ppaction://hlinksldjump"/>
                        </a:rPr>
                        <a:t>Functions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29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5" action="ppaction://hlinksldjump"/>
                        </a:rPr>
                        <a:t>Repetition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31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6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Variables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 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and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 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Parameters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 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Are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6" action="ppaction://hlinksldjump"/>
                        </a:rPr>
                        <a:t>Local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32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593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7" action="ppaction://hlinksldjump"/>
                        </a:rPr>
                        <a:t>Stack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7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7" action="ppaction://hlinksldjump"/>
                        </a:rPr>
                        <a:t>Diagrams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33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7" action="ppaction://hlinksldjump"/>
                        </a:rPr>
                        <a:t>Tracebacks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33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8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8" action="ppaction://hlinksldjump"/>
                        </a:rPr>
                        <a:t>Why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8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8" action="ppaction://hlinksldjump"/>
                        </a:rPr>
                        <a:t>Functions?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34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593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9" action="ppaction://hlinksldjump"/>
                        </a:rPr>
                        <a:t>Debugging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35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593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9" action="ppaction://hlinksldjump"/>
                        </a:rPr>
                        <a:t>Glossary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35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317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7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0" action="ppaction://hlinksldjump"/>
                        </a:rPr>
                        <a:t>Exercises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7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36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41300">
                <a:tc>
                  <a:txBody>
                    <a:bodyPr/>
                    <a:lstStyle/>
                    <a:p>
                      <a:pPr marL="11430">
                        <a:lnSpc>
                          <a:spcPts val="1375"/>
                        </a:lnSpc>
                        <a:spcBef>
                          <a:spcPts val="425"/>
                        </a:spcBef>
                      </a:pPr>
                      <a:r>
                        <a:rPr dirty="0" sz="1200" spc="-85" b="1">
                          <a:latin typeface="Trebuchet MS"/>
                          <a:cs typeface="Trebuchet MS"/>
                        </a:rPr>
                        <a:t>4.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5397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375"/>
                        </a:lnSpc>
                        <a:spcBef>
                          <a:spcPts val="425"/>
                        </a:spcBef>
                      </a:pP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Functions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and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Interfaces.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.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53975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1375"/>
                        </a:lnSpc>
                        <a:spcBef>
                          <a:spcPts val="425"/>
                        </a:spcBef>
                      </a:pPr>
                      <a:r>
                        <a:rPr dirty="0" sz="1200" spc="-2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11" action="ppaction://hlinksldjump"/>
                        </a:rPr>
                        <a:t>39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53975"/>
                </a:tc>
              </a:tr>
              <a:tr h="1663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215"/>
                        </a:lnSpc>
                      </a:pPr>
                      <a:r>
                        <a:rPr dirty="0" sz="1050" spc="-4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1" action="ppaction://hlinksldjump"/>
                        </a:rPr>
                        <a:t>The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1" action="ppaction://hlinksldjump"/>
                        </a:rPr>
                        <a:t> 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1" action="ppaction://hlinksldjump"/>
                        </a:rPr>
                        <a:t>jupyturtle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1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1" action="ppaction://hlinksldjump"/>
                        </a:rPr>
                        <a:t>Module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215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39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7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2" action="ppaction://hlinksldjump"/>
                        </a:rPr>
                        <a:t>Making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2" action="ppaction://hlinksldjump"/>
                        </a:rPr>
                        <a:t> 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2" action="ppaction://hlinksldjump"/>
                        </a:rPr>
                        <a:t>a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2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2" action="ppaction://hlinksldjump"/>
                        </a:rPr>
                        <a:t>Square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41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3" action="ppaction://hlinksldjump"/>
                        </a:rPr>
                        <a:t>Encapsulation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3" action="ppaction://hlinksldjump"/>
                        </a:rPr>
                        <a:t> 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3" action="ppaction://hlinksldjump"/>
                        </a:rPr>
                        <a:t>and</a:t>
                      </a:r>
                      <a:r>
                        <a:rPr dirty="0" sz="1050" spc="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3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3" action="ppaction://hlinksldjump"/>
                        </a:rPr>
                        <a:t>Generalization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42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6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4" action="ppaction://hlinksldjump"/>
                        </a:rPr>
                        <a:t>Approximating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4" action="ppaction://hlinksldjump"/>
                        </a:rPr>
                        <a:t> 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4" action="ppaction://hlinksldjump"/>
                        </a:rPr>
                        <a:t>a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4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4" action="ppaction://hlinksldjump"/>
                        </a:rPr>
                        <a:t>Circle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44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5" action="ppaction://hlinksldjump"/>
                        </a:rPr>
                        <a:t>Refactoring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45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Stack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Diagram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47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A</a:t>
                      </a:r>
                      <a:r>
                        <a:rPr dirty="0" sz="1050" spc="-1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 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Development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6" action="ppaction://hlinksldjump"/>
                        </a:rPr>
                        <a:t>Plan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47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7" action="ppaction://hlinksldjump"/>
                        </a:rPr>
                        <a:t>Docstrings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48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8" action="ppaction://hlinksldjump"/>
                        </a:rPr>
                        <a:t>Debugging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49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8" action="ppaction://hlinksldjump"/>
                        </a:rPr>
                        <a:t>Glossary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49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317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7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19" action="ppaction://hlinksldjump"/>
                        </a:rPr>
                        <a:t>Exercises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7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50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41300">
                <a:tc>
                  <a:txBody>
                    <a:bodyPr/>
                    <a:lstStyle/>
                    <a:p>
                      <a:pPr marL="11430">
                        <a:lnSpc>
                          <a:spcPts val="1375"/>
                        </a:lnSpc>
                        <a:spcBef>
                          <a:spcPts val="425"/>
                        </a:spcBef>
                      </a:pPr>
                      <a:r>
                        <a:rPr dirty="0" sz="1200" spc="-85" b="1">
                          <a:latin typeface="Trebuchet MS"/>
                          <a:cs typeface="Trebuchet MS"/>
                        </a:rPr>
                        <a:t>5.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5397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375"/>
                        </a:lnSpc>
                        <a:spcBef>
                          <a:spcPts val="425"/>
                        </a:spcBef>
                      </a:pP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Conditionals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and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Recursion.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r>
                        <a:rPr dirty="0" sz="1200" spc="-17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.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53975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1375"/>
                        </a:lnSpc>
                        <a:spcBef>
                          <a:spcPts val="425"/>
                        </a:spcBef>
                      </a:pPr>
                      <a:r>
                        <a:rPr dirty="0" sz="1200" spc="-2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  <a:hlinkClick r:id="rId20" action="ppaction://hlinksldjump"/>
                        </a:rPr>
                        <a:t>55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53975"/>
                </a:tc>
              </a:tr>
              <a:tr h="1663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215"/>
                        </a:lnSpc>
                      </a:pPr>
                      <a:r>
                        <a:rPr dirty="0" sz="1050" spc="-5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Integer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Division</a:t>
                      </a:r>
                      <a:r>
                        <a:rPr dirty="0" sz="1050" spc="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 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and</a:t>
                      </a:r>
                      <a:r>
                        <a:rPr dirty="0" sz="1050" spc="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0" action="ppaction://hlinksldjump"/>
                        </a:rPr>
                        <a:t>Modulus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215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55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1" action="ppaction://hlinksldjump"/>
                        </a:rPr>
                        <a:t>Boolean</a:t>
                      </a:r>
                      <a:r>
                        <a:rPr dirty="0" sz="1050" spc="4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1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1" action="ppaction://hlinksldjump"/>
                        </a:rPr>
                        <a:t>Expressions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56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2" action="ppaction://hlinksldjump"/>
                        </a:rPr>
                        <a:t>Logical</a:t>
                      </a:r>
                      <a:r>
                        <a:rPr dirty="0" sz="1050" spc="-1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2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2" action="ppaction://hlinksldjump"/>
                        </a:rPr>
                        <a:t>Operators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58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3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if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Statements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59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4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The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 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else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3" action="ppaction://hlinksldjump"/>
                        </a:rPr>
                        <a:t>Clause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59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6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4" action="ppaction://hlinksldjump"/>
                        </a:rPr>
                        <a:t>Chained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4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4" action="ppaction://hlinksldjump"/>
                        </a:rPr>
                        <a:t>Conditionals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60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7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4" action="ppaction://hlinksldjump"/>
                        </a:rPr>
                        <a:t>Nested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4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4" action="ppaction://hlinksldjump"/>
                        </a:rPr>
                        <a:t>Conditionals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60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5" action="ppaction://hlinksldjump"/>
                        </a:rPr>
                        <a:t>Recursion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61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5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Stack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 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Diagrams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for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 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Recursive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Functions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63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3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Infinite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6" action="ppaction://hlinksldjump"/>
                        </a:rPr>
                        <a:t>Recursion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63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6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7" action="ppaction://hlinksldjump"/>
                        </a:rPr>
                        <a:t>Keyboard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7" action="ppaction://hlinksldjump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7" action="ppaction://hlinksldjump"/>
                        </a:rPr>
                        <a:t>Input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64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8" action="ppaction://hlinksldjump"/>
                        </a:rPr>
                        <a:t>Debugging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65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6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29" action="ppaction://hlinksldjump"/>
                        </a:rPr>
                        <a:t>Glossary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6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66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6153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17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  <a:hlinkClick r:id="rId30" action="ppaction://hlinksldjump"/>
                        </a:rPr>
                        <a:t>Exercises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0005">
                        <a:lnSpc>
                          <a:spcPts val="1170"/>
                        </a:lnSpc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Palatino Linotype"/>
                          <a:cs typeface="Palatino Linotype"/>
                        </a:rPr>
                        <a:t>67</a:t>
                      </a:r>
                      <a:endParaRPr sz="10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2720">
                <a:tc>
                  <a:txBody>
                    <a:bodyPr/>
                    <a:lstStyle/>
                    <a:p>
                      <a:pPr>
                        <a:lnSpc>
                          <a:spcPts val="1025"/>
                        </a:lnSpc>
                        <a:spcBef>
                          <a:spcPts val="235"/>
                        </a:spcBef>
                      </a:pPr>
                      <a:r>
                        <a:rPr dirty="0" sz="900" spc="-25" b="1">
                          <a:latin typeface="Trebuchet MS"/>
                          <a:cs typeface="Trebuchet MS"/>
                        </a:rPr>
                        <a:t>iv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B="0" marT="29845"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ts val="1025"/>
                        </a:lnSpc>
                        <a:spcBef>
                          <a:spcPts val="235"/>
                        </a:spcBef>
                      </a:pPr>
                      <a:r>
                        <a:rPr dirty="0" sz="900" spc="-345" b="1">
                          <a:latin typeface="Trebuchet MS"/>
                          <a:cs typeface="Trebuchet MS"/>
                        </a:rPr>
                        <a:t>|</a:t>
                      </a:r>
                      <a:r>
                        <a:rPr dirty="0" sz="900" spc="190" b="1">
                          <a:latin typeface="Trebuchet MS"/>
                          <a:cs typeface="Trebuchet MS"/>
                        </a:rPr>
                        <a:t>  </a:t>
                      </a:r>
                      <a:r>
                        <a:rPr dirty="0" sz="900" spc="-150" b="1">
                          <a:latin typeface="Trebuchet MS"/>
                          <a:cs typeface="Trebuchet MS"/>
                        </a:rPr>
                        <a:t>Table</a:t>
                      </a:r>
                      <a:r>
                        <a:rPr dirty="0" sz="900" spc="-120" b="1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900" spc="-130" b="1">
                          <a:latin typeface="Trebuchet MS"/>
                          <a:cs typeface="Trebuchet MS"/>
                        </a:rPr>
                        <a:t>of</a:t>
                      </a:r>
                      <a:r>
                        <a:rPr dirty="0" sz="900" spc="-125" b="1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900" spc="-25" b="1">
                          <a:latin typeface="Trebuchet MS"/>
                          <a:cs typeface="Trebuchet MS"/>
                        </a:rPr>
                        <a:t>Contents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B="0" marT="29845"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13282" y="650240"/>
            <a:ext cx="45859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0" b="1">
                <a:latin typeface="Trebuchet MS"/>
                <a:cs typeface="Trebuchet MS"/>
              </a:rPr>
              <a:t>6.</a:t>
            </a:r>
            <a:r>
              <a:rPr dirty="0" sz="1200" spc="-200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9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Return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Values.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73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4618" y="832910"/>
            <a:ext cx="1974214" cy="19456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Some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Functions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Have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Return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Values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And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Some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Have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None</a:t>
            </a:r>
            <a:endParaRPr sz="1050">
              <a:latin typeface="Palatino Linotype"/>
              <a:cs typeface="Palatino Linotype"/>
            </a:endParaRPr>
          </a:p>
          <a:p>
            <a:pPr marL="12700" marR="24384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Return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Values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and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Conditionals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Incremental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Development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Boolean</a:t>
            </a:r>
            <a:r>
              <a:rPr dirty="0" sz="1050" spc="4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Functions</a:t>
            </a:r>
            <a:endParaRPr sz="1050">
              <a:latin typeface="Palatino Linotype"/>
              <a:cs typeface="Palatino Linotype"/>
            </a:endParaRPr>
          </a:p>
          <a:p>
            <a:pPr marL="12700" marR="35941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Recursion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with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Return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Values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Leap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of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Faith</a:t>
            </a:r>
            <a:endParaRPr sz="1050">
              <a:latin typeface="Palatino Linotype"/>
              <a:cs typeface="Palatino Linotype"/>
            </a:endParaRPr>
          </a:p>
          <a:p>
            <a:pPr marL="12700" marR="110363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Fibonacci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Checking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Types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Glossary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345684" y="832910"/>
            <a:ext cx="153670" cy="19456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73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75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76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77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87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13283" y="2890519"/>
            <a:ext cx="45859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0" b="1">
                <a:latin typeface="Trebuchet MS"/>
                <a:cs typeface="Trebuchet MS"/>
              </a:rPr>
              <a:t>7.</a:t>
            </a:r>
            <a:r>
              <a:rPr dirty="0" sz="1200" spc="-200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5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Iteration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Search.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2" action="ppaction://hlinksldjump"/>
              </a:rPr>
              <a:t>91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84619" y="3073190"/>
            <a:ext cx="1246505" cy="1465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Loops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and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Strings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Reading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the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Word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List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Updating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Variables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Looping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and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Counting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The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in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Operator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Search</a:t>
            </a:r>
            <a:endParaRPr sz="1050">
              <a:latin typeface="Palatino Linotype"/>
              <a:cs typeface="Palatino Linotype"/>
            </a:endParaRPr>
          </a:p>
          <a:p>
            <a:pPr marL="12700" marR="73406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Doctest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81678" y="3073190"/>
            <a:ext cx="217804" cy="1465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91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93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94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95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96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98</a:t>
            </a: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99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101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13284" y="4650741"/>
            <a:ext cx="45859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5" b="1">
                <a:latin typeface="Trebuchet MS"/>
                <a:cs typeface="Trebuchet MS"/>
              </a:rPr>
              <a:t>8.</a:t>
            </a:r>
            <a:r>
              <a:rPr dirty="0" sz="1200" spc="250" b="1">
                <a:latin typeface="Trebuchet MS"/>
                <a:cs typeface="Trebuchet MS"/>
              </a:rPr>
              <a:t> </a:t>
            </a:r>
            <a:r>
              <a:rPr dirty="0" sz="1200" spc="-15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Strings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and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Regular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Expressions.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6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6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6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19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.</a:t>
            </a:r>
            <a:r>
              <a:rPr dirty="0" sz="1200" spc="23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 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  <a:hlinkClick r:id="rId21" action="ppaction://hlinksldjump"/>
              </a:rPr>
              <a:t>105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4620" y="4833411"/>
            <a:ext cx="1247775" cy="19456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7465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String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Is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Sequence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String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 Slices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Strings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Are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Immutable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String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Comparison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String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Methods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Writing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Files</a:t>
            </a:r>
            <a:endParaRPr sz="1050">
              <a:latin typeface="Palatino Linotype"/>
              <a:cs typeface="Palatino Linotype"/>
            </a:endParaRPr>
          </a:p>
          <a:p>
            <a:pPr marL="12700" marR="143510">
              <a:lnSpc>
                <a:spcPct val="100000"/>
              </a:lnSpc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Find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and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Replace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Regular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Expressions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String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 Substitution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Glossary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81678" y="4833411"/>
            <a:ext cx="217804" cy="19456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109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119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13286" y="6891022"/>
            <a:ext cx="4585970" cy="368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40"/>
              </a:lnSpc>
              <a:spcBef>
                <a:spcPts val="100"/>
              </a:spcBef>
            </a:pPr>
            <a:r>
              <a:rPr dirty="0" sz="1200" spc="-200" b="1">
                <a:latin typeface="Trebuchet MS"/>
                <a:cs typeface="Trebuchet MS"/>
              </a:rPr>
              <a:t>9.</a:t>
            </a:r>
            <a:r>
              <a:rPr dirty="0" sz="1200" spc="-200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60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Lists.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32" action="ppaction://hlinksldjump"/>
              </a:rPr>
              <a:t>121</a:t>
            </a:r>
            <a:endParaRPr sz="1200">
              <a:latin typeface="Trebuchet MS"/>
              <a:cs typeface="Trebuchet MS"/>
            </a:endParaRPr>
          </a:p>
          <a:p>
            <a:pPr marL="183515">
              <a:lnSpc>
                <a:spcPct val="100000"/>
              </a:lnSpc>
              <a:tabLst>
                <a:tab pos="4380865" algn="l"/>
              </a:tabLst>
            </a:pPr>
            <a:r>
              <a:rPr dirty="0" sz="1050" spc="-105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List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Is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 Sequence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</a:rPr>
              <a:t>	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121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24099" y="7731125"/>
            <a:ext cx="975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Table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110" b="1">
                <a:latin typeface="Trebuchet MS"/>
                <a:cs typeface="Trebuchet MS"/>
              </a:rPr>
              <a:t>Contents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50" b="1">
                <a:latin typeface="Trebuchet MS"/>
                <a:cs typeface="Trebuchet MS"/>
              </a:rPr>
              <a:t>v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4522" y="650030"/>
            <a:ext cx="1296035" cy="2265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27660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Lists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Are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Mutable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List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Slices</a:t>
            </a:r>
            <a:endParaRPr sz="1050">
              <a:latin typeface="Palatino Linotype"/>
              <a:cs typeface="Palatino Linotype"/>
            </a:endParaRPr>
          </a:p>
          <a:p>
            <a:pPr marL="12700" marR="393700">
              <a:lnSpc>
                <a:spcPct val="100000"/>
              </a:lnSpc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List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Operations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List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Methods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Lists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and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Strings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Looping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Through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List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Sorting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Lists</a:t>
            </a:r>
            <a:endParaRPr sz="1050">
              <a:latin typeface="Palatino Linotype"/>
              <a:cs typeface="Palatino Linotype"/>
            </a:endParaRPr>
          </a:p>
          <a:p>
            <a:pPr marL="12700" marR="259715">
              <a:lnSpc>
                <a:spcPct val="100000"/>
              </a:lnSpc>
            </a:pP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Objects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and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Values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Aliasing</a:t>
            </a:r>
            <a:endParaRPr sz="1050">
              <a:latin typeface="Palatino Linotype"/>
              <a:cs typeface="Palatino Linotype"/>
            </a:endParaRPr>
          </a:p>
          <a:p>
            <a:pPr marL="12700" marR="212090">
              <a:lnSpc>
                <a:spcPct val="100000"/>
              </a:lnSpc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List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Arguments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Making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a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Word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List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Glossary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5281714" y="650030"/>
            <a:ext cx="217804" cy="2265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129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134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51142" y="3027680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10.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Dictionaries.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50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137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84524" y="3210350"/>
            <a:ext cx="1452880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Dictionary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Is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Mapping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Creating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Dictionaries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The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in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Operator</a:t>
            </a:r>
            <a:endParaRPr sz="1050">
              <a:latin typeface="Palatino Linotype"/>
              <a:cs typeface="Palatino Linotype"/>
            </a:endParaRPr>
          </a:p>
          <a:p>
            <a:pPr marL="12700" marR="64135">
              <a:lnSpc>
                <a:spcPct val="100000"/>
              </a:lnSpc>
            </a:pPr>
            <a:r>
              <a:rPr dirty="0" sz="1050" spc="-105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Collection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of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Counters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Looping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and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Dictionaries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Lists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and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Dictionaries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Accumulating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a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List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Memos</a:t>
            </a:r>
            <a:endParaRPr sz="1050">
              <a:latin typeface="Palatino Linotype"/>
              <a:cs typeface="Palatino Linotype"/>
            </a:endParaRPr>
          </a:p>
          <a:p>
            <a:pPr marL="12700" marR="842644">
              <a:lnSpc>
                <a:spcPct val="100000"/>
              </a:lnSpc>
            </a:pP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Glossary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81715" y="3210350"/>
            <a:ext cx="217804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139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149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51144" y="5107941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11.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90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Tuples.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153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4525" y="5290611"/>
            <a:ext cx="1443355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Tuples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Are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Like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Lists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But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Tuples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Are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Immutable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Tuple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Assignment</a:t>
            </a:r>
            <a:endParaRPr sz="1050">
              <a:latin typeface="Palatino Linotype"/>
              <a:cs typeface="Palatino Linotype"/>
            </a:endParaRPr>
          </a:p>
          <a:p>
            <a:pPr marL="12700" marR="152400">
              <a:lnSpc>
                <a:spcPct val="100000"/>
              </a:lnSpc>
            </a:pP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Tuples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as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Return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Values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Argument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Packing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Zip</a:t>
            </a:r>
            <a:endParaRPr sz="1050">
              <a:latin typeface="Palatino Linotype"/>
              <a:cs typeface="Palatino Linotype"/>
            </a:endParaRPr>
          </a:p>
          <a:p>
            <a:pPr marL="12700" marR="155575">
              <a:lnSpc>
                <a:spcPct val="100000"/>
              </a:lnSpc>
            </a:pP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Comparing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and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Sorting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Inverting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Dictionary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93091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33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33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81717" y="5290611"/>
            <a:ext cx="217804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153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155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156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158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159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167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1742" y="7731125"/>
            <a:ext cx="9988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latin typeface="Trebuchet MS"/>
                <a:cs typeface="Trebuchet MS"/>
              </a:rPr>
              <a:t>vi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0" b="1">
                <a:latin typeface="Trebuchet MS"/>
                <a:cs typeface="Trebuchet MS"/>
              </a:rPr>
              <a:t>Table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of </a:t>
            </a:r>
            <a:r>
              <a:rPr dirty="0" sz="900" spc="-135" b="1">
                <a:latin typeface="Trebuchet MS"/>
                <a:cs typeface="Trebuchet MS"/>
              </a:rPr>
              <a:t>Contents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51103" y="650240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12.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Text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6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Analysis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Generation.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4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171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4618" y="832910"/>
            <a:ext cx="1261110" cy="2105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62255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Unique</a:t>
            </a:r>
            <a:r>
              <a:rPr dirty="0" sz="1050" spc="3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Words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Punctuation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Word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Frequencies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Optional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Parameters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Dictionary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Subtraction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Random</a:t>
            </a:r>
            <a:r>
              <a:rPr dirty="0" sz="1050" spc="25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Numbers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Bigrams</a:t>
            </a:r>
            <a:endParaRPr sz="1050">
              <a:latin typeface="Palatino Linotype"/>
              <a:cs typeface="Palatino Linotype"/>
            </a:endParaRPr>
          </a:p>
          <a:p>
            <a:pPr marL="12700" marR="337185">
              <a:lnSpc>
                <a:spcPct val="100000"/>
              </a:lnSpc>
            </a:pP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Markov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Analysis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Generating</a:t>
            </a:r>
            <a:r>
              <a:rPr dirty="0" sz="1050" spc="15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Text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Glossary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  <a:p>
            <a:pPr marL="12192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Exercise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81676" y="832910"/>
            <a:ext cx="217804" cy="2105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171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172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175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176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177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178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188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190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51104" y="3050540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13.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0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Files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Databases.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.</a:t>
            </a:r>
            <a:r>
              <a:rPr dirty="0" sz="1200" spc="60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4" action="ppaction://hlinksldjump"/>
              </a:rPr>
              <a:t>191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84619" y="3233210"/>
            <a:ext cx="1601470" cy="162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86409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Filenames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and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Paths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f-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strings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YAML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Shelve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Storing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Data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Structures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Checking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for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Equivalent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Files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Walking</a:t>
            </a:r>
            <a:r>
              <a:rPr dirty="0" sz="1050" spc="40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Directories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1089025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81677" y="3233210"/>
            <a:ext cx="217804" cy="162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199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206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51107" y="4970781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14.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Classes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Functions.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16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4" action="ppaction://hlinksldjump"/>
              </a:rPr>
              <a:t>209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4622" y="5153451"/>
            <a:ext cx="1527175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Programmer-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Defined</a:t>
            </a:r>
            <a:r>
              <a:rPr dirty="0" sz="1050" spc="6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Types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Attributes</a:t>
            </a:r>
            <a:endParaRPr sz="1050">
              <a:latin typeface="Palatino Linotype"/>
              <a:cs typeface="Palatino Linotype"/>
            </a:endParaRPr>
          </a:p>
          <a:p>
            <a:pPr marL="12700" marR="180975">
              <a:lnSpc>
                <a:spcPct val="100000"/>
              </a:lnSpc>
            </a:pP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Objects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as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Return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Values</a:t>
            </a: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Objects</a:t>
            </a:r>
            <a:r>
              <a:rPr dirty="0" sz="1050" spc="-1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Are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 Mutable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Copying</a:t>
            </a:r>
            <a:endParaRPr sz="1050">
              <a:latin typeface="Palatino Linotype"/>
              <a:cs typeface="Palatino Linotype"/>
            </a:endParaRPr>
          </a:p>
          <a:p>
            <a:pPr marL="12700" marR="417195">
              <a:lnSpc>
                <a:spcPct val="100000"/>
              </a:lnSpc>
            </a:pP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Pure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Functions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Prototype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and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Patch</a:t>
            </a:r>
            <a:endParaRPr sz="1050">
              <a:latin typeface="Palatino Linotype"/>
              <a:cs typeface="Palatino Linotype"/>
            </a:endParaRPr>
          </a:p>
          <a:p>
            <a:pPr marL="12700" marR="8636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Design-</a:t>
            </a:r>
            <a:r>
              <a:rPr dirty="0" sz="1050" spc="-35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First</a:t>
            </a:r>
            <a:r>
              <a:rPr dirty="0" sz="1050" spc="4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Development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1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101473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32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33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81680" y="5153451"/>
            <a:ext cx="217804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209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219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221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77236" y="7731125"/>
            <a:ext cx="10223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Table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110" b="1">
                <a:latin typeface="Trebuchet MS"/>
                <a:cs typeface="Trebuchet MS"/>
              </a:rPr>
              <a:t>Contents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75" b="1">
                <a:latin typeface="Trebuchet MS"/>
                <a:cs typeface="Trebuchet MS"/>
              </a:rPr>
              <a:t>vii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51103" y="650240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15.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Classes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Methods.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.</a:t>
            </a:r>
            <a:r>
              <a:rPr dirty="0" sz="1200" spc="12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" action="ppaction://hlinksldjump"/>
              </a:rPr>
              <a:t>223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4618" y="832910"/>
            <a:ext cx="1381125" cy="162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8481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Defining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Methods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Another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Method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Static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Methods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tabLst>
                <a:tab pos="685800" algn="l"/>
              </a:tabLst>
            </a:pP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Comparing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Time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Objects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The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u="sng" sz="1050" spc="210">
                <a:solidFill>
                  <a:srgbClr val="231F20"/>
                </a:solidFill>
                <a:uFill>
                  <a:solidFill>
                    <a:srgbClr val="221E1F"/>
                  </a:solidFill>
                </a:uFill>
                <a:latin typeface="Palatino Linotype"/>
                <a:cs typeface="Palatino Linotype"/>
                <a:hlinkClick r:id="rId4" action="ppaction://hlinksldjump"/>
              </a:rPr>
              <a:t>  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str</a:t>
            </a:r>
            <a:r>
              <a:rPr dirty="0" u="sng" sz="1050">
                <a:solidFill>
                  <a:srgbClr val="231F20"/>
                </a:solidFill>
                <a:uFill>
                  <a:solidFill>
                    <a:srgbClr val="221E1F"/>
                  </a:solidFill>
                </a:uFill>
                <a:latin typeface="Palatino Linotype"/>
                <a:cs typeface="Palatino Linotype"/>
                <a:hlinkClick r:id="rId4" action="ppaction://hlinksldjump"/>
              </a:rPr>
              <a:t>	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Method</a:t>
            </a:r>
            <a:endParaRPr sz="1050">
              <a:latin typeface="Palatino Linotype"/>
              <a:cs typeface="Palatino Linotype"/>
            </a:endParaRPr>
          </a:p>
          <a:p>
            <a:pPr marL="12700" marR="168275">
              <a:lnSpc>
                <a:spcPct val="100000"/>
              </a:lnSpc>
              <a:tabLst>
                <a:tab pos="732155" algn="l"/>
              </a:tabLst>
            </a:pP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The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u="sng" sz="1050" spc="210">
                <a:solidFill>
                  <a:srgbClr val="231F20"/>
                </a:solidFill>
                <a:uFill>
                  <a:solidFill>
                    <a:srgbClr val="221E1F"/>
                  </a:solidFill>
                </a:uFill>
                <a:latin typeface="Palatino Linotype"/>
                <a:cs typeface="Palatino Linotype"/>
                <a:hlinkClick r:id="rId5" action="ppaction://hlinksldjump"/>
              </a:rPr>
              <a:t> 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init</a:t>
            </a:r>
            <a:r>
              <a:rPr dirty="0" u="sng" sz="1050">
                <a:solidFill>
                  <a:srgbClr val="231F20"/>
                </a:solidFill>
                <a:uFill>
                  <a:solidFill>
                    <a:srgbClr val="221E1F"/>
                  </a:solidFill>
                </a:uFill>
                <a:latin typeface="Palatino Linotype"/>
                <a:cs typeface="Palatino Linotype"/>
                <a:hlinkClick r:id="rId5" action="ppaction://hlinksldjump"/>
              </a:rPr>
              <a:t>	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Method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Operator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Overloading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86868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81676" y="832910"/>
            <a:ext cx="217804" cy="162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229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232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51105" y="2570479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16.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Classes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and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200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Objects.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10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233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84620" y="2753150"/>
            <a:ext cx="1353185" cy="162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Creating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a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0" action="ppaction://hlinksldjump"/>
              </a:rPr>
              <a:t>Point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Creating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a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1" action="ppaction://hlinksldjump"/>
              </a:rPr>
              <a:t>Line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Equivalence</a:t>
            </a:r>
            <a:r>
              <a:rPr dirty="0" sz="1050" spc="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and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2" action="ppaction://hlinksldjump"/>
              </a:rPr>
              <a:t>Identity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Creating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a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3" action="ppaction://hlinksldjump"/>
              </a:rPr>
              <a:t>Rectangle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Changing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4" action="ppaction://hlinksldjump"/>
              </a:rPr>
              <a:t>Rectangles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Deep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15" action="ppaction://hlinksldjump"/>
              </a:rPr>
              <a:t>Copy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6" action="ppaction://hlinksldjump"/>
              </a:rPr>
              <a:t>Polymorphism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17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84074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8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81678" y="2753150"/>
            <a:ext cx="217804" cy="162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238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240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246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51107" y="4490721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17.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Inheritance.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.</a:t>
            </a:r>
            <a:r>
              <a:rPr dirty="0" sz="1200" spc="9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9" action="ppaction://hlinksldjump"/>
              </a:rPr>
              <a:t>249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4621" y="4673391"/>
            <a:ext cx="1697989" cy="19456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273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Representing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19" action="ppaction://hlinksldjump"/>
              </a:rPr>
              <a:t>Cards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Card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0" action="ppaction://hlinksldjump"/>
              </a:rPr>
              <a:t>Attributes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Printing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Cards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Comparing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1" action="ppaction://hlinksldjump"/>
              </a:rPr>
              <a:t>Cards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Decks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Printing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the</a:t>
            </a:r>
            <a:r>
              <a:rPr dirty="0" sz="1050" spc="-5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22" action="ppaction://hlinksldjump"/>
              </a:rPr>
              <a:t>Deck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9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Add,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Remove,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Shuffle,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and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23" action="ppaction://hlinksldjump"/>
              </a:rPr>
              <a:t>Sort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Parents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and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4" action="ppaction://hlinksldjump"/>
              </a:rPr>
              <a:t>Children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5" action="ppaction://hlinksldjump"/>
              </a:rPr>
              <a:t>Specialization</a:t>
            </a:r>
            <a:endParaRPr sz="1050">
              <a:latin typeface="Palatino Linotype"/>
              <a:cs typeface="Palatino Linotype"/>
            </a:endParaRPr>
          </a:p>
          <a:p>
            <a:pPr marL="12700" marR="1087755">
              <a:lnSpc>
                <a:spcPct val="100000"/>
              </a:lnSpc>
            </a:pP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26" action="ppaction://hlinksldjump"/>
              </a:rPr>
              <a:t>Debugging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7" action="ppaction://hlinksldjump"/>
              </a:rPr>
              <a:t>Glossary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8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81679" y="4673391"/>
            <a:ext cx="217804" cy="19456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249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256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259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261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262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263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264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51108" y="6731001"/>
            <a:ext cx="464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18.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Python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Extras.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.</a:t>
            </a:r>
            <a:r>
              <a:rPr dirty="0" sz="1200" spc="100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29" action="ppaction://hlinksldjump"/>
              </a:rPr>
              <a:t>269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4622" y="6913671"/>
            <a:ext cx="51943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29" action="ppaction://hlinksldjump"/>
              </a:rPr>
              <a:t>Sets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Palatino Linotype"/>
                <a:cs typeface="Palatino Linotype"/>
                <a:hlinkClick r:id="rId30" action="ppaction://hlinksldjump"/>
              </a:rPr>
              <a:t>Counters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81680" y="6913671"/>
            <a:ext cx="217804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269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272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704" y="7731125"/>
            <a:ext cx="104584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30" b="1">
                <a:latin typeface="Trebuchet MS"/>
                <a:cs typeface="Trebuchet MS"/>
              </a:rPr>
              <a:t>viii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Table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135" b="1">
                <a:latin typeface="Trebuchet MS"/>
                <a:cs typeface="Trebuchet MS"/>
              </a:rPr>
              <a:t>Contents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4522" y="650030"/>
            <a:ext cx="1595120" cy="1465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2" action="ppaction://hlinksldjump"/>
              </a:rPr>
              <a:t>defaultdict</a:t>
            </a:r>
            <a:endParaRPr sz="1050">
              <a:latin typeface="Palatino Linotype"/>
              <a:cs typeface="Palatino Linotype"/>
            </a:endParaRPr>
          </a:p>
          <a:p>
            <a:pPr marL="12700" marR="260350">
              <a:lnSpc>
                <a:spcPct val="100000"/>
              </a:lnSpc>
            </a:pPr>
            <a:r>
              <a:rPr dirty="0" sz="1050" spc="-50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Conditional</a:t>
            </a:r>
            <a:r>
              <a:rPr dirty="0" sz="1050" spc="2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3" action="ppaction://hlinksldjump"/>
              </a:rPr>
              <a:t>Expressions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List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4" action="ppaction://hlinksldjump"/>
              </a:rPr>
              <a:t>Comprehensions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any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and</a:t>
            </a:r>
            <a:r>
              <a:rPr dirty="0" sz="105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all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Named</a:t>
            </a:r>
            <a:r>
              <a:rPr dirty="0" sz="1050" spc="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5" action="ppaction://hlinksldjump"/>
              </a:rPr>
              <a:t>Tuples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Packing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Keyword</a:t>
            </a:r>
            <a:r>
              <a:rPr dirty="0" sz="1050" spc="-2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Palatino Linotype"/>
                <a:cs typeface="Palatino Linotype"/>
                <a:hlinkClick r:id="rId6" action="ppaction://hlinksldjump"/>
              </a:rPr>
              <a:t>Arguments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Palatino Linotype"/>
                <a:cs typeface="Palatino Linotype"/>
                <a:hlinkClick r:id="rId7" action="ppaction://hlinksldjump"/>
              </a:rPr>
              <a:t>Debugging</a:t>
            </a:r>
            <a:endParaRPr sz="1050">
              <a:latin typeface="Palatino Linotype"/>
              <a:cs typeface="Palatino Linotype"/>
            </a:endParaRPr>
          </a:p>
          <a:p>
            <a:pPr marL="12700" marR="1082675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  <a:hlinkClick r:id="rId8" action="ppaction://hlinksldjump"/>
              </a:rPr>
              <a:t>Glossary</a:t>
            </a:r>
            <a:r>
              <a:rPr dirty="0" sz="1050" spc="-40">
                <a:solidFill>
                  <a:srgbClr val="231F2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Palatino Linotype"/>
                <a:cs typeface="Palatino Linotype"/>
                <a:hlinkClick r:id="rId9" action="ppaction://hlinksldjump"/>
              </a:rPr>
              <a:t>Exercises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5281714" y="650030"/>
            <a:ext cx="217804" cy="1465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274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275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277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279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279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281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283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285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5">
                <a:solidFill>
                  <a:srgbClr val="231F20"/>
                </a:solidFill>
                <a:latin typeface="Palatino Linotype"/>
                <a:cs typeface="Palatino Linotype"/>
              </a:rPr>
              <a:t>286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51142" y="2227579"/>
            <a:ext cx="4648200" cy="52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 b="1">
                <a:latin typeface="Trebuchet MS"/>
                <a:cs typeface="Trebuchet MS"/>
              </a:rPr>
              <a:t>19.</a:t>
            </a:r>
            <a:r>
              <a:rPr dirty="0" sz="1200" spc="-204" b="1">
                <a:latin typeface="Trebuchet MS"/>
                <a:cs typeface="Trebuchet MS"/>
              </a:rPr>
              <a:t> </a:t>
            </a:r>
            <a:r>
              <a:rPr dirty="0" sz="1200" spc="-125" b="1">
                <a:latin typeface="Trebuchet MS"/>
                <a:cs typeface="Trebuchet MS"/>
              </a:rPr>
              <a:t> </a:t>
            </a:r>
            <a:r>
              <a:rPr dirty="0" sz="1200" spc="-16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Final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Thoughts.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.</a:t>
            </a:r>
            <a:r>
              <a:rPr dirty="0" sz="1200" spc="140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0" action="ppaction://hlinksldjump"/>
              </a:rPr>
              <a:t>289</a:t>
            </a:r>
            <a:endParaRPr sz="1200">
              <a:latin typeface="Trebuchet MS"/>
              <a:cs typeface="Trebuchet MS"/>
            </a:endParaRPr>
          </a:p>
          <a:p>
            <a:pPr marL="62865">
              <a:lnSpc>
                <a:spcPct val="100000"/>
              </a:lnSpc>
              <a:spcBef>
                <a:spcPts val="1080"/>
              </a:spcBef>
            </a:pPr>
            <a:r>
              <a:rPr dirty="0" sz="1200" spc="-18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Index.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spc="-17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18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.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  <a:hlinkClick r:id="rId11" action="ppaction://hlinksldjump"/>
              </a:rPr>
              <a:t>293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501160" y="7731125"/>
            <a:ext cx="9982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Table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110" b="1">
                <a:latin typeface="Trebuchet MS"/>
                <a:cs typeface="Trebuchet MS"/>
              </a:rPr>
              <a:t>Contents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80" b="1">
                <a:latin typeface="Trebuchet MS"/>
                <a:cs typeface="Trebuchet MS"/>
              </a:rPr>
              <a:t>ix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9159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685332" y="862514"/>
            <a:ext cx="814069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409"/>
              <a:t>Preface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901637" y="2528112"/>
            <a:ext cx="4598035" cy="464693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65"/>
              </a:spcBef>
            </a:pPr>
            <a:r>
              <a:rPr dirty="0" sz="1900" spc="-350" b="1">
                <a:latin typeface="Trebuchet MS"/>
                <a:cs typeface="Trebuchet MS"/>
              </a:rPr>
              <a:t>Who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175" b="1">
                <a:latin typeface="Trebuchet MS"/>
                <a:cs typeface="Trebuchet MS"/>
              </a:rPr>
              <a:t>Is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This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Book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30" b="1">
                <a:latin typeface="Trebuchet MS"/>
                <a:cs typeface="Trebuchet MS"/>
              </a:rPr>
              <a:t>For?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want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35">
                <a:latin typeface="Palatino Linotype"/>
                <a:cs typeface="Palatino Linotype"/>
              </a:rPr>
              <a:t>right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place.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one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beginners—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in- </a:t>
            </a:r>
            <a:r>
              <a:rPr dirty="0" sz="1050" spc="-80">
                <a:latin typeface="Palatino Linotype"/>
                <a:cs typeface="Palatino Linotype"/>
              </a:rPr>
              <a:t>demand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skills.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learning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probably </a:t>
            </a:r>
            <a:r>
              <a:rPr dirty="0" sz="1050" spc="-40">
                <a:latin typeface="Palatino Linotype"/>
                <a:cs typeface="Palatino Linotype"/>
              </a:rPr>
              <a:t>easier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ChatGPT,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alone. </a:t>
            </a:r>
            <a:r>
              <a:rPr dirty="0" sz="1050" spc="-40">
                <a:latin typeface="Palatino Linotype"/>
                <a:cs typeface="Palatino Linotype"/>
              </a:rPr>
              <a:t>Throughout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book, </a:t>
            </a:r>
            <a:r>
              <a:rPr dirty="0" sz="1050">
                <a:latin typeface="Palatino Linotype"/>
                <a:cs typeface="Palatino Linotype"/>
              </a:rPr>
              <a:t>I’ll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suggest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use </a:t>
            </a:r>
            <a:r>
              <a:rPr dirty="0" sz="1050" spc="-20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tools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accelerate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your </a:t>
            </a:r>
            <a:r>
              <a:rPr dirty="0" sz="1050" spc="-10">
                <a:latin typeface="Palatino Linotype"/>
                <a:cs typeface="Palatino Linotype"/>
              </a:rPr>
              <a:t>learning.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primarily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people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never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and </a:t>
            </a:r>
            <a:r>
              <a:rPr dirty="0" sz="1050" spc="-45">
                <a:latin typeface="Palatino Linotype"/>
                <a:cs typeface="Palatino Linotype"/>
              </a:rPr>
              <a:t>people </a:t>
            </a:r>
            <a:r>
              <a:rPr dirty="0" sz="1050" spc="-100">
                <a:latin typeface="Palatino Linotype"/>
                <a:cs typeface="Palatino Linotype"/>
              </a:rPr>
              <a:t>who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experience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language.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substantial </a:t>
            </a:r>
            <a:r>
              <a:rPr dirty="0" sz="1050" spc="-55">
                <a:latin typeface="Palatino Linotype"/>
                <a:cs typeface="Palatino Linotype"/>
              </a:rPr>
              <a:t>experience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slow.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challenges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two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languages: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itself;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vocabulary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talk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learn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have </a:t>
            </a:r>
            <a:r>
              <a:rPr dirty="0" sz="1050" spc="-50">
                <a:latin typeface="Palatino Linotype"/>
                <a:cs typeface="Palatino Linotype"/>
              </a:rPr>
              <a:t>problems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need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40">
                <a:latin typeface="Palatino Linotype"/>
                <a:cs typeface="Palatino Linotype"/>
              </a:rPr>
              <a:t>interpret</a:t>
            </a:r>
            <a:r>
              <a:rPr dirty="0" sz="1050">
                <a:latin typeface="Palatino Linotype"/>
                <a:cs typeface="Palatino Linotype"/>
              </a:rPr>
              <a:t> 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message,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documentation,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talk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3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person,</a:t>
            </a:r>
            <a:r>
              <a:rPr dirty="0" sz="1050">
                <a:latin typeface="Palatino Linotype"/>
                <a:cs typeface="Palatino Linotype"/>
              </a:rPr>
              <a:t> 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assistants.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learned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language,</a:t>
            </a:r>
            <a:r>
              <a:rPr dirty="0" sz="1050">
                <a:latin typeface="Palatino Linotype"/>
                <a:cs typeface="Palatino Linotype"/>
              </a:rPr>
              <a:t> 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hope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helpful.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Goals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60" b="1">
                <a:latin typeface="Trebuchet MS"/>
                <a:cs typeface="Trebuchet MS"/>
              </a:rPr>
              <a:t>of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the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25" b="1">
                <a:latin typeface="Trebuchet MS"/>
                <a:cs typeface="Trebuchet MS"/>
              </a:rPr>
              <a:t>Book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40">
                <a:latin typeface="Palatino Linotype"/>
                <a:cs typeface="Palatino Linotype"/>
              </a:rPr>
              <a:t>riting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careful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vocabula</a:t>
            </a:r>
            <a:r>
              <a:rPr dirty="0" sz="1050" spc="-1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term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ppears.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glossa</a:t>
            </a:r>
            <a:r>
              <a:rPr dirty="0" sz="1050" spc="-2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reviews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terms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troduced.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tried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concise.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mental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effort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book,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 </a:t>
            </a:r>
            <a:r>
              <a:rPr dirty="0" sz="1050" spc="-60">
                <a:latin typeface="Palatino Linotype"/>
                <a:cs typeface="Palatino Linotype"/>
              </a:rPr>
              <a:t>capacity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programming.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07991" y="7731125"/>
            <a:ext cx="914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5" b="1">
                <a:latin typeface="Trebuchet MS"/>
                <a:cs typeface="Trebuchet MS"/>
              </a:rPr>
              <a:t>xi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0" y="650030"/>
            <a:ext cx="4598035" cy="6231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</a:t>
            </a:r>
            <a:r>
              <a:rPr dirty="0" sz="1050" spc="-140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book—you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practice.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45">
                <a:latin typeface="Palatino Linotype"/>
                <a:cs typeface="Palatino Linotype"/>
              </a:rPr>
              <a:t>reason,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prac‐ </a:t>
            </a:r>
            <a:r>
              <a:rPr dirty="0" sz="1050" spc="-35">
                <a:latin typeface="Palatino Linotype"/>
                <a:cs typeface="Palatino Linotype"/>
              </a:rPr>
              <a:t>tice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carefully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consistently,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progress.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>
                <a:latin typeface="Palatino Linotype"/>
                <a:cs typeface="Palatino Linotype"/>
              </a:rPr>
              <a:t>I’ll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warn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now—</a:t>
            </a:r>
            <a:r>
              <a:rPr dirty="0" sz="1050" spc="-35">
                <a:latin typeface="Palatino Linotype"/>
                <a:cs typeface="Palatino Linotype"/>
              </a:rPr>
              <a:t>learning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easy,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even</a:t>
            </a:r>
            <a:r>
              <a:rPr dirty="0" sz="1050">
                <a:latin typeface="Palatino Linotype"/>
                <a:cs typeface="Palatino Linotype"/>
              </a:rPr>
              <a:t> 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experienced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pro‐ </a:t>
            </a:r>
            <a:r>
              <a:rPr dirty="0" sz="1050" spc="-50">
                <a:latin typeface="Palatino Linotype"/>
                <a:cs typeface="Palatino Linotype"/>
              </a:rPr>
              <a:t>grammers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 </a:t>
            </a:r>
            <a:r>
              <a:rPr dirty="0" sz="1050" spc="-40">
                <a:latin typeface="Palatino Linotype"/>
                <a:cs typeface="Palatino Linotype"/>
              </a:rPr>
              <a:t>frustrating.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go,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strategies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help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write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incorrect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45" b="1">
                <a:latin typeface="Trebuchet MS"/>
                <a:cs typeface="Trebuchet MS"/>
              </a:rPr>
              <a:t>Navigating </a:t>
            </a:r>
            <a:r>
              <a:rPr dirty="0" sz="1900" spc="-300" b="1">
                <a:latin typeface="Trebuchet MS"/>
                <a:cs typeface="Trebuchet MS"/>
              </a:rPr>
              <a:t>the</a:t>
            </a:r>
            <a:r>
              <a:rPr dirty="0" sz="1900" spc="-245" b="1">
                <a:latin typeface="Trebuchet MS"/>
                <a:cs typeface="Trebuchet MS"/>
              </a:rPr>
              <a:t> </a:t>
            </a:r>
            <a:r>
              <a:rPr dirty="0" sz="1900" spc="-325" b="1">
                <a:latin typeface="Trebuchet MS"/>
                <a:cs typeface="Trebuchet MS"/>
              </a:rPr>
              <a:t>Book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Each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chapter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book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builds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previous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ones,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0">
                <a:latin typeface="Palatino Linotype"/>
                <a:cs typeface="Palatino Linotype"/>
              </a:rPr>
              <a:t>order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first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six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chapters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introduce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basic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elements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arithmetic,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conditionals,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30">
                <a:latin typeface="Palatino Linotype"/>
                <a:cs typeface="Palatino Linotype"/>
              </a:rPr>
              <a:t>loops.</a:t>
            </a:r>
            <a:r>
              <a:rPr dirty="0" sz="1050" spc="-25">
                <a:latin typeface="Palatino Linotype"/>
                <a:cs typeface="Palatino Linotype"/>
              </a:rPr>
              <a:t> 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introduce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important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concept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functions,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powerful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them,</a:t>
            </a:r>
            <a:r>
              <a:rPr dirty="0" sz="1050" spc="-10">
                <a:latin typeface="Palatino Linotype"/>
                <a:cs typeface="Palatino Linotype"/>
              </a:rPr>
              <a:t> recursion.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Chapters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7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8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introduce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strings—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senten‐ </a:t>
            </a:r>
            <a:r>
              <a:rPr dirty="0" sz="1050" spc="-70">
                <a:latin typeface="Palatino Linotype"/>
                <a:cs typeface="Palatino Linotype"/>
              </a:rPr>
              <a:t>ces—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algorithms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Chapters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9</a:t>
            </a:r>
            <a:r>
              <a:rPr dirty="0" sz="1050" spc="3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through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12</a:t>
            </a:r>
            <a:r>
              <a:rPr dirty="0" sz="1050" spc="3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introduce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Python’s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core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data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structures—</a:t>
            </a:r>
            <a:r>
              <a:rPr dirty="0" sz="1050">
                <a:latin typeface="Palatino Linotype"/>
                <a:cs typeface="Palatino Linotype"/>
              </a:rPr>
              <a:t>lists,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dictionaries,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tuples—</a:t>
            </a:r>
            <a:r>
              <a:rPr dirty="0" sz="1050" spc="-1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powerful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tools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writing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efficient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programs.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Chapter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12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algorithms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analyzing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generating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new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text.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Algorithms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large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language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models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(LLMs),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chapter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give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idea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tools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ChatGPT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Chapter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13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long-</a:t>
            </a:r>
            <a:r>
              <a:rPr dirty="0" sz="1050" spc="-25">
                <a:latin typeface="Palatino Linotype"/>
                <a:cs typeface="Palatino Linotype"/>
              </a:rPr>
              <a:t>term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storage—</a:t>
            </a:r>
            <a:r>
              <a:rPr dirty="0" sz="1050" spc="-25">
                <a:latin typeface="Palatino Linotype"/>
                <a:cs typeface="Palatino Linotype"/>
              </a:rPr>
              <a:t>files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databases.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searches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filesystem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finds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duplicate </a:t>
            </a:r>
            <a:r>
              <a:rPr dirty="0" sz="1050" spc="-10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Chapters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14</a:t>
            </a:r>
            <a:r>
              <a:rPr dirty="0" sz="1050" spc="1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through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17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introduce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30">
                <a:latin typeface="Palatino Linotype"/>
                <a:cs typeface="Palatino Linotype"/>
              </a:rPr>
              <a:t>oriented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(OOP),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95">
                <a:latin typeface="Palatino Linotype"/>
                <a:cs typeface="Palatino Linotype"/>
              </a:rPr>
              <a:t>way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organize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libraries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written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20">
                <a:latin typeface="Palatino Linotype"/>
                <a:cs typeface="Palatino Linotype"/>
              </a:rPr>
              <a:t>oriented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style,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chapters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help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understand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their </a:t>
            </a:r>
            <a:r>
              <a:rPr dirty="0" sz="1050" spc="-75">
                <a:latin typeface="Palatino Linotype"/>
                <a:cs typeface="Palatino Linotype"/>
              </a:rPr>
              <a:t>design—and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own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goal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cover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entire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Rather,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focus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subset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greatest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capability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fewest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concepts. </a:t>
            </a:r>
            <a:r>
              <a:rPr dirty="0" sz="1050" spc="-55">
                <a:latin typeface="Palatino Linotype"/>
                <a:cs typeface="Palatino Linotype"/>
              </a:rPr>
              <a:t>Nevertheless,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features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solve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common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problems </a:t>
            </a:r>
            <a:r>
              <a:rPr dirty="0" sz="1050" spc="-55">
                <a:latin typeface="Palatino Linotype"/>
                <a:cs typeface="Palatino Linotype"/>
              </a:rPr>
              <a:t>efficiently.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 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18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presents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features.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Finally,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 19</a:t>
            </a:r>
            <a:r>
              <a:rPr dirty="0" sz="1050" spc="1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presents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my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parting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thoughts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suggestions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continuing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your </a:t>
            </a:r>
            <a:r>
              <a:rPr dirty="0" sz="1050" spc="-65">
                <a:latin typeface="Palatino Linotype"/>
                <a:cs typeface="Palatino Linotype"/>
              </a:rPr>
              <a:t>programming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journey.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686" y="7731125"/>
            <a:ext cx="648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xii</a:t>
            </a:r>
            <a:r>
              <a:rPr dirty="0" sz="900" spc="46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7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Preface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259143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05"/>
              <a:t>What’s</a:t>
            </a:r>
            <a:r>
              <a:rPr dirty="0" sz="1900" spc="-270"/>
              <a:t> </a:t>
            </a:r>
            <a:r>
              <a:rPr dirty="0" sz="1900" spc="-360"/>
              <a:t>New</a:t>
            </a:r>
            <a:r>
              <a:rPr dirty="0" sz="1900" spc="-270"/>
              <a:t> </a:t>
            </a:r>
            <a:r>
              <a:rPr dirty="0" sz="1900" spc="-250"/>
              <a:t>in</a:t>
            </a:r>
            <a:r>
              <a:rPr dirty="0" sz="1900" spc="-270"/>
              <a:t> </a:t>
            </a:r>
            <a:r>
              <a:rPr dirty="0" sz="1900" spc="-300"/>
              <a:t>the</a:t>
            </a:r>
            <a:r>
              <a:rPr dirty="0" sz="1900" spc="-270"/>
              <a:t> </a:t>
            </a:r>
            <a:r>
              <a:rPr dirty="0" sz="1900" spc="-315"/>
              <a:t>Third</a:t>
            </a:r>
            <a:r>
              <a:rPr dirty="0" sz="1900" spc="-270"/>
              <a:t> </a:t>
            </a:r>
            <a:r>
              <a:rPr dirty="0" sz="1900" spc="-280"/>
              <a:t>Edition?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34" y="964024"/>
            <a:ext cx="4598035" cy="5610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biggest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changes</a:t>
            </a:r>
            <a:r>
              <a:rPr dirty="0" sz="1050">
                <a:latin typeface="Palatino Linotype"/>
                <a:cs typeface="Palatino Linotype"/>
              </a:rPr>
              <a:t> in this </a:t>
            </a:r>
            <a:r>
              <a:rPr dirty="0" sz="1050" spc="-25">
                <a:latin typeface="Palatino Linotype"/>
                <a:cs typeface="Palatino Linotype"/>
              </a:rPr>
              <a:t>edition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driven</a:t>
            </a:r>
            <a:r>
              <a:rPr dirty="0" sz="1050">
                <a:latin typeface="Palatino Linotype"/>
                <a:cs typeface="Palatino Linotype"/>
              </a:rPr>
              <a:t> by </a:t>
            </a:r>
            <a:r>
              <a:rPr dirty="0" sz="1050" spc="-2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technologies—</a:t>
            </a:r>
            <a:r>
              <a:rPr dirty="0" sz="1050" spc="-50">
                <a:latin typeface="Palatino Linotype"/>
                <a:cs typeface="Palatino Linotype"/>
              </a:rPr>
              <a:t>Jupyter notebooks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Jupyter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notebook,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contains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ordinary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easier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0">
                <a:latin typeface="Palatino Linotype"/>
                <a:cs typeface="Palatino Linotype"/>
              </a:rPr>
              <a:t>keep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consistent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text.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means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code,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 </a:t>
            </a:r>
            <a:r>
              <a:rPr dirty="0" sz="1050" spc="-30">
                <a:latin typeface="Palatino Linotype"/>
                <a:cs typeface="Palatino Linotype"/>
              </a:rPr>
              <a:t>and </a:t>
            </a:r>
            <a:r>
              <a:rPr dirty="0" sz="1050" spc="-55">
                <a:latin typeface="Palatino Linotype"/>
                <a:cs typeface="Palatino Linotype"/>
              </a:rPr>
              <a:t>work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place.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Instructions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note‐ </a:t>
            </a:r>
            <a:r>
              <a:rPr dirty="0" sz="1050" spc="-50">
                <a:latin typeface="Palatino Linotype"/>
                <a:cs typeface="Palatino Linotype"/>
              </a:rPr>
              <a:t>books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chapter.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big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change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I’ve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advice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35">
                <a:latin typeface="Palatino Linotype"/>
                <a:cs typeface="Palatino Linotype"/>
              </a:rPr>
              <a:t>ChatGPT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accelerate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learning.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edition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book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published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2015,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predecessors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tools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useful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people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unaware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them.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Now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standard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tool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software </a:t>
            </a:r>
            <a:r>
              <a:rPr dirty="0" sz="1050" spc="-50">
                <a:latin typeface="Palatino Linotype"/>
                <a:cs typeface="Palatino Linotype"/>
              </a:rPr>
              <a:t>engineering,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transformational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45">
                <a:latin typeface="Palatino Linotype"/>
                <a:cs typeface="Palatino Linotype"/>
              </a:rPr>
              <a:t>learning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—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899"/>
              </a:lnSpc>
              <a:spcBef>
                <a:spcPts val="58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changes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motivated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regrets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edi‐ tion.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70">
                <a:latin typeface="Palatino Linotype"/>
                <a:cs typeface="Palatino Linotype"/>
              </a:rPr>
              <a:t>did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emphasize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software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testing.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already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regret‐ </a:t>
            </a:r>
            <a:r>
              <a:rPr dirty="0" sz="1050" spc="-20">
                <a:latin typeface="Palatino Linotype"/>
                <a:cs typeface="Palatino Linotype"/>
              </a:rPr>
              <a:t>table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omission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2015,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advent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automated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testing </a:t>
            </a:r>
            <a:r>
              <a:rPr dirty="0" sz="1050" spc="-65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important.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edition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presents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Python’s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widely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used </a:t>
            </a:r>
            <a:r>
              <a:rPr dirty="0" sz="1050" spc="-30">
                <a:latin typeface="Palatino Linotype"/>
                <a:cs typeface="Palatino Linotype"/>
              </a:rPr>
              <a:t>testing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tools,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doctest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unittest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includes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several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45">
                <a:latin typeface="Palatino Linotype"/>
                <a:cs typeface="Palatino Linotype"/>
              </a:rPr>
              <a:t>practice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My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other</a:t>
            </a:r>
            <a:r>
              <a:rPr dirty="0" sz="1050" spc="-40">
                <a:latin typeface="Palatino Linotype"/>
                <a:cs typeface="Palatino Linotype"/>
              </a:rPr>
              <a:t> regret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edition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uneven—</a:t>
            </a:r>
            <a:r>
              <a:rPr dirty="0" sz="1050" spc="-5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were </a:t>
            </a:r>
            <a:r>
              <a:rPr dirty="0" sz="1050" spc="-30">
                <a:latin typeface="Palatino Linotype"/>
                <a:cs typeface="Palatino Linotype"/>
              </a:rPr>
              <a:t>more </a:t>
            </a:r>
            <a:r>
              <a:rPr dirty="0" sz="1050" spc="-40">
                <a:latin typeface="Palatino Linotype"/>
                <a:cs typeface="Palatino Linotype"/>
              </a:rPr>
              <a:t>interesting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were</a:t>
            </a:r>
            <a:r>
              <a:rPr dirty="0" sz="1050">
                <a:latin typeface="Palatino Linotype"/>
                <a:cs typeface="Palatino Linotype"/>
              </a:rPr>
              <a:t> too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hard.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Moving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Jupyter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notebooks </a:t>
            </a:r>
            <a:r>
              <a:rPr dirty="0" sz="1050" spc="-65">
                <a:latin typeface="Palatino Linotype"/>
                <a:cs typeface="Palatino Linotype"/>
              </a:rPr>
              <a:t>helped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develop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engaging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effective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exercises.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revision,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sequence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topics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rearranged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few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compressed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short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Also,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expanded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cover‐ </a:t>
            </a:r>
            <a:r>
              <a:rPr dirty="0" sz="1050" spc="-85">
                <a:latin typeface="Palatino Linotype"/>
                <a:cs typeface="Palatino Linotype"/>
              </a:rPr>
              <a:t>age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regular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turtle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phics.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editions,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turtle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mod‐ </a:t>
            </a:r>
            <a:r>
              <a:rPr dirty="0" sz="1050" spc="-50">
                <a:latin typeface="Palatino Linotype"/>
                <a:cs typeface="Palatino Linotype"/>
              </a:rPr>
              <a:t>ule,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unfortun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tely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J</a:t>
            </a:r>
            <a:r>
              <a:rPr dirty="0" sz="1050" spc="-65">
                <a:latin typeface="Palatino Linotype"/>
                <a:cs typeface="Palatino Linotype"/>
              </a:rPr>
              <a:t>upyter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notebooks.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turtle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Finall</a:t>
            </a:r>
            <a:r>
              <a:rPr dirty="0" sz="1050" spc="-14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rewrote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substa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fraction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clari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65">
                <a:latin typeface="Palatino Linotype"/>
                <a:cs typeface="Palatino Linotype"/>
              </a:rPr>
              <a:t>ying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places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needed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cutting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places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very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proud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edition—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65">
                <a:latin typeface="Palatino Linotype"/>
                <a:cs typeface="Palatino Linotype"/>
              </a:rPr>
              <a:t>hope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27251" y="7731125"/>
            <a:ext cx="6724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0" b="1">
                <a:latin typeface="Trebuchet MS"/>
                <a:cs typeface="Trebuchet MS"/>
              </a:rPr>
              <a:t>Preface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xiii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24714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65"/>
              <a:t>Getting</a:t>
            </a:r>
            <a:r>
              <a:rPr dirty="0" sz="1900" spc="-245"/>
              <a:t> </a:t>
            </a:r>
            <a:r>
              <a:rPr dirty="0" sz="1900" spc="-280"/>
              <a:t>Started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35" y="964024"/>
            <a:ext cx="4598035" cy="6190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most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including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there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tools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tools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integrated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development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envi‐ </a:t>
            </a:r>
            <a:r>
              <a:rPr dirty="0" sz="1050" spc="-50">
                <a:latin typeface="Palatino Linotype"/>
                <a:cs typeface="Palatino Linotype"/>
              </a:rPr>
              <a:t>ronments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(IDEs).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kinds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IDEs: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work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provide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tools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editing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run‐ </a:t>
            </a:r>
            <a:r>
              <a:rPr dirty="0" sz="1050" spc="-60">
                <a:latin typeface="Palatino Linotype"/>
                <a:cs typeface="Palatino Linotype"/>
              </a:rPr>
              <a:t>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Others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primarily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notebooks,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documents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contain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2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beginners,</a:t>
            </a:r>
            <a:r>
              <a:rPr dirty="0" sz="1050">
                <a:latin typeface="Palatino Linotype"/>
                <a:cs typeface="Palatino Linotype"/>
              </a:rPr>
              <a:t> I </a:t>
            </a:r>
            <a:r>
              <a:rPr dirty="0" sz="1050" spc="-55">
                <a:latin typeface="Palatino Linotype"/>
                <a:cs typeface="Palatino Linotype"/>
              </a:rPr>
              <a:t>recommend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0">
                <a:latin typeface="Palatino Linotype"/>
                <a:cs typeface="Palatino Linotype"/>
              </a:rPr>
              <a:t>notebook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development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environment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35">
                <a:latin typeface="Palatino Linotype"/>
                <a:cs typeface="Palatino Linotype"/>
              </a:rPr>
              <a:t>Jupyter.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notebooks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book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available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online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repository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at </a:t>
            </a:r>
            <a:r>
              <a:rPr dirty="0" sz="1050" spc="-2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https://allendowney.github.io/ThinkPython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download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notebooks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own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5">
                <a:latin typeface="Palatino Linotype"/>
                <a:cs typeface="Palatino Linotype"/>
              </a:rPr>
              <a:t>case,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Jupyter,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frustrating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spend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installing</a:t>
            </a:r>
            <a:r>
              <a:rPr dirty="0" sz="1050" spc="-10">
                <a:latin typeface="Palatino Linotype"/>
                <a:cs typeface="Palatino Linotype"/>
              </a:rPr>
              <a:t> software.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alternative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run</a:t>
            </a:r>
            <a:r>
              <a:rPr dirty="0" sz="1050" spc="-25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notebooks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Colab,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Jupyter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environment </a:t>
            </a:r>
            <a:r>
              <a:rPr dirty="0" sz="1050" spc="-35">
                <a:latin typeface="Palatino Linotype"/>
                <a:cs typeface="Palatino Linotype"/>
              </a:rPr>
              <a:t>that </a:t>
            </a:r>
            <a:r>
              <a:rPr dirty="0" sz="1050" spc="-40">
                <a:latin typeface="Palatino Linotype"/>
                <a:cs typeface="Palatino Linotype"/>
              </a:rPr>
              <a:t>runs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85">
                <a:latin typeface="Palatino Linotype"/>
                <a:cs typeface="Palatino Linotype"/>
              </a:rPr>
              <a:t>web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browser,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install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anything.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Colab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10">
                <a:latin typeface="Palatino Linotype"/>
                <a:cs typeface="Palatino Linotype"/>
              </a:rPr>
              <a:t>oper‐ </a:t>
            </a:r>
            <a:r>
              <a:rPr dirty="0" sz="1050" spc="-75">
                <a:latin typeface="Palatino Linotype"/>
                <a:cs typeface="Palatino Linotype"/>
              </a:rPr>
              <a:t>ated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Google,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10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getting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strongly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recommend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Colab.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Resources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for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Teachers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teaching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book,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resources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useful.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notebooks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solutions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additional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resources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listed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here,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https://allendowney.github.io/ThinkPython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Quizzes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75">
                <a:latin typeface="Palatino Linotype"/>
                <a:cs typeface="Palatino Linotype"/>
              </a:rPr>
              <a:t>summative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quiz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available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O’Reilly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Learning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Platform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version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of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this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book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4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30" i="1">
                <a:latin typeface="Palatino Linotype"/>
                <a:cs typeface="Palatino Linotype"/>
              </a:rPr>
              <a:t>Teaching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Learning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with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Jupyter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online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suggestions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using </a:t>
            </a:r>
            <a:r>
              <a:rPr dirty="0" sz="1050">
                <a:latin typeface="Palatino Linotype"/>
                <a:cs typeface="Palatino Linotype"/>
              </a:rPr>
              <a:t>Jupyter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effectively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classroom.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read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book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https://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3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jupyter4edu.github.io/jupyter-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edu-</a:t>
            </a:r>
            <a:r>
              <a:rPr dirty="0" sz="1050" spc="-2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book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notebooks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coding,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instructor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writes </a:t>
            </a:r>
            <a:r>
              <a:rPr dirty="0" sz="1050" spc="-50">
                <a:latin typeface="Palatino Linotype"/>
                <a:cs typeface="Palatino Linotype"/>
              </a:rPr>
              <a:t>code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students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own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notebooks.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cod‐ </a:t>
            </a:r>
            <a:r>
              <a:rPr dirty="0" sz="1050" spc="-70">
                <a:latin typeface="Palatino Linotype"/>
                <a:cs typeface="Palatino Linotype"/>
              </a:rPr>
              <a:t>ing—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great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advice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teaching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programming—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recommend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instructor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training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Carpentries,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 i="1">
                <a:solidFill>
                  <a:srgbClr val="990000"/>
                </a:solidFill>
                <a:latin typeface="Palatino Linotype"/>
                <a:cs typeface="Palatino Linotype"/>
                <a:hlinkClick r:id="rId5"/>
              </a:rPr>
              <a:t>https://carpentries.github.io/</a:t>
            </a:r>
            <a:r>
              <a:rPr dirty="0" sz="1050" spc="-20" i="1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 i="1">
                <a:solidFill>
                  <a:srgbClr val="990000"/>
                </a:solidFill>
                <a:latin typeface="Palatino Linotype"/>
                <a:cs typeface="Palatino Linotype"/>
                <a:hlinkClick r:id="rId5"/>
              </a:rPr>
              <a:t>instructor-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5"/>
              </a:rPr>
              <a:t>training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63" y="7731125"/>
            <a:ext cx="6680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35" b="1">
                <a:latin typeface="Trebuchet MS"/>
                <a:cs typeface="Trebuchet MS"/>
              </a:rPr>
              <a:t>xiv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Preface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241300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00"/>
              <a:t>Conventions</a:t>
            </a:r>
            <a:r>
              <a:rPr dirty="0" sz="1900" spc="-265"/>
              <a:t> </a:t>
            </a:r>
            <a:r>
              <a:rPr dirty="0" sz="1900" spc="-325"/>
              <a:t>Used</a:t>
            </a:r>
            <a:r>
              <a:rPr dirty="0" sz="1900" spc="-260"/>
              <a:t> </a:t>
            </a:r>
            <a:r>
              <a:rPr dirty="0" sz="1900" spc="-250"/>
              <a:t>in</a:t>
            </a:r>
            <a:r>
              <a:rPr dirty="0" sz="1900" spc="-265"/>
              <a:t> </a:t>
            </a:r>
            <a:r>
              <a:rPr dirty="0" sz="1900" spc="-295"/>
              <a:t>This</a:t>
            </a:r>
            <a:r>
              <a:rPr dirty="0" sz="1900" spc="-260"/>
              <a:t> </a:t>
            </a:r>
            <a:r>
              <a:rPr dirty="0" sz="1900" spc="-325"/>
              <a:t>Book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49" y="875124"/>
            <a:ext cx="4598035" cy="5648960"/>
          </a:xfrm>
          <a:prstGeom prst="rect">
            <a:avLst/>
          </a:prstGeom>
        </p:spPr>
        <p:txBody>
          <a:bodyPr wrap="square" lIns="0" tIns="1016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typographical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conventions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Italic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terms,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URLs,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email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addresses,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filenames,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extensions.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20" b="1" i="1">
                <a:latin typeface="Palatino Linotype"/>
                <a:cs typeface="Palatino Linotype"/>
              </a:rPr>
              <a:t>Bold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635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Indicates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introduction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technical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term,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corre‐ </a:t>
            </a:r>
            <a:r>
              <a:rPr dirty="0" sz="1050" spc="-65">
                <a:latin typeface="Palatino Linotype"/>
                <a:cs typeface="Palatino Linotype"/>
              </a:rPr>
              <a:t>sponding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glossary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entry.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>
                <a:latin typeface="SimSun"/>
                <a:cs typeface="SimSun"/>
              </a:rPr>
              <a:t>Constant</a:t>
            </a:r>
            <a:r>
              <a:rPr dirty="0" sz="1000" spc="-45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width</a:t>
            </a:r>
            <a:endParaRPr sz="1000">
              <a:latin typeface="SimSun"/>
              <a:cs typeface="SimSun"/>
            </a:endParaRPr>
          </a:p>
          <a:p>
            <a:pPr algn="just" marL="241300" marR="5080">
              <a:lnSpc>
                <a:spcPct val="100000"/>
              </a:lnSpc>
              <a:spcBef>
                <a:spcPts val="10"/>
              </a:spcBef>
            </a:pP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listings,</a:t>
            </a:r>
            <a:r>
              <a:rPr dirty="0" sz="1050" spc="-10">
                <a:latin typeface="Palatino Linotype"/>
                <a:cs typeface="Palatino Linotype"/>
              </a:rPr>
              <a:t> as </a:t>
            </a:r>
            <a:r>
              <a:rPr dirty="0" sz="1050" spc="-60">
                <a:latin typeface="Palatino Linotype"/>
                <a:cs typeface="Palatino Linotype"/>
              </a:rPr>
              <a:t>well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paragraphs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refer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ele‐ 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such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names,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databases,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types,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environment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keywords.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0" b="1">
                <a:latin typeface="Trebuchet MS"/>
                <a:cs typeface="Trebuchet MS"/>
              </a:rPr>
              <a:t>Using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55" b="1">
                <a:latin typeface="Trebuchet MS"/>
                <a:cs typeface="Trebuchet MS"/>
              </a:rPr>
              <a:t>Code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25" b="1">
                <a:latin typeface="Trebuchet MS"/>
                <a:cs typeface="Trebuchet MS"/>
              </a:rPr>
              <a:t>Examples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5">
                <a:latin typeface="Palatino Linotype"/>
                <a:cs typeface="Palatino Linotype"/>
              </a:rPr>
              <a:t>Supplemental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material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(code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examples,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exercises,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etc.)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available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download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at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https://allendowney.github.io/ThinkPython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35">
                <a:latin typeface="Palatino Linotype"/>
                <a:cs typeface="Palatino Linotype"/>
              </a:rPr>
              <a:t>technical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problem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please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send </a:t>
            </a:r>
            <a:r>
              <a:rPr dirty="0" sz="1050" spc="-60">
                <a:latin typeface="Palatino Linotype"/>
                <a:cs typeface="Palatino Linotype"/>
              </a:rPr>
              <a:t>email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support@oreilly.com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job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done.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offered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docume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 </a:t>
            </a:r>
            <a:r>
              <a:rPr dirty="0" sz="1050" spc="-60">
                <a:latin typeface="Palatino Linotype"/>
                <a:cs typeface="Palatino Linotype"/>
              </a:rPr>
              <a:t>need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tact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permission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unless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120">
                <a:latin typeface="Palatino Linotype"/>
                <a:cs typeface="Palatino Linotype"/>
              </a:rPr>
              <a:t>’</a:t>
            </a:r>
            <a:r>
              <a:rPr dirty="0" sz="1050" spc="-45">
                <a:latin typeface="Palatino Linotype"/>
                <a:cs typeface="Palatino Linotype"/>
              </a:rPr>
              <a:t>re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reproducing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significa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portion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writing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several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60">
                <a:latin typeface="Palatino Linotype"/>
                <a:cs typeface="Palatino Linotype"/>
              </a:rPr>
              <a:t>unks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permission.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distributing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O</a:t>
            </a:r>
            <a:r>
              <a:rPr dirty="0" sz="1050" spc="-55">
                <a:latin typeface="Palatino Linotype"/>
                <a:cs typeface="Palatino Linotype"/>
              </a:rPr>
              <a:t>’Reilly </a:t>
            </a:r>
            <a:r>
              <a:rPr dirty="0" sz="1050" spc="-50">
                <a:latin typeface="Palatino Linotype"/>
                <a:cs typeface="Palatino Linotype"/>
              </a:rPr>
              <a:t>books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permission.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Answering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question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citing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quoting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permission.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Incorpor</a:t>
            </a:r>
            <a:r>
              <a:rPr dirty="0" sz="1050" spc="-6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significa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amou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produc</a:t>
            </a:r>
            <a:r>
              <a:rPr dirty="0" sz="1050" spc="-6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docume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 </a:t>
            </a:r>
            <a:r>
              <a:rPr dirty="0" sz="1050" spc="-45">
                <a:latin typeface="Palatino Linotype"/>
                <a:cs typeface="Palatino Linotype"/>
              </a:rPr>
              <a:t>permission.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appreciate,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generally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require,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attribution.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attribution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usually includes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title,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author,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publisher,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ISBN.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example: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“</a:t>
            </a:r>
            <a:r>
              <a:rPr dirty="0" sz="1050" spc="-25" i="1">
                <a:latin typeface="Palatino Linotype"/>
                <a:cs typeface="Palatino Linotype"/>
              </a:rPr>
              <a:t>Think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Python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Allen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B.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Downey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(O’Reilly).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Copyright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2024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Allen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Downey,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978-1-098-15543-</a:t>
            </a:r>
            <a:r>
              <a:rPr dirty="0" sz="1050" spc="-25">
                <a:latin typeface="Palatino Linotype"/>
                <a:cs typeface="Palatino Linotype"/>
              </a:rPr>
              <a:t>8.”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feel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falls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outside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fair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permission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given </a:t>
            </a:r>
            <a:r>
              <a:rPr dirty="0" sz="1050" spc="-70">
                <a:latin typeface="Palatino Linotype"/>
                <a:cs typeface="Palatino Linotype"/>
              </a:rPr>
              <a:t>above,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feel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permissions@oreilly.com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54776" y="7731125"/>
            <a:ext cx="6445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0" b="1">
                <a:latin typeface="Trebuchet MS"/>
                <a:cs typeface="Trebuchet MS"/>
              </a:rPr>
              <a:t>Preface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xv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7950" y="1201128"/>
            <a:ext cx="1095898" cy="189191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91516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90"/>
              <a:t>O’Reilly</a:t>
            </a:r>
            <a:r>
              <a:rPr dirty="0" sz="1900" spc="-270"/>
              <a:t> </a:t>
            </a:r>
            <a:r>
              <a:rPr dirty="0" sz="1900" spc="-300"/>
              <a:t>Online</a:t>
            </a:r>
            <a:r>
              <a:rPr dirty="0" sz="1900" spc="-265"/>
              <a:t> </a:t>
            </a:r>
            <a:r>
              <a:rPr dirty="0" sz="1900" spc="-295"/>
              <a:t>Learning</a:t>
            </a:r>
            <a:endParaRPr sz="1900"/>
          </a:p>
        </p:txBody>
      </p:sp>
      <p:sp>
        <p:nvSpPr>
          <p:cNvPr id="4" name="object 4" descr=""/>
          <p:cNvSpPr txBox="1"/>
          <p:nvPr/>
        </p:nvSpPr>
        <p:spPr>
          <a:xfrm>
            <a:off x="901641" y="1068799"/>
            <a:ext cx="4598035" cy="6824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446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40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years,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O’Reilly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Media</a:t>
            </a:r>
            <a:r>
              <a:rPr dirty="0" sz="1050" spc="-15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technol‐ </a:t>
            </a:r>
            <a:r>
              <a:rPr dirty="0" sz="1050">
                <a:latin typeface="Palatino Linotype"/>
                <a:cs typeface="Palatino Linotype"/>
              </a:rPr>
              <a:t>ogy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business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training,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knowledge,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insight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help </a:t>
            </a:r>
            <a:r>
              <a:rPr dirty="0" sz="1050" spc="-55">
                <a:latin typeface="Palatino Linotype"/>
                <a:cs typeface="Palatino Linotype"/>
              </a:rPr>
              <a:t>companies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succeed.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Our</a:t>
            </a:r>
            <a:r>
              <a:rPr dirty="0" sz="1050" spc="-40">
                <a:latin typeface="Palatino Linotype"/>
                <a:cs typeface="Palatino Linotype"/>
              </a:rPr>
              <a:t> unique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network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experts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innovators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their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knowledge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expertise </a:t>
            </a:r>
            <a:r>
              <a:rPr dirty="0" sz="1050" spc="-40">
                <a:latin typeface="Palatino Linotype"/>
                <a:cs typeface="Palatino Linotype"/>
              </a:rPr>
              <a:t>through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books,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articles,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our </a:t>
            </a:r>
            <a:r>
              <a:rPr dirty="0" sz="1050" spc="-25">
                <a:latin typeface="Palatino Linotype"/>
                <a:cs typeface="Palatino Linotype"/>
              </a:rPr>
              <a:t>online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learning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platform.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O’Reilly’s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learning </a:t>
            </a:r>
            <a:r>
              <a:rPr dirty="0" sz="1050" spc="-25">
                <a:latin typeface="Palatino Linotype"/>
                <a:cs typeface="Palatino Linotype"/>
              </a:rPr>
              <a:t>platform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gives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on-</a:t>
            </a:r>
            <a:r>
              <a:rPr dirty="0" sz="1050" spc="-20">
                <a:latin typeface="Palatino Linotype"/>
                <a:cs typeface="Palatino Linotype"/>
              </a:rPr>
              <a:t>demand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access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training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courses,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in-</a:t>
            </a:r>
            <a:r>
              <a:rPr dirty="0" sz="1050">
                <a:latin typeface="Palatino Linotype"/>
                <a:cs typeface="Palatino Linotype"/>
              </a:rPr>
              <a:t>depth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learning </a:t>
            </a:r>
            <a:r>
              <a:rPr dirty="0" sz="1050" spc="-45">
                <a:latin typeface="Palatino Linotype"/>
                <a:cs typeface="Palatino Linotype"/>
              </a:rPr>
              <a:t>paths,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interactive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environments,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5">
                <a:latin typeface="Palatino Linotype"/>
                <a:cs typeface="Palatino Linotype"/>
              </a:rPr>
              <a:t>vast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collection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20">
                <a:latin typeface="Palatino Linotype"/>
                <a:cs typeface="Palatino Linotype"/>
              </a:rPr>
              <a:t>text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video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60">
                <a:latin typeface="Palatino Linotype"/>
                <a:cs typeface="Palatino Linotype"/>
              </a:rPr>
              <a:t>O’Reilly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200+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publishers.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information,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visit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https://oreilly.com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50" b="1">
                <a:latin typeface="Trebuchet MS"/>
                <a:cs typeface="Trebuchet MS"/>
              </a:rPr>
              <a:t>How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60" b="1">
                <a:latin typeface="Trebuchet MS"/>
                <a:cs typeface="Trebuchet MS"/>
              </a:rPr>
              <a:t>to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Contact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Us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5">
                <a:latin typeface="Palatino Linotype"/>
                <a:cs typeface="Palatino Linotype"/>
              </a:rPr>
              <a:t>Please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address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questions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concerning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publisher: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  <a:spcBef>
                <a:spcPts val="1000"/>
              </a:spcBef>
            </a:pPr>
            <a:r>
              <a:rPr dirty="0" sz="1050" spc="-60">
                <a:latin typeface="Palatino Linotype"/>
                <a:cs typeface="Palatino Linotype"/>
              </a:rPr>
              <a:t>O’Reilly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Media,</a:t>
            </a:r>
            <a:r>
              <a:rPr dirty="0" sz="1050" spc="-20">
                <a:latin typeface="Palatino Linotype"/>
                <a:cs typeface="Palatino Linotype"/>
              </a:rPr>
              <a:t> Inc.</a:t>
            </a:r>
            <a:endParaRPr sz="1050">
              <a:latin typeface="Palatino Linotype"/>
              <a:cs typeface="Palatino Linotype"/>
            </a:endParaRPr>
          </a:p>
          <a:p>
            <a:pPr marL="241300" marR="255206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1005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Gravenstein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Highway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North </a:t>
            </a:r>
            <a:r>
              <a:rPr dirty="0" sz="1050" spc="-50">
                <a:latin typeface="Palatino Linotype"/>
                <a:cs typeface="Palatino Linotype"/>
              </a:rPr>
              <a:t>Sebastopol,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CA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95472</a:t>
            </a:r>
            <a:endParaRPr sz="1050">
              <a:latin typeface="Palatino Linotype"/>
              <a:cs typeface="Palatino Linotype"/>
            </a:endParaRPr>
          </a:p>
          <a:p>
            <a:pPr marL="241300" marR="186182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800-889-</a:t>
            </a:r>
            <a:r>
              <a:rPr dirty="0" sz="1050" spc="-10">
                <a:latin typeface="Palatino Linotype"/>
                <a:cs typeface="Palatino Linotype"/>
              </a:rPr>
              <a:t>8969 (in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United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Canada) </a:t>
            </a:r>
            <a:r>
              <a:rPr dirty="0" sz="1050" spc="-20">
                <a:latin typeface="Palatino Linotype"/>
                <a:cs typeface="Palatino Linotype"/>
              </a:rPr>
              <a:t>707-827-</a:t>
            </a:r>
            <a:r>
              <a:rPr dirty="0" sz="1050" spc="-10">
                <a:latin typeface="Palatino Linotype"/>
                <a:cs typeface="Palatino Linotype"/>
              </a:rPr>
              <a:t>7019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(international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local)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707-829-</a:t>
            </a:r>
            <a:r>
              <a:rPr dirty="0" sz="1050" spc="-10">
                <a:latin typeface="Palatino Linotype"/>
                <a:cs typeface="Palatino Linotype"/>
              </a:rPr>
              <a:t>0104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(fax)</a:t>
            </a:r>
            <a:endParaRPr sz="1050">
              <a:latin typeface="Palatino Linotype"/>
              <a:cs typeface="Palatino Linotype"/>
            </a:endParaRPr>
          </a:p>
          <a:p>
            <a:pPr marL="241300" marR="2090420">
              <a:lnSpc>
                <a:spcPct val="100000"/>
              </a:lnSpc>
            </a:pP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4"/>
              </a:rPr>
              <a:t>support@oreilly.com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5"/>
              </a:rPr>
              <a:t>https://www.oreilly.com/about/contact.html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web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page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errata,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additional </a:t>
            </a:r>
            <a:r>
              <a:rPr dirty="0" sz="1050" spc="-45">
                <a:latin typeface="Palatino Linotype"/>
                <a:cs typeface="Palatino Linotype"/>
              </a:rPr>
              <a:t>information.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page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6"/>
              </a:rPr>
              <a:t>https://oreil.ly/think-python-3e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339090">
              <a:lnSpc>
                <a:spcPct val="147600"/>
              </a:lnSpc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courses,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visit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3"/>
              </a:rPr>
              <a:t>https://oreilly.com</a:t>
            </a:r>
            <a:r>
              <a:rPr dirty="0" sz="1050" spc="-25">
                <a:latin typeface="Palatino Linotype"/>
                <a:cs typeface="Palatino Linotype"/>
              </a:rPr>
              <a:t>.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LinkedIn: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7"/>
              </a:rPr>
              <a:t>https://linkedin.com/company/oreilly-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7"/>
              </a:rPr>
              <a:t>media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Watch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YouTube: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8"/>
              </a:rPr>
              <a:t>https://youtube.com/oreillymedia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Acknowledgments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80">
                <a:latin typeface="Palatino Linotype"/>
                <a:cs typeface="Palatino Linotype"/>
              </a:rPr>
              <a:t>Many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Jeff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Elkner,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translated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my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Java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got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30">
                <a:latin typeface="Palatino Linotype"/>
                <a:cs typeface="Palatino Linotype"/>
              </a:rPr>
              <a:t>project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introduced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turned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my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favorite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language. </a:t>
            </a:r>
            <a:r>
              <a:rPr dirty="0" sz="1050" spc="-45">
                <a:latin typeface="Palatino Linotype"/>
                <a:cs typeface="Palatino Linotype"/>
              </a:rPr>
              <a:t>Thanks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Chris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Meyers,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contributed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several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 i="1">
                <a:latin typeface="Palatino Linotype"/>
                <a:cs typeface="Palatino Linotype"/>
              </a:rPr>
              <a:t>How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to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Think</a:t>
            </a:r>
            <a:r>
              <a:rPr dirty="0" sz="1050" spc="-10" i="1">
                <a:latin typeface="Palatino Linotype"/>
                <a:cs typeface="Palatino Linotype"/>
              </a:rPr>
              <a:t> Like </a:t>
            </a:r>
            <a:r>
              <a:rPr dirty="0" sz="1050" spc="-50" i="1">
                <a:latin typeface="Palatino Linotype"/>
                <a:cs typeface="Palatino Linotype"/>
              </a:rPr>
              <a:t>a</a:t>
            </a:r>
            <a:r>
              <a:rPr dirty="0" sz="1050" spc="-50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Computer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40" i="1">
                <a:latin typeface="Palatino Linotype"/>
                <a:cs typeface="Palatino Linotype"/>
              </a:rPr>
              <a:t>Scientist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(Green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Tea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Press).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Thanks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Free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Software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Foundation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developing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GNU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Free </a:t>
            </a:r>
            <a:r>
              <a:rPr dirty="0" sz="1050" spc="-40">
                <a:latin typeface="Palatino Linotype"/>
                <a:cs typeface="Palatino Linotype"/>
              </a:rPr>
              <a:t>Documenta‐ </a:t>
            </a:r>
            <a:r>
              <a:rPr dirty="0" sz="1050">
                <a:latin typeface="Palatino Linotype"/>
                <a:cs typeface="Palatino Linotype"/>
              </a:rPr>
              <a:t>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License,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collaboration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Jeff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Chris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possible,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 </a:t>
            </a:r>
            <a:r>
              <a:rPr dirty="0" sz="1050" spc="-55">
                <a:latin typeface="Palatino Linotype"/>
                <a:cs typeface="Palatino Linotype"/>
              </a:rPr>
              <a:t>thanks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Creative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license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now.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-35" b="1">
                <a:latin typeface="Trebuchet MS"/>
                <a:cs typeface="Trebuchet MS"/>
              </a:rPr>
              <a:t>xvi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0" b="1">
                <a:latin typeface="Trebuchet MS"/>
                <a:cs typeface="Trebuchet MS"/>
              </a:rPr>
              <a:t>Preface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3" y="650030"/>
            <a:ext cx="4598035" cy="3378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Thanks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developers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maintainers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language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libraries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 </a:t>
            </a:r>
            <a:r>
              <a:rPr dirty="0" sz="1050" spc="-25">
                <a:latin typeface="Palatino Linotype"/>
                <a:cs typeface="Palatino Linotype"/>
              </a:rPr>
              <a:t>used,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including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turtle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graphics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module;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tools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develop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book, </a:t>
            </a:r>
            <a:r>
              <a:rPr dirty="0" sz="1050" spc="-25">
                <a:latin typeface="Palatino Linotype"/>
                <a:cs typeface="Palatino Linotype"/>
              </a:rPr>
              <a:t>including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Jupyter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JupyterBook;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services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used,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including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ChatGPT, </a:t>
            </a:r>
            <a:r>
              <a:rPr dirty="0" sz="1050" spc="-45">
                <a:latin typeface="Palatino Linotype"/>
                <a:cs typeface="Palatino Linotype"/>
              </a:rPr>
              <a:t>Copilot,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Colab,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GitHub.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Thanks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editors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Lulu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How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to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Think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Like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Computer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Scientist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editors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O’Reilly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Media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Think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 spc="-35">
                <a:latin typeface="Palatino Linotype"/>
                <a:cs typeface="Palatino Linotype"/>
              </a:rPr>
              <a:t>Special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thanks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technical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reviewers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edition,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Melissa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Lewis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0">
                <a:latin typeface="Palatino Linotype"/>
                <a:cs typeface="Palatino Linotype"/>
              </a:rPr>
              <a:t>Luciano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Ramalho,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edition,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Lau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Luciano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Ramalho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(again!).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35">
                <a:latin typeface="Palatino Linotype"/>
                <a:cs typeface="Palatino Linotype"/>
              </a:rPr>
              <a:t>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grateful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55">
                <a:latin typeface="Palatino Linotype"/>
                <a:cs typeface="Palatino Linotype"/>
              </a:rPr>
              <a:t>Luciano</a:t>
            </a:r>
            <a:r>
              <a:rPr dirty="0" sz="1050">
                <a:latin typeface="Palatino Linotype"/>
                <a:cs typeface="Palatino Linotype"/>
              </a:rPr>
              <a:t> for </a:t>
            </a:r>
            <a:r>
              <a:rPr dirty="0" sz="1050" spc="-60">
                <a:latin typeface="Palatino Linotype"/>
                <a:cs typeface="Palatino Linotype"/>
              </a:rPr>
              <a:t>developing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turtle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graphics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>
                <a:latin typeface="Palatino Linotype"/>
                <a:cs typeface="Palatino Linotype"/>
              </a:rPr>
              <a:t> I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25">
                <a:latin typeface="Palatino Linotype"/>
                <a:cs typeface="Palatino Linotype"/>
              </a:rPr>
              <a:t>sev‐ </a:t>
            </a:r>
            <a:r>
              <a:rPr dirty="0" sz="1050" spc="-55">
                <a:latin typeface="Palatino Linotype"/>
                <a:cs typeface="Palatino Linotype"/>
              </a:rPr>
              <a:t>eral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Thanks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students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earlier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contributors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who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corrections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suggestions.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hundred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sharp- </a:t>
            </a:r>
            <a:r>
              <a:rPr dirty="0" sz="1050" spc="-55">
                <a:latin typeface="Palatino Linotype"/>
                <a:cs typeface="Palatino Linotype"/>
              </a:rPr>
              <a:t>eyed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thoughtful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readers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suggestions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over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past </a:t>
            </a:r>
            <a:r>
              <a:rPr dirty="0" sz="1050" spc="-20">
                <a:latin typeface="Palatino Linotype"/>
                <a:cs typeface="Palatino Linotype"/>
              </a:rPr>
              <a:t>few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years.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contributions,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enthusiasm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project,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huge </a:t>
            </a:r>
            <a:r>
              <a:rPr dirty="0" sz="1050" spc="-10">
                <a:latin typeface="Palatino Linotype"/>
                <a:cs typeface="Palatino Linotype"/>
              </a:rPr>
              <a:t>help.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please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email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  <a:hlinkClick r:id="rId2"/>
              </a:rPr>
              <a:t>f</a:t>
            </a:r>
            <a:r>
              <a:rPr dirty="0" sz="1050" i="1">
                <a:latin typeface="Palatino Linotype"/>
                <a:cs typeface="Palatino Linotype"/>
                <a:hlinkClick r:id="rId2"/>
              </a:rPr>
              <a:t>ee</a:t>
            </a:r>
            <a:r>
              <a:rPr dirty="0" sz="1050" spc="-10" i="1">
                <a:latin typeface="Palatino Linotype"/>
                <a:cs typeface="Palatino Linotype"/>
                <a:hlinkClick r:id="rId2"/>
              </a:rPr>
              <a:t>d</a:t>
            </a:r>
            <a:r>
              <a:rPr dirty="0" sz="1050" spc="15" i="1">
                <a:latin typeface="Palatino Linotype"/>
                <a:cs typeface="Palatino Linotype"/>
                <a:hlinkClick r:id="rId2"/>
              </a:rPr>
              <a:t>b</a:t>
            </a:r>
            <a:r>
              <a:rPr dirty="0" sz="1050" spc="35" i="1">
                <a:latin typeface="Palatino Linotype"/>
                <a:cs typeface="Palatino Linotype"/>
                <a:hlinkClick r:id="rId2"/>
              </a:rPr>
              <a:t>a</a:t>
            </a:r>
            <a:r>
              <a:rPr dirty="0" sz="1050" spc="-45" i="1">
                <a:latin typeface="Palatino Linotype"/>
                <a:cs typeface="Palatino Linotype"/>
                <a:hlinkClick r:id="rId2"/>
              </a:rPr>
              <a:t>c</a:t>
            </a:r>
            <a:r>
              <a:rPr dirty="0" sz="1050" spc="20" i="1">
                <a:latin typeface="Palatino Linotype"/>
                <a:cs typeface="Palatino Linotype"/>
                <a:hlinkClick r:id="rId2"/>
              </a:rPr>
              <a:t>k@</a:t>
            </a:r>
            <a:r>
              <a:rPr dirty="0" sz="1050" i="1">
                <a:latin typeface="Palatino Linotype"/>
                <a:cs typeface="Palatino Linotype"/>
                <a:hlinkClick r:id="rId2"/>
              </a:rPr>
              <a:t>t</a:t>
            </a:r>
            <a:r>
              <a:rPr dirty="0" sz="1050" spc="-10" i="1">
                <a:latin typeface="Palatino Linotype"/>
                <a:cs typeface="Palatino Linotype"/>
                <a:hlinkClick r:id="rId2"/>
              </a:rPr>
              <a:t>h</a:t>
            </a:r>
            <a:r>
              <a:rPr dirty="0" sz="1050" spc="-25" i="1">
                <a:latin typeface="Palatino Linotype"/>
                <a:cs typeface="Palatino Linotype"/>
                <a:hlinkClick r:id="rId2"/>
              </a:rPr>
              <a:t>i</a:t>
            </a:r>
            <a:r>
              <a:rPr dirty="0" sz="1050" spc="-40" i="1">
                <a:latin typeface="Palatino Linotype"/>
                <a:cs typeface="Palatino Linotype"/>
                <a:hlinkClick r:id="rId2"/>
              </a:rPr>
              <a:t>n</a:t>
            </a:r>
            <a:r>
              <a:rPr dirty="0" sz="1050" spc="10" i="1">
                <a:latin typeface="Palatino Linotype"/>
                <a:cs typeface="Palatino Linotype"/>
                <a:hlinkClick r:id="rId2"/>
              </a:rPr>
              <a:t>k</a:t>
            </a:r>
            <a:r>
              <a:rPr dirty="0" sz="1050" spc="-30" i="1">
                <a:latin typeface="Palatino Linotype"/>
                <a:cs typeface="Palatino Linotype"/>
                <a:hlinkClick r:id="rId2"/>
              </a:rPr>
              <a:t>p</a:t>
            </a:r>
            <a:r>
              <a:rPr dirty="0" sz="1050" spc="-50" i="1">
                <a:latin typeface="Palatino Linotype"/>
                <a:cs typeface="Palatino Linotype"/>
                <a:hlinkClick r:id="rId2"/>
              </a:rPr>
              <a:t>y</a:t>
            </a:r>
            <a:r>
              <a:rPr dirty="0" sz="1050" spc="-40" i="1">
                <a:latin typeface="Palatino Linotype"/>
                <a:cs typeface="Palatino Linotype"/>
                <a:hlinkClick r:id="rId2"/>
              </a:rPr>
              <a:t>t</a:t>
            </a:r>
            <a:r>
              <a:rPr dirty="0" sz="1050" i="1">
                <a:latin typeface="Palatino Linotype"/>
                <a:cs typeface="Palatino Linotype"/>
                <a:hlinkClick r:id="rId2"/>
              </a:rPr>
              <a:t>h</a:t>
            </a:r>
            <a:r>
              <a:rPr dirty="0" sz="1050" spc="10" i="1">
                <a:latin typeface="Palatino Linotype"/>
                <a:cs typeface="Palatino Linotype"/>
                <a:hlinkClick r:id="rId2"/>
              </a:rPr>
              <a:t>o</a:t>
            </a:r>
            <a:r>
              <a:rPr dirty="0" sz="1050" spc="-25" i="1">
                <a:latin typeface="Palatino Linotype"/>
                <a:cs typeface="Palatino Linotype"/>
                <a:hlinkClick r:id="rId2"/>
              </a:rPr>
              <a:t>n.</a:t>
            </a:r>
            <a:r>
              <a:rPr dirty="0" sz="1050" spc="-35" i="1">
                <a:latin typeface="Palatino Linotype"/>
                <a:cs typeface="Palatino Linotype"/>
                <a:hlinkClick r:id="rId2"/>
              </a:rPr>
              <a:t>c</a:t>
            </a:r>
            <a:r>
              <a:rPr dirty="0" sz="1050" spc="10" i="1">
                <a:latin typeface="Palatino Linotype"/>
                <a:cs typeface="Palatino Linotype"/>
                <a:hlinkClick r:id="rId2"/>
              </a:rPr>
              <a:t>o</a:t>
            </a:r>
            <a:r>
              <a:rPr dirty="0" sz="1050" spc="5" i="1">
                <a:latin typeface="Palatino Linotype"/>
                <a:cs typeface="Palatino Linotype"/>
                <a:hlinkClick r:id="rId2"/>
              </a:rPr>
              <a:t>m</a:t>
            </a:r>
            <a:r>
              <a:rPr dirty="0" sz="1050" spc="-25">
                <a:latin typeface="Palatino Linotype"/>
                <a:cs typeface="Palatino Linotype"/>
                <a:hlinkClick r:id="rId2"/>
              </a:rPr>
              <a:t>.</a:t>
            </a:r>
            <a:r>
              <a:rPr dirty="0" sz="1050" spc="-25"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50">
                <a:latin typeface="Palatino Linotype"/>
                <a:cs typeface="Palatino Linotype"/>
              </a:rPr>
              <a:t>include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tence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easy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search.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</a:t>
            </a:r>
            <a:r>
              <a:rPr dirty="0" sz="1050" spc="-75">
                <a:latin typeface="Palatino Linotype"/>
                <a:cs typeface="Palatino Linotype"/>
              </a:rPr>
              <a:t>age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fine,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75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quite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easy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with. </a:t>
            </a:r>
            <a:r>
              <a:rPr dirty="0" sz="1050" spc="-40">
                <a:latin typeface="Palatino Linotype"/>
                <a:cs typeface="Palatino Linotype"/>
              </a:rPr>
              <a:t>Thanks!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807849" y="7731125"/>
            <a:ext cx="691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0" b="1">
                <a:latin typeface="Trebuchet MS"/>
                <a:cs typeface="Trebuchet MS"/>
              </a:rPr>
              <a:t>Preface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xvii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6512073"/>
            <a:ext cx="4572000" cy="289560"/>
            <a:chOff x="914400" y="6512073"/>
            <a:chExt cx="4572000" cy="28956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651207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65136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914400" y="70889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1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799587" y="1212513"/>
            <a:ext cx="369951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50"/>
              <a:t>Programming </a:t>
            </a:r>
            <a:r>
              <a:rPr dirty="0" spc="-330"/>
              <a:t>as</a:t>
            </a:r>
            <a:r>
              <a:rPr dirty="0" spc="-350"/>
              <a:t> a </a:t>
            </a:r>
            <a:r>
              <a:rPr dirty="0" spc="-425"/>
              <a:t>Way</a:t>
            </a:r>
            <a:r>
              <a:rPr dirty="0" spc="-345"/>
              <a:t> </a:t>
            </a:r>
            <a:r>
              <a:rPr dirty="0" spc="-330"/>
              <a:t>of</a:t>
            </a:r>
            <a:r>
              <a:rPr dirty="0" spc="-350"/>
              <a:t> </a:t>
            </a:r>
            <a:r>
              <a:rPr dirty="0" spc="-365"/>
              <a:t>Thinking</a:t>
            </a:r>
          </a:p>
        </p:txBody>
      </p:sp>
      <p:sp>
        <p:nvSpPr>
          <p:cNvPr id="9" name="object 9" descr=""/>
          <p:cNvSpPr txBox="1"/>
          <p:nvPr/>
        </p:nvSpPr>
        <p:spPr>
          <a:xfrm>
            <a:off x="901611" y="3044843"/>
            <a:ext cx="4598035" cy="39509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think,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help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think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puter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tist.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thinking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combines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best </a:t>
            </a:r>
            <a:r>
              <a:rPr dirty="0" sz="1050" spc="-50">
                <a:latin typeface="Palatino Linotype"/>
                <a:cs typeface="Palatino Linotype"/>
              </a:rPr>
              <a:t>fe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tics,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engineering,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science.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ticians,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com‐ </a:t>
            </a:r>
            <a:r>
              <a:rPr dirty="0" sz="1050" spc="-55">
                <a:latin typeface="Palatino Linotype"/>
                <a:cs typeface="Palatino Linotype"/>
              </a:rPr>
              <a:t>puter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tists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denote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ideas—specifically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 </a:t>
            </a:r>
            <a:r>
              <a:rPr dirty="0" sz="1050" spc="-50">
                <a:latin typeface="Palatino Linotype"/>
                <a:cs typeface="Palatino Linotype"/>
              </a:rPr>
              <a:t>engineers,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design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things,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assembling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pone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evalu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 </a:t>
            </a:r>
            <a:r>
              <a:rPr dirty="0" sz="1050" spc="-45">
                <a:latin typeface="Palatino Linotype"/>
                <a:cs typeface="Palatino Linotype"/>
              </a:rPr>
              <a:t>trade-offs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among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tives.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Like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tists,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obse</a:t>
            </a:r>
            <a:r>
              <a:rPr dirty="0" sz="1050" spc="-10">
                <a:latin typeface="Palatino Linotype"/>
                <a:cs typeface="Palatino Linotype"/>
              </a:rPr>
              <a:t>r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vior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plex </a:t>
            </a:r>
            <a:r>
              <a:rPr dirty="0" sz="1050" spc="-60">
                <a:latin typeface="Palatino Linotype"/>
                <a:cs typeface="Palatino Linotype"/>
              </a:rPr>
              <a:t>systems,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55">
                <a:latin typeface="Palatino Linotype"/>
                <a:cs typeface="Palatino Linotype"/>
              </a:rPr>
              <a:t>ypotheses,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predictions.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basic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way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you’ll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</a:t>
            </a:r>
            <a:r>
              <a:rPr dirty="0" sz="1050" spc="-10">
                <a:latin typeface="Palatino Linotype"/>
                <a:cs typeface="Palatino Linotype"/>
              </a:rPr>
              <a:t> operations.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125">
                <a:latin typeface="Palatino Linotype"/>
                <a:cs typeface="Palatino Linotype"/>
              </a:rPr>
              <a:t>You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will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vocabulary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terms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oper‐ </a:t>
            </a:r>
            <a:r>
              <a:rPr dirty="0" sz="1050" spc="-30">
                <a:latin typeface="Palatino Linotype"/>
                <a:cs typeface="Palatino Linotype"/>
              </a:rPr>
              <a:t>ator,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type.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 </a:t>
            </a:r>
            <a:r>
              <a:rPr dirty="0" sz="1050" spc="-50">
                <a:latin typeface="Palatino Linotype"/>
                <a:cs typeface="Palatino Linotype"/>
              </a:rPr>
              <a:t>vocabulary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65">
                <a:latin typeface="Palatino Linotype"/>
                <a:cs typeface="Palatino Linotype"/>
              </a:rPr>
              <a:t>important—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need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70">
                <a:latin typeface="Palatino Linotype"/>
                <a:cs typeface="Palatino Linotype"/>
              </a:rPr>
              <a:t>understand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book,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communicate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understand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95" b="1">
                <a:latin typeface="Trebuchet MS"/>
                <a:cs typeface="Trebuchet MS"/>
              </a:rPr>
              <a:t>Arithmetic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Operators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80"/>
              </a:spcBef>
            </a:pP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arithmetic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operator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symbol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arithmetic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computation.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plus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sign,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+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performs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addition: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27043" y="7731125"/>
            <a:ext cx="723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5" b="1">
                <a:latin typeface="Trebuchet MS"/>
                <a:cs typeface="Trebuchet MS"/>
              </a:rPr>
              <a:t>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27993"/>
            <a:ext cx="4572000" cy="289560"/>
            <a:chOff x="914400" y="182799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279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295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4048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726433"/>
            <a:ext cx="4572000" cy="289560"/>
            <a:chOff x="914400" y="2726433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7264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7280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3033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057346"/>
            <a:ext cx="4572000" cy="289560"/>
            <a:chOff x="914400" y="5057346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05734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0589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63424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108271"/>
            <a:ext cx="4572000" cy="289560"/>
            <a:chOff x="914400" y="6108271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10827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1098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68516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37" y="657564"/>
            <a:ext cx="4598035" cy="5934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minus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sign,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80">
                <a:latin typeface="SimSun"/>
                <a:cs typeface="SimSun"/>
              </a:rPr>
              <a:t>–</a:t>
            </a:r>
            <a:r>
              <a:rPr dirty="0" sz="1050" spc="-28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performs</a:t>
            </a:r>
            <a:r>
              <a:rPr dirty="0" sz="1050" spc="-10">
                <a:latin typeface="Palatino Linotype"/>
                <a:cs typeface="Palatino Linotype"/>
              </a:rPr>
              <a:t> subtraction: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43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asterisk,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*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performs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multiplication: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forward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slash,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/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performs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division: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84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42.0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Notice</a:t>
            </a:r>
            <a:r>
              <a:rPr dirty="0" sz="1050" spc="-30">
                <a:latin typeface="Palatino Linotype"/>
                <a:cs typeface="Palatino Linotype"/>
              </a:rPr>
              <a:t> that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division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42.0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42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Python: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45" b="1">
                <a:latin typeface="Palatino Linotype"/>
                <a:cs typeface="Palatino Linotype"/>
              </a:rPr>
              <a:t>integers</a:t>
            </a:r>
            <a:r>
              <a:rPr dirty="0" sz="1050" spc="-4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45" b="1">
                <a:latin typeface="Palatino Linotype"/>
                <a:cs typeface="Palatino Linotype"/>
              </a:rPr>
              <a:t>floating-</a:t>
            </a:r>
            <a:r>
              <a:rPr dirty="0" sz="1050" spc="-50" b="1">
                <a:latin typeface="Palatino Linotype"/>
                <a:cs typeface="Palatino Linotype"/>
              </a:rPr>
              <a:t>point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numbers</a:t>
            </a:r>
            <a:r>
              <a:rPr dirty="0" sz="1050" spc="-55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decimal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point.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98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subtract,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multiply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integer.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divide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integers,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30">
                <a:latin typeface="Palatino Linotype"/>
                <a:cs typeface="Palatino Linotype"/>
              </a:rPr>
              <a:t>result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a </a:t>
            </a:r>
            <a:r>
              <a:rPr dirty="0" sz="1050" spc="-50">
                <a:latin typeface="Palatino Linotype"/>
                <a:cs typeface="Palatino Linotype"/>
              </a:rPr>
              <a:t>floating-</a:t>
            </a:r>
            <a:r>
              <a:rPr dirty="0" sz="1050" spc="-20">
                <a:latin typeface="Palatino Linotype"/>
                <a:cs typeface="Palatino Linotype"/>
              </a:rPr>
              <a:t>point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opera‐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//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performs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integer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division</a:t>
            </a:r>
            <a:r>
              <a:rPr dirty="0" sz="1050" spc="-35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result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integer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division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always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10">
                <a:latin typeface="Palatino Linotype"/>
                <a:cs typeface="Palatino Linotype"/>
              </a:rPr>
              <a:t>integer: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84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division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“floor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division”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95">
                <a:latin typeface="Palatino Linotype"/>
                <a:cs typeface="Palatino Linotype"/>
              </a:rPr>
              <a:t>always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rounds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down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(toward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“floor”):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85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739" y="7731125"/>
            <a:ext cx="20396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latin typeface="Trebuchet MS"/>
                <a:cs typeface="Trebuchet MS"/>
              </a:rPr>
              <a:t>2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1: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Programming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as </a:t>
            </a:r>
            <a:r>
              <a:rPr dirty="0" sz="900" spc="-130" b="1">
                <a:latin typeface="Trebuchet MS"/>
                <a:cs typeface="Trebuchet MS"/>
              </a:rPr>
              <a:t>a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5" b="1">
                <a:latin typeface="Trebuchet MS"/>
                <a:cs typeface="Trebuchet MS"/>
              </a:rPr>
              <a:t>Way</a:t>
            </a:r>
            <a:r>
              <a:rPr dirty="0" sz="900" spc="-130" b="1">
                <a:latin typeface="Trebuchet MS"/>
                <a:cs typeface="Trebuchet MS"/>
              </a:rPr>
              <a:t> of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Thinking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664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08053"/>
            <a:ext cx="4572000" cy="289560"/>
            <a:chOff x="914400" y="230805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0805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096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8849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314023"/>
            <a:ext cx="4572000" cy="289560"/>
            <a:chOff x="914400" y="4314023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31402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31561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89092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761189"/>
            <a:ext cx="4572000" cy="289560"/>
            <a:chOff x="914400" y="5761189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7611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7627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63380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652093"/>
            <a:ext cx="4572000" cy="289560"/>
            <a:chOff x="914400" y="6652093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6520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6536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72289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52" y="657564"/>
            <a:ext cx="4598035" cy="7236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Finally,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operator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**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performs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exponentiation;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raises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number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power: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49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caret,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^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 </a:t>
            </a:r>
            <a:r>
              <a:rPr dirty="0" sz="1050" spc="-75">
                <a:latin typeface="Palatino Linotype"/>
                <a:cs typeface="Palatino Linotype"/>
              </a:rPr>
              <a:t>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exponentiation,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bitwise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XOR.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familiar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bitwise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result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unexpected: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^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won’t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cover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bitwise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book,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http://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wiki.python.org/moin/BitwiseOperators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Expressions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collection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expression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any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numbers.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here’s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Notice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exponentiation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happens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addition.</a:t>
            </a:r>
            <a:r>
              <a:rPr dirty="0" sz="1050" spc="-10">
                <a:latin typeface="Palatino Linotype"/>
                <a:cs typeface="Palatino Linotype"/>
              </a:rPr>
              <a:t> 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follows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operations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might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learned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math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class: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exponentiation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happens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before </a:t>
            </a:r>
            <a:r>
              <a:rPr dirty="0" sz="1050" spc="-50">
                <a:latin typeface="Palatino Linotype"/>
                <a:cs typeface="Palatino Linotype"/>
              </a:rPr>
              <a:t>multiplication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division,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subtraction.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multiplication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addition: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parentheses: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102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Every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value</a:t>
            </a:r>
            <a:r>
              <a:rPr dirty="0" sz="1050" spc="-6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6</a:t>
            </a:r>
            <a:r>
              <a:rPr dirty="0" sz="1000" spc="2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*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7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42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7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14" b="1">
                <a:latin typeface="Trebuchet MS"/>
                <a:cs typeface="Trebuchet MS"/>
              </a:rPr>
              <a:t>Expressions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50" b="1">
                <a:latin typeface="Trebuchet MS"/>
                <a:cs typeface="Trebuchet MS"/>
              </a:rPr>
              <a:t>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63589"/>
            <a:ext cx="4572000" cy="289560"/>
            <a:chOff x="914400" y="156358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635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651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1404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218274"/>
            <a:ext cx="4572000" cy="289560"/>
            <a:chOff x="914400" y="2218274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2182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2198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951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76733"/>
            <a:ext cx="4572000" cy="289560"/>
            <a:chOff x="914400" y="3276733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767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783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536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167638"/>
            <a:ext cx="4572000" cy="289560"/>
            <a:chOff x="914400" y="4167638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16763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1692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7445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614803"/>
            <a:ext cx="4572000" cy="289560"/>
            <a:chOff x="914400" y="5614803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6148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6163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51555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67005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95"/>
              <a:t>Arithmetic</a:t>
            </a:r>
            <a:r>
              <a:rPr dirty="0" sz="1900" spc="-265"/>
              <a:t> </a:t>
            </a:r>
            <a:r>
              <a:rPr dirty="0" sz="1900" spc="-310"/>
              <a:t>Functions</a:t>
            </a:r>
            <a:endParaRPr sz="1900"/>
          </a:p>
        </p:txBody>
      </p:sp>
      <p:sp>
        <p:nvSpPr>
          <p:cNvPr id="23" name="object 23" descr=""/>
          <p:cNvSpPr txBox="1"/>
          <p:nvPr/>
        </p:nvSpPr>
        <p:spPr>
          <a:xfrm>
            <a:off x="901636" y="964024"/>
            <a:ext cx="4598035" cy="610679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40">
                <a:latin typeface="Palatino Linotype"/>
                <a:cs typeface="Palatino Linotype"/>
              </a:rPr>
              <a:t>addition</a:t>
            </a:r>
            <a:r>
              <a:rPr dirty="0" sz="1050">
                <a:latin typeface="Palatino Linotype"/>
                <a:cs typeface="Palatino Linotype"/>
              </a:rPr>
              <a:t> to the </a:t>
            </a:r>
            <a:r>
              <a:rPr dirty="0" sz="1050" spc="-30">
                <a:latin typeface="Palatino Linotype"/>
                <a:cs typeface="Palatino Linotype"/>
              </a:rPr>
              <a:t>arithmetic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65">
                <a:latin typeface="Palatino Linotype"/>
                <a:cs typeface="Palatino Linotype"/>
              </a:rPr>
              <a:t>few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functions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round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</a:t>
            </a:r>
            <a:r>
              <a:rPr dirty="0" sz="1050" spc="-10">
                <a:latin typeface="Palatino Linotype"/>
                <a:cs typeface="Palatino Linotype"/>
              </a:rPr>
              <a:t>point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5">
                <a:latin typeface="Palatino Linotype"/>
                <a:cs typeface="Palatino Linotype"/>
              </a:rPr>
              <a:t>rounds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nearest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10">
                <a:latin typeface="Palatino Linotype"/>
                <a:cs typeface="Palatino Linotype"/>
              </a:rPr>
              <a:t> number: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42.4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 marL="39370" marR="3956050">
              <a:lnSpc>
                <a:spcPct val="220800"/>
              </a:lnSpc>
              <a:spcBef>
                <a:spcPts val="37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42.6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abs</a:t>
            </a:r>
            <a:r>
              <a:rPr dirty="0" sz="1000" spc="-1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absolute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positive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number,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absolute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itself: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abs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negative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absolute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positive:</a:t>
            </a:r>
            <a:endParaRPr sz="1050">
              <a:latin typeface="Palatino Linotype"/>
              <a:cs typeface="Palatino Linotype"/>
            </a:endParaRPr>
          </a:p>
          <a:p>
            <a:pPr marL="39370" marR="41179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abs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r>
              <a:rPr dirty="0" sz="850" spc="-25">
                <a:latin typeface="SimSun"/>
                <a:cs typeface="SimSun"/>
              </a:rPr>
              <a:t>) 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say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calling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function</a:t>
            </a:r>
            <a:r>
              <a:rPr dirty="0" sz="1050" spc="-20" b="1">
                <a:latin typeface="Palatino Linotype"/>
                <a:cs typeface="Palatino Linotype"/>
              </a:rPr>
              <a:t> call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parentheses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required.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get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message: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abs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255270" marR="3416300" indent="-10795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Cell In[18], line </a:t>
            </a:r>
            <a:r>
              <a:rPr dirty="0" sz="850" spc="-50">
                <a:latin typeface="SimSun"/>
                <a:cs typeface="SimSun"/>
              </a:rPr>
              <a:t>1 </a:t>
            </a:r>
            <a:r>
              <a:rPr dirty="0" sz="850">
                <a:latin typeface="SimSun"/>
                <a:cs typeface="SimSun"/>
              </a:rPr>
              <a:t>abs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SyntaxError: invalid </a:t>
            </a:r>
            <a:r>
              <a:rPr dirty="0" sz="850" spc="-10">
                <a:latin typeface="SimSun"/>
                <a:cs typeface="SimSun"/>
              </a:rPr>
              <a:t>syntax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ignore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first line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 </a:t>
            </a:r>
            <a:r>
              <a:rPr dirty="0" sz="1050" spc="-50">
                <a:latin typeface="Palatino Linotype"/>
                <a:cs typeface="Palatino Linotype"/>
              </a:rPr>
              <a:t>message;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information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need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understand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now.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 spc="-30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error,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</a:t>
            </a:r>
            <a:r>
              <a:rPr dirty="0" sz="1000">
                <a:latin typeface="SimSun"/>
                <a:cs typeface="SimSun"/>
              </a:rPr>
              <a:t>^</a:t>
            </a:r>
            <a:r>
              <a:rPr dirty="0" sz="1050">
                <a:latin typeface="Palatino Linotype"/>
                <a:cs typeface="Palatino Linotype"/>
              </a:rPr>
              <a:t>)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beneath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was</a:t>
            </a:r>
            <a:r>
              <a:rPr dirty="0" sz="1050" spc="-10">
                <a:latin typeface="Palatino Linotype"/>
                <a:cs typeface="Palatino Linotype"/>
              </a:rPr>
              <a:t> discovered.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1720" y="7731125"/>
            <a:ext cx="20396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latin typeface="Trebuchet MS"/>
                <a:cs typeface="Trebuchet MS"/>
              </a:rPr>
              <a:t>4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1: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Programming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as </a:t>
            </a:r>
            <a:r>
              <a:rPr dirty="0" sz="900" spc="-130" b="1">
                <a:latin typeface="Trebuchet MS"/>
                <a:cs typeface="Trebuchet MS"/>
              </a:rPr>
              <a:t>a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5" b="1">
                <a:latin typeface="Trebuchet MS"/>
                <a:cs typeface="Trebuchet MS"/>
              </a:rPr>
              <a:t>Way</a:t>
            </a:r>
            <a:r>
              <a:rPr dirty="0" sz="900" spc="-130" b="1">
                <a:latin typeface="Trebuchet MS"/>
                <a:cs typeface="Trebuchet MS"/>
              </a:rPr>
              <a:t> of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Thinking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78280"/>
            <a:ext cx="4572000" cy="289560"/>
            <a:chOff x="914400" y="147828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7828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798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5517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651805"/>
            <a:ext cx="4572000" cy="289560"/>
            <a:chOff x="914400" y="365180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65180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6533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2287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542709"/>
            <a:ext cx="4572000" cy="289560"/>
            <a:chOff x="914400" y="4542709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54270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54429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1196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593634"/>
            <a:ext cx="4572000" cy="289560"/>
            <a:chOff x="914400" y="5593634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59363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59522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617053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484539"/>
            <a:ext cx="4572000" cy="289560"/>
            <a:chOff x="914400" y="6484539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4845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4861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70614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594" y="650030"/>
            <a:ext cx="4598035" cy="6318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s</a:t>
            </a:r>
            <a:r>
              <a:rPr dirty="0" sz="1050" spc="-90" b="1">
                <a:latin typeface="Palatino Linotype"/>
                <a:cs typeface="Palatino Linotype"/>
              </a:rPr>
              <a:t>y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-20" b="1">
                <a:latin typeface="Palatino Linotype"/>
                <a:cs typeface="Palatino Linotype"/>
              </a:rPr>
              <a:t>tax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15" b="1">
                <a:latin typeface="Palatino Linotype"/>
                <a:cs typeface="Palatino Linotype"/>
              </a:rPr>
              <a:t>r</a:t>
            </a:r>
            <a:r>
              <a:rPr dirty="0" sz="1050" spc="5" b="1">
                <a:latin typeface="Palatino Linotype"/>
                <a:cs typeface="Palatino Linotype"/>
              </a:rPr>
              <a:t>r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25" b="1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 </a:t>
            </a:r>
            <a:r>
              <a:rPr dirty="0" sz="1050" spc="-70">
                <a:latin typeface="Palatino Linotype"/>
                <a:cs typeface="Palatino Linotype"/>
              </a:rPr>
              <a:t>wrong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expression.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theses.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parentheses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abs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&lt;function abs(x, </a:t>
            </a:r>
            <a:r>
              <a:rPr dirty="0" sz="850" spc="-25">
                <a:latin typeface="SimSun"/>
                <a:cs typeface="SimSun"/>
              </a:rPr>
              <a:t>/)&gt;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itself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legal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yed,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abs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 </a:t>
            </a:r>
            <a:r>
              <a:rPr dirty="0" sz="1050" spc="-3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105" b="1">
                <a:latin typeface="Trebuchet MS"/>
                <a:cs typeface="Trebuchet MS"/>
              </a:rPr>
              <a:t>Strings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s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20" b="1">
                <a:latin typeface="Palatino Linotype"/>
                <a:cs typeface="Palatino Linotype"/>
              </a:rPr>
              <a:t>ri</a:t>
            </a:r>
            <a:r>
              <a:rPr dirty="0" sz="1050" spc="-45" b="1">
                <a:latin typeface="Palatino Linotype"/>
                <a:cs typeface="Palatino Linotype"/>
              </a:rPr>
              <a:t>n</a:t>
            </a:r>
            <a:r>
              <a:rPr dirty="0" sz="1050" spc="-70" b="1">
                <a:latin typeface="Palatino Linotype"/>
                <a:cs typeface="Palatino Linotype"/>
              </a:rPr>
              <a:t>gs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strung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together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beads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necklace.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quot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marks: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'Hello' </a:t>
            </a:r>
            <a:r>
              <a:rPr dirty="0" sz="850" spc="-10">
                <a:latin typeface="SimSun"/>
                <a:cs typeface="SimSun"/>
              </a:rPr>
              <a:t>'Hello'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legal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double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quotation</a:t>
            </a:r>
            <a:r>
              <a:rPr dirty="0" sz="1050" spc="-10">
                <a:latin typeface="Palatino Linotype"/>
                <a:cs typeface="Palatino Linotype"/>
              </a:rPr>
              <a:t> marks: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"world" </a:t>
            </a:r>
            <a:r>
              <a:rPr dirty="0" sz="850" spc="-10">
                <a:latin typeface="SimSun"/>
                <a:cs typeface="SimSun"/>
              </a:rPr>
              <a:t>'world'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Double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quotes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easy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postrophe,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symbol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quote: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"it's a small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" </a:t>
            </a:r>
            <a:r>
              <a:rPr dirty="0" sz="850">
                <a:latin typeface="SimSun"/>
                <a:cs typeface="SimSun"/>
              </a:rPr>
              <a:t>"it's a small </a:t>
            </a:r>
            <a:r>
              <a:rPr dirty="0" sz="850" spc="-50">
                <a:latin typeface="SimSun"/>
                <a:cs typeface="SimSun"/>
              </a:rPr>
              <a:t>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punctuation,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digits: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'Well,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'Well, </a:t>
            </a:r>
            <a:r>
              <a:rPr dirty="0" sz="850" spc="-50"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910404" y="7731125"/>
            <a:ext cx="5892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70" b="1">
                <a:latin typeface="Trebuchet MS"/>
                <a:cs typeface="Trebuchet MS"/>
              </a:rPr>
              <a:t>Strings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95" b="1">
                <a:latin typeface="Trebuchet MS"/>
                <a:cs typeface="Trebuchet MS"/>
              </a:rPr>
              <a:t>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664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148033"/>
            <a:ext cx="4572000" cy="289560"/>
            <a:chOff x="914400" y="214803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1480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1496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249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82692"/>
            <a:ext cx="4572000" cy="289560"/>
            <a:chOff x="914400" y="3282692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8269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842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5959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577371"/>
            <a:ext cx="4572000" cy="289560"/>
            <a:chOff x="914400" y="4577371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57737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5789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47811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01606" y="657564"/>
            <a:ext cx="4598035" cy="6414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+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strings;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joins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single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concatenation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25527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'Well, 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"it's a small "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'world.' </a:t>
            </a:r>
            <a:r>
              <a:rPr dirty="0" sz="850">
                <a:latin typeface="SimSun"/>
                <a:cs typeface="SimSun"/>
              </a:rPr>
              <a:t>"Well, it's a small </a:t>
            </a:r>
            <a:r>
              <a:rPr dirty="0" sz="850" spc="-10">
                <a:latin typeface="SimSun"/>
                <a:cs typeface="SimSun"/>
              </a:rPr>
              <a:t>world."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*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strings;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multiple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copies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55">
                <a:latin typeface="Palatino Linotype"/>
                <a:cs typeface="Palatino Linotype"/>
              </a:rPr>
              <a:t>catenates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'Spam, 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'Spam, Spam, Spam, Spam, </a:t>
            </a:r>
            <a:r>
              <a:rPr dirty="0" sz="850" spc="-50"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'Spam'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Notice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quotes.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When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straight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quotes.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backquote,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known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backtick,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syntax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error:</a:t>
            </a:r>
            <a:endParaRPr sz="1050">
              <a:latin typeface="Palatino Linotype"/>
              <a:cs typeface="Palatino Linotype"/>
            </a:endParaRPr>
          </a:p>
          <a:p>
            <a:pPr algn="ctr" marR="3268345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`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Hello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`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14732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Cell In[49], line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`Hello`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SyntaxError: invalid </a:t>
            </a:r>
            <a:r>
              <a:rPr dirty="0" sz="850" spc="-10">
                <a:latin typeface="SimSun"/>
                <a:cs typeface="SimSun"/>
              </a:rPr>
              <a:t>syntax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50">
                <a:latin typeface="Palatino Linotype"/>
                <a:cs typeface="Palatino Linotype"/>
              </a:rPr>
              <a:t>Smart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known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curly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illegal.</a:t>
            </a:r>
            <a:endParaRPr sz="1050">
              <a:latin typeface="Palatino Linotype"/>
              <a:cs typeface="Palatino Linotype"/>
            </a:endParaRPr>
          </a:p>
          <a:p>
            <a:pPr algn="ctr" marR="321437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Values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Types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kinds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55"/>
              </a:spcBef>
              <a:buSzPct val="105000"/>
              <a:buFont typeface="Palatino Linotype"/>
              <a:buChar char="•"/>
              <a:tabLst>
                <a:tab pos="241935" algn="l"/>
              </a:tabLst>
            </a:pPr>
            <a:r>
              <a:rPr dirty="0" sz="1000" spc="-10">
                <a:latin typeface="SimSun"/>
                <a:cs typeface="SimSun"/>
              </a:rPr>
              <a:t>2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integer,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SzPct val="105000"/>
              <a:buFont typeface="Palatino Linotype"/>
              <a:buChar char="•"/>
              <a:tabLst>
                <a:tab pos="241935" algn="l"/>
              </a:tabLst>
            </a:pPr>
            <a:r>
              <a:rPr dirty="0" sz="1000" spc="-10">
                <a:latin typeface="SimSun"/>
                <a:cs typeface="SimSun"/>
              </a:rPr>
              <a:t>42.0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SzPct val="105000"/>
              <a:buFont typeface="Palatino Linotype"/>
              <a:buChar char="•"/>
              <a:tabLst>
                <a:tab pos="241935" algn="l"/>
              </a:tabLst>
            </a:pPr>
            <a:r>
              <a:rPr dirty="0" sz="1000" spc="-10">
                <a:latin typeface="SimSun"/>
                <a:cs typeface="SimSun"/>
              </a:rPr>
              <a:t>'Hello'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85" y="7731125"/>
            <a:ext cx="20396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latin typeface="Trebuchet MS"/>
                <a:cs typeface="Trebuchet MS"/>
              </a:rPr>
              <a:t>6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1: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Programming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as </a:t>
            </a:r>
            <a:r>
              <a:rPr dirty="0" sz="900" spc="-130" b="1">
                <a:latin typeface="Trebuchet MS"/>
                <a:cs typeface="Trebuchet MS"/>
              </a:rPr>
              <a:t>a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5" b="1">
                <a:latin typeface="Trebuchet MS"/>
                <a:cs typeface="Trebuchet MS"/>
              </a:rPr>
              <a:t>Way</a:t>
            </a:r>
            <a:r>
              <a:rPr dirty="0" sz="900" spc="-130" b="1">
                <a:latin typeface="Trebuchet MS"/>
                <a:cs typeface="Trebuchet MS"/>
              </a:rPr>
              <a:t> of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Thinking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93348"/>
            <a:ext cx="4572000" cy="289560"/>
            <a:chOff x="914400" y="149334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9334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949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702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91787"/>
            <a:ext cx="4572000" cy="289560"/>
            <a:chOff x="914400" y="239178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9178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933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9686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90227"/>
            <a:ext cx="4572000" cy="289560"/>
            <a:chOff x="914400" y="3290227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9022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918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671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348686"/>
            <a:ext cx="4572000" cy="289560"/>
            <a:chOff x="914400" y="4348686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34868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3502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92558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247125"/>
            <a:ext cx="4572000" cy="289560"/>
            <a:chOff x="914400" y="5247125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2471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2487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8240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298050"/>
            <a:ext cx="4572000" cy="289560"/>
            <a:chOff x="914400" y="6298050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29805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29963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687494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44" y="650030"/>
            <a:ext cx="4598035" cy="6131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kind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type</a:t>
            </a:r>
            <a:r>
              <a:rPr dirty="0" sz="1050" spc="-30">
                <a:latin typeface="Palatino Linotype"/>
                <a:cs typeface="Palatino Linotype"/>
              </a:rPr>
              <a:t>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Every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has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type—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sometimes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say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5">
                <a:latin typeface="Palatino Linotype"/>
                <a:cs typeface="Palatino Linotype"/>
              </a:rPr>
              <a:t>“belongs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to”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type.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tells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type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int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int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float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42.0</a:t>
            </a:r>
            <a:r>
              <a:rPr dirty="0" sz="850" spc="-10">
                <a:latin typeface="SimSun"/>
                <a:cs typeface="SimSun"/>
              </a:rPr>
              <a:t>) float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str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4163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'Hello,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World!'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str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float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int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floating-point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(always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rounding</a:t>
            </a:r>
            <a:r>
              <a:rPr dirty="0" sz="1050" spc="-10">
                <a:latin typeface="Palatino Linotype"/>
                <a:cs typeface="Palatino Linotype"/>
              </a:rPr>
              <a:t> down):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42.9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float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float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42.0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110">
                <a:latin typeface="Palatino Linotype"/>
                <a:cs typeface="Palatino Linotype"/>
              </a:rPr>
              <a:t>Now,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confusing.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sequence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digits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quotes?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'126'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'126'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32365" y="7731125"/>
            <a:ext cx="9671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Values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Types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65" b="1">
                <a:latin typeface="Trebuchet MS"/>
                <a:cs typeface="Trebuchet MS"/>
              </a:rPr>
              <a:t>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12925"/>
            <a:ext cx="4572000" cy="289560"/>
            <a:chOff x="914400" y="181292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129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145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3898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82693"/>
            <a:ext cx="4572000" cy="289560"/>
            <a:chOff x="914400" y="3282693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826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842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5959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341152"/>
            <a:ext cx="4572000" cy="289560"/>
            <a:chOff x="914400" y="4341152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34115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34273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91804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559631"/>
            <a:ext cx="4572000" cy="289560"/>
            <a:chOff x="914400" y="5559631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55963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56121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13652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854310"/>
            <a:ext cx="4572000" cy="289560"/>
            <a:chOff x="914400" y="6854310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85431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85589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743120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32" y="650030"/>
            <a:ext cx="4598035" cy="6687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actually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string: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'126'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str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'126'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TypeError: unsupported operand type(s) for /: 'str' and </a:t>
            </a:r>
            <a:r>
              <a:rPr dirty="0" sz="850" spc="-10">
                <a:latin typeface="SimSun"/>
                <a:cs typeface="SimSun"/>
              </a:rPr>
              <a:t>'int'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  <a:spcBef>
                <a:spcPts val="5"/>
              </a:spcBef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TypeError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expression, </a:t>
            </a:r>
            <a:r>
              <a:rPr dirty="0" sz="1050" spc="-4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operands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type.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message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indicates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/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support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int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digits,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int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integer: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'126'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0">
                <a:latin typeface="SimSun"/>
                <a:cs typeface="SimSun"/>
              </a:rPr>
              <a:t>42.0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digits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decimal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float</a:t>
            </a:r>
            <a:r>
              <a:rPr dirty="0" sz="1000" spc="-14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number:</a:t>
            </a:r>
            <a:endParaRPr sz="1050">
              <a:latin typeface="Palatino Linotype"/>
              <a:cs typeface="Palatino Linotype"/>
            </a:endParaRPr>
          </a:p>
          <a:p>
            <a:pPr marL="39370" marR="38481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float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'12.6'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12.6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large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groups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digits,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1,000,000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legal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2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,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000</a:t>
            </a:r>
            <a:r>
              <a:rPr dirty="0" sz="850" spc="-10">
                <a:latin typeface="SimSun"/>
                <a:cs typeface="SimSun"/>
              </a:rPr>
              <a:t>,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(1, 0, </a:t>
            </a:r>
            <a:r>
              <a:rPr dirty="0" sz="850" spc="-25">
                <a:latin typeface="SimSun"/>
                <a:cs typeface="SimSun"/>
              </a:rPr>
              <a:t>0)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interprets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1,000,000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comma-</a:t>
            </a:r>
            <a:r>
              <a:rPr dirty="0" sz="1050" spc="-50">
                <a:latin typeface="Palatino Linotype"/>
                <a:cs typeface="Palatino Linotype"/>
              </a:rPr>
              <a:t>separated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integers.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learn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later.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underscores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large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read: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1_000_000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1000000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1735" y="7731125"/>
            <a:ext cx="20396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latin typeface="Trebuchet MS"/>
                <a:cs typeface="Trebuchet MS"/>
              </a:rPr>
              <a:t>8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8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1: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Programming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as </a:t>
            </a:r>
            <a:r>
              <a:rPr dirty="0" sz="900" spc="-130" b="1">
                <a:latin typeface="Trebuchet MS"/>
                <a:cs typeface="Trebuchet MS"/>
              </a:rPr>
              <a:t>a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5" b="1">
                <a:latin typeface="Trebuchet MS"/>
                <a:cs typeface="Trebuchet MS"/>
              </a:rPr>
              <a:t>Way</a:t>
            </a:r>
            <a:r>
              <a:rPr dirty="0" sz="900" spc="-130" b="1">
                <a:latin typeface="Trebuchet MS"/>
                <a:cs typeface="Trebuchet MS"/>
              </a:rPr>
              <a:t> of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Thinking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245110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20"/>
              <a:t>Formal</a:t>
            </a:r>
            <a:r>
              <a:rPr dirty="0" sz="1900" spc="-245"/>
              <a:t> </a:t>
            </a:r>
            <a:r>
              <a:rPr dirty="0" sz="1900" spc="-295"/>
              <a:t>and</a:t>
            </a:r>
            <a:r>
              <a:rPr dirty="0" sz="1900" spc="-240"/>
              <a:t> </a:t>
            </a:r>
            <a:r>
              <a:rPr dirty="0" sz="1900" spc="-275"/>
              <a:t>Natural</a:t>
            </a:r>
            <a:r>
              <a:rPr dirty="0" sz="1900" spc="-245"/>
              <a:t> </a:t>
            </a:r>
            <a:r>
              <a:rPr dirty="0" sz="1900" spc="-285"/>
              <a:t>Languages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03" y="964024"/>
            <a:ext cx="4598035" cy="64293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Natural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languages</a:t>
            </a:r>
            <a:r>
              <a:rPr dirty="0" sz="1050" spc="3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people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speak,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English,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Spanish,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French.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people;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evolved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naturally.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F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35" b="1">
                <a:latin typeface="Palatino Linotype"/>
                <a:cs typeface="Palatino Linotype"/>
              </a:rPr>
              <a:t>rmal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l</a:t>
            </a:r>
            <a:r>
              <a:rPr dirty="0" sz="1050" spc="-40" b="1">
                <a:latin typeface="Palatino Linotype"/>
                <a:cs typeface="Palatino Linotype"/>
              </a:rPr>
              <a:t>a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-70" b="1">
                <a:latin typeface="Palatino Linotype"/>
                <a:cs typeface="Palatino Linotype"/>
              </a:rPr>
              <a:t>g</a:t>
            </a:r>
            <a:r>
              <a:rPr dirty="0" sz="1050" spc="-60" b="1">
                <a:latin typeface="Palatino Linotype"/>
                <a:cs typeface="Palatino Linotype"/>
              </a:rPr>
              <a:t>u</a:t>
            </a:r>
            <a:r>
              <a:rPr dirty="0" sz="1050" spc="-60" b="1">
                <a:latin typeface="Palatino Linotype"/>
                <a:cs typeface="Palatino Linotype"/>
              </a:rPr>
              <a:t>ages</a:t>
            </a:r>
            <a:r>
              <a:rPr dirty="0" sz="1050" spc="20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people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specific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pplic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tions.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ticians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partic‐ </a:t>
            </a:r>
            <a:r>
              <a:rPr dirty="0" sz="1050" spc="-60">
                <a:latin typeface="Palatino Linotype"/>
                <a:cs typeface="Palatino Linotype"/>
              </a:rPr>
              <a:t>ularly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denoting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rel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tionships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among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symbols.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Similarl</a:t>
            </a:r>
            <a:r>
              <a:rPr dirty="0" sz="1050" spc="-14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pro‐ </a:t>
            </a:r>
            <a:r>
              <a:rPr dirty="0" sz="1050" spc="-60">
                <a:latin typeface="Palatino Linotype"/>
                <a:cs typeface="Palatino Linotype"/>
              </a:rPr>
              <a:t>gramming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Although</a:t>
            </a:r>
            <a:r>
              <a:rPr dirty="0" sz="1050" spc="-10">
                <a:latin typeface="Palatino Linotype"/>
                <a:cs typeface="Palatino Linotype"/>
              </a:rPr>
              <a:t> formal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natural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languages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features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common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50">
                <a:latin typeface="Palatino Linotype"/>
                <a:cs typeface="Palatino Linotype"/>
              </a:rPr>
              <a:t>i</a:t>
            </a:r>
            <a:r>
              <a:rPr dirty="0" sz="1050" spc="-50">
                <a:latin typeface="Palatino Linotype"/>
                <a:cs typeface="Palatino Linotype"/>
              </a:rPr>
              <a:t>mportant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differences: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Ambiguity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Natural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languages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ambiguity,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people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contex‐ </a:t>
            </a:r>
            <a:r>
              <a:rPr dirty="0" sz="1050" spc="-45">
                <a:latin typeface="Palatino Linotype"/>
                <a:cs typeface="Palatino Linotype"/>
              </a:rPr>
              <a:t>tual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clues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information.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Formal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nearly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or </a:t>
            </a:r>
            <a:r>
              <a:rPr dirty="0" sz="1050" spc="-55">
                <a:latin typeface="Palatino Linotype"/>
                <a:cs typeface="Palatino Linotype"/>
              </a:rPr>
              <a:t>completely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unambiguous,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exactly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mean‐ </a:t>
            </a:r>
            <a:r>
              <a:rPr dirty="0" sz="1050" spc="-55">
                <a:latin typeface="Palatino Linotype"/>
                <a:cs typeface="Palatino Linotype"/>
              </a:rPr>
              <a:t>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regardless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context.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Redundancy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30">
                <a:latin typeface="Palatino Linotype"/>
                <a:cs typeface="Palatino Linotype"/>
              </a:rPr>
              <a:t>order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4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up</a:t>
            </a:r>
            <a:r>
              <a:rPr dirty="0" sz="1050">
                <a:latin typeface="Palatino Linotype"/>
                <a:cs typeface="Palatino Linotype"/>
              </a:rPr>
              <a:t> for </a:t>
            </a:r>
            <a:r>
              <a:rPr dirty="0" sz="1050" spc="-50">
                <a:latin typeface="Palatino Linotype"/>
                <a:cs typeface="Palatino Linotype"/>
              </a:rPr>
              <a:t>ambiguity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reduce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misunderstandings,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natural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lan‐ </a:t>
            </a:r>
            <a:r>
              <a:rPr dirty="0" sz="1050" spc="-80">
                <a:latin typeface="Palatino Linotype"/>
                <a:cs typeface="Palatino Linotype"/>
              </a:rPr>
              <a:t>guages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redundancy.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often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verbose.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Formal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languages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65">
                <a:latin typeface="Palatino Linotype"/>
                <a:cs typeface="Palatino Linotype"/>
              </a:rPr>
              <a:t>less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redundant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concise.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Literalness</a:t>
            </a:r>
            <a:endParaRPr sz="1050">
              <a:latin typeface="Palatino Linotype"/>
              <a:cs typeface="Palatino Linotype"/>
            </a:endParaRPr>
          </a:p>
          <a:p>
            <a:pPr marL="2413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Natural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languages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full</a:t>
            </a:r>
            <a:r>
              <a:rPr dirty="0" sz="1050" spc="1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idiom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metaphor.</a:t>
            </a:r>
            <a:r>
              <a:rPr dirty="0" sz="1050" spc="1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Formal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languages</a:t>
            </a:r>
            <a:r>
              <a:rPr dirty="0" sz="1050" spc="1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mean </a:t>
            </a:r>
            <a:r>
              <a:rPr dirty="0" sz="1050" spc="-55">
                <a:latin typeface="Palatino Linotype"/>
                <a:cs typeface="Palatino Linotype"/>
              </a:rPr>
              <a:t>exactly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grow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speaking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natural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adjust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10">
                <a:latin typeface="Palatino Linotype"/>
                <a:cs typeface="Palatino Linotype"/>
              </a:rPr>
              <a:t>formal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languages.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Formal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languages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 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dense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natural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languages,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important,</a:t>
            </a:r>
            <a:r>
              <a:rPr dirty="0" sz="1050" spc="-10">
                <a:latin typeface="Palatino Linotype"/>
                <a:cs typeface="Palatino Linotype"/>
              </a:rPr>
              <a:t> so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not </a:t>
            </a:r>
            <a:r>
              <a:rPr dirty="0" sz="1050" spc="-90">
                <a:latin typeface="Palatino Linotype"/>
                <a:cs typeface="Palatino Linotype"/>
              </a:rPr>
              <a:t>always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65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bottom,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left</a:t>
            </a:r>
            <a:r>
              <a:rPr dirty="0" sz="1050" spc="-1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right.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Finally,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details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matter.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Small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 spell‐ </a:t>
            </a:r>
            <a:r>
              <a:rPr dirty="0" sz="1050" spc="-35">
                <a:latin typeface="Palatino Linotype"/>
                <a:cs typeface="Palatino Linotype"/>
              </a:rPr>
              <a:t>ing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punctuation,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away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5">
                <a:latin typeface="Palatino Linotype"/>
                <a:cs typeface="Palatino Linotype"/>
              </a:rPr>
              <a:t>natural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languages,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big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formal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language.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Programmers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mistakes.</a:t>
            </a:r>
            <a:r>
              <a:rPr dirty="0" sz="1050" spc="-10">
                <a:latin typeface="Palatino Linotype"/>
                <a:cs typeface="Palatino Linotype"/>
              </a:rPr>
              <a:t> 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whimsical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reasons,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called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80" b="1">
                <a:latin typeface="Palatino Linotype"/>
                <a:cs typeface="Palatino Linotype"/>
              </a:rPr>
              <a:t>bugs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tracking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down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debugging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Programming,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especially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debugging,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sometimes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brings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out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strong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emotions.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struggling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difficult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bug,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feel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angry,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embarrassed.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Preparing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these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reactions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might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help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deal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them.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approach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10">
                <a:latin typeface="Palatino Linotype"/>
                <a:cs typeface="Palatino Linotype"/>
              </a:rPr>
              <a:t>think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computer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employee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certain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strengths,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speed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759457" y="7731125"/>
            <a:ext cx="7397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65" b="1">
                <a:latin typeface="Trebuchet MS"/>
                <a:cs typeface="Trebuchet MS"/>
              </a:rPr>
              <a:t>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3" y="650030"/>
            <a:ext cx="4598035" cy="6314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precision,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particular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weaknesses,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70">
                <a:latin typeface="Palatino Linotype"/>
                <a:cs typeface="Palatino Linotype"/>
              </a:rPr>
              <a:t>empathy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inability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45">
                <a:latin typeface="Palatino Linotype"/>
                <a:cs typeface="Palatino Linotype"/>
              </a:rPr>
              <a:t>grasp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big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picture.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job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manager: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advantage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strengths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30">
                <a:latin typeface="Palatino Linotype"/>
                <a:cs typeface="Palatino Linotype"/>
              </a:rPr>
              <a:t>mitigate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weaknesses.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ways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emotions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problem,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interfere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ability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effectively.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Learning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debug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frustr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ting,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valuable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skill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75">
                <a:latin typeface="Palatino Linotype"/>
                <a:cs typeface="Palatino Linotype"/>
              </a:rPr>
              <a:t>y </a:t>
            </a:r>
            <a:r>
              <a:rPr dirty="0" sz="1050" spc="-45">
                <a:latin typeface="Palatino Linotype"/>
                <a:cs typeface="Palatino Linotype"/>
              </a:rPr>
              <a:t>activities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beyond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 </a:t>
            </a:r>
            <a:r>
              <a:rPr dirty="0" sz="1050" spc="-40">
                <a:latin typeface="Palatino Linotype"/>
                <a:cs typeface="Palatino Linotype"/>
              </a:rPr>
              <a:t>one,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m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hope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help!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arithmetic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operator: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symbol,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+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*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denotes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arithmetic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operation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multiplication.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integer: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numbers.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floating-</a:t>
            </a:r>
            <a:r>
              <a:rPr dirty="0" sz="1050" spc="-40" b="1">
                <a:latin typeface="Palatino Linotype"/>
                <a:cs typeface="Palatino Linotype"/>
              </a:rPr>
              <a:t>point: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fractional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parts.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55"/>
              </a:spcBef>
            </a:pPr>
            <a:r>
              <a:rPr dirty="0" sz="1050" spc="-40" b="1">
                <a:latin typeface="Palatino Linotype"/>
                <a:cs typeface="Palatino Linotype"/>
              </a:rPr>
              <a:t>integer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division: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//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divides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rounds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down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1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nteger.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expression: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combination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value: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</a:t>
            </a:r>
            <a:r>
              <a:rPr dirty="0" sz="1050" spc="-25">
                <a:latin typeface="Palatino Linotype"/>
                <a:cs typeface="Palatino Linotype"/>
              </a:rPr>
              <a:t>point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string—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kinds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values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later.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function:</a:t>
            </a:r>
            <a:r>
              <a:rPr dirty="0" sz="1050" spc="8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sequence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performs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some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useful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operation.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may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may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may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may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produce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result.</a:t>
            </a:r>
            <a:endParaRPr sz="1050">
              <a:latin typeface="Palatino Linotype"/>
              <a:cs typeface="Palatino Linotype"/>
            </a:endParaRPr>
          </a:p>
          <a:p>
            <a:pPr marL="12700" marR="889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function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call: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expression—</a:t>
            </a:r>
            <a:r>
              <a:rPr dirty="0" sz="1050" spc="-2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expression—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55">
                <a:latin typeface="Palatino Linotype"/>
                <a:cs typeface="Palatino Linotype"/>
              </a:rPr>
              <a:t>sists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parentheses.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syntax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error: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impossible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parse—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therefore </a:t>
            </a:r>
            <a:r>
              <a:rPr dirty="0" sz="1050" spc="-55">
                <a:latin typeface="Palatino Linotype"/>
                <a:cs typeface="Palatino Linotype"/>
              </a:rPr>
              <a:t>i</a:t>
            </a:r>
            <a:r>
              <a:rPr dirty="0" sz="1050" spc="-55">
                <a:latin typeface="Palatino Linotype"/>
                <a:cs typeface="Palatino Linotype"/>
              </a:rPr>
              <a:t>mpossible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run.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string: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sequences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characters.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concatenation: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Joining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type:</a:t>
            </a:r>
            <a:r>
              <a:rPr dirty="0" sz="1050" spc="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category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values.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types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seen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far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(type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int</a:t>
            </a:r>
            <a:r>
              <a:rPr dirty="0" sz="1050" spc="-10">
                <a:latin typeface="Palatino Linotype"/>
                <a:cs typeface="Palatino Linotype"/>
              </a:rPr>
              <a:t>),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(type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float</a:t>
            </a:r>
            <a:r>
              <a:rPr dirty="0" sz="1050">
                <a:latin typeface="Palatino Linotype"/>
                <a:cs typeface="Palatino Linotype"/>
              </a:rPr>
              <a:t>),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(type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</a:t>
            </a:r>
            <a:r>
              <a:rPr dirty="0" sz="1050" spc="-10">
                <a:latin typeface="Palatino Linotype"/>
                <a:cs typeface="Palatino Linotype"/>
              </a:rPr>
              <a:t>).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operand: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natural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language: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people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speak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evolved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naturally.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699" y="7731125"/>
            <a:ext cx="20866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10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6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Programming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as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165" b="1">
                <a:latin typeface="Trebuchet MS"/>
                <a:cs typeface="Trebuchet MS"/>
              </a:rPr>
              <a:t>Way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114" b="1">
                <a:latin typeface="Trebuchet MS"/>
                <a:cs typeface="Trebuchet MS"/>
              </a:rPr>
              <a:t>Thinking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56" y="650030"/>
            <a:ext cx="4598035" cy="6114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formal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language: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of the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people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designed</a:t>
            </a:r>
            <a:r>
              <a:rPr dirty="0" sz="1050">
                <a:latin typeface="Palatino Linotype"/>
                <a:cs typeface="Palatino Linotype"/>
              </a:rPr>
              <a:t> 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specific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pur‐ </a:t>
            </a:r>
            <a:r>
              <a:rPr dirty="0" sz="1050" spc="-50">
                <a:latin typeface="Palatino Linotype"/>
                <a:cs typeface="Palatino Linotype"/>
              </a:rPr>
              <a:t>poses,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mathematical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ideas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program‐ </a:t>
            </a:r>
            <a:r>
              <a:rPr dirty="0" sz="1050" spc="-70">
                <a:latin typeface="Palatino Linotype"/>
                <a:cs typeface="Palatino Linotype"/>
              </a:rPr>
              <a:t>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formal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languages.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5" b="1">
                <a:latin typeface="Palatino Linotype"/>
                <a:cs typeface="Palatino Linotype"/>
              </a:rPr>
              <a:t>bug: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5" b="1">
                <a:latin typeface="Palatino Linotype"/>
                <a:cs typeface="Palatino Linotype"/>
              </a:rPr>
              <a:t>debugging: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correcting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65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book,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assistant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chatbot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help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learn: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300" algn="l"/>
              </a:tabLst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topic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ything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unclea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explan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endParaRPr sz="1050">
              <a:latin typeface="Palatino Linotype"/>
              <a:cs typeface="Palatino Linotype"/>
            </a:endParaRPr>
          </a:p>
          <a:p>
            <a:pPr marL="24130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300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help.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suggest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encour‐ </a:t>
            </a:r>
            <a:r>
              <a:rPr dirty="0" sz="1050" spc="-75">
                <a:latin typeface="Palatino Linotype"/>
                <a:cs typeface="Palatino Linotype"/>
              </a:rPr>
              <a:t>age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own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topics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about:</a:t>
            </a:r>
            <a:endParaRPr sz="1050">
              <a:latin typeface="Palatino Linotype"/>
              <a:cs typeface="Palatino Linotype"/>
            </a:endParaRPr>
          </a:p>
          <a:p>
            <a:pPr algn="just" marL="240665" marR="5080" indent="-118745">
              <a:lnSpc>
                <a:spcPct val="102400"/>
              </a:lnSpc>
              <a:spcBef>
                <a:spcPts val="1030"/>
              </a:spcBef>
              <a:buChar char="•"/>
              <a:tabLst>
                <a:tab pos="241300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Earlier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mentioned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bitwise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didn’t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explain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why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7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^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 spc="-50">
                <a:latin typeface="SimSun"/>
                <a:cs typeface="SimSun"/>
              </a:rPr>
              <a:t>2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5.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Try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bitwise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operators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Python?”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value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7</a:t>
            </a:r>
            <a:r>
              <a:rPr dirty="0" sz="1000" spc="-1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XOR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2</a:t>
            </a:r>
            <a:r>
              <a:rPr dirty="0" sz="1050" spc="-25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6985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300" algn="l"/>
              </a:tabLst>
            </a:pP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mentioned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details,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order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Python?”</a:t>
            </a:r>
            <a:endParaRPr sz="1050">
              <a:latin typeface="Palatino Linotype"/>
              <a:cs typeface="Palatino Linotype"/>
            </a:endParaRPr>
          </a:p>
          <a:p>
            <a:pPr algn="just" marL="240665" marR="5080" indent="-118745">
              <a:lnSpc>
                <a:spcPct val="100000"/>
              </a:lnSpc>
              <a:spcBef>
                <a:spcPts val="459"/>
              </a:spcBef>
              <a:buChar char="•"/>
              <a:tabLst>
                <a:tab pos="241300" algn="l"/>
              </a:tabLst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round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round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</a:t>
            </a:r>
            <a:r>
              <a:rPr dirty="0" sz="1050">
                <a:latin typeface="Palatino Linotype"/>
                <a:cs typeface="Palatino Linotype"/>
              </a:rPr>
              <a:t>point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number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nearest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whole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“What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arguments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round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function?”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“How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round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pi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three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decimal </a:t>
            </a:r>
            <a:r>
              <a:rPr dirty="0" sz="1050" spc="-10">
                <a:latin typeface="Palatino Linotype"/>
                <a:cs typeface="Palatino Linotype"/>
              </a:rPr>
              <a:t>places?”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300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There’s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arithmetic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I </a:t>
            </a:r>
            <a:r>
              <a:rPr dirty="0" sz="1050" spc="-65">
                <a:latin typeface="Palatino Linotype"/>
                <a:cs typeface="Palatino Linotype"/>
              </a:rPr>
              <a:t>didn’t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mention;</a:t>
            </a:r>
            <a:r>
              <a:rPr dirty="0" sz="1050">
                <a:latin typeface="Palatino Linotype"/>
                <a:cs typeface="Palatino Linotype"/>
              </a:rPr>
              <a:t> try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modulus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Python?”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0">
                <a:latin typeface="Palatino Linotype"/>
                <a:cs typeface="Palatino Linotype"/>
              </a:rPr>
              <a:t>ost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answer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questions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pretty </a:t>
            </a:r>
            <a:r>
              <a:rPr dirty="0" sz="1050" spc="-50">
                <a:latin typeface="Palatino Linotype"/>
                <a:cs typeface="Palatino Linotype"/>
              </a:rPr>
              <a:t>reliabl</a:t>
            </a:r>
            <a:r>
              <a:rPr dirty="0" sz="1050" spc="-15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remember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tools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mistakes.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tbot,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791653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11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16059"/>
            <a:ext cx="4572000" cy="289560"/>
            <a:chOff x="914400" y="151605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160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176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929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170744"/>
            <a:ext cx="4572000" cy="289560"/>
            <a:chOff x="914400" y="2170744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17074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17233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4764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35" y="519390"/>
            <a:ext cx="4598035" cy="587946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might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wonder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round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ends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0.5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answer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rounds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up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rounds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down.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Try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see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figure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follows: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42.5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 marL="39370" marR="3956050">
              <a:lnSpc>
                <a:spcPct val="220800"/>
              </a:lnSpc>
              <a:spcBef>
                <a:spcPts val="37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43.5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curious,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0.5,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round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down</a:t>
            </a:r>
            <a:r>
              <a:rPr dirty="0" sz="1050" spc="-45">
                <a:latin typeface="Palatino Linotype"/>
                <a:cs typeface="Palatino Linotype"/>
              </a:rPr>
              <a:t>?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65"/>
              </a:spcBef>
            </a:pPr>
            <a:r>
              <a:rPr dirty="0" sz="1050" spc="-10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learn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feature,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out</a:t>
            </a:r>
            <a:r>
              <a:rPr dirty="0" sz="1050" spc="-10">
                <a:latin typeface="Palatino Linotype"/>
                <a:cs typeface="Palatino Linotype"/>
              </a:rPr>
              <a:t> and </a:t>
            </a:r>
            <a:r>
              <a:rPr dirty="0" sz="1050" spc="-35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mistakes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 </a:t>
            </a:r>
            <a:r>
              <a:rPr dirty="0" sz="1050" spc="-50">
                <a:latin typeface="Palatino Linotype"/>
                <a:cs typeface="Palatino Linotype"/>
              </a:rPr>
              <a:t>purpose.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learn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messages,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again,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mean.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mistakes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deliberately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than </a:t>
            </a:r>
            <a:r>
              <a:rPr dirty="0" sz="1050" spc="-50">
                <a:latin typeface="Palatino Linotype"/>
                <a:cs typeface="Palatino Linotype"/>
              </a:rPr>
              <a:t>later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accidentally.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61290">
              <a:lnSpc>
                <a:spcPct val="104700"/>
              </a:lnSpc>
              <a:spcBef>
                <a:spcPts val="1000"/>
              </a:spcBef>
              <a:buAutoNum type="arabicPeriod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minus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sign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negative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-</a:t>
            </a:r>
            <a:r>
              <a:rPr dirty="0" sz="1000">
                <a:latin typeface="SimSun"/>
                <a:cs typeface="SimSun"/>
              </a:rPr>
              <a:t>2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happens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plus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sign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number?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2++2</a:t>
            </a:r>
            <a:r>
              <a:rPr dirty="0" sz="1050" spc="-10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4</a:t>
            </a:r>
            <a:r>
              <a:rPr dirty="0" sz="1000" spc="40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2</a:t>
            </a:r>
            <a:r>
              <a:rPr dirty="0" sz="1050" spc="-25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61290">
              <a:lnSpc>
                <a:spcPct val="100000"/>
              </a:lnSpc>
              <a:spcBef>
                <a:spcPts val="455"/>
              </a:spcBef>
              <a:buAutoNum type="arabicPeriod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round(42.5)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happens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leave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out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or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parentheses?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64"/>
              </a:spcBef>
            </a:pPr>
            <a:r>
              <a:rPr dirty="0" sz="1050" spc="-35">
                <a:latin typeface="Palatino Linotype"/>
                <a:cs typeface="Palatino Linotype"/>
              </a:rPr>
              <a:t>Recall</a:t>
            </a:r>
            <a:r>
              <a:rPr dirty="0" sz="1050" spc="-25">
                <a:latin typeface="Palatino Linotype"/>
                <a:cs typeface="Palatino Linotype"/>
              </a:rPr>
              <a:t> 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type,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type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value.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40">
                <a:latin typeface="Palatino Linotype"/>
                <a:cs typeface="Palatino Linotype"/>
              </a:rPr>
              <a:t>What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expressions?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guess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out.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11585" y="6449514"/>
            <a:ext cx="588010" cy="899160"/>
          </a:xfrm>
          <a:prstGeom prst="rect">
            <a:avLst/>
          </a:prstGeom>
        </p:spPr>
        <p:txBody>
          <a:bodyPr wrap="square" lIns="0" tIns="77470" rIns="0" bIns="0" rtlCol="0" vert="horz">
            <a:spAutoFit/>
          </a:bodyPr>
          <a:lstStyle/>
          <a:p>
            <a:pPr marL="131445" indent="-119380">
              <a:lnSpc>
                <a:spcPct val="100000"/>
              </a:lnSpc>
              <a:spcBef>
                <a:spcPts val="610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25">
                <a:latin typeface="SimSun"/>
                <a:cs typeface="SimSun"/>
              </a:rPr>
              <a:t>765</a:t>
            </a:r>
            <a:endParaRPr sz="1000">
              <a:latin typeface="SimSun"/>
              <a:cs typeface="SimSun"/>
            </a:endParaRPr>
          </a:p>
          <a:p>
            <a:pPr marL="131445" indent="-119380">
              <a:lnSpc>
                <a:spcPct val="100000"/>
              </a:lnSpc>
              <a:spcBef>
                <a:spcPts val="515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10">
                <a:latin typeface="SimSun"/>
                <a:cs typeface="SimSun"/>
              </a:rPr>
              <a:t>2.718</a:t>
            </a:r>
            <a:endParaRPr sz="1000">
              <a:latin typeface="SimSun"/>
              <a:cs typeface="SimSun"/>
            </a:endParaRPr>
          </a:p>
          <a:p>
            <a:pPr marL="131445" indent="-119380">
              <a:lnSpc>
                <a:spcPct val="100000"/>
              </a:lnSpc>
              <a:spcBef>
                <a:spcPts val="520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>
                <a:latin typeface="SimSun"/>
                <a:cs typeface="SimSun"/>
              </a:rPr>
              <a:t>'2</a:t>
            </a:r>
            <a:r>
              <a:rPr dirty="0" sz="1000" spc="-15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pi'</a:t>
            </a:r>
            <a:endParaRPr sz="1000">
              <a:latin typeface="SimSun"/>
              <a:cs typeface="SimSun"/>
            </a:endParaRPr>
          </a:p>
          <a:p>
            <a:pPr marL="131445" indent="-119380">
              <a:lnSpc>
                <a:spcPct val="100000"/>
              </a:lnSpc>
              <a:spcBef>
                <a:spcPts val="520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10">
                <a:latin typeface="SimSun"/>
                <a:cs typeface="SimSun"/>
              </a:rPr>
              <a:t>abs(-</a:t>
            </a:r>
            <a:r>
              <a:rPr dirty="0" sz="1000" spc="-25">
                <a:latin typeface="SimSun"/>
                <a:cs typeface="SimSun"/>
              </a:rPr>
              <a:t>7)</a:t>
            </a:r>
            <a:endParaRPr sz="1000">
              <a:latin typeface="SimSun"/>
              <a:cs typeface="SimSu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361085" y="6449514"/>
            <a:ext cx="714375" cy="899160"/>
          </a:xfrm>
          <a:prstGeom prst="rect">
            <a:avLst/>
          </a:prstGeom>
        </p:spPr>
        <p:txBody>
          <a:bodyPr wrap="square" lIns="0" tIns="77470" rIns="0" bIns="0" rtlCol="0" vert="horz">
            <a:spAutoFit/>
          </a:bodyPr>
          <a:lstStyle/>
          <a:p>
            <a:pPr marL="131445" indent="-119380">
              <a:lnSpc>
                <a:spcPct val="100000"/>
              </a:lnSpc>
              <a:spcBef>
                <a:spcPts val="610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10">
                <a:latin typeface="SimSun"/>
                <a:cs typeface="SimSun"/>
              </a:rPr>
              <a:t>abs(-</a:t>
            </a:r>
            <a:r>
              <a:rPr dirty="0" sz="1000" spc="-20">
                <a:latin typeface="SimSun"/>
                <a:cs typeface="SimSun"/>
              </a:rPr>
              <a:t>7.0)</a:t>
            </a:r>
            <a:endParaRPr sz="1000">
              <a:latin typeface="SimSun"/>
              <a:cs typeface="SimSun"/>
            </a:endParaRPr>
          </a:p>
          <a:p>
            <a:pPr marL="131445" indent="-119380">
              <a:lnSpc>
                <a:spcPct val="100000"/>
              </a:lnSpc>
              <a:spcBef>
                <a:spcPts val="515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25">
                <a:latin typeface="SimSun"/>
                <a:cs typeface="SimSun"/>
              </a:rPr>
              <a:t>abs</a:t>
            </a:r>
            <a:endParaRPr sz="1000">
              <a:latin typeface="SimSun"/>
              <a:cs typeface="SimSun"/>
            </a:endParaRPr>
          </a:p>
          <a:p>
            <a:pPr marL="131445" indent="-119380">
              <a:lnSpc>
                <a:spcPct val="100000"/>
              </a:lnSpc>
              <a:spcBef>
                <a:spcPts val="520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25">
                <a:latin typeface="SimSun"/>
                <a:cs typeface="SimSun"/>
              </a:rPr>
              <a:t>int</a:t>
            </a:r>
            <a:endParaRPr sz="1000">
              <a:latin typeface="SimSun"/>
              <a:cs typeface="SimSun"/>
            </a:endParaRPr>
          </a:p>
          <a:p>
            <a:pPr marL="131445" indent="-119380">
              <a:lnSpc>
                <a:spcPct val="100000"/>
              </a:lnSpc>
              <a:spcBef>
                <a:spcPts val="520"/>
              </a:spcBef>
              <a:buSzPct val="105000"/>
              <a:buFont typeface="Palatino Linotype"/>
              <a:buChar char="•"/>
              <a:tabLst>
                <a:tab pos="132080" algn="l"/>
              </a:tabLst>
            </a:pPr>
            <a:r>
              <a:rPr dirty="0" sz="1000" spc="-20">
                <a:latin typeface="SimSun"/>
                <a:cs typeface="SimSun"/>
              </a:rPr>
              <a:t>type</a:t>
            </a:r>
            <a:endParaRPr sz="1000">
              <a:latin typeface="SimSun"/>
              <a:cs typeface="SimSu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1723" y="7731125"/>
            <a:ext cx="20866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12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6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Programming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as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165" b="1">
                <a:latin typeface="Trebuchet MS"/>
                <a:cs typeface="Trebuchet MS"/>
              </a:rPr>
              <a:t>Way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114" b="1">
                <a:latin typeface="Trebuchet MS"/>
                <a:cs typeface="Trebuchet MS"/>
              </a:rPr>
              <a:t>Thinking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530706"/>
            <a:ext cx="4598035" cy="246888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questions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give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practice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</a:t>
            </a:r>
            <a:r>
              <a:rPr dirty="0" sz="1050" spc="-10">
                <a:latin typeface="Palatino Linotype"/>
                <a:cs typeface="Palatino Linotype"/>
              </a:rPr>
              <a:t> expressions: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1000"/>
              </a:spcBef>
              <a:buAutoNum type="arabicPeriod"/>
              <a:tabLst>
                <a:tab pos="241935" algn="l"/>
              </a:tabLst>
            </a:pPr>
            <a:r>
              <a:rPr dirty="0" sz="1050" spc="-110">
                <a:latin typeface="Palatino Linotype"/>
                <a:cs typeface="Palatino Linotype"/>
              </a:rPr>
              <a:t>How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42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minutes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42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seconds?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6129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105">
                <a:latin typeface="Palatino Linotype"/>
                <a:cs typeface="Palatino Linotype"/>
              </a:rPr>
              <a:t>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miles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30">
                <a:latin typeface="Palatino Linotype"/>
                <a:cs typeface="Palatino Linotype"/>
              </a:rPr>
              <a:t> there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kilometers?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Hint: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1.61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kilometers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mile.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6129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kilometer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race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42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minutes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42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average </a:t>
            </a:r>
            <a:r>
              <a:rPr dirty="0" sz="1050" spc="-65">
                <a:latin typeface="Palatino Linotype"/>
                <a:cs typeface="Palatino Linotype"/>
              </a:rPr>
              <a:t>pace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per</a:t>
            </a:r>
            <a:r>
              <a:rPr dirty="0" sz="1050" spc="-10">
                <a:latin typeface="Palatino Linotype"/>
                <a:cs typeface="Palatino Linotype"/>
              </a:rPr>
              <a:t> mile?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average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mile?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average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speed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hour?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already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don’t,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them—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chapter.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791653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13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4843207"/>
            <a:ext cx="4572000" cy="289560"/>
            <a:chOff x="914400" y="4843207"/>
            <a:chExt cx="4572000" cy="28956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484320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48447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914400" y="5796256"/>
            <a:ext cx="4572000" cy="289560"/>
            <a:chOff x="914400" y="5796256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79625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7978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6421731"/>
            <a:ext cx="4572000" cy="289560"/>
            <a:chOff x="914400" y="6421731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42173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42331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2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2772961" y="1212513"/>
            <a:ext cx="272669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50"/>
              <a:t>Variables</a:t>
            </a:r>
            <a:r>
              <a:rPr dirty="0" spc="-340"/>
              <a:t> </a:t>
            </a:r>
            <a:r>
              <a:rPr dirty="0" spc="-370"/>
              <a:t>and</a:t>
            </a:r>
            <a:r>
              <a:rPr dirty="0" spc="-335"/>
              <a:t> </a:t>
            </a:r>
            <a:r>
              <a:rPr dirty="0" spc="-370"/>
              <a:t>Statements</a:t>
            </a:r>
          </a:p>
        </p:txBody>
      </p:sp>
      <p:sp>
        <p:nvSpPr>
          <p:cNvPr id="14" name="object 14" descr=""/>
          <p:cNvSpPr txBox="1"/>
          <p:nvPr/>
        </p:nvSpPr>
        <p:spPr>
          <a:xfrm>
            <a:off x="901642" y="3044843"/>
            <a:ext cx="4598035" cy="484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 the </a:t>
            </a:r>
            <a:r>
              <a:rPr dirty="0" sz="1050" spc="-50">
                <a:latin typeface="Palatino Linotype"/>
                <a:cs typeface="Palatino Linotype"/>
              </a:rPr>
              <a:t>previous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perform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arith‐ </a:t>
            </a:r>
            <a:r>
              <a:rPr dirty="0" sz="1050" spc="-50">
                <a:latin typeface="Palatino Linotype"/>
                <a:cs typeface="Palatino Linotype"/>
              </a:rPr>
              <a:t>metic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computations.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chapter,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about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variables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statements,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import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print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function.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I’ll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introduce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vocabulary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talk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 </a:t>
            </a:r>
            <a:r>
              <a:rPr dirty="0" sz="1050" spc="-55">
                <a:latin typeface="Palatino Linotype"/>
                <a:cs typeface="Palatino Linotype"/>
              </a:rPr>
              <a:t>programs,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“argument”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“module.”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Variables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variable</a:t>
            </a:r>
            <a:r>
              <a:rPr dirty="0" sz="1050" spc="5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name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refers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value.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create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 b="1">
                <a:latin typeface="Palatino Linotype"/>
                <a:cs typeface="Palatino Linotype"/>
              </a:rPr>
              <a:t>assignment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statement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assignment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has three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parts: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left,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equals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=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right.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number: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3.141592653589793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message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'And now for something completely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different'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16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When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 </a:t>
            </a:r>
            <a:r>
              <a:rPr dirty="0" sz="1050" spc="-55">
                <a:latin typeface="Palatino Linotype"/>
                <a:cs typeface="Palatino Linotype"/>
              </a:rPr>
              <a:t>assignment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output.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vari‐ </a:t>
            </a:r>
            <a:r>
              <a:rPr dirty="0" sz="1050" spc="-50">
                <a:latin typeface="Palatino Linotype"/>
                <a:cs typeface="Palatino Linotype"/>
              </a:rPr>
              <a:t>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gives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 </a:t>
            </a:r>
            <a:r>
              <a:rPr dirty="0" sz="1050" spc="-50">
                <a:latin typeface="Palatino Linotype"/>
                <a:cs typeface="Palatino Linotype"/>
              </a:rPr>
              <a:t>visible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effect.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However,</a:t>
            </a:r>
            <a:r>
              <a:rPr dirty="0" sz="1050" spc="-30">
                <a:latin typeface="Palatino Linotype"/>
                <a:cs typeface="Palatino Linotype"/>
              </a:rPr>
              <a:t> after</a:t>
            </a:r>
            <a:r>
              <a:rPr dirty="0" sz="1050" spc="-40">
                <a:latin typeface="Palatino Linotype"/>
                <a:cs typeface="Palatino Linotype"/>
              </a:rPr>
              <a:t> creating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an </a:t>
            </a:r>
            <a:r>
              <a:rPr dirty="0" sz="1050" spc="-45">
                <a:latin typeface="Palatino Linotype"/>
                <a:cs typeface="Palatino Linotype"/>
              </a:rPr>
              <a:t>expression.</a:t>
            </a:r>
            <a:r>
              <a:rPr dirty="0" sz="1050" spc="-10">
                <a:latin typeface="Palatino Linotype"/>
                <a:cs typeface="Palatino Linotype"/>
              </a:rPr>
              <a:t> So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value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message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7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25" b="1">
                <a:latin typeface="Trebuchet MS"/>
                <a:cs typeface="Trebuchet MS"/>
              </a:rPr>
              <a:t>15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576705"/>
            <a:ext cx="4572000" cy="289560"/>
            <a:chOff x="914400" y="157670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57670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5782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15360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231389"/>
            <a:ext cx="4572000" cy="289560"/>
            <a:chOff x="914400" y="2231389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2313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2329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28082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3122295"/>
            <a:ext cx="4572000" cy="289560"/>
            <a:chOff x="914400" y="3122295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312229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312388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369919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3776979"/>
            <a:ext cx="4572000" cy="289560"/>
            <a:chOff x="914400" y="3776979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377697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37785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435387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22" y="728091"/>
            <a:ext cx="4598035" cy="4412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message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'And now for something completely </a:t>
            </a:r>
            <a:r>
              <a:rPr dirty="0" sz="850" spc="-10">
                <a:latin typeface="SimSun"/>
                <a:cs typeface="SimSun"/>
              </a:rPr>
              <a:t>different'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6.283185307179586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 marR="3902075">
              <a:lnSpc>
                <a:spcPct val="220800"/>
              </a:lnSpc>
              <a:spcBef>
                <a:spcPts val="37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message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0"/>
              </a:spcBef>
            </a:pPr>
            <a:r>
              <a:rPr dirty="0" sz="1900" spc="-270" b="1">
                <a:latin typeface="Trebuchet MS"/>
                <a:cs typeface="Trebuchet MS"/>
              </a:rPr>
              <a:t>State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Diagrams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common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variables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paper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arrow pointing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5226689"/>
            <a:ext cx="2912827" cy="654447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901619" y="5892738"/>
            <a:ext cx="4598035" cy="2001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figure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state </a:t>
            </a:r>
            <a:r>
              <a:rPr dirty="0" sz="1050" spc="-30" b="1">
                <a:latin typeface="Palatino Linotype"/>
                <a:cs typeface="Palatino Linotype"/>
              </a:rPr>
              <a:t>diagram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variables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(think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variable’s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mind).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diagrams throughout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book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represent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model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stores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their </a:t>
            </a:r>
            <a:r>
              <a:rPr dirty="0" sz="1050" spc="-10">
                <a:latin typeface="Palatino Linotype"/>
                <a:cs typeface="Palatino Linotype"/>
              </a:rPr>
              <a:t>values.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Variable</a:t>
            </a:r>
            <a:r>
              <a:rPr dirty="0" sz="1900" spc="-240" b="1">
                <a:latin typeface="Trebuchet MS"/>
                <a:cs typeface="Trebuchet MS"/>
              </a:rPr>
              <a:t> </a:t>
            </a:r>
            <a:r>
              <a:rPr dirty="0" sz="1900" spc="-340" b="1">
                <a:latin typeface="Trebuchet MS"/>
                <a:cs typeface="Trebuchet MS"/>
              </a:rPr>
              <a:t>Names</a:t>
            </a:r>
            <a:endParaRPr sz="1900">
              <a:latin typeface="Trebuchet MS"/>
              <a:cs typeface="Trebuchet MS"/>
            </a:endParaRPr>
          </a:p>
          <a:p>
            <a:pPr algn="just" marL="12700" marR="6350">
              <a:lnSpc>
                <a:spcPct val="100000"/>
              </a:lnSpc>
              <a:spcBef>
                <a:spcPts val="540"/>
              </a:spcBef>
            </a:pPr>
            <a:r>
              <a:rPr dirty="0" sz="1050" spc="-130">
                <a:latin typeface="Palatino Linotype"/>
                <a:cs typeface="Palatino Linotype"/>
              </a:rPr>
              <a:t>V</a:t>
            </a:r>
            <a:r>
              <a:rPr dirty="0" sz="1050" spc="-50">
                <a:latin typeface="Palatino Linotype"/>
                <a:cs typeface="Palatino Linotype"/>
              </a:rPr>
              <a:t>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tain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umbers,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</a:t>
            </a:r>
            <a:r>
              <a:rPr dirty="0" sz="1050" spc="-140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legal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uppercase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ven‐ </a:t>
            </a:r>
            <a:r>
              <a:rPr dirty="0" sz="1050" spc="-40">
                <a:latin typeface="Palatino Linotype"/>
                <a:cs typeface="Palatino Linotype"/>
              </a:rPr>
              <a:t>tional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lowercase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names.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 b="1">
                <a:latin typeface="Trebuchet MS"/>
                <a:cs typeface="Trebuchet MS"/>
              </a:rPr>
              <a:t>16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Variables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35" b="1">
                <a:latin typeface="Trebuchet MS"/>
                <a:cs typeface="Trebuchet MS"/>
              </a:rPr>
              <a:t>Statements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660902"/>
            <a:ext cx="4572000" cy="289560"/>
            <a:chOff x="914400" y="1660902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66090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6624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56165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883192"/>
            <a:ext cx="4572000" cy="289560"/>
            <a:chOff x="914400" y="2883192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88319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8847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78393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105481"/>
            <a:ext cx="4572000" cy="289560"/>
            <a:chOff x="914400" y="4105481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10548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10706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00622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668" y="650030"/>
            <a:ext cx="4598035" cy="4987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punctuation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underscore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character,</a:t>
            </a:r>
            <a:endParaRPr sz="1050">
              <a:latin typeface="Palatino Linotype"/>
              <a:cs typeface="Palatino Linotype"/>
            </a:endParaRPr>
          </a:p>
          <a:p>
            <a:pPr marL="12700" marR="45085">
              <a:lnSpc>
                <a:spcPct val="104700"/>
              </a:lnSpc>
            </a:pPr>
            <a:r>
              <a:rPr dirty="0" sz="1000">
                <a:latin typeface="SimSun"/>
                <a:cs typeface="SimSun"/>
              </a:rPr>
              <a:t>_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often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used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names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multiple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words,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such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your_name</a:t>
            </a:r>
            <a:r>
              <a:rPr dirty="0" sz="1000" spc="-4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air </a:t>
            </a:r>
            <a:r>
              <a:rPr dirty="0" sz="1000" spc="-10">
                <a:latin typeface="SimSun"/>
                <a:cs typeface="SimSun"/>
              </a:rPr>
              <a:t>speed_of_unladen_swallow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an </a:t>
            </a:r>
            <a:r>
              <a:rPr dirty="0" sz="1050" spc="-45">
                <a:latin typeface="Palatino Linotype"/>
                <a:cs typeface="Palatino Linotype"/>
              </a:rPr>
              <a:t>illegal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name,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syntax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error.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million!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illegal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punctuation:</a:t>
            </a:r>
            <a:endParaRPr sz="1050">
              <a:latin typeface="Palatino Linotype"/>
              <a:cs typeface="Palatino Linotype"/>
            </a:endParaRPr>
          </a:p>
          <a:p>
            <a:pPr marL="147320" marR="3416300" indent="-1079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million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!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1000000 </a:t>
            </a:r>
            <a:r>
              <a:rPr dirty="0" sz="850">
                <a:latin typeface="SimSun"/>
                <a:cs typeface="SimSun"/>
              </a:rPr>
              <a:t>Cell In[15], line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490"/>
              </a:lnSpc>
            </a:pPr>
            <a:r>
              <a:rPr dirty="0" sz="850">
                <a:latin typeface="SimSun"/>
                <a:cs typeface="SimSun"/>
              </a:rPr>
              <a:t>million! = </a:t>
            </a:r>
            <a:r>
              <a:rPr dirty="0" sz="850" spc="-10">
                <a:latin typeface="SimSun"/>
                <a:cs typeface="SimSun"/>
              </a:rPr>
              <a:t>1000000</a:t>
            </a:r>
            <a:endParaRPr sz="850">
              <a:latin typeface="SimSun"/>
              <a:cs typeface="SimSun"/>
            </a:endParaRPr>
          </a:p>
          <a:p>
            <a:pPr marL="63309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SyntaxError: invalid </a:t>
            </a:r>
            <a:r>
              <a:rPr dirty="0" sz="850" spc="-10">
                <a:latin typeface="SimSun"/>
                <a:cs typeface="SimSun"/>
              </a:rPr>
              <a:t>syntax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76trombones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illegal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number:</a:t>
            </a:r>
            <a:endParaRPr sz="1050">
              <a:latin typeface="Palatino Linotype"/>
              <a:cs typeface="Palatino Linotype"/>
            </a:endParaRPr>
          </a:p>
          <a:p>
            <a:pPr marL="147320" marR="3146425" indent="-1079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76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trombones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'big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parade' </a:t>
            </a:r>
            <a:r>
              <a:rPr dirty="0" sz="850">
                <a:latin typeface="SimSun"/>
                <a:cs typeface="SimSun"/>
              </a:rPr>
              <a:t>Cell In[16], line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484"/>
              </a:lnSpc>
            </a:pPr>
            <a:r>
              <a:rPr dirty="0" sz="850">
                <a:latin typeface="SimSun"/>
                <a:cs typeface="SimSun"/>
              </a:rPr>
              <a:t>76trombones = 'big </a:t>
            </a:r>
            <a:r>
              <a:rPr dirty="0" sz="850" spc="-10">
                <a:latin typeface="SimSun"/>
                <a:cs typeface="SimSun"/>
              </a:rPr>
              <a:t>parade'</a:t>
            </a:r>
            <a:endParaRPr sz="850">
              <a:latin typeface="SimSun"/>
              <a:cs typeface="SimSun"/>
            </a:endParaRPr>
          </a:p>
          <a:p>
            <a:pPr marL="3092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SyntaxError: invalid decimal </a:t>
            </a:r>
            <a:r>
              <a:rPr dirty="0" sz="850" spc="-10">
                <a:latin typeface="SimSun"/>
                <a:cs typeface="SimSun"/>
              </a:rPr>
              <a:t>literal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class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illegal,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obvious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why:</a:t>
            </a:r>
            <a:endParaRPr sz="1050">
              <a:latin typeface="Palatino Linotype"/>
              <a:cs typeface="Palatino Linotype"/>
            </a:endParaRPr>
          </a:p>
          <a:p>
            <a:pPr marL="4711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=</a:t>
            </a:r>
            <a:r>
              <a:rPr dirty="0" sz="850" spc="15">
                <a:solidFill>
                  <a:srgbClr val="AA0000"/>
                </a:solidFill>
                <a:latin typeface="SimSun"/>
                <a:cs typeface="SimSun"/>
              </a:rPr>
              <a:t> </a:t>
            </a:r>
            <a:r>
              <a:rPr dirty="0" sz="850" spc="-65">
                <a:solidFill>
                  <a:srgbClr val="AA0000"/>
                </a:solidFill>
                <a:latin typeface="SimSun"/>
                <a:cs typeface="SimSun"/>
              </a:rPr>
              <a:t>'</a:t>
            </a:r>
            <a:r>
              <a:rPr dirty="0" sz="850" spc="-65" b="1">
                <a:solidFill>
                  <a:srgbClr val="074487"/>
                </a:solidFill>
                <a:latin typeface="Courier New"/>
                <a:cs typeface="Courier New"/>
              </a:rPr>
              <a:t>Self</a:t>
            </a:r>
            <a:r>
              <a:rPr dirty="0" sz="850" spc="-65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Defence</a:t>
            </a:r>
            <a:r>
              <a:rPr dirty="0" sz="850" spc="2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Against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Fresh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14732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Cell In[17], line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class = 'Self-Defence Against Fresh </a:t>
            </a:r>
            <a:r>
              <a:rPr dirty="0" sz="850" spc="-10">
                <a:latin typeface="SimSun"/>
                <a:cs typeface="SimSun"/>
              </a:rPr>
              <a:t>Fruit'</a:t>
            </a:r>
            <a:endParaRPr sz="850">
              <a:latin typeface="SimSun"/>
              <a:cs typeface="SimSun"/>
            </a:endParaRPr>
          </a:p>
          <a:p>
            <a:pPr marL="57912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SyntaxError: invalid </a:t>
            </a:r>
            <a:r>
              <a:rPr dirty="0" sz="850" spc="-10">
                <a:latin typeface="SimSun"/>
                <a:cs typeface="SimSun"/>
              </a:rPr>
              <a:t>syntax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class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keyword</a:t>
            </a:r>
            <a:r>
              <a:rPr dirty="0" sz="1050" spc="-8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specify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struc‐ </a:t>
            </a:r>
            <a:r>
              <a:rPr dirty="0" sz="1050" spc="-55">
                <a:latin typeface="Palatino Linotype"/>
                <a:cs typeface="Palatino Linotype"/>
              </a:rPr>
              <a:t>ture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complete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Python’s</a:t>
            </a:r>
            <a:r>
              <a:rPr dirty="0" sz="1050" spc="-10">
                <a:latin typeface="Palatino Linotype"/>
                <a:cs typeface="Palatino Linotype"/>
              </a:rPr>
              <a:t> keywords:</a:t>
            </a:r>
            <a:endParaRPr sz="1050">
              <a:latin typeface="Palatino Linotype"/>
              <a:cs typeface="Palatino Linotype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098512" y="5734805"/>
          <a:ext cx="2762250" cy="8851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0855"/>
                <a:gridCol w="648334"/>
                <a:gridCol w="567055"/>
                <a:gridCol w="621030"/>
                <a:gridCol w="436880"/>
              </a:tblGrid>
              <a:tr h="118745">
                <a:tc>
                  <a:txBody>
                    <a:bodyPr/>
                    <a:lstStyle/>
                    <a:p>
                      <a:pPr marL="31750">
                        <a:lnSpc>
                          <a:spcPts val="835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False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835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await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835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else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835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import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835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pass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29539">
                <a:tc>
                  <a:txBody>
                    <a:bodyPr/>
                    <a:lstStyle/>
                    <a:p>
                      <a:pPr marL="31750">
                        <a:lnSpc>
                          <a:spcPts val="919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None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break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except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in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raise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29539">
                <a:tc>
                  <a:txBody>
                    <a:bodyPr/>
                    <a:lstStyle/>
                    <a:p>
                      <a:pPr marL="31750">
                        <a:lnSpc>
                          <a:spcPts val="919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True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class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finally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is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return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29539">
                <a:tc>
                  <a:txBody>
                    <a:bodyPr/>
                    <a:lstStyle/>
                    <a:p>
                      <a:pPr marL="3175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and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continue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for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lambda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try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29539">
                <a:tc>
                  <a:txBody>
                    <a:bodyPr/>
                    <a:lstStyle/>
                    <a:p>
                      <a:pPr marL="3175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as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def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from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nonlocal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while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29539">
                <a:tc>
                  <a:txBody>
                    <a:bodyPr/>
                    <a:lstStyle/>
                    <a:p>
                      <a:pPr marL="31750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assert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del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global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9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not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919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with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18745">
                <a:tc>
                  <a:txBody>
                    <a:bodyPr/>
                    <a:lstStyle/>
                    <a:p>
                      <a:pPr marL="31750">
                        <a:lnSpc>
                          <a:spcPts val="835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async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4620">
                        <a:lnSpc>
                          <a:spcPts val="835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elif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835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if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835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or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835"/>
                        </a:lnSpc>
                      </a:pPr>
                      <a:r>
                        <a:rPr dirty="0" sz="850" spc="-10">
                          <a:latin typeface="SimSun"/>
                          <a:cs typeface="SimSun"/>
                        </a:rPr>
                        <a:t>yield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901675" y="6671221"/>
            <a:ext cx="4598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memorize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development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environments,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keywords</a:t>
            </a:r>
            <a:r>
              <a:rPr dirty="0" sz="1050" spc="-60">
                <a:latin typeface="Palatino Linotype"/>
                <a:cs typeface="Palatino Linotype"/>
              </a:rPr>
              <a:t> 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color;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know.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40435" y="7731125"/>
            <a:ext cx="9588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Variable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5" b="1">
                <a:latin typeface="Trebuchet MS"/>
                <a:cs typeface="Trebuchet MS"/>
              </a:rPr>
              <a:t>Names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20" b="1">
                <a:latin typeface="Trebuchet MS"/>
                <a:cs typeface="Trebuchet MS"/>
              </a:rPr>
              <a:t>17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3569"/>
            <a:ext cx="4572000" cy="289560"/>
            <a:chOff x="914400" y="140356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356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05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56618"/>
            <a:ext cx="4572000" cy="289560"/>
            <a:chOff x="914400" y="2356618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5661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582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9335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658831"/>
            <a:ext cx="4572000" cy="289560"/>
            <a:chOff x="914400" y="3658831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65883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66041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23572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557271"/>
            <a:ext cx="4572000" cy="289560"/>
            <a:chOff x="914400" y="4557271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55727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5588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13416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890815"/>
            <a:ext cx="4572000" cy="289560"/>
            <a:chOff x="914400" y="6890815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89081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89240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746771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77482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75"/>
              <a:t>The</a:t>
            </a:r>
            <a:r>
              <a:rPr dirty="0" sz="1900" spc="-265"/>
              <a:t> </a:t>
            </a:r>
            <a:r>
              <a:rPr dirty="0" sz="1900" spc="-290"/>
              <a:t>import</a:t>
            </a:r>
            <a:r>
              <a:rPr dirty="0" sz="1900" spc="-265"/>
              <a:t> </a:t>
            </a:r>
            <a:r>
              <a:rPr dirty="0" sz="1900" spc="-300"/>
              <a:t>Statement</a:t>
            </a:r>
            <a:endParaRPr sz="1900"/>
          </a:p>
        </p:txBody>
      </p:sp>
      <p:sp>
        <p:nvSpPr>
          <p:cNvPr id="22" name="object 22" descr=""/>
          <p:cNvSpPr txBox="1"/>
          <p:nvPr/>
        </p:nvSpPr>
        <p:spPr>
          <a:xfrm>
            <a:off x="901643" y="964024"/>
            <a:ext cx="4598035" cy="641032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features,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import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fol‐ </a:t>
            </a:r>
            <a:r>
              <a:rPr dirty="0" sz="1050" spc="-75">
                <a:latin typeface="Palatino Linotype"/>
                <a:cs typeface="Palatino Linotype"/>
              </a:rPr>
              <a:t>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imports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module: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latin typeface="Courier New"/>
                <a:cs typeface="Courier New"/>
              </a:rPr>
              <a:t>math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5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module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collection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math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provides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SimSun"/>
                <a:cs typeface="SimSun"/>
              </a:rPr>
              <a:t>pi</a:t>
            </a:r>
            <a:r>
              <a:rPr dirty="0" sz="10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mathematical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constant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denoted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 i="1">
                <a:latin typeface="Palatino Linotype"/>
                <a:cs typeface="Palatino Linotype"/>
              </a:rPr>
              <a:t>π</a:t>
            </a:r>
            <a:r>
              <a:rPr dirty="0" sz="1050" spc="-90">
                <a:latin typeface="Palatino Linotype"/>
                <a:cs typeface="Palatino Linotype"/>
              </a:rPr>
              <a:t>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 </a:t>
            </a:r>
            <a:r>
              <a:rPr dirty="0" sz="850" spc="-10">
                <a:latin typeface="SimSun"/>
                <a:cs typeface="SimSun"/>
              </a:rPr>
              <a:t>3.141592653589793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889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60" b="1">
                <a:latin typeface="Palatino Linotype"/>
                <a:cs typeface="Palatino Linotype"/>
              </a:rPr>
              <a:t>p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20" b="1">
                <a:latin typeface="Palatino Linotype"/>
                <a:cs typeface="Palatino Linotype"/>
              </a:rPr>
              <a:t>a</a:t>
            </a:r>
            <a:r>
              <a:rPr dirty="0" sz="1050" spc="-30" b="1">
                <a:latin typeface="Palatino Linotype"/>
                <a:cs typeface="Palatino Linotype"/>
              </a:rPr>
              <a:t>t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15" b="1">
                <a:latin typeface="Palatino Linotype"/>
                <a:cs typeface="Palatino Linotype"/>
              </a:rPr>
              <a:t>r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SimSun"/>
                <a:cs typeface="SimSun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)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sqrt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square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roots:</a:t>
            </a:r>
            <a:endParaRPr sz="1050">
              <a:latin typeface="Palatino Linotype"/>
              <a:cs typeface="Palatino Linotype"/>
            </a:endParaRPr>
          </a:p>
          <a:p>
            <a:pPr marL="39370" marR="38481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25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5.0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pow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raises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power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number: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pow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25.0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At 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point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ways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raise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power: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SimSun"/>
                <a:cs typeface="SimSun"/>
              </a:rPr>
              <a:t>math.pow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exponentiation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**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Either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fine,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oper</a:t>
            </a:r>
            <a:r>
              <a:rPr dirty="0" sz="1050" spc="-50">
                <a:latin typeface="Palatino Linotype"/>
                <a:cs typeface="Palatino Linotype"/>
              </a:rPr>
              <a:t>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95" b="1">
                <a:latin typeface="Trebuchet MS"/>
                <a:cs typeface="Trebuchet MS"/>
              </a:rPr>
              <a:t>Expressions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Statements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95">
                <a:latin typeface="Palatino Linotype"/>
                <a:cs typeface="Palatino Linotype"/>
              </a:rPr>
              <a:t>’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ting-poi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collection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tors.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several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ts:</a:t>
            </a:r>
            <a:endParaRPr sz="1050">
              <a:latin typeface="Palatino Linotype"/>
              <a:cs typeface="Palatino Linotype"/>
            </a:endParaRPr>
          </a:p>
          <a:p>
            <a:pPr marL="39370" marR="3092450">
              <a:lnSpc>
                <a:spcPts val="2250"/>
              </a:lnSpc>
              <a:spcBef>
                <a:spcPts val="9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19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 spc="-25"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695" y="7731125"/>
            <a:ext cx="173926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18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Variables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Statements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2060"/>
            <a:ext cx="4572000" cy="289560"/>
            <a:chOff x="914400" y="124206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206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36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27554"/>
            <a:ext cx="4572000" cy="289560"/>
            <a:chOff x="914400" y="2027554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27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02914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448055"/>
            <a:ext cx="4572000" cy="289560"/>
            <a:chOff x="914400" y="3448055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44805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44964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402495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4498980"/>
            <a:ext cx="4572000" cy="397510"/>
            <a:chOff x="914400" y="4498980"/>
            <a:chExt cx="4572000" cy="3975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49898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5005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518382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914400" y="5505369"/>
            <a:ext cx="4572000" cy="397510"/>
            <a:chOff x="914400" y="5505369"/>
            <a:chExt cx="4572000" cy="39751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550536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55069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62981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914400" y="6612174"/>
            <a:ext cx="4572000" cy="397510"/>
            <a:chOff x="914400" y="6612174"/>
            <a:chExt cx="4572000" cy="39751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66121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66137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914400" y="74049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901608" y="650030"/>
            <a:ext cx="4598035" cy="66617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s</a:t>
            </a:r>
            <a:r>
              <a:rPr dirty="0" sz="1050" spc="-10" b="1">
                <a:latin typeface="Palatino Linotype"/>
                <a:cs typeface="Palatino Linotype"/>
              </a:rPr>
              <a:t>ta</a:t>
            </a:r>
            <a:r>
              <a:rPr dirty="0" sz="1050" spc="-25" b="1">
                <a:latin typeface="Palatino Linotype"/>
                <a:cs typeface="Palatino Linotype"/>
              </a:rPr>
              <a:t>t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50" spc="-40">
                <a:latin typeface="Palatino Linotype"/>
                <a:cs typeface="Palatino Linotype"/>
              </a:rPr>
              <a:t>effect,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70">
                <a:latin typeface="Palatino Linotype"/>
                <a:cs typeface="Palatino Linotype"/>
              </a:rPr>
              <a:t>gives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itself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Similarly,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import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effect—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imports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module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contains—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visible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latin typeface="Courier New"/>
                <a:cs typeface="Courier New"/>
              </a:rPr>
              <a:t>math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050" spc="-45">
                <a:latin typeface="Palatino Linotype"/>
                <a:cs typeface="Palatino Linotype"/>
              </a:rPr>
              <a:t>Computing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evaluation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execution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75" b="1">
                <a:latin typeface="Trebuchet MS"/>
                <a:cs typeface="Trebuchet MS"/>
              </a:rPr>
              <a:t>The</a:t>
            </a:r>
            <a:r>
              <a:rPr dirty="0" sz="1900" spc="-265" b="1">
                <a:latin typeface="Trebuchet MS"/>
                <a:cs typeface="Trebuchet MS"/>
              </a:rPr>
              <a:t> print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Function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evaluate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displayed: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5">
                <a:latin typeface="SimSun"/>
                <a:cs typeface="SimSun"/>
              </a:rPr>
              <a:t>18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evaluate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dis‐ </a:t>
            </a:r>
            <a:r>
              <a:rPr dirty="0" sz="1050" spc="-10">
                <a:latin typeface="Palatino Linotype"/>
                <a:cs typeface="Palatino Linotype"/>
              </a:rPr>
              <a:t>played: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20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010025">
              <a:lnSpc>
                <a:spcPts val="850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25">
                <a:latin typeface="SimSun"/>
                <a:cs typeface="SimSun"/>
              </a:rPr>
              <a:t>19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25">
                <a:latin typeface="SimSun"/>
                <a:cs typeface="SimSun"/>
              </a:rPr>
              <a:t>20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floating-point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33680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'The value of pi is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approximately'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50">
              <a:latin typeface="SimSun"/>
              <a:cs typeface="SimSun"/>
            </a:endParaRPr>
          </a:p>
          <a:p>
            <a:pPr marL="39370" marR="282257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The value of pi is </a:t>
            </a:r>
            <a:r>
              <a:rPr dirty="0" sz="850" spc="-10">
                <a:latin typeface="SimSun"/>
                <a:cs typeface="SimSun"/>
              </a:rPr>
              <a:t>approximately 3.141592653589793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439271" y="7731125"/>
            <a:ext cx="1059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85" b="1">
                <a:latin typeface="Trebuchet MS"/>
                <a:cs typeface="Trebuchet MS"/>
              </a:rPr>
              <a:t>The</a:t>
            </a:r>
            <a:r>
              <a:rPr dirty="0" sz="900" spc="-130" b="1">
                <a:latin typeface="Trebuchet MS"/>
                <a:cs typeface="Trebuchet MS"/>
              </a:rPr>
              <a:t> print </a:t>
            </a:r>
            <a:r>
              <a:rPr dirty="0" sz="900" spc="-110" b="1">
                <a:latin typeface="Trebuchet MS"/>
                <a:cs typeface="Trebuchet MS"/>
              </a:rPr>
              <a:t>Function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10" b="1">
                <a:latin typeface="Trebuchet MS"/>
                <a:cs typeface="Trebuchet MS"/>
              </a:rPr>
              <a:t>19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019258"/>
            <a:ext cx="4572000" cy="289560"/>
            <a:chOff x="914400" y="301925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01925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0208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5961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917698"/>
            <a:ext cx="4572000" cy="289560"/>
            <a:chOff x="914400" y="391769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91769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9192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4945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976157"/>
            <a:ext cx="4572000" cy="289560"/>
            <a:chOff x="914400" y="4976157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97615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9777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55305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278370"/>
            <a:ext cx="4572000" cy="289560"/>
            <a:chOff x="914400" y="6278370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27837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27995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8552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39" y="650030"/>
            <a:ext cx="4598035" cy="6111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expressions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separated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commas:</a:t>
            </a:r>
            <a:endParaRPr sz="1050">
              <a:latin typeface="Palatino Linotype"/>
              <a:cs typeface="Palatino Linotype"/>
            </a:endParaRPr>
          </a:p>
          <a:p>
            <a:pPr marL="39370" marR="18510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'The value of pi is approximately'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The value of pi is approximately </a:t>
            </a:r>
            <a:r>
              <a:rPr dirty="0" sz="850" spc="-10">
                <a:latin typeface="SimSun"/>
                <a:cs typeface="SimSun"/>
              </a:rPr>
              <a:t>3.141592653589793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60">
                <a:latin typeface="Palatino Linotype"/>
                <a:cs typeface="Palatino Linotype"/>
              </a:rPr>
              <a:t>Notice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space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Arguments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When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parentheses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argument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Nor‐ </a:t>
            </a:r>
            <a:r>
              <a:rPr dirty="0" sz="1050" spc="-25">
                <a:latin typeface="Palatino Linotype"/>
                <a:cs typeface="Palatino Linotype"/>
              </a:rPr>
              <a:t>mally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would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explain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why,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technical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meaning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term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has </a:t>
            </a:r>
            <a:r>
              <a:rPr dirty="0" sz="1050" spc="-55">
                <a:latin typeface="Palatino Linotype"/>
                <a:cs typeface="Palatino Linotype"/>
              </a:rPr>
              <a:t>almost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try.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55"/>
              </a:spcBef>
            </a:pP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int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'101'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101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math.pow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pow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25.0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Some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</a:t>
            </a:r>
            <a:r>
              <a:rPr dirty="0" sz="1050" spc="-45">
                <a:latin typeface="Palatino Linotype"/>
                <a:cs typeface="Palatino Linotype"/>
              </a:rPr>
              <a:t> additional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optional.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number: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'101'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digits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101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5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10.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00" spc="-40">
                <a:latin typeface="SimSun"/>
                <a:cs typeface="SimSun"/>
              </a:rPr>
              <a:t>round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second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decimal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places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round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3.142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673" y="7731125"/>
            <a:ext cx="173926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20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Variables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Statements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27993"/>
            <a:ext cx="4572000" cy="289560"/>
            <a:chOff x="914400" y="182799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279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295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4048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726433"/>
            <a:ext cx="4572000" cy="289560"/>
            <a:chOff x="914400" y="2726433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7264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7280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3033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3792426"/>
            <a:ext cx="4572000" cy="289560"/>
            <a:chOff x="914400" y="3792426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379242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37940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36932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362190"/>
            <a:ext cx="4572000" cy="397510"/>
            <a:chOff x="914400" y="6362190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36219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3637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901635" y="657564"/>
            <a:ext cx="4598035" cy="6010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23368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'Any'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'number'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'of'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'arguments'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Any number of </a:t>
            </a:r>
            <a:r>
              <a:rPr dirty="0" sz="850" spc="-10">
                <a:latin typeface="SimSun"/>
                <a:cs typeface="SimSun"/>
              </a:rPr>
              <a:t>arguments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float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'123.0'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TypeError: float expected at most 1 argument, got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pow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pow expected 2 arguments, got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 </a:t>
            </a:r>
            <a:r>
              <a:rPr dirty="0" sz="1050" spc="-50">
                <a:latin typeface="Palatino Linotype"/>
                <a:cs typeface="Palatino Linotype"/>
              </a:rPr>
              <a:t>argument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type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handle,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that’s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Type </a:t>
            </a:r>
            <a:r>
              <a:rPr dirty="0" sz="1000" spc="-10">
                <a:latin typeface="SimSun"/>
                <a:cs typeface="SimSun"/>
              </a:rPr>
              <a:t>Error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'123'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must be real number, not </a:t>
            </a:r>
            <a:r>
              <a:rPr dirty="0" sz="850" spc="-25">
                <a:latin typeface="SimSun"/>
                <a:cs typeface="SimSun"/>
              </a:rPr>
              <a:t>str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annoying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getting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55">
                <a:latin typeface="Palatino Linotype"/>
                <a:cs typeface="Palatino Linotype"/>
              </a:rPr>
              <a:t>detect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50" b="1">
                <a:latin typeface="Trebuchet MS"/>
                <a:cs typeface="Trebuchet MS"/>
              </a:rPr>
              <a:t>Comments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114">
                <a:latin typeface="Palatino Linotype"/>
                <a:cs typeface="Palatino Linotype"/>
              </a:rPr>
              <a:t>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programs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bigger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complicated,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get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difficult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Formal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dense,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often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difficult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piece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figure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out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reason,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idea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natural </a:t>
            </a:r>
            <a:r>
              <a:rPr dirty="0" sz="1050" spc="-80">
                <a:latin typeface="Palatino Linotype"/>
                <a:cs typeface="Palatino Linotype"/>
              </a:rPr>
              <a:t>language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doing.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comments</a:t>
            </a:r>
            <a:r>
              <a:rPr dirty="0" sz="1050" spc="-45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start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#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symbol: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number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seconds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42:42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25179" y="7731125"/>
            <a:ext cx="7740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0" b="1">
                <a:latin typeface="Trebuchet MS"/>
                <a:cs typeface="Trebuchet MS"/>
              </a:rPr>
              <a:t>Comments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289560"/>
            <a:chOff x="914400" y="108203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431329"/>
            <a:ext cx="4572000" cy="289560"/>
            <a:chOff x="914400" y="243132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43132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4329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056804"/>
            <a:ext cx="4572000" cy="289560"/>
            <a:chOff x="914400" y="3056804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05680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0583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585" y="650030"/>
            <a:ext cx="4598035" cy="6727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case,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appears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itself.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35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line: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  <a:tabLst>
                <a:tab pos="1226820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miles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1.61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10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kilometers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miles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0000"/>
              </a:lnSpc>
              <a:spcBef>
                <a:spcPts val="580"/>
              </a:spcBef>
            </a:pPr>
            <a:r>
              <a:rPr dirty="0" sz="1050" spc="-70">
                <a:latin typeface="Palatino Linotype"/>
                <a:cs typeface="Palatino Linotype"/>
              </a:rPr>
              <a:t>E</a:t>
            </a:r>
            <a:r>
              <a:rPr dirty="0" sz="1050" spc="-70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55">
                <a:latin typeface="Palatino Linotype"/>
                <a:cs typeface="Palatino Linotype"/>
              </a:rPr>
              <a:t>ything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#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ignored—it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execu‐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Comme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docume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non-obvious </a:t>
            </a:r>
            <a:r>
              <a:rPr dirty="0" sz="1050" spc="-50">
                <a:latin typeface="Palatino Linotype"/>
                <a:cs typeface="Palatino Linotype"/>
              </a:rPr>
              <a:t>fe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reasonable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assume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figure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 i="1">
                <a:latin typeface="Palatino Linotype"/>
                <a:cs typeface="Palatino Linotype"/>
              </a:rPr>
              <a:t>w</a:t>
            </a:r>
            <a:r>
              <a:rPr dirty="0" sz="1050" i="1">
                <a:latin typeface="Palatino Linotype"/>
                <a:cs typeface="Palatino Linotype"/>
              </a:rPr>
              <a:t>h</a:t>
            </a:r>
            <a:r>
              <a:rPr dirty="0" sz="1050" spc="20" i="1">
                <a:latin typeface="Palatino Linotype"/>
                <a:cs typeface="Palatino Linotype"/>
              </a:rPr>
              <a:t>a</a:t>
            </a:r>
            <a:r>
              <a:rPr dirty="0" sz="1050" spc="-30" i="1">
                <a:latin typeface="Palatino Linotype"/>
                <a:cs typeface="Palatino Linotype"/>
              </a:rPr>
              <a:t>t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does;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 i="1">
                <a:latin typeface="Palatino Linotype"/>
                <a:cs typeface="Palatino Linotype"/>
              </a:rPr>
              <a:t>w</a:t>
            </a:r>
            <a:r>
              <a:rPr dirty="0" sz="1050" spc="-20" i="1">
                <a:latin typeface="Palatino Linotype"/>
                <a:cs typeface="Palatino Linotype"/>
              </a:rPr>
              <a:t>h</a:t>
            </a:r>
            <a:r>
              <a:rPr dirty="0" sz="1050" spc="-65" i="1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redundant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useless: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  <a:tabLst>
                <a:tab pos="579120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8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assign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8</a:t>
            </a:r>
            <a:r>
              <a:rPr dirty="0" sz="850" spc="-8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v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  <a:tabLst>
                <a:tab pos="579120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8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velocity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miles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hour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45">
                <a:latin typeface="Palatino Linotype"/>
                <a:cs typeface="Palatino Linotype"/>
              </a:rPr>
              <a:t>Good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names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reduce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comments,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 </a:t>
            </a:r>
            <a:r>
              <a:rPr dirty="0" sz="1050" spc="-30">
                <a:latin typeface="Palatino Linotype"/>
                <a:cs typeface="Palatino Linotype"/>
              </a:rPr>
              <a:t>long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names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make </a:t>
            </a:r>
            <a:r>
              <a:rPr dirty="0" sz="1050" spc="-60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mplex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expressions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trade-</a:t>
            </a:r>
            <a:r>
              <a:rPr dirty="0" sz="1050" spc="-20">
                <a:latin typeface="Palatino Linotype"/>
                <a:cs typeface="Palatino Linotype"/>
              </a:rPr>
              <a:t>off.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Three </a:t>
            </a:r>
            <a:r>
              <a:rPr dirty="0" sz="1050" spc="-20">
                <a:latin typeface="Palatino Linotype"/>
                <a:cs typeface="Palatino Linotype"/>
              </a:rPr>
              <a:t>kinds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10">
                <a:latin typeface="Palatino Linotype"/>
                <a:cs typeface="Palatino Linotype"/>
              </a:rPr>
              <a:t>errors</a:t>
            </a:r>
            <a:r>
              <a:rPr dirty="0" sz="1050">
                <a:latin typeface="Palatino Linotype"/>
                <a:cs typeface="Palatino Linotype"/>
              </a:rPr>
              <a:t> can occur in a </a:t>
            </a:r>
            <a:r>
              <a:rPr dirty="0" sz="1050" spc="-35">
                <a:latin typeface="Palatino Linotype"/>
                <a:cs typeface="Palatino Linotype"/>
              </a:rPr>
              <a:t>program: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syntax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sema</a:t>
            </a:r>
            <a:r>
              <a:rPr dirty="0" sz="1050" spc="-45">
                <a:latin typeface="Palatino Linotype"/>
                <a:cs typeface="Palatino Linotype"/>
              </a:rPr>
              <a:t>ntic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distinguish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among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down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quickly: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60" b="1">
                <a:latin typeface="Palatino Linotype"/>
                <a:cs typeface="Palatino Linotype"/>
              </a:rPr>
              <a:t>Syntax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error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140">
                <a:latin typeface="Palatino Linotype"/>
                <a:cs typeface="Palatino Linotype"/>
              </a:rPr>
              <a:t>“</a:t>
            </a:r>
            <a:r>
              <a:rPr dirty="0" sz="1050" spc="-65">
                <a:latin typeface="Palatino Linotype"/>
                <a:cs typeface="Palatino Linotype"/>
              </a:rPr>
              <a:t>Sy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tax”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tax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75">
                <a:latin typeface="Palatino Linotype"/>
                <a:cs typeface="Palatino Linotype"/>
              </a:rPr>
              <a:t>ywhere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pro‐ </a:t>
            </a:r>
            <a:r>
              <a:rPr dirty="0" sz="1050" spc="-55">
                <a:latin typeface="Palatino Linotype"/>
                <a:cs typeface="Palatino Linotype"/>
              </a:rPr>
              <a:t>gram.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immedi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tel</a:t>
            </a:r>
            <a:r>
              <a:rPr dirty="0" sz="1050" spc="-15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60" b="1">
                <a:latin typeface="Palatino Linotype"/>
                <a:cs typeface="Palatino Linotype"/>
              </a:rPr>
              <a:t>Runtime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error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syntax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running.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some‐ </a:t>
            </a:r>
            <a:r>
              <a:rPr dirty="0" sz="1050" spc="-45">
                <a:latin typeface="Palatino Linotype"/>
                <a:cs typeface="Palatino Linotype"/>
              </a:rPr>
              <a:t>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message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stops.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runtime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error.</a:t>
            </a:r>
            <a:r>
              <a:rPr dirty="0" sz="1050">
                <a:latin typeface="Palatino Linotype"/>
                <a:cs typeface="Palatino Linotype"/>
              </a:rPr>
              <a:t> It is </a:t>
            </a:r>
            <a:r>
              <a:rPr dirty="0" sz="1050" spc="-2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 </a:t>
            </a:r>
            <a:r>
              <a:rPr dirty="0" sz="1050" spc="-35" b="1">
                <a:latin typeface="Palatino Linotype"/>
                <a:cs typeface="Palatino Linotype"/>
              </a:rPr>
              <a:t>exception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exceptional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happened.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Semantic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error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“</a:t>
            </a:r>
            <a:r>
              <a:rPr dirty="0" sz="1050" spc="-60">
                <a:latin typeface="Palatino Linotype"/>
                <a:cs typeface="Palatino Linotype"/>
              </a:rPr>
              <a:t>sema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rel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meaning.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sema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messages,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tended.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</a:t>
            </a:r>
            <a:r>
              <a:rPr dirty="0" sz="1050" spc="-60">
                <a:latin typeface="Palatino Linotype"/>
                <a:cs typeface="Palatino Linotype"/>
              </a:rPr>
              <a:t>de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</a:t>
            </a:r>
            <a:r>
              <a:rPr dirty="0" sz="1050" spc="-15">
                <a:latin typeface="Palatino Linotype"/>
                <a:cs typeface="Palatino Linotype"/>
              </a:rPr>
              <a:t>f</a:t>
            </a:r>
            <a:r>
              <a:rPr dirty="0" sz="1050" spc="-65">
                <a:latin typeface="Palatino Linotype"/>
                <a:cs typeface="Palatino Linotype"/>
              </a:rPr>
              <a:t>ying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sema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tricky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looking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output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pro‐ </a:t>
            </a:r>
            <a:r>
              <a:rPr dirty="0" sz="1050" spc="-65">
                <a:latin typeface="Palatino Linotype"/>
                <a:cs typeface="Palatino Linotype"/>
              </a:rPr>
              <a:t>gram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65">
                <a:latin typeface="Palatino Linotype"/>
                <a:cs typeface="Palatino Linotype"/>
              </a:rPr>
              <a:t>ying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figure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doing.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1716" y="7731125"/>
            <a:ext cx="173926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22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Variables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Statements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227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136775"/>
            <a:ext cx="4572000" cy="289560"/>
            <a:chOff x="914400" y="213677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1367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1383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1367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195234"/>
            <a:ext cx="4572000" cy="289560"/>
            <a:chOff x="914400" y="3195234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19523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1968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77213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638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illegal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syntax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error:</a:t>
            </a:r>
            <a:endParaRPr sz="1050">
              <a:latin typeface="Palatino Linotype"/>
              <a:cs typeface="Palatino Linotype"/>
            </a:endParaRPr>
          </a:p>
          <a:p>
            <a:pPr marL="147320" marR="3416300" indent="-1079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million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!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1000000 </a:t>
            </a:r>
            <a:r>
              <a:rPr dirty="0" sz="850">
                <a:latin typeface="SimSun"/>
                <a:cs typeface="SimSun"/>
              </a:rPr>
              <a:t>Cell In[43], line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490"/>
              </a:lnSpc>
            </a:pPr>
            <a:r>
              <a:rPr dirty="0" sz="850">
                <a:latin typeface="SimSun"/>
                <a:cs typeface="SimSun"/>
              </a:rPr>
              <a:t>million! = </a:t>
            </a:r>
            <a:r>
              <a:rPr dirty="0" sz="850" spc="-10">
                <a:latin typeface="SimSun"/>
                <a:cs typeface="SimSun"/>
              </a:rPr>
              <a:t>1000000</a:t>
            </a:r>
            <a:endParaRPr sz="850">
              <a:latin typeface="SimSun"/>
              <a:cs typeface="SimSun"/>
            </a:endParaRPr>
          </a:p>
          <a:p>
            <a:pPr marL="63309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SyntaxError: invalid </a:t>
            </a:r>
            <a:r>
              <a:rPr dirty="0" sz="850" spc="-10">
                <a:latin typeface="SimSun"/>
                <a:cs typeface="SimSun"/>
              </a:rPr>
              <a:t>syntax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support,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runtime</a:t>
            </a:r>
            <a:r>
              <a:rPr dirty="0" sz="1050" spc="-10">
                <a:latin typeface="Palatino Linotype"/>
                <a:cs typeface="Palatino Linotype"/>
              </a:rPr>
              <a:t> error: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'126'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unsupported operand type(s) for /: 'str' and </a:t>
            </a:r>
            <a:r>
              <a:rPr dirty="0" sz="850" spc="-10">
                <a:latin typeface="SimSun"/>
                <a:cs typeface="SimSun"/>
              </a:rPr>
              <a:t>'int'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55">
                <a:latin typeface="Palatino Linotype"/>
                <a:cs typeface="Palatino Linotype"/>
              </a:rPr>
              <a:t>Finally,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semantic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Suppose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aver‐ </a:t>
            </a:r>
            <a:r>
              <a:rPr dirty="0" sz="1050" spc="-85">
                <a:latin typeface="Palatino Linotype"/>
                <a:cs typeface="Palatino Linotype"/>
              </a:rPr>
              <a:t>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3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2.5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1600"/>
              </a:lnSpc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evalu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ted,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produce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message,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tax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verage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sema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tended.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0" b="1">
                <a:latin typeface="Palatino Linotype"/>
                <a:cs typeface="Palatino Linotype"/>
              </a:rPr>
              <a:t>variable: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value.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assignment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statement: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variable.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latin typeface="Palatino Linotype"/>
                <a:cs typeface="Palatino Linotype"/>
              </a:rPr>
              <a:t>state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diagram:</a:t>
            </a:r>
            <a:r>
              <a:rPr dirty="0" sz="1050" spc="3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graphical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representation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they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70" b="1">
                <a:latin typeface="Palatino Linotype"/>
                <a:cs typeface="Palatino Linotype"/>
              </a:rPr>
              <a:t>keyword: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specify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structure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import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statement: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module: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code,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some‐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20" b="1">
                <a:latin typeface="Palatino Linotype"/>
                <a:cs typeface="Palatino Linotype"/>
              </a:rPr>
              <a:t>dot</a:t>
            </a:r>
            <a:r>
              <a:rPr dirty="0" sz="1050" spc="-50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operator:</a:t>
            </a:r>
            <a:r>
              <a:rPr dirty="0" sz="1050" spc="-40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access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speci‐ </a:t>
            </a:r>
            <a:r>
              <a:rPr dirty="0" sz="1050" spc="-60">
                <a:latin typeface="Palatino Linotype"/>
                <a:cs typeface="Palatino Linotype"/>
              </a:rPr>
              <a:t>fying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statement: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command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action.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evaluate: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value.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5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23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1" y="573829"/>
            <a:ext cx="4598035" cy="6757034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execute: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Run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says.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argument: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argu‐ </a:t>
            </a:r>
            <a:r>
              <a:rPr dirty="0" sz="1050" spc="-60">
                <a:latin typeface="Palatino Linotype"/>
                <a:cs typeface="Palatino Linotype"/>
              </a:rPr>
              <a:t>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function.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comment: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Text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included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10">
                <a:latin typeface="Palatino Linotype"/>
                <a:cs typeface="Palatino Linotype"/>
              </a:rPr>
              <a:t> execution.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runtime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error: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exit.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exception: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detected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running.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semantic</a:t>
            </a:r>
            <a:r>
              <a:rPr dirty="0" sz="1050" b="1">
                <a:latin typeface="Palatino Linotype"/>
                <a:cs typeface="Palatino Linotype"/>
              </a:rPr>
              <a:t> error: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error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causes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wrong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message.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65">
                <a:latin typeface="Palatino Linotype"/>
                <a:cs typeface="Palatino Linotype"/>
              </a:rPr>
              <a:t>Again,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55">
                <a:latin typeface="Palatino Linotype"/>
                <a:cs typeface="Palatino Linotype"/>
              </a:rPr>
              <a:t>encourage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topics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chapter.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50">
                <a:latin typeface="Palatino Linotype"/>
                <a:cs typeface="Palatino Linotype"/>
              </a:rPr>
              <a:t>listed,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“Why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key‐ </a:t>
            </a:r>
            <a:r>
              <a:rPr dirty="0" sz="1050" spc="-80">
                <a:latin typeface="Palatino Linotype"/>
                <a:cs typeface="Palatino Linotype"/>
              </a:rPr>
              <a:t>word?”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“Why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keywords?”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noticed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float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str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keywords.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is </a:t>
            </a:r>
            <a:r>
              <a:rPr dirty="0" sz="1050" spc="-20" i="1">
                <a:latin typeface="Palatino Linotype"/>
                <a:cs typeface="Palatino Linotype"/>
              </a:rPr>
              <a:t>legal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have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strongly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discouraged.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Ask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“Why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float,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names?”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Python?”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curious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about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any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5">
                <a:latin typeface="Palatino Linotype"/>
                <a:cs typeface="Palatino Linotype"/>
              </a:rPr>
              <a:t>them,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information.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chapter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imported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 </a:t>
            </a:r>
            <a:r>
              <a:rPr dirty="0" sz="1050" spc="-4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variables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math </a:t>
            </a:r>
            <a:r>
              <a:rPr dirty="0" sz="1050" spc="-70">
                <a:latin typeface="Palatino Linotype"/>
                <a:cs typeface="Palatino Linotype"/>
              </a:rPr>
              <a:t>module?”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math,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considered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Python?”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45">
                <a:latin typeface="Palatino Linotype"/>
                <a:cs typeface="Palatino Linotype"/>
              </a:rPr>
              <a:t>Repeating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advice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whenever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learn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feature,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errors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purpose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goes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wrong.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41935" algn="l"/>
              </a:tabLst>
            </a:pPr>
            <a:r>
              <a:rPr dirty="0" sz="1050" spc="-105">
                <a:latin typeface="Palatino Linotype"/>
                <a:cs typeface="Palatino Linotype"/>
              </a:rPr>
              <a:t>We’ve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00" spc="1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=</a:t>
            </a:r>
            <a:r>
              <a:rPr dirty="0" sz="1000" spc="5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17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legal.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17</a:t>
            </a:r>
            <a:r>
              <a:rPr dirty="0" sz="1000" spc="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=</a:t>
            </a:r>
            <a:r>
              <a:rPr dirty="0" sz="1000" spc="10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110">
                <a:latin typeface="Palatino Linotype"/>
                <a:cs typeface="Palatino Linotype"/>
              </a:rPr>
              <a:t>How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 = y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= </a:t>
            </a:r>
            <a:r>
              <a:rPr dirty="0" sz="1000" spc="-25">
                <a:latin typeface="SimSun"/>
                <a:cs typeface="SimSun"/>
              </a:rPr>
              <a:t>1</a:t>
            </a:r>
            <a:r>
              <a:rPr dirty="0" sz="1050" spc="-25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61290">
              <a:lnSpc>
                <a:spcPct val="100000"/>
              </a:lnSpc>
              <a:spcBef>
                <a:spcPts val="455"/>
              </a:spcBef>
              <a:buAutoNum type="arabicPeriod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every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semicolon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</a:t>
            </a:r>
            <a:r>
              <a:rPr dirty="0" sz="1000">
                <a:latin typeface="SimSun"/>
                <a:cs typeface="SimSun"/>
              </a:rPr>
              <a:t>;</a:t>
            </a:r>
            <a:r>
              <a:rPr dirty="0" sz="1050">
                <a:latin typeface="Palatino Linotype"/>
                <a:cs typeface="Palatino Linotype"/>
              </a:rPr>
              <a:t>).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happens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semicolon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statement?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662" y="7731125"/>
            <a:ext cx="173926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24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Variables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Statements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88" y="591695"/>
            <a:ext cx="4558030" cy="1038860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240665" indent="-161290">
              <a:lnSpc>
                <a:spcPct val="100000"/>
              </a:lnSpc>
              <a:spcBef>
                <a:spcPts val="560"/>
              </a:spcBef>
              <a:buAutoNum type="arabicPeriod" startAt="4"/>
              <a:tabLst>
                <a:tab pos="241300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period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statement?</a:t>
            </a:r>
            <a:endParaRPr sz="1050">
              <a:latin typeface="Palatino Linotype"/>
              <a:cs typeface="Palatino Linotype"/>
            </a:endParaRPr>
          </a:p>
          <a:p>
            <a:pPr marL="240665" indent="-161290">
              <a:lnSpc>
                <a:spcPct val="100000"/>
              </a:lnSpc>
              <a:spcBef>
                <a:spcPts val="455"/>
              </a:spcBef>
              <a:buAutoNum type="arabicPeriod" startAt="4"/>
              <a:tabLst>
                <a:tab pos="241300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maath</a:t>
            </a:r>
            <a:r>
              <a:rPr dirty="0" sz="1050" spc="-10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64"/>
              </a:spcBef>
            </a:pPr>
            <a:r>
              <a:rPr dirty="0" sz="1050" spc="-40">
                <a:latin typeface="Palatino Linotype"/>
                <a:cs typeface="Palatino Linotype"/>
              </a:rPr>
              <a:t>Practice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interpreter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calculator: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876288" y="1714001"/>
            <a:ext cx="464883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latin typeface="Palatino Linotype"/>
                <a:cs typeface="Palatino Linotype"/>
              </a:rPr>
              <a:t>Part</a:t>
            </a:r>
            <a:r>
              <a:rPr dirty="0" sz="1050" spc="-70" b="1">
                <a:latin typeface="Palatino Linotype"/>
                <a:cs typeface="Palatino Linotype"/>
              </a:rPr>
              <a:t> </a:t>
            </a:r>
            <a:r>
              <a:rPr dirty="0" sz="1050" b="1">
                <a:latin typeface="Palatino Linotype"/>
                <a:cs typeface="Palatino Linotype"/>
              </a:rPr>
              <a:t>1.</a:t>
            </a:r>
            <a:r>
              <a:rPr dirty="0" sz="1050" spc="-40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volume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radius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r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u="sng" baseline="38194" sz="1200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4</a:t>
            </a:r>
            <a:r>
              <a:rPr dirty="0" baseline="38194" sz="1200" spc="-127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πr</a:t>
            </a:r>
            <a:r>
              <a:rPr dirty="0" baseline="31250" sz="1200" spc="-37">
                <a:latin typeface="Palatino Linotype"/>
                <a:cs typeface="Palatino Linotype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volume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sphere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4225957" y="2564082"/>
            <a:ext cx="30480" cy="118110"/>
          </a:xfrm>
          <a:custGeom>
            <a:avLst/>
            <a:gdLst/>
            <a:ahLst/>
            <a:cxnLst/>
            <a:rect l="l" t="t" r="r" b="b"/>
            <a:pathLst>
              <a:path w="30479" h="118110">
                <a:moveTo>
                  <a:pt x="27550" y="117748"/>
                </a:moveTo>
                <a:lnTo>
                  <a:pt x="15240" y="106396"/>
                </a:lnTo>
                <a:lnTo>
                  <a:pt x="6659" y="92418"/>
                </a:lnTo>
                <a:lnTo>
                  <a:pt x="1636" y="76352"/>
                </a:lnTo>
                <a:lnTo>
                  <a:pt x="0" y="58739"/>
                </a:lnTo>
                <a:lnTo>
                  <a:pt x="1636" y="41301"/>
                </a:lnTo>
                <a:lnTo>
                  <a:pt x="6659" y="25346"/>
                </a:lnTo>
                <a:lnTo>
                  <a:pt x="15240" y="11403"/>
                </a:lnTo>
                <a:lnTo>
                  <a:pt x="27550" y="0"/>
                </a:lnTo>
                <a:lnTo>
                  <a:pt x="29910" y="3084"/>
                </a:lnTo>
                <a:lnTo>
                  <a:pt x="21190" y="13253"/>
                </a:lnTo>
                <a:lnTo>
                  <a:pt x="14748" y="26503"/>
                </a:lnTo>
                <a:lnTo>
                  <a:pt x="10756" y="41990"/>
                </a:lnTo>
                <a:lnTo>
                  <a:pt x="9387" y="58874"/>
                </a:lnTo>
                <a:lnTo>
                  <a:pt x="10775" y="75759"/>
                </a:lnTo>
                <a:lnTo>
                  <a:pt x="14798" y="91261"/>
                </a:lnTo>
                <a:lnTo>
                  <a:pt x="21246" y="104550"/>
                </a:lnTo>
                <a:lnTo>
                  <a:pt x="29910" y="114797"/>
                </a:lnTo>
                <a:lnTo>
                  <a:pt x="27550" y="117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579035" y="2564082"/>
            <a:ext cx="30480" cy="118110"/>
          </a:xfrm>
          <a:custGeom>
            <a:avLst/>
            <a:gdLst/>
            <a:ahLst/>
            <a:cxnLst/>
            <a:rect l="l" t="t" r="r" b="b"/>
            <a:pathLst>
              <a:path w="30479" h="118110">
                <a:moveTo>
                  <a:pt x="2480" y="117748"/>
                </a:moveTo>
                <a:lnTo>
                  <a:pt x="0" y="114797"/>
                </a:lnTo>
                <a:lnTo>
                  <a:pt x="8845" y="104494"/>
                </a:lnTo>
                <a:lnTo>
                  <a:pt x="15316" y="91211"/>
                </a:lnTo>
                <a:lnTo>
                  <a:pt x="19290" y="75740"/>
                </a:lnTo>
                <a:lnTo>
                  <a:pt x="20642" y="58874"/>
                </a:lnTo>
                <a:lnTo>
                  <a:pt x="19254" y="41972"/>
                </a:lnTo>
                <a:lnTo>
                  <a:pt x="15221" y="26453"/>
                </a:lnTo>
                <a:lnTo>
                  <a:pt x="8738" y="13197"/>
                </a:lnTo>
                <a:lnTo>
                  <a:pt x="0" y="3084"/>
                </a:lnTo>
                <a:lnTo>
                  <a:pt x="2480" y="0"/>
                </a:lnTo>
                <a:lnTo>
                  <a:pt x="14992" y="11462"/>
                </a:lnTo>
                <a:lnTo>
                  <a:pt x="23551" y="25413"/>
                </a:lnTo>
                <a:lnTo>
                  <a:pt x="28461" y="41376"/>
                </a:lnTo>
                <a:lnTo>
                  <a:pt x="30030" y="58874"/>
                </a:lnTo>
                <a:lnTo>
                  <a:pt x="28461" y="76352"/>
                </a:lnTo>
                <a:lnTo>
                  <a:pt x="23551" y="92284"/>
                </a:lnTo>
                <a:lnTo>
                  <a:pt x="14992" y="106229"/>
                </a:lnTo>
                <a:lnTo>
                  <a:pt x="2480" y="117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814125" y="2564082"/>
            <a:ext cx="30480" cy="118110"/>
          </a:xfrm>
          <a:custGeom>
            <a:avLst/>
            <a:gdLst/>
            <a:ahLst/>
            <a:cxnLst/>
            <a:rect l="l" t="t" r="r" b="b"/>
            <a:pathLst>
              <a:path w="30479" h="118110">
                <a:moveTo>
                  <a:pt x="27550" y="117748"/>
                </a:moveTo>
                <a:lnTo>
                  <a:pt x="15240" y="106396"/>
                </a:lnTo>
                <a:lnTo>
                  <a:pt x="6659" y="92418"/>
                </a:lnTo>
                <a:lnTo>
                  <a:pt x="1636" y="76352"/>
                </a:lnTo>
                <a:lnTo>
                  <a:pt x="0" y="58739"/>
                </a:lnTo>
                <a:lnTo>
                  <a:pt x="1636" y="41301"/>
                </a:lnTo>
                <a:lnTo>
                  <a:pt x="6659" y="25346"/>
                </a:lnTo>
                <a:lnTo>
                  <a:pt x="15240" y="11403"/>
                </a:lnTo>
                <a:lnTo>
                  <a:pt x="27550" y="0"/>
                </a:lnTo>
                <a:lnTo>
                  <a:pt x="29910" y="3084"/>
                </a:lnTo>
                <a:lnTo>
                  <a:pt x="21190" y="13253"/>
                </a:lnTo>
                <a:lnTo>
                  <a:pt x="14748" y="26503"/>
                </a:lnTo>
                <a:lnTo>
                  <a:pt x="10756" y="41990"/>
                </a:lnTo>
                <a:lnTo>
                  <a:pt x="9387" y="58874"/>
                </a:lnTo>
                <a:lnTo>
                  <a:pt x="10775" y="75759"/>
                </a:lnTo>
                <a:lnTo>
                  <a:pt x="14798" y="91261"/>
                </a:lnTo>
                <a:lnTo>
                  <a:pt x="21246" y="104550"/>
                </a:lnTo>
                <a:lnTo>
                  <a:pt x="29910" y="114797"/>
                </a:lnTo>
                <a:lnTo>
                  <a:pt x="27550" y="117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151468" y="2564082"/>
            <a:ext cx="30480" cy="118110"/>
          </a:xfrm>
          <a:custGeom>
            <a:avLst/>
            <a:gdLst/>
            <a:ahLst/>
            <a:cxnLst/>
            <a:rect l="l" t="t" r="r" b="b"/>
            <a:pathLst>
              <a:path w="30479" h="118110">
                <a:moveTo>
                  <a:pt x="2480" y="117748"/>
                </a:moveTo>
                <a:lnTo>
                  <a:pt x="0" y="114797"/>
                </a:lnTo>
                <a:lnTo>
                  <a:pt x="8845" y="104494"/>
                </a:lnTo>
                <a:lnTo>
                  <a:pt x="15316" y="91211"/>
                </a:lnTo>
                <a:lnTo>
                  <a:pt x="19290" y="75740"/>
                </a:lnTo>
                <a:lnTo>
                  <a:pt x="20642" y="58874"/>
                </a:lnTo>
                <a:lnTo>
                  <a:pt x="19254" y="41972"/>
                </a:lnTo>
                <a:lnTo>
                  <a:pt x="15221" y="26453"/>
                </a:lnTo>
                <a:lnTo>
                  <a:pt x="8738" y="13197"/>
                </a:lnTo>
                <a:lnTo>
                  <a:pt x="0" y="3084"/>
                </a:lnTo>
                <a:lnTo>
                  <a:pt x="2480" y="0"/>
                </a:lnTo>
                <a:lnTo>
                  <a:pt x="14992" y="11462"/>
                </a:lnTo>
                <a:lnTo>
                  <a:pt x="23551" y="25413"/>
                </a:lnTo>
                <a:lnTo>
                  <a:pt x="28461" y="41376"/>
                </a:lnTo>
                <a:lnTo>
                  <a:pt x="30030" y="58874"/>
                </a:lnTo>
                <a:lnTo>
                  <a:pt x="28461" y="76352"/>
                </a:lnTo>
                <a:lnTo>
                  <a:pt x="23551" y="92284"/>
                </a:lnTo>
                <a:lnTo>
                  <a:pt x="14992" y="106229"/>
                </a:lnTo>
                <a:lnTo>
                  <a:pt x="2480" y="117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876261" y="1800456"/>
            <a:ext cx="4648835" cy="3797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644525">
              <a:lnSpc>
                <a:spcPts val="930"/>
              </a:lnSpc>
              <a:spcBef>
                <a:spcPts val="100"/>
              </a:spcBef>
            </a:pPr>
            <a:r>
              <a:rPr dirty="0" sz="800" spc="-20">
                <a:latin typeface="Palatino Linotype"/>
                <a:cs typeface="Palatino Linotype"/>
              </a:rPr>
              <a:t>3</a:t>
            </a:r>
            <a:endParaRPr sz="800">
              <a:latin typeface="Palatino Linotype"/>
              <a:cs typeface="Palatino Linotype"/>
            </a:endParaRPr>
          </a:p>
          <a:p>
            <a:pPr algn="just" marL="38100">
              <a:lnSpc>
                <a:spcPts val="1230"/>
              </a:lnSpc>
            </a:pP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radius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5?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radius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vari‐</a:t>
            </a:r>
            <a:endParaRPr sz="1050">
              <a:latin typeface="Palatino Linotype"/>
              <a:cs typeface="Palatino Linotype"/>
            </a:endParaRPr>
          </a:p>
          <a:p>
            <a:pPr algn="just" marL="38100" marR="30480">
              <a:lnSpc>
                <a:spcPct val="104700"/>
              </a:lnSpc>
            </a:pPr>
            <a:r>
              <a:rPr dirty="0" sz="1050" spc="-25">
                <a:latin typeface="Palatino Linotype"/>
                <a:cs typeface="Palatino Linotype"/>
              </a:rPr>
              <a:t>able</a:t>
            </a:r>
            <a:r>
              <a:rPr dirty="0" sz="1050" spc="-45">
                <a:latin typeface="Palatino Linotype"/>
                <a:cs typeface="Palatino Linotype"/>
              </a:rPr>
              <a:t> named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volume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Display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radius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50">
                <a:latin typeface="Palatino Linotype"/>
                <a:cs typeface="Palatino Linotype"/>
              </a:rPr>
              <a:t>centimeters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volume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cubic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centimeters.</a:t>
            </a:r>
            <a:endParaRPr sz="1050">
              <a:latin typeface="Palatino Linotype"/>
              <a:cs typeface="Palatino Linotype"/>
            </a:endParaRPr>
          </a:p>
          <a:p>
            <a:pPr algn="just" marL="38100" marR="30480" indent="-635">
              <a:lnSpc>
                <a:spcPct val="100000"/>
              </a:lnSpc>
              <a:spcBef>
                <a:spcPts val="770"/>
              </a:spcBef>
            </a:pPr>
            <a:r>
              <a:rPr dirty="0" sz="1050" b="1">
                <a:latin typeface="Palatino Linotype"/>
                <a:cs typeface="Palatino Linotype"/>
              </a:rPr>
              <a:t>Part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 b="1">
                <a:latin typeface="Palatino Linotype"/>
                <a:cs typeface="Palatino Linotype"/>
              </a:rPr>
              <a:t>2.</a:t>
            </a:r>
            <a:r>
              <a:rPr dirty="0" sz="1050" spc="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rule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trigonometry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says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x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65">
                <a:latin typeface="Palatino Linotype"/>
                <a:cs typeface="Palatino Linotype"/>
              </a:rPr>
              <a:t>  </a:t>
            </a:r>
            <a:r>
              <a:rPr dirty="0" sz="1050" spc="-30">
                <a:latin typeface="Palatino Linotype"/>
                <a:cs typeface="Palatino Linotype"/>
              </a:rPr>
              <a:t>cos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x</a:t>
            </a:r>
            <a:r>
              <a:rPr dirty="0" sz="1050" spc="45" i="1">
                <a:latin typeface="Palatino Linotype"/>
                <a:cs typeface="Palatino Linotype"/>
              </a:rPr>
              <a:t> </a:t>
            </a:r>
            <a:r>
              <a:rPr dirty="0" baseline="31250" sz="1200">
                <a:latin typeface="Palatino Linotype"/>
                <a:cs typeface="Palatino Linotype"/>
              </a:rPr>
              <a:t>2 </a:t>
            </a:r>
            <a:r>
              <a:rPr dirty="0" sz="1050" spc="80">
                <a:latin typeface="Palatino Linotype"/>
                <a:cs typeface="Palatino Linotype"/>
              </a:rPr>
              <a:t>+</a:t>
            </a:r>
            <a:r>
              <a:rPr dirty="0" sz="1050" spc="49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sin </a:t>
            </a:r>
            <a:r>
              <a:rPr dirty="0" sz="1050" i="1">
                <a:latin typeface="Palatino Linotype"/>
                <a:cs typeface="Palatino Linotype"/>
              </a:rPr>
              <a:t>x</a:t>
            </a:r>
            <a:r>
              <a:rPr dirty="0" sz="1050" spc="50" i="1">
                <a:latin typeface="Palatino Linotype"/>
                <a:cs typeface="Palatino Linotype"/>
              </a:rPr>
              <a:t> </a:t>
            </a:r>
            <a:r>
              <a:rPr dirty="0" baseline="31250" sz="1200">
                <a:latin typeface="Palatino Linotype"/>
                <a:cs typeface="Palatino Linotype"/>
              </a:rPr>
              <a:t>2</a:t>
            </a:r>
            <a:r>
              <a:rPr dirty="0" baseline="31250" sz="1200" spc="75">
                <a:latin typeface="Palatino Linotype"/>
                <a:cs typeface="Palatino Linotype"/>
              </a:rPr>
              <a:t> </a:t>
            </a:r>
            <a:r>
              <a:rPr dirty="0" sz="1050" spc="80">
                <a:latin typeface="Palatino Linotype"/>
                <a:cs typeface="Palatino Linotype"/>
              </a:rPr>
              <a:t>=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1. </a:t>
            </a: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specific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x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42.</a:t>
            </a:r>
            <a:endParaRPr sz="1050">
              <a:latin typeface="Palatino Linotype"/>
              <a:cs typeface="Palatino Linotype"/>
            </a:endParaRPr>
          </a:p>
          <a:p>
            <a:pPr algn="just" marL="38100" marR="3048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math.cos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math.sin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com‐ </a:t>
            </a:r>
            <a:r>
              <a:rPr dirty="0" sz="1050" spc="-60">
                <a:latin typeface="Palatino Linotype"/>
                <a:cs typeface="Palatino Linotype"/>
              </a:rPr>
              <a:t>pute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cosine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x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squares.</a:t>
            </a:r>
            <a:endParaRPr sz="1050">
              <a:latin typeface="Palatino Linotype"/>
              <a:cs typeface="Palatino Linotype"/>
            </a:endParaRPr>
          </a:p>
          <a:p>
            <a:pPr algn="just" marL="38100" marR="304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exactly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floating-</a:t>
            </a:r>
            <a:r>
              <a:rPr dirty="0" sz="1050" spc="-45">
                <a:latin typeface="Palatino Linotype"/>
                <a:cs typeface="Palatino Linotype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 arith‐ </a:t>
            </a:r>
            <a:r>
              <a:rPr dirty="0" sz="1050" spc="-50">
                <a:latin typeface="Palatino Linotype"/>
                <a:cs typeface="Palatino Linotype"/>
              </a:rPr>
              <a:t>metic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exact—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approximately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correct.</a:t>
            </a:r>
            <a:endParaRPr sz="1050">
              <a:latin typeface="Palatino Linotype"/>
              <a:cs typeface="Palatino Linotype"/>
            </a:endParaRPr>
          </a:p>
          <a:p>
            <a:pPr algn="just" marL="38100" marR="30480" indent="-635">
              <a:lnSpc>
                <a:spcPct val="106100"/>
              </a:lnSpc>
              <a:spcBef>
                <a:spcPts val="580"/>
              </a:spcBef>
            </a:pPr>
            <a:r>
              <a:rPr dirty="0" sz="1050" b="1">
                <a:latin typeface="Palatino Linotype"/>
                <a:cs typeface="Palatino Linotype"/>
              </a:rPr>
              <a:t>Part</a:t>
            </a:r>
            <a:r>
              <a:rPr dirty="0" sz="1050" spc="-70" b="1">
                <a:latin typeface="Palatino Linotype"/>
                <a:cs typeface="Palatino Linotype"/>
              </a:rPr>
              <a:t> </a:t>
            </a:r>
            <a:r>
              <a:rPr dirty="0" sz="1050" b="1">
                <a:latin typeface="Palatino Linotype"/>
                <a:cs typeface="Palatino Linotype"/>
              </a:rPr>
              <a:t>3.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addition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pi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math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which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natural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logarithm,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familiar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SimSun"/>
                <a:cs typeface="SimSun"/>
              </a:rPr>
              <a:t>math.e</a:t>
            </a:r>
            <a:r>
              <a:rPr dirty="0" sz="1050" spc="-20">
                <a:latin typeface="Palatino Linotype"/>
                <a:cs typeface="Palatino Linotype"/>
              </a:rPr>
              <a:t>?”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Now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let’s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com‐ </a:t>
            </a:r>
            <a:r>
              <a:rPr dirty="0" sz="1050" spc="-70">
                <a:latin typeface="Palatino Linotype"/>
                <a:cs typeface="Palatino Linotype"/>
              </a:rPr>
              <a:t>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e</a:t>
            </a:r>
            <a:r>
              <a:rPr dirty="0" baseline="31250" sz="1200">
                <a:latin typeface="Palatino Linotype"/>
                <a:cs typeface="Palatino Linotype"/>
              </a:rPr>
              <a:t>2</a:t>
            </a:r>
            <a:r>
              <a:rPr dirty="0" baseline="31250" sz="1200" spc="82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ways:</a:t>
            </a:r>
            <a:endParaRPr sz="1050">
              <a:latin typeface="Palatino Linotype"/>
              <a:cs typeface="Palatino Linotype"/>
            </a:endParaRPr>
          </a:p>
          <a:p>
            <a:pPr marL="266700" indent="-161290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66700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exponentiation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SimSun"/>
                <a:cs typeface="SimSun"/>
              </a:rPr>
              <a:t>**</a:t>
            </a:r>
            <a:r>
              <a:rPr dirty="0" sz="1050" spc="-20">
                <a:latin typeface="Palatino Linotype"/>
                <a:cs typeface="Palatino Linotype"/>
              </a:rPr>
              <a:t>).</a:t>
            </a:r>
            <a:endParaRPr sz="1050">
              <a:latin typeface="Palatino Linotype"/>
              <a:cs typeface="Palatino Linotype"/>
            </a:endParaRPr>
          </a:p>
          <a:p>
            <a:pPr marL="266700" indent="-161290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66700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math.pow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power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2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66700" indent="-161290">
              <a:lnSpc>
                <a:spcPct val="100000"/>
              </a:lnSpc>
              <a:spcBef>
                <a:spcPts val="570"/>
              </a:spcBef>
              <a:buAutoNum type="arabicPeriod"/>
              <a:tabLst>
                <a:tab pos="266700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math.exp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x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e</a:t>
            </a:r>
            <a:r>
              <a:rPr dirty="0" baseline="31250" sz="1200" spc="-37" i="1">
                <a:latin typeface="Palatino Linotype"/>
                <a:cs typeface="Palatino Linotype"/>
              </a:rPr>
              <a:t>x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38100" marR="30480">
              <a:lnSpc>
                <a:spcPct val="100000"/>
              </a:lnSpc>
              <a:spcBef>
                <a:spcPts val="1000"/>
              </a:spcBef>
            </a:pPr>
            <a:r>
              <a:rPr dirty="0" sz="1050" spc="-120">
                <a:latin typeface="Palatino Linotype"/>
                <a:cs typeface="Palatino Linotype"/>
              </a:rPr>
              <a:t>You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notice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slightly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correct.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91694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25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330801"/>
            <a:ext cx="4572000" cy="505459"/>
            <a:chOff x="914400" y="5330801"/>
            <a:chExt cx="4572000" cy="505459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330801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3323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3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2327910">
              <a:lnSpc>
                <a:spcPct val="100000"/>
              </a:lnSpc>
              <a:spcBef>
                <a:spcPts val="120"/>
              </a:spcBef>
            </a:pPr>
            <a:r>
              <a:rPr dirty="0" spc="-390"/>
              <a:t>Functions</a:t>
            </a:r>
          </a:p>
        </p:txBody>
      </p:sp>
      <p:sp>
        <p:nvSpPr>
          <p:cNvPr id="8" name="object 8" descr=""/>
          <p:cNvSpPr txBox="1"/>
          <p:nvPr/>
        </p:nvSpPr>
        <p:spPr>
          <a:xfrm>
            <a:off x="901641" y="3052378"/>
            <a:ext cx="4598035" cy="432879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12700" marR="5080">
              <a:lnSpc>
                <a:spcPct val="100899"/>
              </a:lnSpc>
              <a:spcBef>
                <a:spcPts val="85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several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int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00" spc="-5">
                <a:latin typeface="SimSun"/>
                <a:cs typeface="SimSun"/>
              </a:rPr>
              <a:t>float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sqrt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pow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own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them.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lyrics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songs. </a:t>
            </a:r>
            <a:r>
              <a:rPr dirty="0" sz="1050" spc="-45">
                <a:latin typeface="Palatino Linotype"/>
                <a:cs typeface="Palatino Linotype"/>
              </a:rPr>
              <a:t>These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silly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5">
                <a:latin typeface="Palatino Linotype"/>
                <a:cs typeface="Palatino Linotype"/>
              </a:rPr>
              <a:t>porta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ture—the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ability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own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found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introduces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for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repeat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computation.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0" b="1">
                <a:latin typeface="Trebuchet MS"/>
                <a:cs typeface="Trebuchet MS"/>
              </a:rPr>
              <a:t>Defining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60" b="1">
                <a:latin typeface="Trebuchet MS"/>
                <a:cs typeface="Trebuchet MS"/>
              </a:rPr>
              <a:t>New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Functions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fun</a:t>
            </a:r>
            <a:r>
              <a:rPr dirty="0" sz="1050" spc="-40" b="1">
                <a:latin typeface="Palatino Linotype"/>
                <a:cs typeface="Palatino Linotype"/>
              </a:rPr>
              <a:t>c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50" b="1">
                <a:latin typeface="Palatino Linotype"/>
                <a:cs typeface="Palatino Linotype"/>
              </a:rPr>
              <a:t>n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definition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te‐ </a:t>
            </a:r>
            <a:r>
              <a:rPr dirty="0" sz="1050" spc="-60">
                <a:latin typeface="Palatino Linotype"/>
                <a:cs typeface="Palatino Linotype"/>
              </a:rPr>
              <a:t>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print_lyrics():</a:t>
            </a:r>
            <a:endParaRPr sz="850">
              <a:latin typeface="SimSun"/>
              <a:cs typeface="SimSun"/>
            </a:endParaRPr>
          </a:p>
          <a:p>
            <a:pPr marL="255270" marR="18510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"I'm a lumberjack, and I'm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okay."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"I sleep all night and I work all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day."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00">
                <a:latin typeface="SimSun"/>
                <a:cs typeface="SimSun"/>
              </a:rPr>
              <a:t>def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keyword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indicates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definition.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print_lyrics</a:t>
            </a:r>
            <a:r>
              <a:rPr dirty="0" sz="1050">
                <a:latin typeface="Palatino Linotype"/>
                <a:cs typeface="Palatino Linotype"/>
              </a:rPr>
              <a:t>. </a:t>
            </a:r>
            <a:r>
              <a:rPr dirty="0" sz="1050" spc="-60">
                <a:latin typeface="Palatino Linotype"/>
                <a:cs typeface="Palatino Linotype"/>
              </a:rPr>
              <a:t>Anything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that’s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legal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legal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parentheses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after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indicate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any </a:t>
            </a:r>
            <a:r>
              <a:rPr dirty="0" sz="1050" spc="-10">
                <a:latin typeface="Palatino Linotype"/>
                <a:cs typeface="Palatino Linotype"/>
              </a:rPr>
              <a:t>arguments.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first line of the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definition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65" b="1">
                <a:latin typeface="Palatino Linotype"/>
                <a:cs typeface="Palatino Linotype"/>
              </a:rPr>
              <a:t>header</a:t>
            </a:r>
            <a:r>
              <a:rPr dirty="0" sz="1050" spc="-65">
                <a:latin typeface="Palatino Linotype"/>
                <a:cs typeface="Palatino Linotype"/>
              </a:rPr>
              <a:t>—</a:t>
            </a:r>
            <a:r>
              <a:rPr dirty="0" sz="1050">
                <a:latin typeface="Palatino Linotype"/>
                <a:cs typeface="Palatino Linotype"/>
              </a:rPr>
              <a:t>the rest is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 b="1">
                <a:latin typeface="Palatino Linotype"/>
                <a:cs typeface="Palatino Linotype"/>
              </a:rPr>
              <a:t>body</a:t>
            </a:r>
            <a:r>
              <a:rPr dirty="0" sz="1050" spc="-5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header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colon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body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indented.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35">
                <a:latin typeface="Palatino Linotype"/>
                <a:cs typeface="Palatino Linotype"/>
              </a:rPr>
              <a:t>vention,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indentation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always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four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spaces.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body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</a:t>
            </a:r>
            <a:endParaRPr sz="1000">
              <a:latin typeface="SimSun"/>
              <a:cs typeface="SimSu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380436" y="7731125"/>
            <a:ext cx="118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27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318260"/>
            <a:ext cx="4572000" cy="289560"/>
            <a:chOff x="914400" y="131826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31826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3198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951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780493"/>
            <a:ext cx="4572000" cy="289560"/>
            <a:chOff x="914400" y="278049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7804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7820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46534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145702"/>
            <a:ext cx="4572000" cy="505459"/>
            <a:chOff x="914400" y="5145702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14570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1472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6314651"/>
            <a:ext cx="4572000" cy="289560"/>
            <a:chOff x="914400" y="6314651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31465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3162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99949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37" y="650030"/>
            <a:ext cx="4598035" cy="6256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latin typeface="Palatino Linotype"/>
                <a:cs typeface="Palatino Linotype"/>
              </a:rPr>
              <a:t>statements;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body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statements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kind.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Defining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function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object</a:t>
            </a:r>
            <a:r>
              <a:rPr dirty="0" sz="1050" spc="-4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print_lyrics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&lt;function 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.print_lyrics()&gt;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output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indicates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print_lyrics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takes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arguments.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u="sng" sz="1000" spc="5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main</a:t>
            </a:r>
            <a:r>
              <a:rPr dirty="0" u="sng" sz="1000" spc="1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print_lyrics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Now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we’ve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same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way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10">
                <a:latin typeface="Palatino Linotype"/>
                <a:cs typeface="Palatino Linotype"/>
              </a:rPr>
              <a:t>functions: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print_lyrics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I'm a lumberjack, and I'm </a:t>
            </a:r>
            <a:r>
              <a:rPr dirty="0" sz="850" spc="-10">
                <a:latin typeface="SimSun"/>
                <a:cs typeface="SimSun"/>
              </a:rPr>
              <a:t>okay.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I sleep all night and I work all </a:t>
            </a:r>
            <a:r>
              <a:rPr dirty="0" sz="850" spc="-20">
                <a:latin typeface="SimSun"/>
                <a:cs typeface="SimSun"/>
              </a:rPr>
              <a:t>day.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executes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body,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first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Lumberjack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Song.”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Parameters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80"/>
              </a:spcBef>
            </a:pPr>
            <a:r>
              <a:rPr dirty="0" sz="1050" spc="-30">
                <a:latin typeface="Palatino Linotype"/>
                <a:cs typeface="Palatino Linotype"/>
              </a:rPr>
              <a:t>Some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require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arguments;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 </a:t>
            </a:r>
            <a:r>
              <a:rPr dirty="0" sz="1000" spc="-20">
                <a:latin typeface="SimSun"/>
                <a:cs typeface="SimSun"/>
              </a:rPr>
              <a:t>abs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pass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argument.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argu‐ </a:t>
            </a:r>
            <a:r>
              <a:rPr dirty="0" sz="1050" spc="-55">
                <a:latin typeface="Palatino Linotype"/>
                <a:cs typeface="Palatino Linotype"/>
              </a:rPr>
              <a:t>ment;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math.pow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exponent.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2543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print_twice(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parentheses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parameter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>
                <a:latin typeface="Palatino Linotype"/>
                <a:cs typeface="Palatino Linotype"/>
              </a:rPr>
              <a:t>value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argument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assigned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parameter.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example,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 </a:t>
            </a:r>
            <a:r>
              <a:rPr dirty="0" sz="1000" spc="-10">
                <a:latin typeface="SimSun"/>
                <a:cs typeface="SimSun"/>
              </a:rPr>
              <a:t>print_twice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 marR="29845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print_twice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'Dennis Moore,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Dennis </a:t>
            </a:r>
            <a:r>
              <a:rPr dirty="0" sz="850" spc="-10">
                <a:latin typeface="SimSun"/>
                <a:cs typeface="SimSun"/>
              </a:rPr>
              <a:t>Moore,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570"/>
              </a:lnSpc>
            </a:pPr>
            <a:r>
              <a:rPr dirty="0" sz="850">
                <a:latin typeface="SimSun"/>
                <a:cs typeface="SimSun"/>
              </a:rPr>
              <a:t>Dennis </a:t>
            </a:r>
            <a:r>
              <a:rPr dirty="0" sz="850" spc="-10">
                <a:latin typeface="SimSun"/>
                <a:cs typeface="SimSun"/>
              </a:rPr>
              <a:t>Moore,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1705" y="7731125"/>
            <a:ext cx="1139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28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505459"/>
            <a:chOff x="914400" y="108203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827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296795"/>
            <a:ext cx="4572000" cy="397510"/>
            <a:chOff x="914400" y="229679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29679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29838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08959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265339"/>
            <a:ext cx="4572000" cy="397510"/>
            <a:chOff x="914400" y="5265339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26533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2669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5998764"/>
            <a:ext cx="4572000" cy="397510"/>
            <a:chOff x="914400" y="5998764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99876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00035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68361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45" y="650030"/>
            <a:ext cx="4598035" cy="5940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latin typeface="Palatino Linotype"/>
                <a:cs typeface="Palatino Linotype"/>
              </a:rPr>
              <a:t>Running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executing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body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string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'Dennis Moore,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38481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Dennis </a:t>
            </a:r>
            <a:r>
              <a:rPr dirty="0" sz="850" spc="-10">
                <a:latin typeface="SimSun"/>
                <a:cs typeface="SimSun"/>
              </a:rPr>
              <a:t>Moore, </a:t>
            </a:r>
            <a:r>
              <a:rPr dirty="0" sz="850">
                <a:latin typeface="SimSun"/>
                <a:cs typeface="SimSun"/>
              </a:rPr>
              <a:t>Dennis </a:t>
            </a:r>
            <a:r>
              <a:rPr dirty="0" sz="850" spc="-10">
                <a:latin typeface="SimSun"/>
                <a:cs typeface="SimSun"/>
              </a:rPr>
              <a:t>Moore,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'Dennis Moore,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print_twice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50">
              <a:latin typeface="SimSun"/>
              <a:cs typeface="SimSun"/>
            </a:endParaRPr>
          </a:p>
          <a:p>
            <a:pPr marL="39370" marR="38481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Dennis </a:t>
            </a:r>
            <a:r>
              <a:rPr dirty="0" sz="850" spc="-10">
                <a:latin typeface="SimSun"/>
                <a:cs typeface="SimSun"/>
              </a:rPr>
              <a:t>Moore, </a:t>
            </a:r>
            <a:r>
              <a:rPr dirty="0" sz="850">
                <a:latin typeface="SimSun"/>
                <a:cs typeface="SimSun"/>
              </a:rPr>
              <a:t>Dennis </a:t>
            </a:r>
            <a:r>
              <a:rPr dirty="0" sz="850" spc="-10">
                <a:latin typeface="SimSun"/>
                <a:cs typeface="SimSun"/>
              </a:rPr>
              <a:t>Moore,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45" b="1">
                <a:latin typeface="Trebuchet MS"/>
                <a:cs typeface="Trebuchet MS"/>
              </a:rPr>
              <a:t>Calling</a:t>
            </a:r>
            <a:r>
              <a:rPr dirty="0" sz="1900" spc="-225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Functions</a:t>
            </a:r>
            <a:endParaRPr sz="1900">
              <a:latin typeface="Trebuchet MS"/>
              <a:cs typeface="Trebuchet MS"/>
            </a:endParaRPr>
          </a:p>
          <a:p>
            <a:pPr marL="12700" marR="7620">
              <a:lnSpc>
                <a:spcPct val="100000"/>
              </a:lnSpc>
              <a:spcBef>
                <a:spcPts val="540"/>
              </a:spcBef>
            </a:pPr>
            <a:r>
              <a:rPr dirty="0" sz="1050" spc="-45">
                <a:latin typeface="Palatino Linotype"/>
                <a:cs typeface="Palatino Linotype"/>
              </a:rPr>
              <a:t>Once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defined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demon‐ </a:t>
            </a:r>
            <a:r>
              <a:rPr dirty="0" sz="1050" spc="-45">
                <a:latin typeface="Palatino Linotype"/>
                <a:cs typeface="Palatino Linotype"/>
              </a:rPr>
              <a:t>strate,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lyrics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“The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8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Spam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Song”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3094355">
              <a:lnSpc>
                <a:spcPct val="103299"/>
              </a:lnSpc>
              <a:spcBef>
                <a:spcPts val="765"/>
              </a:spcBef>
            </a:pP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Spam,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Spam,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Spam,</a:t>
            </a:r>
            <a:endParaRPr sz="900">
              <a:latin typeface="Palatino Linotype"/>
              <a:cs typeface="Palatino Linotype"/>
            </a:endParaRPr>
          </a:p>
          <a:p>
            <a:pPr algn="just" marL="241300" marR="2768600">
              <a:lnSpc>
                <a:spcPct val="103299"/>
              </a:lnSpc>
            </a:pPr>
            <a:r>
              <a:rPr dirty="0" sz="900" spc="-40">
                <a:latin typeface="Palatino Linotype"/>
                <a:cs typeface="Palatino Linotype"/>
              </a:rPr>
              <a:t>(Lovely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Wonderful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Spam!)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Spam,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Spam,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702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repeat(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401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spam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'Spam,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spam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86358" y="7731125"/>
            <a:ext cx="1012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0" b="1">
                <a:latin typeface="Trebuchet MS"/>
                <a:cs typeface="Trebuchet MS"/>
              </a:rPr>
              <a:t>Calling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Functions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10" b="1">
                <a:latin typeface="Trebuchet MS"/>
                <a:cs typeface="Trebuchet MS"/>
              </a:rPr>
              <a:t>29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505459"/>
            <a:chOff x="914400" y="929554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770929"/>
            <a:ext cx="4572000" cy="289560"/>
            <a:chOff x="914400" y="177092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77092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7725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4557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914400" y="29389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914400" y="355201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914400" y="434322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914400" y="465882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914400" y="51639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914400" y="61710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901700" y="657564"/>
            <a:ext cx="4598035" cy="2193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repeat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ctr" marL="39370" marR="3362325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first_two_lines():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spam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algn="ctr" marR="3268979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spam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first_two_lines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ctr" marL="39370" marR="330835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display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last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three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lines,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another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which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also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repeat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4400" y="2940513"/>
            <a:ext cx="4572000" cy="61023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73025" rIns="0" bIns="0" rtlCol="0" vert="horz">
            <a:spAutoFit/>
          </a:bodyPr>
          <a:lstStyle/>
          <a:p>
            <a:pPr marL="242570" marR="3295650" indent="-215900">
              <a:lnSpc>
                <a:spcPts val="850"/>
              </a:lnSpc>
              <a:spcBef>
                <a:spcPts val="57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last_three_lines():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spam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42570" marR="221615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'(Lovely Spam, Wonderful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Spam!)'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spam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14400" y="3553606"/>
            <a:ext cx="4572000" cy="2863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last_three_lines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1742" y="3878789"/>
            <a:ext cx="4319905" cy="692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 marL="39370" marR="2652395">
              <a:lnSpc>
                <a:spcPts val="850"/>
              </a:lnSpc>
              <a:spcBef>
                <a:spcPts val="85"/>
              </a:spcBef>
            </a:pPr>
            <a:r>
              <a:rPr dirty="0" sz="850">
                <a:latin typeface="SimSun"/>
                <a:cs typeface="SimSun"/>
              </a:rPr>
              <a:t>(Lovely Spam, Wonderful </a:t>
            </a:r>
            <a:r>
              <a:rPr dirty="0" sz="850" spc="-10">
                <a:latin typeface="SimSun"/>
                <a:cs typeface="SimSun"/>
              </a:rPr>
              <a:t>Spam!)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Finally,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together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verse: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14400" y="4660411"/>
            <a:ext cx="4572000" cy="502284"/>
          </a:xfrm>
          <a:prstGeom prst="rect">
            <a:avLst/>
          </a:prstGeom>
          <a:solidFill>
            <a:srgbClr val="D9D9D9"/>
          </a:solidFill>
        </p:spPr>
        <p:txBody>
          <a:bodyPr wrap="square" lIns="0" tIns="73025" rIns="0" bIns="0" rtlCol="0" vert="horz">
            <a:spAutoFit/>
          </a:bodyPr>
          <a:lstStyle/>
          <a:p>
            <a:pPr marL="242570" marR="3349625" indent="-215900">
              <a:lnSpc>
                <a:spcPts val="850"/>
              </a:lnSpc>
              <a:spcBef>
                <a:spcPts val="57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print_verse():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first_two_lines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last_three_lines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14400" y="5165553"/>
            <a:ext cx="4572000" cy="2863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print_verse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1640" y="5490736"/>
            <a:ext cx="4598035" cy="147955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marL="39370" marR="3308350">
              <a:lnSpc>
                <a:spcPts val="850"/>
              </a:lnSpc>
              <a:spcBef>
                <a:spcPts val="270"/>
              </a:spcBef>
            </a:pP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 algn="just" marL="39370" marR="293052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(Lovely Spam, Wonderful </a:t>
            </a:r>
            <a:r>
              <a:rPr dirty="0" sz="850" spc="-10">
                <a:latin typeface="SimSun"/>
                <a:cs typeface="SimSun"/>
              </a:rPr>
              <a:t>Spam!)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print_verse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first_two_lines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repeat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That’s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course,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fewer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point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together.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669" y="7731125"/>
            <a:ext cx="1139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30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3569"/>
            <a:ext cx="4572000" cy="397510"/>
            <a:chOff x="914400" y="140356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356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05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1963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628134"/>
            <a:ext cx="4572000" cy="613410"/>
            <a:chOff x="914400" y="4628134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62813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6297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682428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6233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90"/>
              <a:t>Repetition</a:t>
            </a:r>
            <a:endParaRPr sz="1900"/>
          </a:p>
        </p:txBody>
      </p:sp>
      <p:sp>
        <p:nvSpPr>
          <p:cNvPr id="11" name="object 11" descr=""/>
          <p:cNvSpPr txBox="1"/>
          <p:nvPr/>
        </p:nvSpPr>
        <p:spPr>
          <a:xfrm>
            <a:off x="901657" y="971559"/>
            <a:ext cx="4598035" cy="5759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715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for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5782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 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header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colon.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body,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indented.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key‐ </a:t>
            </a:r>
            <a:r>
              <a:rPr dirty="0" sz="1050" spc="-60">
                <a:latin typeface="Palatino Linotype"/>
                <a:cs typeface="Palatino Linotype"/>
              </a:rPr>
              <a:t>word,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range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sequence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0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for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range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runs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bod</a:t>
            </a:r>
            <a:r>
              <a:rPr dirty="0" sz="1050" spc="-15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1600"/>
              </a:lnSpc>
              <a:spcBef>
                <a:spcPts val="580"/>
              </a:spcBef>
            </a:pPr>
            <a:r>
              <a:rPr dirty="0" sz="1050" spc="-50">
                <a:latin typeface="Palatino Linotype"/>
                <a:cs typeface="Palatino Linotype"/>
              </a:rPr>
              <a:t>When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body,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around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header,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why </a:t>
            </a:r>
            <a:r>
              <a:rPr dirty="0" sz="1050" spc="-25">
                <a:latin typeface="Palatino Linotype"/>
                <a:cs typeface="Palatino Linotype"/>
              </a:rPr>
              <a:t>this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loop</a:t>
            </a:r>
            <a:r>
              <a:rPr dirty="0" sz="1050" spc="-3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next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range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Then,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that’s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last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range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ends.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verses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song: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"Verse"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print_verse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algn="just"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Verse </a:t>
            </a:r>
            <a:r>
              <a:rPr dirty="0" sz="850" spc="-50"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algn="just" marL="39370" marR="3308350">
              <a:lnSpc>
                <a:spcPts val="850"/>
              </a:lnSpc>
              <a:spcBef>
                <a:spcPts val="85"/>
              </a:spcBef>
            </a:pP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 algn="just" marL="39370" marR="293052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(Lovely Spam, Wonderful </a:t>
            </a:r>
            <a:r>
              <a:rPr dirty="0" sz="850" spc="-10">
                <a:latin typeface="SimSun"/>
                <a:cs typeface="SimSun"/>
              </a:rPr>
              <a:t>Spam!)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 algn="just" marL="39370">
              <a:lnSpc>
                <a:spcPts val="935"/>
              </a:lnSpc>
              <a:spcBef>
                <a:spcPts val="680"/>
              </a:spcBef>
            </a:pPr>
            <a:r>
              <a:rPr dirty="0" sz="850">
                <a:latin typeface="SimSun"/>
                <a:cs typeface="SimSun"/>
              </a:rPr>
              <a:t>Verse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algn="just" marL="39370" marR="3308350">
              <a:lnSpc>
                <a:spcPts val="850"/>
              </a:lnSpc>
              <a:spcBef>
                <a:spcPts val="85"/>
              </a:spcBef>
            </a:pP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Spam, Spam, </a:t>
            </a:r>
            <a:r>
              <a:rPr dirty="0" sz="850" spc="-10">
                <a:latin typeface="SimSun"/>
                <a:cs typeface="SimSun"/>
              </a:rPr>
              <a:t>Spam,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  <a:p>
            <a:pPr algn="just" marL="39370" marR="293052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(Lovely Spam, Wonderful </a:t>
            </a:r>
            <a:r>
              <a:rPr dirty="0" sz="850" spc="-10">
                <a:latin typeface="SimSun"/>
                <a:cs typeface="SimSun"/>
              </a:rPr>
              <a:t>Spam!) </a:t>
            </a:r>
            <a:r>
              <a:rPr dirty="0" sz="850">
                <a:latin typeface="SimSun"/>
                <a:cs typeface="SimSun"/>
              </a:rPr>
              <a:t>Spam, </a:t>
            </a:r>
            <a:r>
              <a:rPr dirty="0" sz="850" spc="-10">
                <a:latin typeface="SimSun"/>
                <a:cs typeface="SimSun"/>
              </a:rPr>
              <a:t>Spam,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29884" y="7731125"/>
            <a:ext cx="7696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5" b="1">
                <a:latin typeface="Trebuchet MS"/>
                <a:cs typeface="Trebuchet MS"/>
              </a:rPr>
              <a:t>Repetition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31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57128"/>
            <a:ext cx="4572000" cy="613410"/>
            <a:chOff x="914400" y="1257128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5712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587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329052"/>
            <a:ext cx="4572000" cy="505459"/>
            <a:chOff x="914400" y="3329052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32905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3306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4170427"/>
            <a:ext cx="4572000" cy="505459"/>
            <a:chOff x="914400" y="4170427"/>
            <a:chExt cx="4572000" cy="505459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417042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41720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507117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5560271"/>
            <a:ext cx="4572000" cy="289560"/>
            <a:chOff x="914400" y="5560271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56027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5618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613716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638" y="657564"/>
            <a:ext cx="4598035" cy="612648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put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loop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inside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example,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print_n_verses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parameter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3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to be 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displays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given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verses: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print_n_verses(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33623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print_verse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body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</a:t>
            </a:r>
            <a:r>
              <a:rPr dirty="0" sz="1050" spc="-95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20">
                <a:latin typeface="Palatino Linotype"/>
                <a:cs typeface="Palatino Linotype"/>
              </a:rPr>
              <a:t>yw</a:t>
            </a:r>
            <a:r>
              <a:rPr dirty="0" sz="1050" spc="-110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5" b="1">
                <a:latin typeface="Trebuchet MS"/>
                <a:cs typeface="Trebuchet MS"/>
              </a:rPr>
              <a:t>Variables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Parameters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Are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Local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10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create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local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means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only </a:t>
            </a:r>
            <a:r>
              <a:rPr dirty="0" sz="1050" spc="-35">
                <a:latin typeface="Palatino Linotype"/>
                <a:cs typeface="Palatino Linotype"/>
              </a:rPr>
              <a:t>exists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inside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arguments, </a:t>
            </a:r>
            <a:r>
              <a:rPr dirty="0" sz="1050" spc="-50">
                <a:latin typeface="Palatino Linotype"/>
                <a:cs typeface="Palatino Linotype"/>
              </a:rPr>
              <a:t>concatenates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twice: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0384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cat_twice(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part1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part2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part1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part2 print_twice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305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'Always look on the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'bright side of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life.'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cat_twice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2444750">
              <a:lnSpc>
                <a:spcPts val="85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Always look on the bright side of </a:t>
            </a:r>
            <a:r>
              <a:rPr dirty="0" sz="850" spc="-10">
                <a:latin typeface="SimSun"/>
                <a:cs typeface="SimSun"/>
              </a:rPr>
              <a:t>life. </a:t>
            </a:r>
            <a:r>
              <a:rPr dirty="0" sz="850">
                <a:latin typeface="SimSun"/>
                <a:cs typeface="SimSun"/>
              </a:rPr>
              <a:t>Always look on the bright side of </a:t>
            </a:r>
            <a:r>
              <a:rPr dirty="0" sz="850" spc="-10">
                <a:latin typeface="SimSun"/>
                <a:cs typeface="SimSun"/>
              </a:rPr>
              <a:t>life.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cat_twice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local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destroyed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when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NameError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NameError: name 'cat' is not </a:t>
            </a:r>
            <a:r>
              <a:rPr dirty="0" sz="850" spc="-10">
                <a:latin typeface="SimSun"/>
                <a:cs typeface="SimSun"/>
              </a:rPr>
              <a:t>defined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Outside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defined.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local.</a:t>
            </a:r>
            <a:r>
              <a:rPr dirty="0" sz="1050" spc="-10">
                <a:latin typeface="Palatino Linotype"/>
                <a:cs typeface="Palatino Linotype"/>
              </a:rPr>
              <a:t> 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outside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cat_twice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such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part1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part2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61" y="7731125"/>
            <a:ext cx="1139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32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23761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85"/>
              <a:t>Stack</a:t>
            </a:r>
            <a:r>
              <a:rPr dirty="0" sz="1900" spc="-275"/>
              <a:t> </a:t>
            </a:r>
            <a:r>
              <a:rPr dirty="0" sz="1900" spc="-285"/>
              <a:t>Diagrams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36" y="964024"/>
            <a:ext cx="4598035" cy="1137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keep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track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where,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sometimes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useful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draw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30" b="1">
                <a:latin typeface="Palatino Linotype"/>
                <a:cs typeface="Palatino Linotype"/>
              </a:rPr>
              <a:t>stack</a:t>
            </a:r>
            <a:r>
              <a:rPr dirty="0" sz="1050" spc="-4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diagram</a:t>
            </a:r>
            <a:r>
              <a:rPr dirty="0" sz="1050" spc="-3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diagrams,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variable,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belongs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f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55" b="1">
                <a:latin typeface="Palatino Linotype"/>
                <a:cs typeface="Palatino Linotype"/>
              </a:rPr>
              <a:t>ame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box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outside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local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inside.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279688"/>
            <a:ext cx="3048938" cy="2182793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901648" y="4643824"/>
            <a:ext cx="4598035" cy="2047239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frames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arranged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stack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 </a:t>
            </a:r>
            <a:r>
              <a:rPr dirty="0" sz="1050" spc="-35">
                <a:latin typeface="Palatino Linotype"/>
                <a:cs typeface="Palatino Linotype"/>
              </a:rPr>
              <a:t>on.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bottom,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print_twice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 </a:t>
            </a:r>
            <a:r>
              <a:rPr dirty="0" sz="1000" spc="-5">
                <a:latin typeface="SimSun"/>
                <a:cs typeface="SimSun"/>
              </a:rPr>
              <a:t>cat_twice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main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—which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topmost </a:t>
            </a:r>
            <a:r>
              <a:rPr dirty="0" sz="1050" spc="-50">
                <a:latin typeface="Palatino Linotype"/>
                <a:cs typeface="Palatino Linotype"/>
              </a:rPr>
              <a:t>frame.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outside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belongs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main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print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mark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parameter.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curious,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function?”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40" b="1">
                <a:latin typeface="Trebuchet MS"/>
                <a:cs typeface="Trebuchet MS"/>
              </a:rPr>
              <a:t>Tracebacks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occurs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running,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stack.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718673" y="7731125"/>
            <a:ext cx="7810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0" b="1">
                <a:latin typeface="Trebuchet MS"/>
                <a:cs typeface="Trebuchet MS"/>
              </a:rPr>
              <a:t>Tracebacks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33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505459"/>
            <a:chOff x="914400" y="1097108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946017"/>
            <a:ext cx="4572000" cy="289560"/>
            <a:chOff x="914400" y="1946017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94601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9476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6024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901639" y="657564"/>
            <a:ext cx="4598035" cy="625094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print_twice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65">
                <a:latin typeface="Palatino Linotype"/>
                <a:cs typeface="Palatino Linotype"/>
              </a:rPr>
              <a:t>r</a:t>
            </a:r>
            <a:r>
              <a:rPr dirty="0" sz="1050" spc="-45">
                <a:latin typeface="Palatino Linotype"/>
                <a:cs typeface="Palatino Linotype"/>
              </a:rPr>
              <a:t>—it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tries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local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print_twice(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  <a:tabLst>
                <a:tab pos="1442720" algn="l"/>
              </a:tabLst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NameError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cat_twice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cat_twice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 marR="2714625" indent="-215900">
              <a:lnSpc>
                <a:spcPct val="166700"/>
              </a:lnSpc>
              <a:spcBef>
                <a:spcPts val="550"/>
              </a:spcBef>
            </a:pPr>
            <a:r>
              <a:rPr dirty="0" sz="850">
                <a:latin typeface="SimSun"/>
                <a:cs typeface="SimSun"/>
              </a:rPr>
              <a:t>Traceback (most recent call </a:t>
            </a:r>
            <a:r>
              <a:rPr dirty="0" sz="850" spc="-10">
                <a:latin typeface="SimSun"/>
                <a:cs typeface="SimSun"/>
              </a:rPr>
              <a:t>last): </a:t>
            </a:r>
            <a:r>
              <a:rPr dirty="0" sz="850">
                <a:latin typeface="SimSun"/>
                <a:cs typeface="SimSun"/>
              </a:rPr>
              <a:t>File </a:t>
            </a:r>
            <a:r>
              <a:rPr dirty="0" sz="850" spc="-10">
                <a:latin typeface="SimSun"/>
                <a:cs typeface="SimSun"/>
              </a:rPr>
              <a:t>&lt;string&gt;:2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363220" marR="2606675" indent="-10795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Cell In[21], line 3 in </a:t>
            </a:r>
            <a:r>
              <a:rPr dirty="0" sz="850" spc="-10">
                <a:latin typeface="SimSun"/>
                <a:cs typeface="SimSun"/>
              </a:rPr>
              <a:t>cat_twice print_twice(cat)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63220" marR="2444750" indent="-107950">
              <a:lnSpc>
                <a:spcPts val="850"/>
              </a:lnSpc>
              <a:tabLst>
                <a:tab pos="1550670" algn="l"/>
              </a:tabLst>
            </a:pPr>
            <a:r>
              <a:rPr dirty="0" sz="850">
                <a:latin typeface="SimSun"/>
                <a:cs typeface="SimSun"/>
              </a:rPr>
              <a:t>Cell In[26], line 2 in </a:t>
            </a:r>
            <a:r>
              <a:rPr dirty="0" sz="850" spc="-10">
                <a:latin typeface="SimSun"/>
                <a:cs typeface="SimSun"/>
              </a:rPr>
              <a:t>print_twice print(cat)</a:t>
            </a:r>
            <a:r>
              <a:rPr dirty="0" sz="850">
                <a:latin typeface="SimSun"/>
                <a:cs typeface="SimSun"/>
              </a:rPr>
              <a:t>	# </a:t>
            </a:r>
            <a:r>
              <a:rPr dirty="0" sz="850" spc="-10">
                <a:latin typeface="SimSun"/>
                <a:cs typeface="SimSun"/>
              </a:rPr>
              <a:t>NameError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latin typeface="SimSun"/>
                <a:cs typeface="SimSun"/>
              </a:rPr>
              <a:t>NameError: name 'cat' is not </a:t>
            </a:r>
            <a:r>
              <a:rPr dirty="0" sz="850" spc="-10">
                <a:latin typeface="SimSun"/>
                <a:cs typeface="SimSun"/>
              </a:rPr>
              <a:t>defined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traceback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shows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running </a:t>
            </a:r>
            <a:r>
              <a:rPr dirty="0" sz="1050" spc="-50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occurred,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cat_twice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print_twice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occurred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print_twice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order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traceback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order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frames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diagram.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bottom.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360" b="1">
                <a:latin typeface="Trebuchet MS"/>
                <a:cs typeface="Trebuchet MS"/>
              </a:rPr>
              <a:t>Why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Functions?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35"/>
              </a:spcBef>
            </a:pP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clear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</a:t>
            </a:r>
            <a:r>
              <a:rPr dirty="0" sz="1050" spc="-110">
                <a:latin typeface="Palatino Linotype"/>
                <a:cs typeface="Palatino Linotype"/>
              </a:rPr>
              <a:t>h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trouble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divide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functions. </a:t>
            </a:r>
            <a:r>
              <a:rPr dirty="0" sz="1050" spc="-40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several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reasons: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Creating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opportunity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group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statements,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debug.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smaller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eliminating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repetitive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Later,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place.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Dividing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allows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debug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assemble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whole.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65">
                <a:latin typeface="Palatino Linotype"/>
                <a:cs typeface="Palatino Linotype"/>
              </a:rPr>
              <a:t>Well-</a:t>
            </a:r>
            <a:r>
              <a:rPr dirty="0" sz="1050" spc="-60">
                <a:latin typeface="Palatino Linotype"/>
                <a:cs typeface="Palatino Linotype"/>
              </a:rPr>
              <a:t>designed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useful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85">
                <a:latin typeface="Palatino Linotype"/>
                <a:cs typeface="Palatino Linotype"/>
              </a:rPr>
              <a:t>debug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1681" y="7731125"/>
            <a:ext cx="1139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34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978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65"/>
              <a:t>Debugging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40" y="964024"/>
            <a:ext cx="4598035" cy="6929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Debugging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frustrating,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challenging,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interesting,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sometimes </a:t>
            </a:r>
            <a:r>
              <a:rPr dirty="0" sz="1050" spc="-75">
                <a:latin typeface="Palatino Linotype"/>
                <a:cs typeface="Palatino Linotype"/>
              </a:rPr>
              <a:t>even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fun.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skills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learn.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ways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detective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given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infer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Debugging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experime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tal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science.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Once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idea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60">
                <a:latin typeface="Palatino Linotype"/>
                <a:cs typeface="Palatino Linotype"/>
              </a:rPr>
              <a:t>going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wrong,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again.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55">
                <a:latin typeface="Palatino Linotype"/>
                <a:cs typeface="Palatino Linotype"/>
              </a:rPr>
              <a:t>ypothesis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correct,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predict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step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closer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 </a:t>
            </a:r>
            <a:r>
              <a:rPr dirty="0" sz="1050" spc="-55">
                <a:latin typeface="Palatino Linotype"/>
                <a:cs typeface="Palatino Linotype"/>
              </a:rPr>
              <a:t>program.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55">
                <a:latin typeface="Palatino Linotype"/>
                <a:cs typeface="Palatino Linotype"/>
              </a:rPr>
              <a:t>ypothesis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wrong,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people,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thing;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program‐ </a:t>
            </a:r>
            <a:r>
              <a:rPr dirty="0" sz="1050" spc="-40">
                <a:latin typeface="Palatino Linotype"/>
                <a:cs typeface="Palatino Linotype"/>
              </a:rPr>
              <a:t>ming</a:t>
            </a:r>
            <a:r>
              <a:rPr dirty="0" sz="1050">
                <a:latin typeface="Palatino Linotype"/>
                <a:cs typeface="Palatino Linotype"/>
              </a:rPr>
              <a:t> is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process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gradually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until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want.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idea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small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modifica‐ </a:t>
            </a:r>
            <a:r>
              <a:rPr dirty="0" sz="1050" spc="-40">
                <a:latin typeface="Palatino Linotype"/>
                <a:cs typeface="Palatino Linotype"/>
              </a:rPr>
              <a:t>tions,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go.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yourself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spending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often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sign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70">
                <a:latin typeface="Palatino Linotype"/>
                <a:cs typeface="Palatino Linotype"/>
              </a:rPr>
              <a:t>writing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much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steps,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faster.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function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definition: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header: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body: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definition.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function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object: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parameter:</a:t>
            </a:r>
            <a:r>
              <a:rPr dirty="0" sz="1050" spc="15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used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inside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refer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value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passed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10">
                <a:latin typeface="Palatino Linotype"/>
                <a:cs typeface="Palatino Linotype"/>
              </a:rPr>
              <a:t>argument.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loop: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repeatedly.</a:t>
            </a:r>
            <a:endParaRPr sz="1050">
              <a:latin typeface="Palatino Linotype"/>
              <a:cs typeface="Palatino Linotype"/>
            </a:endParaRPr>
          </a:p>
          <a:p>
            <a:pPr marL="12700" marR="635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local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variable: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accessed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inside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function.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stack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diagram: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graphical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frame: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box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diagram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local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traceback:</a:t>
            </a:r>
            <a:r>
              <a:rPr dirty="0" sz="1050" spc="8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executing,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printed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exception </a:t>
            </a:r>
            <a:r>
              <a:rPr dirty="0" sz="1050" spc="-10">
                <a:latin typeface="Palatino Linotype"/>
                <a:cs typeface="Palatino Linotype"/>
              </a:rPr>
              <a:t>occurs.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9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35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379779"/>
            <a:ext cx="4572000" cy="505459"/>
            <a:chOff x="914400" y="637977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37977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3813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73884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7321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5"/>
              <a:t>Exercises</a:t>
            </a:r>
            <a:endParaRPr sz="1900"/>
          </a:p>
        </p:txBody>
      </p:sp>
      <p:sp>
        <p:nvSpPr>
          <p:cNvPr id="7" name="object 7" descr=""/>
          <p:cNvSpPr txBox="1"/>
          <p:nvPr/>
        </p:nvSpPr>
        <p:spPr>
          <a:xfrm>
            <a:off x="901662" y="897869"/>
            <a:ext cx="4598035" cy="639762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ve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for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four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spaces.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60">
                <a:latin typeface="Palatino Linotype"/>
                <a:cs typeface="Palatino Linotype"/>
              </a:rPr>
              <a:t>yone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agrees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ve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curious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histo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“</a:t>
            </a:r>
            <a:r>
              <a:rPr dirty="0" sz="1050" spc="-40">
                <a:latin typeface="Palatino Linotype"/>
                <a:cs typeface="Palatino Linotype"/>
              </a:rPr>
              <a:t>tell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tabs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assistants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pretty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small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41300" algn="l"/>
              </a:tabLst>
            </a:pP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vorite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V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repeat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241300" indent="-161290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300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loop?”</a:t>
            </a:r>
            <a:endParaRPr sz="1050">
              <a:latin typeface="Palatino Linotype"/>
              <a:cs typeface="Palatino Linotype"/>
            </a:endParaRPr>
          </a:p>
          <a:p>
            <a:pPr algn="just" marL="240665" marR="5080" indent="-16129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300" algn="l"/>
              </a:tabLst>
            </a:pPr>
            <a:r>
              <a:rPr dirty="0" sz="1050" spc="-35">
                <a:latin typeface="Palatino Linotype"/>
                <a:cs typeface="Palatino Linotype"/>
              </a:rPr>
              <a:t>Pick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35">
                <a:latin typeface="Palatino Linotype"/>
                <a:cs typeface="Palatino Linotype"/>
              </a:rPr>
              <a:t> 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challenge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describe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precisely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enough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want.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vocabulary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learned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1000"/>
              </a:spcBef>
            </a:pP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assistants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pretty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functions:</a:t>
            </a:r>
            <a:endParaRPr sz="1050">
              <a:latin typeface="Palatino Linotype"/>
              <a:cs typeface="Palatino Linotype"/>
            </a:endParaRPr>
          </a:p>
          <a:p>
            <a:pPr algn="just" marL="80010">
              <a:lnSpc>
                <a:spcPct val="100000"/>
              </a:lnSpc>
              <a:spcBef>
                <a:spcPts val="1060"/>
              </a:spcBef>
            </a:pPr>
            <a:r>
              <a:rPr dirty="0" sz="1050">
                <a:latin typeface="Palatino Linotype"/>
                <a:cs typeface="Palatino Linotype"/>
              </a:rPr>
              <a:t>1.</a:t>
            </a:r>
            <a:r>
              <a:rPr dirty="0" sz="1050" spc="27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what’s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print_twice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673100" marR="2837180" indent="-215900">
              <a:lnSpc>
                <a:spcPct val="100000"/>
              </a:lnSpc>
              <a:spcBef>
                <a:spcPts val="520"/>
              </a:spcBef>
            </a:pPr>
            <a:r>
              <a:rPr dirty="0" sz="850">
                <a:latin typeface="SimSun"/>
                <a:cs typeface="SimSun"/>
              </a:rPr>
              <a:t>def </a:t>
            </a:r>
            <a:r>
              <a:rPr dirty="0" sz="850" spc="-10">
                <a:latin typeface="SimSun"/>
                <a:cs typeface="SimSun"/>
              </a:rPr>
              <a:t>print_twice(string): print(cat)</a:t>
            </a:r>
            <a:r>
              <a:rPr dirty="0" sz="850"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print(cat)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stuck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assis‐ </a:t>
            </a:r>
            <a:r>
              <a:rPr dirty="0" sz="1050" spc="-40">
                <a:latin typeface="Palatino Linotype"/>
                <a:cs typeface="Palatino Linotype"/>
              </a:rPr>
              <a:t>ta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</a:t>
            </a:r>
            <a:r>
              <a:rPr dirty="0" sz="1050" spc="-110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print_right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text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leading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spaces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last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40th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column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display.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Hint: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SimSun"/>
                <a:cs typeface="SimSun"/>
              </a:rPr>
              <a:t>len</a:t>
            </a:r>
            <a:r>
              <a:rPr dirty="0" sz="1000" spc="-6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concatenation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(</a:t>
            </a:r>
            <a:r>
              <a:rPr dirty="0" sz="1000">
                <a:latin typeface="SimSun"/>
                <a:cs typeface="SimSun"/>
              </a:rPr>
              <a:t>+</a:t>
            </a:r>
            <a:r>
              <a:rPr dirty="0" sz="1050">
                <a:latin typeface="Palatino Linotype"/>
                <a:cs typeface="Palatino Linotype"/>
              </a:rPr>
              <a:t>),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repe‐ </a:t>
            </a:r>
            <a:r>
              <a:rPr dirty="0" sz="1050" spc="-30">
                <a:latin typeface="Palatino Linotype"/>
                <a:cs typeface="Palatino Linotype"/>
              </a:rPr>
              <a:t>tition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SimSun"/>
                <a:cs typeface="SimSun"/>
              </a:rPr>
              <a:t>*</a:t>
            </a:r>
            <a:r>
              <a:rPr dirty="0" sz="1050" spc="-20">
                <a:latin typeface="Palatino Linotype"/>
                <a:cs typeface="Palatino Linotype"/>
              </a:rPr>
              <a:t>).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3847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print_right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"Monty"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print_right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"Python's"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print_right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"Flying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Circus"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r" marL="1334770" marR="2552700" indent="431800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Monty Python's </a:t>
            </a:r>
            <a:r>
              <a:rPr dirty="0" sz="850">
                <a:latin typeface="SimSun"/>
                <a:cs typeface="SimSun"/>
              </a:rPr>
              <a:t>Flying </a:t>
            </a:r>
            <a:r>
              <a:rPr dirty="0" sz="850" spc="-10">
                <a:latin typeface="SimSun"/>
                <a:cs typeface="SimSun"/>
              </a:rPr>
              <a:t>Circus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1737" y="7731125"/>
            <a:ext cx="1139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36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23593"/>
            <a:ext cx="4572000" cy="289560"/>
            <a:chOff x="914400" y="1523593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235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25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5322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521881"/>
            <a:ext cx="4572000" cy="289560"/>
            <a:chOff x="914400" y="3521881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52188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5234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42262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10" y="519390"/>
            <a:ext cx="4598035" cy="635635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5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triangle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10">
                <a:latin typeface="Palatino Linotype"/>
                <a:cs typeface="Palatino Linotype"/>
              </a:rPr>
              <a:t>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trian‐ </a:t>
            </a:r>
            <a:r>
              <a:rPr dirty="0" sz="1050" spc="-65">
                <a:latin typeface="Palatino Linotype"/>
                <a:cs typeface="Palatino Linotype"/>
              </a:rPr>
              <a:t>gle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made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copies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5">
                <a:latin typeface="Palatino Linotype"/>
                <a:cs typeface="Palatino Linotype"/>
              </a:rPr>
              <a:t>tri‐ </a:t>
            </a:r>
            <a:r>
              <a:rPr dirty="0" sz="1050" spc="-60">
                <a:latin typeface="Palatino Linotype"/>
                <a:cs typeface="Palatino Linotype"/>
              </a:rPr>
              <a:t>angle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levels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'L'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6861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triangle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'L'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L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490"/>
              </a:lnSpc>
            </a:pPr>
            <a:r>
              <a:rPr dirty="0" sz="850" spc="-25">
                <a:latin typeface="SimSun"/>
                <a:cs typeface="SimSun"/>
              </a:rPr>
              <a:t>LL</a:t>
            </a:r>
            <a:endParaRPr sz="850">
              <a:latin typeface="SimSun"/>
              <a:cs typeface="SimSun"/>
            </a:endParaRPr>
          </a:p>
          <a:p>
            <a:pPr marL="39370" marR="4279900">
              <a:lnSpc>
                <a:spcPts val="850"/>
              </a:lnSpc>
              <a:spcBef>
                <a:spcPts val="85"/>
              </a:spcBef>
            </a:pPr>
            <a:r>
              <a:rPr dirty="0" sz="850" spc="-25">
                <a:latin typeface="SimSun"/>
                <a:cs typeface="SimSun"/>
              </a:rPr>
              <a:t>LLL </a:t>
            </a:r>
            <a:r>
              <a:rPr dirty="0" sz="850" spc="-20">
                <a:latin typeface="SimSun"/>
                <a:cs typeface="SimSun"/>
              </a:rPr>
              <a:t>LLLL </a:t>
            </a:r>
            <a:r>
              <a:rPr dirty="0" sz="850" spc="-10">
                <a:latin typeface="SimSun"/>
                <a:cs typeface="SimSun"/>
              </a:rPr>
              <a:t>LLLLL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490"/>
              </a:spcBef>
            </a:pP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draws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rectangle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width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height,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copies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rectangle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width</a:t>
            </a:r>
            <a:r>
              <a:rPr dirty="0" sz="1050">
                <a:latin typeface="Palatino Linotype"/>
                <a:cs typeface="Palatino Linotype"/>
              </a:rPr>
              <a:t> 5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height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4,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'H'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4702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'H'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latin typeface="SimSun"/>
                <a:cs typeface="SimSun"/>
              </a:rPr>
              <a:t>HHHHH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490"/>
              </a:lnSpc>
            </a:pPr>
            <a:r>
              <a:rPr dirty="0" sz="850" spc="-10">
                <a:latin typeface="SimSun"/>
                <a:cs typeface="SimSun"/>
              </a:rPr>
              <a:t>HHHHH</a:t>
            </a:r>
            <a:endParaRPr sz="850">
              <a:latin typeface="SimSun"/>
              <a:cs typeface="SimSun"/>
            </a:endParaRPr>
          </a:p>
          <a:p>
            <a:pPr marL="39370" marR="4279900">
              <a:lnSpc>
                <a:spcPts val="850"/>
              </a:lnSpc>
              <a:spcBef>
                <a:spcPts val="85"/>
              </a:spcBef>
            </a:pPr>
            <a:r>
              <a:rPr dirty="0" sz="850" spc="-10">
                <a:latin typeface="SimSun"/>
                <a:cs typeface="SimSun"/>
              </a:rPr>
              <a:t>HHHHH HHHHH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“99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Bottles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Beer”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verse:</a:t>
            </a:r>
            <a:endParaRPr sz="1050">
              <a:latin typeface="Palatino Linotype"/>
              <a:cs typeface="Palatino Linotype"/>
            </a:endParaRPr>
          </a:p>
          <a:p>
            <a:pPr marL="241300" marR="2965450">
              <a:lnSpc>
                <a:spcPct val="103299"/>
              </a:lnSpc>
              <a:spcBef>
                <a:spcPts val="765"/>
              </a:spcBef>
            </a:pPr>
            <a:r>
              <a:rPr dirty="0" sz="900">
                <a:latin typeface="Palatino Linotype"/>
                <a:cs typeface="Palatino Linotype"/>
              </a:rPr>
              <a:t>99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bottles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of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beer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on</a:t>
            </a:r>
            <a:r>
              <a:rPr dirty="0" sz="900" spc="-20">
                <a:latin typeface="Palatino Linotype"/>
                <a:cs typeface="Palatino Linotype"/>
              </a:rPr>
              <a:t> the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wall,</a:t>
            </a:r>
            <a:r>
              <a:rPr dirty="0" sz="900">
                <a:latin typeface="Palatino Linotype"/>
                <a:cs typeface="Palatino Linotype"/>
              </a:rPr>
              <a:t> 99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bottles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beer.</a:t>
            </a:r>
            <a:endParaRPr sz="900">
              <a:latin typeface="Palatino Linotype"/>
              <a:cs typeface="Palatino Linotype"/>
            </a:endParaRPr>
          </a:p>
          <a:p>
            <a:pPr marL="241300" marR="2880995">
              <a:lnSpc>
                <a:spcPct val="103299"/>
              </a:lnSpc>
            </a:pPr>
            <a:r>
              <a:rPr dirty="0" sz="900" spc="-55">
                <a:latin typeface="Palatino Linotype"/>
                <a:cs typeface="Palatino Linotype"/>
              </a:rPr>
              <a:t>Take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one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down,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pass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it </a:t>
            </a:r>
            <a:r>
              <a:rPr dirty="0" sz="900" spc="-35">
                <a:latin typeface="Palatino Linotype"/>
                <a:cs typeface="Palatino Linotype"/>
              </a:rPr>
              <a:t>around,</a:t>
            </a:r>
            <a:r>
              <a:rPr dirty="0" sz="900">
                <a:latin typeface="Palatino Linotype"/>
                <a:cs typeface="Palatino Linotype"/>
              </a:rPr>
              <a:t> 98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bottles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of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beer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on</a:t>
            </a:r>
            <a:r>
              <a:rPr dirty="0" sz="900" spc="-20">
                <a:latin typeface="Palatino Linotype"/>
                <a:cs typeface="Palatino Linotype"/>
              </a:rPr>
              <a:t> the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wall.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050" spc="-20">
                <a:latin typeface="Palatino Linotype"/>
                <a:cs typeface="Palatino Linotype"/>
              </a:rPr>
              <a:t>Then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verse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except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98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bottles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97.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continues—</a:t>
            </a:r>
            <a:r>
              <a:rPr dirty="0" sz="1050" spc="-5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time—</a:t>
            </a:r>
            <a:r>
              <a:rPr dirty="0" sz="1050" spc="-55">
                <a:latin typeface="Palatino Linotype"/>
                <a:cs typeface="Palatino Linotype"/>
              </a:rPr>
              <a:t>until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0 </a:t>
            </a:r>
            <a:r>
              <a:rPr dirty="0" sz="1050" spc="-45">
                <a:latin typeface="Palatino Linotype"/>
                <a:cs typeface="Palatino Linotype"/>
              </a:rPr>
              <a:t>bottles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beer.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bottle_verse</a:t>
            </a:r>
            <a:r>
              <a:rPr dirty="0" sz="1000" spc="-13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dis‐ </a:t>
            </a:r>
            <a:r>
              <a:rPr dirty="0" sz="1050" spc="-75">
                <a:latin typeface="Palatino Linotype"/>
                <a:cs typeface="Palatino Linotype"/>
              </a:rPr>
              <a:t>plays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verse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bottles.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40"/>
              </a:spcBef>
            </a:pPr>
            <a:r>
              <a:rPr dirty="0" sz="1050" spc="-30">
                <a:latin typeface="Palatino Linotype"/>
                <a:cs typeface="Palatino Linotype"/>
              </a:rPr>
              <a:t>Hint: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consider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print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last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verse,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bottle_verse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91662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37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227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79417"/>
            <a:ext cx="4572000" cy="505459"/>
            <a:chOff x="914400" y="2479417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7941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810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901643" y="650030"/>
            <a:ext cx="4598035" cy="2242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verse: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bottle_verse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99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99 bottles of beer on the </a:t>
            </a:r>
            <a:r>
              <a:rPr dirty="0" sz="850" spc="-20">
                <a:latin typeface="SimSun"/>
                <a:cs typeface="SimSun"/>
              </a:rPr>
              <a:t>wall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99 bottles of </a:t>
            </a:r>
            <a:r>
              <a:rPr dirty="0" sz="850" spc="-20">
                <a:latin typeface="SimSun"/>
                <a:cs typeface="SimSun"/>
              </a:rPr>
              <a:t>beer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Take one down, pass it </a:t>
            </a:r>
            <a:r>
              <a:rPr dirty="0" sz="850" spc="-10">
                <a:latin typeface="SimSun"/>
                <a:cs typeface="SimSun"/>
              </a:rPr>
              <a:t>around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98 bottles of beer on the </a:t>
            </a:r>
            <a:r>
              <a:rPr dirty="0" sz="850" spc="-20">
                <a:latin typeface="SimSun"/>
                <a:cs typeface="SimSun"/>
              </a:rPr>
              <a:t>wall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print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60">
                <a:latin typeface="Palatino Linotype"/>
                <a:cs typeface="Palatino Linotype"/>
              </a:rPr>
              <a:t>whole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can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for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loop,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counts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down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SimSun"/>
                <a:cs typeface="SimSun"/>
              </a:rPr>
              <a:t>99</a:t>
            </a:r>
            <a:r>
              <a:rPr dirty="0" sz="1000" spc="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You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don’t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completely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understand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example—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loops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range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later.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99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bottle_verse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20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1725" y="7731125"/>
            <a:ext cx="1139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38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4446967"/>
            <a:ext cx="4572000" cy="289560"/>
            <a:chOff x="914400" y="4446967"/>
            <a:chExt cx="4572000" cy="28956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444696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44485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914400" y="5079976"/>
            <a:ext cx="4572000" cy="397510"/>
            <a:chOff x="914400" y="5079976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07997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08156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4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772795">
              <a:lnSpc>
                <a:spcPct val="100000"/>
              </a:lnSpc>
              <a:spcBef>
                <a:spcPts val="120"/>
              </a:spcBef>
            </a:pPr>
            <a:r>
              <a:rPr dirty="0" spc="-380"/>
              <a:t>Functions</a:t>
            </a:r>
            <a:r>
              <a:rPr dirty="0" spc="-355"/>
              <a:t> </a:t>
            </a:r>
            <a:r>
              <a:rPr dirty="0" spc="-370"/>
              <a:t>and</a:t>
            </a:r>
            <a:r>
              <a:rPr dirty="0" spc="-355"/>
              <a:t> </a:t>
            </a:r>
            <a:r>
              <a:rPr dirty="0" spc="-365"/>
              <a:t>Interfaces</a:t>
            </a:r>
          </a:p>
        </p:txBody>
      </p:sp>
      <p:sp>
        <p:nvSpPr>
          <p:cNvPr id="11" name="object 11" descr=""/>
          <p:cNvSpPr txBox="1"/>
          <p:nvPr/>
        </p:nvSpPr>
        <p:spPr>
          <a:xfrm>
            <a:off x="901642" y="3052378"/>
            <a:ext cx="4598035" cy="2332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troduces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jupyturtle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allows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sim‐ 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wings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instructions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imagina</a:t>
            </a:r>
            <a:r>
              <a:rPr dirty="0" sz="1050" spc="-1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turtle.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60">
                <a:latin typeface="Palatino Linotype"/>
                <a:cs typeface="Palatino Linotype"/>
              </a:rPr>
              <a:t>w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squares,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polygons,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circles—and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70" b="1">
                <a:latin typeface="Palatino Linotype"/>
                <a:cs typeface="Palatino Linotype"/>
              </a:rPr>
              <a:t>n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10" b="1">
                <a:latin typeface="Palatino Linotype"/>
                <a:cs typeface="Palatino Linotype"/>
              </a:rPr>
              <a:t>r‐ </a:t>
            </a:r>
            <a:r>
              <a:rPr dirty="0" sz="1050" spc="-65" b="1">
                <a:latin typeface="Palatino Linotype"/>
                <a:cs typeface="Palatino Linotype"/>
              </a:rPr>
              <a:t>f</a:t>
            </a:r>
            <a:r>
              <a:rPr dirty="0" sz="1050" spc="-30" b="1">
                <a:latin typeface="Palatino Linotype"/>
                <a:cs typeface="Palatino Linotype"/>
              </a:rPr>
              <a:t>ac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70" b="1">
                <a:latin typeface="Palatino Linotype"/>
                <a:cs typeface="Palatino Linotype"/>
              </a:rPr>
              <a:t>s</a:t>
            </a:r>
            <a:r>
              <a:rPr dirty="0" sz="1050" spc="-40" b="1">
                <a:latin typeface="Palatino Linotype"/>
                <a:cs typeface="Palatino Linotype"/>
              </a:rPr>
              <a:t>i</a:t>
            </a:r>
            <a:r>
              <a:rPr dirty="0" sz="1050" spc="-65" b="1">
                <a:latin typeface="Palatino Linotype"/>
                <a:cs typeface="Palatino Linotype"/>
              </a:rPr>
              <a:t>g</a:t>
            </a:r>
            <a:r>
              <a:rPr dirty="0" sz="1050" spc="-50" b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designing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togethe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75" b="1">
                <a:latin typeface="Trebuchet MS"/>
                <a:cs typeface="Trebuchet MS"/>
              </a:rPr>
              <a:t>The</a:t>
            </a:r>
            <a:r>
              <a:rPr dirty="0" sz="1900" spc="-225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jupyturtle</a:t>
            </a:r>
            <a:r>
              <a:rPr dirty="0" sz="1900" spc="-220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Module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jupyturtle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8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make_turtle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forward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5437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jupyturtle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jupyturtle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5572418"/>
            <a:ext cx="2752353" cy="1371604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5380476" y="7731125"/>
            <a:ext cx="118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39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377182"/>
            <a:ext cx="4572000" cy="289560"/>
            <a:chOff x="914400" y="2377182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37718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37877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177746"/>
            <a:ext cx="4572000" cy="397510"/>
            <a:chOff x="914400" y="3177746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17774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1793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5571506"/>
            <a:ext cx="4572000" cy="289560"/>
            <a:chOff x="914400" y="5571506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557150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55730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6364535"/>
            <a:ext cx="4572000" cy="613410"/>
            <a:chOff x="914400" y="6364535"/>
            <a:chExt cx="4572000" cy="6134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6364535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63661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901637" y="657564"/>
            <a:ext cx="4598035" cy="2825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SimSun"/>
                <a:cs typeface="SimSun"/>
              </a:rPr>
              <a:t>make_turtle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5" b="1">
                <a:latin typeface="Palatino Linotype"/>
                <a:cs typeface="Palatino Linotype"/>
              </a:rPr>
              <a:t>c</a:t>
            </a:r>
            <a:r>
              <a:rPr dirty="0" sz="1050" spc="-40" b="1">
                <a:latin typeface="Palatino Linotype"/>
                <a:cs typeface="Palatino Linotype"/>
              </a:rPr>
              <a:t>a</a:t>
            </a:r>
            <a:r>
              <a:rPr dirty="0" sz="1050" spc="-70" b="1">
                <a:latin typeface="Palatino Linotype"/>
                <a:cs typeface="Palatino Linotype"/>
              </a:rPr>
              <a:t>n</a:t>
            </a:r>
            <a:r>
              <a:rPr dirty="0" sz="1050" spc="-65" b="1">
                <a:latin typeface="Palatino Linotype"/>
                <a:cs typeface="Palatino Linotype"/>
              </a:rPr>
              <a:t>vas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screen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40">
                <a:latin typeface="Palatino Linotype"/>
                <a:cs typeface="Palatino Linotype"/>
              </a:rPr>
              <a:t>w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turtle,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circular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shell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triangular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circle </a:t>
            </a:r>
            <a:r>
              <a:rPr dirty="0" sz="1050" spc="-75">
                <a:latin typeface="Palatino Linotype"/>
                <a:cs typeface="Palatino Linotype"/>
              </a:rPr>
              <a:t>shows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turtle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triangle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facing.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00" spc="-20">
                <a:latin typeface="SimSun"/>
                <a:cs typeface="SimSun"/>
              </a:rPr>
              <a:t>forward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moves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turtle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given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distance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direction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facing,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drawing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 </a:t>
            </a:r>
            <a:r>
              <a:rPr dirty="0" sz="1050" spc="-70">
                <a:latin typeface="Palatino Linotype"/>
                <a:cs typeface="Palatino Linotype"/>
              </a:rPr>
              <a:t>segme</a:t>
            </a:r>
            <a:r>
              <a:rPr dirty="0" sz="1050" spc="-70">
                <a:latin typeface="Palatino Linotype"/>
                <a:cs typeface="Palatino Linotype"/>
              </a:rPr>
              <a:t>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way.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distance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arbitrary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units—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actual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size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depends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computer’s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screen.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5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jupyturtle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would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 </a:t>
            </a:r>
            <a:r>
              <a:rPr dirty="0" sz="1050" spc="-25">
                <a:latin typeface="Palatino Linotype"/>
                <a:cs typeface="Palatino Linotype"/>
              </a:rPr>
              <a:t>nice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jupyturtle</a:t>
            </a:r>
            <a:r>
              <a:rPr dirty="0" sz="850" spc="-7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2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This </a:t>
            </a:r>
            <a:r>
              <a:rPr dirty="0" sz="1050" spc="-40">
                <a:latin typeface="Palatino Linotype"/>
                <a:cs typeface="Palatino Linotype"/>
              </a:rPr>
              <a:t>version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import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imports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make_turtle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forward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  <a:spcBef>
                <a:spcPts val="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3670188"/>
            <a:ext cx="2752353" cy="1371604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54" y="5139497"/>
            <a:ext cx="4598035" cy="1746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imSun"/>
                <a:cs typeface="SimSun"/>
              </a:rPr>
              <a:t>jupyturtle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two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use,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left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right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We’ll </a:t>
            </a:r>
            <a:r>
              <a:rPr dirty="0" sz="1050" spc="-50">
                <a:latin typeface="Palatino Linotype"/>
                <a:cs typeface="Palatino Linotype"/>
              </a:rPr>
              <a:t>i</a:t>
            </a:r>
            <a:r>
              <a:rPr dirty="0" sz="1050" spc="-50">
                <a:latin typeface="Palatino Linotype"/>
                <a:cs typeface="Palatino Linotype"/>
              </a:rPr>
              <a:t>mport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jupyturtle</a:t>
            </a:r>
            <a:r>
              <a:rPr dirty="0" sz="850" spc="-7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2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right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left</a:t>
            </a:r>
            <a:r>
              <a:rPr dirty="0" sz="1000" spc="-1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causes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turtle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turn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left.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angle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degrees.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90 </a:t>
            </a:r>
            <a:r>
              <a:rPr dirty="0" sz="1050" spc="-65">
                <a:latin typeface="Palatino Linotype"/>
                <a:cs typeface="Palatino Linotype"/>
              </a:rPr>
              <a:t>degree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left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705" y="7731125"/>
            <a:ext cx="16948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40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214589"/>
            <a:ext cx="4572000" cy="1584960"/>
            <a:chOff x="914400" y="3214589"/>
            <a:chExt cx="4572000" cy="15849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214589"/>
              <a:ext cx="4572000" cy="1584960"/>
            </a:xfrm>
            <a:custGeom>
              <a:avLst/>
              <a:gdLst/>
              <a:ahLst/>
              <a:cxnLst/>
              <a:rect l="l" t="t" r="r" b="b"/>
              <a:pathLst>
                <a:path w="4572000" h="1584960">
                  <a:moveTo>
                    <a:pt x="4572000" y="1584642"/>
                  </a:moveTo>
                  <a:lnTo>
                    <a:pt x="0" y="15846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5846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2161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6795800"/>
            <a:ext cx="4572000" cy="613410"/>
            <a:chOff x="914400" y="6795800"/>
            <a:chExt cx="4572000" cy="6134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6795800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679738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685800"/>
            <a:ext cx="2752353" cy="1371604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901662" y="2147574"/>
            <a:ext cx="4598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moves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turtle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north,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leaving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segments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behind. </a:t>
            </a:r>
            <a:r>
              <a:rPr dirty="0" sz="1050" spc="-40">
                <a:latin typeface="Palatino Linotype"/>
                <a:cs typeface="Palatino Linotype"/>
              </a:rPr>
              <a:t>Before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modify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square.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901655" y="2585596"/>
            <a:ext cx="134048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50"/>
              <a:t>Making</a:t>
            </a:r>
            <a:r>
              <a:rPr dirty="0" sz="1900" spc="-260"/>
              <a:t> </a:t>
            </a:r>
            <a:r>
              <a:rPr dirty="0" sz="1900" spc="-265"/>
              <a:t>a</a:t>
            </a:r>
            <a:r>
              <a:rPr dirty="0" sz="1900" spc="-254"/>
              <a:t> </a:t>
            </a:r>
            <a:r>
              <a:rPr dirty="0" sz="1900" spc="-320"/>
              <a:t>Square</a:t>
            </a:r>
            <a:endParaRPr sz="1900"/>
          </a:p>
        </p:txBody>
      </p:sp>
      <p:sp>
        <p:nvSpPr>
          <p:cNvPr id="11" name="object 11" descr=""/>
          <p:cNvSpPr txBox="1"/>
          <p:nvPr/>
        </p:nvSpPr>
        <p:spPr>
          <a:xfrm>
            <a:off x="901766" y="2942599"/>
            <a:ext cx="4584700" cy="17646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square: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9433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943350">
              <a:lnSpc>
                <a:spcPts val="850"/>
              </a:lnSpc>
              <a:spcBef>
                <a:spcPts val="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9433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9433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4894481"/>
            <a:ext cx="2752353" cy="1371604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901664" y="6356256"/>
            <a:ext cx="4597400" cy="96075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repeats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pair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lines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four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same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concisely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 marR="35782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502311" y="7731125"/>
            <a:ext cx="996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Making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95" b="1">
                <a:latin typeface="Trebuchet MS"/>
                <a:cs typeface="Trebuchet MS"/>
              </a:rPr>
              <a:t>Square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20" b="1">
                <a:latin typeface="Trebuchet MS"/>
                <a:cs typeface="Trebuchet MS"/>
              </a:rPr>
              <a:t>41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985903"/>
            <a:ext cx="4572000" cy="613410"/>
            <a:chOff x="914400" y="2985903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985903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9874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935228"/>
            <a:ext cx="4572000" cy="397510"/>
            <a:chOff x="914400" y="3935228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93522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9368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685800"/>
            <a:ext cx="2752353" cy="1371604"/>
          </a:xfrm>
          <a:prstGeom prst="rect">
            <a:avLst/>
          </a:prstGeom>
        </p:spPr>
      </p:pic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01700" y="2189356"/>
            <a:ext cx="267335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85"/>
              <a:t>Encapsulation</a:t>
            </a:r>
            <a:r>
              <a:rPr dirty="0" sz="1900" spc="-270"/>
              <a:t> </a:t>
            </a:r>
            <a:r>
              <a:rPr dirty="0" sz="1900" spc="-295"/>
              <a:t>and</a:t>
            </a:r>
            <a:r>
              <a:rPr dirty="0" sz="1900" spc="-265"/>
              <a:t> </a:t>
            </a:r>
            <a:r>
              <a:rPr dirty="0" sz="1900" spc="-300"/>
              <a:t>Generalization</a:t>
            </a:r>
            <a:endParaRPr sz="1900"/>
          </a:p>
        </p:txBody>
      </p:sp>
      <p:sp>
        <p:nvSpPr>
          <p:cNvPr id="10" name="object 10" descr=""/>
          <p:cNvSpPr txBox="1"/>
          <p:nvPr/>
        </p:nvSpPr>
        <p:spPr>
          <a:xfrm>
            <a:off x="901687" y="2546359"/>
            <a:ext cx="4598035" cy="169418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square-</a:t>
            </a:r>
            <a:r>
              <a:rPr dirty="0" sz="1050" spc="-80">
                <a:latin typeface="Palatino Linotype"/>
                <a:cs typeface="Palatino Linotype"/>
              </a:rPr>
              <a:t>drawing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put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square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square():</a:t>
            </a:r>
            <a:endParaRPr sz="850">
              <a:latin typeface="SimSun"/>
              <a:cs typeface="SimSun"/>
            </a:endParaRPr>
          </a:p>
          <a:p>
            <a:pPr marL="471170" marR="33623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square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4427670"/>
            <a:ext cx="2752353" cy="1371604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901649" y="5889445"/>
            <a:ext cx="459803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latin typeface="Palatino Linotype"/>
                <a:cs typeface="Palatino Linotype"/>
              </a:rPr>
              <a:t>Wrapping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piece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up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encapsulation</a:t>
            </a:r>
            <a:r>
              <a:rPr dirty="0" sz="1050" spc="-4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bene‐ </a:t>
            </a:r>
            <a:r>
              <a:rPr dirty="0" sz="1050" spc="-20">
                <a:latin typeface="Palatino Linotype"/>
                <a:cs typeface="Palatino Linotype"/>
              </a:rPr>
              <a:t>fits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encapsulation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attaches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code,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serves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documentation.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advantage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re-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twice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body!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1688" y="7731125"/>
            <a:ext cx="16948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42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613410"/>
            <a:chOff x="914400" y="1089574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38899"/>
            <a:ext cx="4572000" cy="505459"/>
            <a:chOff x="914400" y="2038899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3889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0404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5089336"/>
            <a:ext cx="4572000" cy="721360"/>
            <a:chOff x="914400" y="5089336"/>
            <a:chExt cx="4572000" cy="7213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5089336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50909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6557919"/>
            <a:ext cx="4572000" cy="397510"/>
            <a:chOff x="914400" y="6557919"/>
            <a:chExt cx="4572000" cy="3975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65579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65595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901662" y="657564"/>
            <a:ext cx="4598035" cy="1794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current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size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square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 spc="-90">
                <a:latin typeface="Palatino Linotype"/>
                <a:cs typeface="Palatino Linotype"/>
              </a:rPr>
              <a:t>always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50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draw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squares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sizes,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square(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33083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squares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sizes: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square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square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639291"/>
            <a:ext cx="2752353" cy="1371604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37" y="4101066"/>
            <a:ext cx="4598035" cy="2762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latin typeface="Palatino Linotype"/>
                <a:cs typeface="Palatino Linotype"/>
              </a:rPr>
              <a:t>Adding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generalization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20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square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always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size;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size.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add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parameter,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draws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regular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polygons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sides: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3083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polygon(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angle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endParaRPr sz="850">
              <a:latin typeface="SimSun"/>
              <a:cs typeface="SimSun"/>
            </a:endParaRPr>
          </a:p>
          <a:p>
            <a:pPr marL="471170" marR="33083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regular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polygon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sides,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angle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between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adjacent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sides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360</a:t>
            </a:r>
            <a:r>
              <a:rPr dirty="0" sz="1000" spc="10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/</a:t>
            </a:r>
            <a:r>
              <a:rPr dirty="0" sz="1000" spc="100">
                <a:latin typeface="SimSun"/>
                <a:cs typeface="SimSun"/>
              </a:rPr>
              <a:t> </a:t>
            </a:r>
            <a:r>
              <a:rPr dirty="0" sz="1000" spc="-50">
                <a:latin typeface="SimSun"/>
                <a:cs typeface="SimSun"/>
              </a:rPr>
              <a:t>n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degrees.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draws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7</a:t>
            </a:r>
            <a:r>
              <a:rPr dirty="0" sz="1050" spc="-30">
                <a:latin typeface="Palatino Linotype"/>
                <a:cs typeface="Palatino Linotype"/>
              </a:rPr>
              <a:t>-</a:t>
            </a:r>
            <a:r>
              <a:rPr dirty="0" sz="1050" spc="-65">
                <a:latin typeface="Palatino Linotype"/>
                <a:cs typeface="Palatino Linotype"/>
              </a:rPr>
              <a:t>sided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polygon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30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polygon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68364" y="7731125"/>
            <a:ext cx="16313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Encapsulation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Generalization</a:t>
            </a:r>
            <a:r>
              <a:rPr dirty="0" sz="900" spc="16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75" b="1">
                <a:latin typeface="Trebuchet MS"/>
                <a:cs typeface="Trebuchet MS"/>
              </a:rPr>
              <a:t>  </a:t>
            </a:r>
            <a:r>
              <a:rPr dirty="0" sz="900" spc="-114" b="1">
                <a:latin typeface="Trebuchet MS"/>
                <a:cs typeface="Trebuchet MS"/>
              </a:rPr>
              <a:t>43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739604"/>
            <a:ext cx="4572000" cy="397510"/>
            <a:chOff x="914400" y="273960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73960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7411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486997"/>
            <a:ext cx="4572000" cy="937260"/>
            <a:chOff x="914400" y="5486997"/>
            <a:chExt cx="4572000" cy="9372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486997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48858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685800"/>
            <a:ext cx="2752353" cy="1371604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901627" y="2147574"/>
            <a:ext cx="4598035" cy="5746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numeric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arguments,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easy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what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are,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order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 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idea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names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list: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polygon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 spc="-30">
                <a:latin typeface="Palatino Linotype"/>
                <a:cs typeface="Palatino Linotype"/>
              </a:rPr>
              <a:t>These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“named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arguments”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include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 </a:t>
            </a:r>
            <a:r>
              <a:rPr dirty="0" sz="1050" spc="-60">
                <a:latin typeface="Palatino Linotype"/>
                <a:cs typeface="Palatino Linotype"/>
              </a:rPr>
              <a:t>names.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 b="1">
                <a:latin typeface="Palatino Linotype"/>
                <a:cs typeface="Palatino Linotype"/>
              </a:rPr>
              <a:t>keyword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arguments</a:t>
            </a:r>
            <a:r>
              <a:rPr dirty="0" sz="1050" spc="20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75">
                <a:latin typeface="Palatino Linotype"/>
                <a:cs typeface="Palatino Linotype"/>
              </a:rPr>
              <a:t>fused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def</a:t>
            </a:r>
            <a:r>
              <a:rPr dirty="0" sz="1050" spc="-10">
                <a:latin typeface="Palatino Linotype"/>
                <a:cs typeface="Palatino Linotype"/>
              </a:rPr>
              <a:t>).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assignment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=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reminder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about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30">
                <a:latin typeface="Palatino Linotype"/>
                <a:cs typeface="Palatino Linotype"/>
              </a:rPr>
              <a:t>parameters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work—</a:t>
            </a:r>
            <a:r>
              <a:rPr dirty="0" sz="1050">
                <a:latin typeface="Palatino Linotype"/>
                <a:cs typeface="Palatino Linotype"/>
              </a:rPr>
              <a:t>when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arguments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assigned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parameters.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Approximating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Circle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20"/>
              </a:spcBef>
            </a:pPr>
            <a:r>
              <a:rPr dirty="0" sz="1050" spc="-120">
                <a:latin typeface="Palatino Linotype"/>
                <a:cs typeface="Palatino Linotype"/>
              </a:rPr>
              <a:t>Now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draw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circle.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approximately,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drawing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0">
                <a:latin typeface="Palatino Linotype"/>
                <a:cs typeface="Palatino Linotype"/>
              </a:rPr>
              <a:t>polygon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large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sides,</a:t>
            </a:r>
            <a:r>
              <a:rPr dirty="0" sz="1050">
                <a:latin typeface="Palatino Linotype"/>
                <a:cs typeface="Palatino Linotype"/>
              </a:rPr>
              <a:t> 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35">
                <a:latin typeface="Palatino Linotype"/>
                <a:cs typeface="Palatino Linotype"/>
              </a:rPr>
              <a:t>small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see.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Here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polygon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draw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30-</a:t>
            </a:r>
            <a:r>
              <a:rPr dirty="0" sz="1050" spc="-20">
                <a:latin typeface="Palatino Linotype"/>
                <a:cs typeface="Palatino Linotype"/>
              </a:rPr>
              <a:t>sided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polygon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approxi‐ </a:t>
            </a:r>
            <a:r>
              <a:rPr dirty="0" sz="1050" spc="-70">
                <a:latin typeface="Palatino Linotype"/>
                <a:cs typeface="Palatino Linotype"/>
              </a:rPr>
              <a:t>mates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circle: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latin typeface="Courier New"/>
                <a:cs typeface="Courier New"/>
              </a:rPr>
              <a:t>math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circle(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3907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circumference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endParaRPr sz="850">
              <a:latin typeface="SimSun"/>
              <a:cs typeface="SimSun"/>
            </a:endParaRPr>
          </a:p>
          <a:p>
            <a:pPr marL="255270" marR="29305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circumference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polygon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00" spc="-5">
                <a:latin typeface="SimSun"/>
                <a:cs typeface="SimSun"/>
              </a:rPr>
              <a:t>circle</a:t>
            </a:r>
            <a:r>
              <a:rPr dirty="0" sz="1000" spc="-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radius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circumference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circumference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radius.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sides,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circumference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/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side.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take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long </a:t>
            </a:r>
            <a:r>
              <a:rPr dirty="0" sz="1050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run.</a:t>
            </a:r>
            <a:r>
              <a:rPr dirty="0" sz="1050" spc="-10">
                <a:latin typeface="Palatino Linotype"/>
                <a:cs typeface="Palatino Linotype"/>
              </a:rPr>
              <a:t> We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make_ turtle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delay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time,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5">
                <a:latin typeface="Palatino Linotype"/>
                <a:cs typeface="Palatino Linotype"/>
              </a:rPr>
              <a:t>seconds,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tur‐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 b="1">
                <a:latin typeface="Trebuchet MS"/>
                <a:cs typeface="Trebuchet MS"/>
              </a:rPr>
              <a:t>44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3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603639"/>
            <a:ext cx="4572000" cy="613410"/>
            <a:chOff x="914400" y="5603639"/>
            <a:chExt cx="4572000" cy="6134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60363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6052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6971807"/>
            <a:ext cx="4572000" cy="505459"/>
            <a:chOff x="914400" y="6971807"/>
            <a:chExt cx="4572000" cy="505459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697180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69733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661" y="657564"/>
            <a:ext cx="4598035" cy="737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tle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after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step.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default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0.2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seconds—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to </a:t>
            </a:r>
            <a:r>
              <a:rPr dirty="0" sz="1000" spc="-10">
                <a:latin typeface="SimSun"/>
                <a:cs typeface="SimSun"/>
              </a:rPr>
              <a:t>0.02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runs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10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-10">
                <a:latin typeface="Palatino Linotype"/>
                <a:cs typeface="Palatino Linotype"/>
              </a:rPr>
              <a:t> faster.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delay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0.02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circle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582016"/>
            <a:ext cx="2752353" cy="1371604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901638" y="3051325"/>
            <a:ext cx="4598035" cy="433387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 indent="-635">
              <a:lnSpc>
                <a:spcPct val="101600"/>
              </a:lnSpc>
              <a:spcBef>
                <a:spcPts val="8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limit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consta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5">
                <a:latin typeface="Palatino Linotype"/>
                <a:cs typeface="Palatino Linotype"/>
              </a:rPr>
              <a:t>cir‐ </a:t>
            </a:r>
            <a:r>
              <a:rPr dirty="0" sz="1050" spc="-45">
                <a:latin typeface="Palatino Linotype"/>
                <a:cs typeface="Palatino Linotype"/>
              </a:rPr>
              <a:t>cles,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sides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circles,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waste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wing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short </a:t>
            </a:r>
            <a:r>
              <a:rPr dirty="0" sz="1050" spc="-55">
                <a:latin typeface="Palatino Linotype"/>
                <a:cs typeface="Palatino Linotype"/>
              </a:rPr>
              <a:t>sides.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option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generalize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taking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1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50">
                <a:latin typeface="Palatino Linotype"/>
                <a:cs typeface="Palatino Linotype"/>
              </a:rPr>
              <a:t>s </a:t>
            </a:r>
            <a:r>
              <a:rPr dirty="0" sz="1050" spc="-65">
                <a:latin typeface="Palatino Linotype"/>
                <a:cs typeface="Palatino Linotype"/>
              </a:rPr>
              <a:t>keep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no</a:t>
            </a:r>
            <a:r>
              <a:rPr dirty="0" sz="1050" spc="-180">
                <a:latin typeface="Palatino Linotype"/>
                <a:cs typeface="Palatino Linotype"/>
              </a:rPr>
              <a:t>w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Refactoring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3099"/>
              </a:lnSpc>
              <a:spcBef>
                <a:spcPts val="560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circle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arc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 </a:t>
            </a:r>
            <a:r>
              <a:rPr dirty="0" sz="1050" spc="-55">
                <a:latin typeface="Palatino Linotype"/>
                <a:cs typeface="Palatino Linotype"/>
              </a:rPr>
              <a:t>paramete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angle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10">
                <a:latin typeface="Palatino Linotype"/>
                <a:cs typeface="Palatino Linotype"/>
              </a:rPr>
              <a:t>ws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arc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spans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angle.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exam‐ 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angle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360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degrees,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10">
                <a:latin typeface="Palatino Linotype"/>
                <a:cs typeface="Palatino Linotype"/>
              </a:rPr>
              <a:t>ws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angle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180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degrees,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90">
                <a:latin typeface="Palatino Linotype"/>
                <a:cs typeface="Palatino Linotype"/>
              </a:rPr>
              <a:t>ws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half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circle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able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polygon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many-</a:t>
            </a:r>
            <a:r>
              <a:rPr dirty="0" sz="1050" spc="-50">
                <a:latin typeface="Palatino Linotype"/>
                <a:cs typeface="Palatino Linotype"/>
              </a:rPr>
              <a:t>sided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polygon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approximation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circle.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polygon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arc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Instead,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polygon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polyline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polyline(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33083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00" spc="-20">
                <a:latin typeface="SimSun"/>
                <a:cs typeface="SimSun"/>
              </a:rPr>
              <a:t>polyline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segments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draw,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50">
                <a:latin typeface="Palatino Linotype"/>
                <a:cs typeface="Palatino Linotype"/>
              </a:rPr>
              <a:t>;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length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segments,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length</a:t>
            </a:r>
            <a:r>
              <a:rPr dirty="0" sz="1050" spc="-10">
                <a:latin typeface="Palatino Linotype"/>
                <a:cs typeface="Palatino Linotype"/>
              </a:rPr>
              <a:t>;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angle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polygon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polyline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3083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polygon(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angle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360.0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689078" y="7731125"/>
            <a:ext cx="8102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5" b="1">
                <a:latin typeface="Trebuchet MS"/>
                <a:cs typeface="Trebuchet MS"/>
              </a:rPr>
              <a:t>Refactoring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45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829310"/>
            <a:chOff x="914400" y="929554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506087"/>
            <a:ext cx="4572000" cy="397510"/>
            <a:chOff x="914400" y="2506087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50608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5076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407066"/>
            <a:ext cx="4572000" cy="613410"/>
            <a:chOff x="914400" y="3407066"/>
            <a:chExt cx="4572000" cy="6134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407066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4086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682" y="657564"/>
            <a:ext cx="4598035" cy="3270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polyline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arc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arc(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17970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arc_length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angle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360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endParaRPr sz="850">
              <a:latin typeface="SimSun"/>
              <a:cs typeface="SimSun"/>
            </a:endParaRPr>
          </a:p>
          <a:p>
            <a:pPr marL="255270" marR="26606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arc_length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step_angle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angle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step_angle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arc</a:t>
            </a:r>
            <a:r>
              <a:rPr dirty="0" sz="1000" spc="-16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similar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circle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except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arc_length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fraction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circumference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circle.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60">
                <a:latin typeface="Palatino Linotype"/>
                <a:cs typeface="Palatino Linotype"/>
              </a:rPr>
              <a:t>Finally,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circle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arc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circle(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arc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42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360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marL="12700" marR="8890">
              <a:lnSpc>
                <a:spcPct val="1047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snail.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delay=0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turtle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possible.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5437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delay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polygon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arc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70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circle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4115409"/>
            <a:ext cx="3440358" cy="1714464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901651" y="5920043"/>
            <a:ext cx="4598035" cy="1229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reorganized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25">
                <a:latin typeface="Palatino Linotype"/>
                <a:cs typeface="Palatino Linotype"/>
              </a:rPr>
              <a:t>tions.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Changes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improve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changing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behavior,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refactoring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planned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ahead,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might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polyline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avoided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refactor‐ </a:t>
            </a:r>
            <a:r>
              <a:rPr dirty="0" sz="1050" spc="-25">
                <a:latin typeface="Palatino Linotype"/>
                <a:cs typeface="Palatino Linotype"/>
              </a:rPr>
              <a:t>ing,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know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project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design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functions.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coding,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understand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problem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better.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Sometimes </a:t>
            </a:r>
            <a:r>
              <a:rPr dirty="0" sz="1050" spc="-45">
                <a:latin typeface="Palatino Linotype"/>
                <a:cs typeface="Palatino Linotype"/>
              </a:rPr>
              <a:t>refactoring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sign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learned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something.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652" y="7731125"/>
            <a:ext cx="16948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46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1639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85"/>
              <a:t>Stack</a:t>
            </a:r>
            <a:r>
              <a:rPr dirty="0" sz="1900" spc="-275"/>
              <a:t> </a:t>
            </a:r>
            <a:r>
              <a:rPr dirty="0" sz="1900" spc="-290"/>
              <a:t>Diagram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37" y="971559"/>
            <a:ext cx="4598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When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circle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45">
                <a:latin typeface="Palatino Linotype"/>
                <a:cs typeface="Palatino Linotype"/>
              </a:rPr>
              <a:t>calls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arc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polyline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35">
                <a:latin typeface="Palatino Linotype"/>
                <a:cs typeface="Palatino Linotype"/>
              </a:rPr>
              <a:t>stack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diagram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494742"/>
            <a:ext cx="2869273" cy="895642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901621" y="2500693"/>
            <a:ext cx="4598035" cy="4892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latin typeface="Palatino Linotype"/>
                <a:cs typeface="Palatino Linotype"/>
              </a:rPr>
              <a:t>Notice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angle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polyline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angle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arc</a:t>
            </a:r>
            <a:r>
              <a:rPr dirty="0" sz="1050" spc="-20">
                <a:latin typeface="Palatino Linotype"/>
                <a:cs typeface="Palatino Linotype"/>
              </a:rPr>
              <a:t>.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local,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 </a:t>
            </a:r>
            <a:r>
              <a:rPr dirty="0" sz="1050" spc="-45">
                <a:latin typeface="Palatino Linotype"/>
                <a:cs typeface="Palatino Linotype"/>
              </a:rPr>
              <a:t>functions;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65" b="1">
                <a:latin typeface="Trebuchet MS"/>
                <a:cs typeface="Trebuchet MS"/>
              </a:rPr>
              <a:t>A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Development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Plan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development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plan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process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60">
                <a:latin typeface="Palatino Linotype"/>
                <a:cs typeface="Palatino Linotype"/>
              </a:rPr>
              <a:t>ch</a:t>
            </a:r>
            <a:r>
              <a:rPr dirty="0" sz="1050" spc="-60">
                <a:latin typeface="Palatino Linotype"/>
                <a:cs typeface="Palatino Linotype"/>
              </a:rPr>
              <a:t>apter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“encapsulation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generalization.”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steps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are:</a:t>
            </a:r>
            <a:endParaRPr sz="1050">
              <a:latin typeface="Palatino Linotype"/>
              <a:cs typeface="Palatino Linotype"/>
            </a:endParaRPr>
          </a:p>
          <a:p>
            <a:pPr algn="just" marL="241300" indent="-161925">
              <a:lnSpc>
                <a:spcPct val="100000"/>
              </a:lnSpc>
              <a:spcBef>
                <a:spcPts val="1000"/>
              </a:spcBef>
              <a:buAutoNum type="arabicPeriod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small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definitions.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Once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</a:t>
            </a:r>
            <a:r>
              <a:rPr dirty="0" sz="1050" spc="-15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cohere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piece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enc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psul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piece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void </a:t>
            </a:r>
            <a:r>
              <a:rPr dirty="0" sz="1050" spc="-60">
                <a:latin typeface="Palatino Linotype"/>
                <a:cs typeface="Palatino Linotype"/>
              </a:rPr>
              <a:t>retyping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re-debugging).</a:t>
            </a:r>
            <a:endParaRPr sz="1050">
              <a:latin typeface="Palatino Linotype"/>
              <a:cs typeface="Palatino Linotype"/>
            </a:endParaRPr>
          </a:p>
          <a:p>
            <a:pPr algn="just"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Generalize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appropriate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parameters.</a:t>
            </a:r>
            <a:endParaRPr sz="1050">
              <a:latin typeface="Palatino Linotype"/>
              <a:cs typeface="Palatino Linotype"/>
            </a:endParaRPr>
          </a:p>
          <a:p>
            <a:pPr algn="just"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Repeat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steps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3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until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opportunities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improve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refactoring.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similar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several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places,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consider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factoring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appropriately general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45">
                <a:latin typeface="Palatino Linotype"/>
                <a:cs typeface="Palatino Linotype"/>
              </a:rPr>
              <a:t>process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drawbacks—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alternatives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later—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useful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know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ahead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time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divide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program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60">
                <a:latin typeface="Palatino Linotype"/>
                <a:cs typeface="Palatino Linotype"/>
              </a:rPr>
              <a:t>approach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</a:t>
            </a:r>
            <a:r>
              <a:rPr dirty="0" sz="1050" spc="-10">
                <a:latin typeface="Palatino Linotype"/>
                <a:cs typeface="Palatino Linotype"/>
              </a:rPr>
              <a:t> along.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parts: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interface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635">
              <a:lnSpc>
                <a:spcPct val="100000"/>
              </a:lnSpc>
            </a:pPr>
            <a:r>
              <a:rPr dirty="0" sz="1050" spc="-100">
                <a:latin typeface="Palatino Linotype"/>
                <a:cs typeface="Palatino Linotype"/>
              </a:rPr>
              <a:t>How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including</a:t>
            </a:r>
            <a:r>
              <a:rPr dirty="0" sz="1050">
                <a:latin typeface="Palatino Linotype"/>
                <a:cs typeface="Palatino Linotype"/>
              </a:rPr>
              <a:t> 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name,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40">
                <a:latin typeface="Palatino Linotype"/>
                <a:cs typeface="Palatino Linotype"/>
              </a:rPr>
              <a:t>takes,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what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do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implementation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</a:pPr>
            <a:r>
              <a:rPr dirty="0" sz="1050" spc="-11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do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364402" y="7731125"/>
            <a:ext cx="1134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80" b="1">
                <a:latin typeface="Trebuchet MS"/>
                <a:cs typeface="Trebuchet MS"/>
              </a:rPr>
              <a:t>A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Development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50" b="1">
                <a:latin typeface="Trebuchet MS"/>
                <a:cs typeface="Trebuchet MS"/>
              </a:rPr>
              <a:t>Plan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05" b="1">
                <a:latin typeface="Trebuchet MS"/>
                <a:cs typeface="Trebuchet MS"/>
              </a:rPr>
              <a:t>47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721360"/>
            <a:chOff x="914400" y="92955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994363"/>
            <a:ext cx="4572000" cy="397510"/>
            <a:chOff x="914400" y="1994363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99436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9959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682833"/>
            <a:ext cx="4572000" cy="1261110"/>
            <a:chOff x="914400" y="3682833"/>
            <a:chExt cx="4572000" cy="12611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682833"/>
              <a:ext cx="4572000" cy="1261110"/>
            </a:xfrm>
            <a:custGeom>
              <a:avLst/>
              <a:gdLst/>
              <a:ahLst/>
              <a:cxnLst/>
              <a:rect l="l" t="t" r="r" b="b"/>
              <a:pathLst>
                <a:path w="4572000" h="1261110">
                  <a:moveTo>
                    <a:pt x="4572000" y="1260792"/>
                  </a:moveTo>
                  <a:lnTo>
                    <a:pt x="0" y="12607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2607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6844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643" y="657564"/>
            <a:ext cx="4598035" cy="64077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circle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wrote,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polygon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circle(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3907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circumference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endParaRPr sz="850">
              <a:latin typeface="SimSun"/>
              <a:cs typeface="SimSun"/>
            </a:endParaRPr>
          </a:p>
          <a:p>
            <a:pPr marL="255270" marR="29305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circumference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polygon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refactored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arc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circle(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arc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42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360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interface—</a:t>
            </a:r>
            <a:r>
              <a:rPr dirty="0" sz="1050" spc="-45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do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thing—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implementations.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5" b="1">
                <a:latin typeface="Trebuchet MS"/>
                <a:cs typeface="Trebuchet MS"/>
              </a:rPr>
              <a:t>Docstrings</a:t>
            </a:r>
            <a:endParaRPr sz="1900">
              <a:latin typeface="Trebuchet MS"/>
              <a:cs typeface="Trebuchet MS"/>
            </a:endParaRPr>
          </a:p>
          <a:p>
            <a:pPr marL="12700" marR="5715">
              <a:lnSpc>
                <a:spcPct val="100000"/>
              </a:lnSpc>
              <a:spcBef>
                <a:spcPts val="540"/>
              </a:spcBef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docstring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explains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interface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(“doc”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“documentation”).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polyline(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"""Draws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line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segments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with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given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length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and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angle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between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them.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44475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n: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integer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number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line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35" i="1">
                <a:solidFill>
                  <a:srgbClr val="7F2604"/>
                </a:solidFill>
                <a:latin typeface="Courier New"/>
                <a:cs typeface="Courier New"/>
              </a:rPr>
              <a:t>segments</a:t>
            </a:r>
            <a:r>
              <a:rPr dirty="0" sz="850" spc="-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length: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length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line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segments</a:t>
            </a:r>
            <a:endParaRPr sz="850">
              <a:latin typeface="Courier New"/>
              <a:cs typeface="Courier New"/>
            </a:endParaRPr>
          </a:p>
          <a:p>
            <a:pPr marL="255270" marR="2066925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angle: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angle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between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segments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(in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degrees)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471170" marR="33083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convention,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docstrings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triple-</a:t>
            </a:r>
            <a:r>
              <a:rPr dirty="0" sz="1050" spc="-45">
                <a:latin typeface="Palatino Linotype"/>
                <a:cs typeface="Palatino Linotype"/>
              </a:rPr>
              <a:t>quoted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known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multiline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strings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triple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quotes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allow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span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docstring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should: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Explain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concisely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getting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details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how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works,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Explain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behavior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45">
                <a:latin typeface="Palatino Linotype"/>
                <a:cs typeface="Palatino Linotype"/>
              </a:rPr>
              <a:t>Indicate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obvious.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40">
                <a:latin typeface="Palatino Linotype"/>
                <a:cs typeface="Palatino Linotype"/>
              </a:rPr>
              <a:t>riting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docume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5">
                <a:latin typeface="Palatino Linotype"/>
                <a:cs typeface="Palatino Linotype"/>
              </a:rPr>
              <a:t>porta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terface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design.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well-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terface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explain;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explaining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ybe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terface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proved.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1682" y="7731125"/>
            <a:ext cx="16948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48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978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65"/>
              <a:t>Debugging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37" y="964024"/>
            <a:ext cx="4598035" cy="6230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An </a:t>
            </a:r>
            <a:r>
              <a:rPr dirty="0" sz="1050" spc="-35">
                <a:latin typeface="Palatino Linotype"/>
                <a:cs typeface="Palatino Linotype"/>
              </a:rPr>
              <a:t>interface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25">
                <a:latin typeface="Palatino Linotype"/>
                <a:cs typeface="Palatino Linotype"/>
              </a:rPr>
              <a:t>contract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caller.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agrees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certain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agrees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certain</a:t>
            </a:r>
            <a:r>
              <a:rPr dirty="0" sz="1050" spc="-10">
                <a:latin typeface="Palatino Linotype"/>
                <a:cs typeface="Palatino Linotype"/>
              </a:rPr>
              <a:t> work.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35">
                <a:latin typeface="Palatino Linotype"/>
                <a:cs typeface="Palatino Linotype"/>
              </a:rPr>
              <a:t> example,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polyline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requires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three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arguments: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integer,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length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positive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angle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understood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 </a:t>
            </a:r>
            <a:r>
              <a:rPr dirty="0" sz="1050" spc="-10">
                <a:latin typeface="Palatino Linotype"/>
                <a:cs typeface="Palatino Linotype"/>
              </a:rPr>
              <a:t>degrees.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requirements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preconditions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supposed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true </a:t>
            </a:r>
            <a:r>
              <a:rPr dirty="0" sz="1050" spc="-50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executing.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Conversely,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postconditions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Postconditions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include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intended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effect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(like </a:t>
            </a:r>
            <a:r>
              <a:rPr dirty="0" sz="1050" spc="-75">
                <a:latin typeface="Palatino Linotype"/>
                <a:cs typeface="Palatino Linotype"/>
              </a:rPr>
              <a:t>drawing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 </a:t>
            </a:r>
            <a:r>
              <a:rPr dirty="0" sz="1050" spc="-50">
                <a:latin typeface="Palatino Linotype"/>
                <a:cs typeface="Palatino Linotype"/>
              </a:rPr>
              <a:t>segments)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effects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moving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turtle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 </a:t>
            </a:r>
            <a:r>
              <a:rPr dirty="0" sz="1050" spc="-10">
                <a:latin typeface="Palatino Linotype"/>
                <a:cs typeface="Palatino Linotype"/>
              </a:rPr>
              <a:t>changes).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Preconditions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50">
                <a:latin typeface="Palatino Linotype"/>
                <a:cs typeface="Palatino Linotype"/>
              </a:rPr>
              <a:t>responsibility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40">
                <a:latin typeface="Palatino Linotype"/>
                <a:cs typeface="Palatino Linotype"/>
              </a:rPr>
              <a:t>caller.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violates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precondition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correctly,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bug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preconditions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satisfied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postconditions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function.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pre-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postconditions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clear,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help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debugging.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interface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design: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interface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a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includes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canvas: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window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graphical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lines,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circles,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rectan‐ </a:t>
            </a:r>
            <a:r>
              <a:rPr dirty="0" sz="1050" spc="-55">
                <a:latin typeface="Palatino Linotype"/>
                <a:cs typeface="Palatino Linotype"/>
              </a:rPr>
              <a:t>gles,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shapes.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encapsulation: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transforming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 </a:t>
            </a:r>
            <a:r>
              <a:rPr dirty="0" sz="1050" spc="-10">
                <a:latin typeface="Palatino Linotype"/>
                <a:cs typeface="Palatino Linotype"/>
              </a:rPr>
              <a:t>definition.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generalization:</a:t>
            </a:r>
            <a:r>
              <a:rPr dirty="0" sz="1050" spc="1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process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replacing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something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unnecessarily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specific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(like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number)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appropriately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parameter).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 b="1">
                <a:latin typeface="Palatino Linotype"/>
                <a:cs typeface="Palatino Linotype"/>
              </a:rPr>
              <a:t>keyword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argument: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refactoring: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modifying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to </a:t>
            </a:r>
            <a:r>
              <a:rPr dirty="0" sz="1050" spc="-65">
                <a:latin typeface="Palatino Linotype"/>
                <a:cs typeface="Palatino Linotype"/>
              </a:rPr>
              <a:t>improve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inter‐ </a:t>
            </a:r>
            <a:r>
              <a:rPr dirty="0" sz="1050" spc="-60">
                <a:latin typeface="Palatino Linotype"/>
                <a:cs typeface="Palatino Linotype"/>
              </a:rPr>
              <a:t>faces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qualities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5" b="1">
                <a:latin typeface="Palatino Linotype"/>
                <a:cs typeface="Palatino Linotype"/>
              </a:rPr>
              <a:t>development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plan: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 spc="-10">
                <a:latin typeface="Palatino Linotype"/>
                <a:cs typeface="Palatino Linotype"/>
              </a:rPr>
              <a:t> programs.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docstring: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document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function’s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interface.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multiline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string: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enclosed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triple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quotes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15651" y="7731125"/>
            <a:ext cx="6838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49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189988"/>
            <a:ext cx="4572000" cy="1261110"/>
            <a:chOff x="914400" y="3189988"/>
            <a:chExt cx="4572000" cy="12611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189988"/>
              <a:ext cx="4572000" cy="1261110"/>
            </a:xfrm>
            <a:custGeom>
              <a:avLst/>
              <a:gdLst/>
              <a:ahLst/>
              <a:cxnLst/>
              <a:rect l="l" t="t" r="r" b="b"/>
              <a:pathLst>
                <a:path w="4572000" h="1261110">
                  <a:moveTo>
                    <a:pt x="4572000" y="1260792"/>
                  </a:moveTo>
                  <a:lnTo>
                    <a:pt x="0" y="12607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2607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1915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901662" y="650030"/>
            <a:ext cx="4598035" cy="454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precondition: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satisfied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30">
                <a:latin typeface="Palatino Linotype"/>
                <a:cs typeface="Palatino Linotype"/>
              </a:rPr>
              <a:t>caller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 </a:t>
            </a:r>
            <a:r>
              <a:rPr dirty="0" sz="1050" spc="-10">
                <a:latin typeface="Palatino Linotype"/>
                <a:cs typeface="Palatino Linotype"/>
              </a:rPr>
              <a:t>starts.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postcondition: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satisfied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ends.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turtle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0">
                <a:latin typeface="SimSun"/>
                <a:cs typeface="SimSun"/>
              </a:rPr>
              <a:t>penup</a:t>
            </a:r>
            <a:endParaRPr sz="1000">
              <a:latin typeface="SimSun"/>
              <a:cs typeface="SimSun"/>
            </a:endParaRPr>
          </a:p>
          <a:p>
            <a:pPr marL="241300">
              <a:lnSpc>
                <a:spcPct val="100000"/>
              </a:lnSpc>
              <a:spcBef>
                <a:spcPts val="10"/>
              </a:spcBef>
            </a:pPr>
            <a:r>
              <a:rPr dirty="0" sz="1050" spc="-50">
                <a:latin typeface="Palatino Linotype"/>
                <a:cs typeface="Palatino Linotype"/>
              </a:rPr>
              <a:t>Lift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turtle’s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imaginary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trail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moves.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dirty="0" sz="1000" spc="-10">
                <a:latin typeface="SimSun"/>
                <a:cs typeface="SimSun"/>
              </a:rPr>
              <a:t>pendown</a:t>
            </a:r>
            <a:endParaRPr sz="1000">
              <a:latin typeface="SimSun"/>
              <a:cs typeface="SimSun"/>
            </a:endParaRPr>
          </a:p>
          <a:p>
            <a:pPr marL="241300">
              <a:lnSpc>
                <a:spcPct val="100000"/>
              </a:lnSpc>
              <a:spcBef>
                <a:spcPts val="10"/>
              </a:spcBef>
            </a:pPr>
            <a:r>
              <a:rPr dirty="0" sz="1050" spc="-50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10">
                <a:latin typeface="Palatino Linotype"/>
                <a:cs typeface="Palatino Linotype"/>
              </a:rPr>
              <a:t> down.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penup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pendown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turtle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leaving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trail: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jupyturtle</a:t>
            </a:r>
            <a:r>
              <a:rPr dirty="0" sz="850" spc="-7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penup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2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pendown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jump(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"""Move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forward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length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units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without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leaving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trail.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444750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Postcondition: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Leaves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pen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down.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 marR="35242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penup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pendown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4700"/>
              </a:lnSpc>
              <a:spcBef>
                <a:spcPts val="465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draws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rectangle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given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rectangle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80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40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tall: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5278763"/>
            <a:ext cx="2752353" cy="137160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901663" y="7731125"/>
            <a:ext cx="16948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50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519390"/>
            <a:ext cx="4598035" cy="925194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465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rhombus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10">
                <a:latin typeface="Palatino Linotype"/>
                <a:cs typeface="Palatino Linotype"/>
              </a:rPr>
              <a:t>ws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rhombus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terior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angle.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rhombus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50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20">
                <a:latin typeface="Palatino Linotype"/>
                <a:cs typeface="Palatino Linotype"/>
              </a:rPr>
              <a:t>te‐ </a:t>
            </a:r>
            <a:r>
              <a:rPr dirty="0" sz="1050" spc="-30">
                <a:latin typeface="Palatino Linotype"/>
                <a:cs typeface="Palatino Linotype"/>
              </a:rPr>
              <a:t>rior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angle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60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degrees: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531128"/>
            <a:ext cx="2752353" cy="1371604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901635" y="2936271"/>
            <a:ext cx="4598035" cy="75819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4700"/>
              </a:lnSpc>
              <a:spcBef>
                <a:spcPts val="465"/>
              </a:spcBef>
            </a:pPr>
            <a:r>
              <a:rPr dirty="0" sz="1050" spc="-110">
                <a:latin typeface="Palatino Linotype"/>
                <a:cs typeface="Palatino Linotype"/>
              </a:rPr>
              <a:t>Now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parallelogram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draws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quadrilateral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parallel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sides.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rhombus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parallelogram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3780454"/>
            <a:ext cx="2752353" cy="137160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4791638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51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530706"/>
            <a:ext cx="4598035" cy="98298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appropriately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shapes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Hint: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triangle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draws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triangular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segment,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draw_pie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triangle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599793"/>
            <a:ext cx="2752353" cy="1371604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901619" y="3016253"/>
            <a:ext cx="4158615" cy="81534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appropriately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flowers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Hint: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arc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petal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draws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flower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petal.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3917786"/>
            <a:ext cx="2752353" cy="137160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901670" y="7731125"/>
            <a:ext cx="169481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52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Functions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Interfaces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2" y="519390"/>
            <a:ext cx="4598035" cy="458343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60">
                <a:latin typeface="Palatino Linotype"/>
                <a:cs typeface="Palatino Linotype"/>
              </a:rPr>
              <a:t>Several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jupyturtle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ve </a:t>
            </a:r>
            <a:r>
              <a:rPr dirty="0" sz="1050" spc="-50">
                <a:latin typeface="Palatino Linotype"/>
                <a:cs typeface="Palatino Linotype"/>
              </a:rPr>
              <a:t>been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customized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</a:t>
            </a:r>
            <a:r>
              <a:rPr dirty="0" sz="1050" spc="-110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</a:t>
            </a:r>
            <a:r>
              <a:rPr dirty="0" sz="1050" spc="-160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know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probably </a:t>
            </a:r>
            <a:r>
              <a:rPr dirty="0" sz="1050" spc="-55">
                <a:latin typeface="Palatino Linotype"/>
                <a:cs typeface="Palatino Linotype"/>
              </a:rPr>
              <a:t>figure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90">
                <a:latin typeface="Palatino Linotype"/>
                <a:cs typeface="Palatino Linotype"/>
              </a:rPr>
              <a:t>ws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spiral:</a:t>
            </a:r>
            <a:endParaRPr sz="1050">
              <a:latin typeface="Palatino Linotype"/>
              <a:cs typeface="Palatino Linotype"/>
            </a:endParaRPr>
          </a:p>
          <a:p>
            <a:pPr marL="228600">
              <a:lnSpc>
                <a:spcPct val="100000"/>
              </a:lnSpc>
              <a:spcBef>
                <a:spcPts val="720"/>
              </a:spcBef>
            </a:pPr>
            <a:r>
              <a:rPr dirty="0" sz="850">
                <a:latin typeface="SimSun"/>
                <a:cs typeface="SimSun"/>
              </a:rPr>
              <a:t>The following program uses a turtle graphics module to draw a </a:t>
            </a:r>
            <a:r>
              <a:rPr dirty="0" sz="850" spc="-10">
                <a:latin typeface="SimSun"/>
                <a:cs typeface="SimSun"/>
              </a:rPr>
              <a:t>circle: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50">
              <a:latin typeface="SimSun"/>
              <a:cs typeface="SimSun"/>
            </a:endParaRPr>
          </a:p>
          <a:p>
            <a:pPr marL="228600" marR="1716405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from jupyturtle import make_turtle, forward, </a:t>
            </a:r>
            <a:r>
              <a:rPr dirty="0" sz="850" spc="-20">
                <a:latin typeface="SimSun"/>
                <a:cs typeface="SimSun"/>
              </a:rPr>
              <a:t>left </a:t>
            </a:r>
            <a:r>
              <a:rPr dirty="0" sz="850">
                <a:latin typeface="SimSun"/>
                <a:cs typeface="SimSun"/>
              </a:rPr>
              <a:t>import </a:t>
            </a:r>
            <a:r>
              <a:rPr dirty="0" sz="850" spc="-20">
                <a:latin typeface="SimSun"/>
                <a:cs typeface="SimSun"/>
              </a:rPr>
              <a:t>math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50">
              <a:latin typeface="SimSun"/>
              <a:cs typeface="SimSun"/>
            </a:endParaRPr>
          </a:p>
          <a:p>
            <a:pPr marL="444500" marR="3119755" indent="-21590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def polygon(n, </a:t>
            </a:r>
            <a:r>
              <a:rPr dirty="0" sz="850" spc="-10">
                <a:latin typeface="SimSun"/>
                <a:cs typeface="SimSun"/>
              </a:rPr>
              <a:t>length): </a:t>
            </a:r>
            <a:r>
              <a:rPr dirty="0" sz="850">
                <a:latin typeface="SimSun"/>
                <a:cs typeface="SimSun"/>
              </a:rPr>
              <a:t>angle = 360 / </a:t>
            </a:r>
            <a:r>
              <a:rPr dirty="0" sz="850" spc="-50">
                <a:latin typeface="SimSun"/>
                <a:cs typeface="SimSun"/>
              </a:rPr>
              <a:t>n</a:t>
            </a:r>
            <a:endParaRPr sz="850">
              <a:latin typeface="SimSun"/>
              <a:cs typeface="SimSun"/>
            </a:endParaRPr>
          </a:p>
          <a:p>
            <a:pPr marL="660400" marR="3119755" indent="-21590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for i in </a:t>
            </a:r>
            <a:r>
              <a:rPr dirty="0" sz="850" spc="-10">
                <a:latin typeface="SimSun"/>
                <a:cs typeface="SimSun"/>
              </a:rPr>
              <a:t>range(n): forward(length) left(angle)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50">
              <a:latin typeface="SimSun"/>
              <a:cs typeface="SimSun"/>
            </a:endParaRPr>
          </a:p>
          <a:p>
            <a:pPr marL="22860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def </a:t>
            </a:r>
            <a:r>
              <a:rPr dirty="0" sz="850" spc="-10">
                <a:latin typeface="SimSun"/>
                <a:cs typeface="SimSun"/>
              </a:rPr>
              <a:t>circle(radius):</a:t>
            </a:r>
            <a:endParaRPr sz="850">
              <a:latin typeface="SimSun"/>
              <a:cs typeface="SimSun"/>
            </a:endParaRPr>
          </a:p>
          <a:p>
            <a:pPr marL="444500" marR="220218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circumference = 2 * math.pi * </a:t>
            </a:r>
            <a:r>
              <a:rPr dirty="0" sz="850" spc="-10">
                <a:latin typeface="SimSun"/>
                <a:cs typeface="SimSun"/>
              </a:rPr>
              <a:t>radius </a:t>
            </a:r>
            <a:r>
              <a:rPr dirty="0" sz="850">
                <a:latin typeface="SimSun"/>
                <a:cs typeface="SimSun"/>
              </a:rPr>
              <a:t>n = </a:t>
            </a:r>
            <a:r>
              <a:rPr dirty="0" sz="850" spc="-25">
                <a:latin typeface="SimSun"/>
                <a:cs typeface="SimSun"/>
              </a:rPr>
              <a:t>30</a:t>
            </a:r>
            <a:endParaRPr sz="850">
              <a:latin typeface="SimSun"/>
              <a:cs typeface="SimSun"/>
            </a:endParaRPr>
          </a:p>
          <a:p>
            <a:pPr marL="444500" marR="274193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length = circumference / </a:t>
            </a:r>
            <a:r>
              <a:rPr dirty="0" sz="850" spc="-50">
                <a:latin typeface="SimSun"/>
                <a:cs typeface="SimSun"/>
              </a:rPr>
              <a:t>n </a:t>
            </a:r>
            <a:r>
              <a:rPr dirty="0" sz="850">
                <a:latin typeface="SimSun"/>
                <a:cs typeface="SimSun"/>
              </a:rPr>
              <a:t>polygon(n, </a:t>
            </a:r>
            <a:r>
              <a:rPr dirty="0" sz="850" spc="-10">
                <a:latin typeface="SimSun"/>
                <a:cs typeface="SimSun"/>
              </a:rPr>
              <a:t>length)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SimSun"/>
              <a:cs typeface="SimSun"/>
            </a:endParaRPr>
          </a:p>
          <a:p>
            <a:pPr marL="228600" marR="3281679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make_turtle(delay=0) circle(30)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SimSun"/>
              <a:cs typeface="SimSun"/>
            </a:endParaRPr>
          </a:p>
          <a:p>
            <a:pPr marL="22860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Write a function that draws a </a:t>
            </a:r>
            <a:r>
              <a:rPr dirty="0" sz="850" spc="-10">
                <a:latin typeface="SimSun"/>
                <a:cs typeface="SimSun"/>
              </a:rPr>
              <a:t>spiral.</a:t>
            </a:r>
            <a:endParaRPr sz="8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480"/>
              </a:spcBef>
            </a:pPr>
            <a:r>
              <a:rPr dirty="0" sz="1050" spc="-50">
                <a:latin typeface="Palatino Linotype"/>
                <a:cs typeface="Palatino Linotype"/>
              </a:rPr>
              <a:t>Keep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features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yet,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might </a:t>
            </a:r>
            <a:r>
              <a:rPr dirty="0" sz="1050" spc="-90">
                <a:latin typeface="Palatino Linotype"/>
                <a:cs typeface="Palatino Linotype"/>
              </a:rPr>
              <a:t>have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Copy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virtual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assistant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see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get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working.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didn’t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modifying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prompt.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791681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53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170781"/>
            <a:ext cx="4572000" cy="397510"/>
            <a:chOff x="914400" y="5170781"/>
            <a:chExt cx="4572000" cy="3975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17078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1723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914400" y="585562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" name="object 7" descr=""/>
          <p:cNvGrpSpPr/>
          <p:nvPr/>
        </p:nvGrpSpPr>
        <p:grpSpPr>
          <a:xfrm>
            <a:off x="914400" y="6329656"/>
            <a:ext cx="4572000" cy="505459"/>
            <a:chOff x="914400" y="6329656"/>
            <a:chExt cx="4572000" cy="505459"/>
          </a:xfrm>
        </p:grpSpPr>
        <p:sp>
          <p:nvSpPr>
            <p:cNvPr id="8" name="object 8" descr=""/>
            <p:cNvSpPr/>
            <p:nvPr/>
          </p:nvSpPr>
          <p:spPr>
            <a:xfrm>
              <a:off x="914400" y="6329656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914400" y="63312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/>
          <p:nvPr/>
        </p:nvSpPr>
        <p:spPr>
          <a:xfrm>
            <a:off x="914400" y="712245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5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2627227" y="1212513"/>
            <a:ext cx="2872105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50"/>
              <a:t>Conditionals</a:t>
            </a:r>
            <a:r>
              <a:rPr dirty="0" spc="-345"/>
              <a:t> </a:t>
            </a:r>
            <a:r>
              <a:rPr dirty="0" spc="-370"/>
              <a:t>and</a:t>
            </a:r>
            <a:r>
              <a:rPr dirty="0" spc="-340"/>
              <a:t> </a:t>
            </a:r>
            <a:r>
              <a:rPr dirty="0" spc="-395"/>
              <a:t>Recursion</a:t>
            </a:r>
          </a:p>
        </p:txBody>
      </p:sp>
      <p:sp>
        <p:nvSpPr>
          <p:cNvPr id="13" name="object 13" descr=""/>
          <p:cNvSpPr txBox="1"/>
          <p:nvPr/>
        </p:nvSpPr>
        <p:spPr>
          <a:xfrm>
            <a:off x="901635" y="3052378"/>
            <a:ext cx="4598035" cy="3977004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 indent="-635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main topic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chapter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if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statement,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executes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different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 </a:t>
            </a:r>
            <a:r>
              <a:rPr dirty="0" sz="1050" spc="-75">
                <a:latin typeface="Palatino Linotype"/>
                <a:cs typeface="Palatino Linotype"/>
              </a:rPr>
              <a:t>depending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SimSun"/>
                <a:cs typeface="SimSun"/>
              </a:rPr>
              <a:t>if</a:t>
            </a:r>
            <a:r>
              <a:rPr dirty="0" sz="100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explore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powerful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ideas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recursion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three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features: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modulus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boolean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expressions,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logical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Integer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54" b="1">
                <a:latin typeface="Trebuchet MS"/>
                <a:cs typeface="Trebuchet MS"/>
              </a:rPr>
              <a:t>Division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Modulus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Recall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//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divides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rounds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down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movie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105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utes.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hours.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ve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tional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division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ting-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</a:t>
            </a:r>
            <a:r>
              <a:rPr dirty="0" sz="1050" spc="-1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105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0">
                <a:latin typeface="SimSun"/>
                <a:cs typeface="SimSun"/>
              </a:rPr>
              <a:t>1.75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don’t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normally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hours </a:t>
            </a:r>
            <a:r>
              <a:rPr dirty="0" sz="1050" spc="-2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decimal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points.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Floor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division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hours,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rounding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down: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105</a:t>
            </a:r>
            <a:endParaRPr sz="850">
              <a:latin typeface="SimSun"/>
              <a:cs typeface="SimSun"/>
            </a:endParaRPr>
          </a:p>
          <a:p>
            <a:pPr marL="39370" marR="34163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//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380431" y="7731125"/>
            <a:ext cx="118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55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397510"/>
            <a:chOff x="914400" y="92201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068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088429"/>
            <a:ext cx="4572000" cy="397510"/>
            <a:chOff x="914400" y="2088429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08842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0900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732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382427"/>
            <a:ext cx="4572000" cy="613410"/>
            <a:chOff x="914400" y="4382427"/>
            <a:chExt cx="4572000" cy="6134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382427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3840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28317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597182"/>
            <a:ext cx="4572000" cy="505459"/>
            <a:chOff x="914400" y="5597182"/>
            <a:chExt cx="4572000" cy="505459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59718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5987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638997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01643" y="650030"/>
            <a:ext cx="4598035" cy="6701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remainder,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subtract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hour,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minutes: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225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remainder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remainder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modulus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operator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%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divides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remainder: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543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remainder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remainder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seem.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check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%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y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zero,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x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630"/>
              </a:spcBef>
            </a:pPr>
            <a:r>
              <a:rPr dirty="0" sz="1050" spc="-60">
                <a:latin typeface="Palatino Linotype"/>
                <a:cs typeface="Palatino Linotype"/>
              </a:rPr>
              <a:t>Also,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extract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rightmost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digit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 </a:t>
            </a:r>
            <a:r>
              <a:rPr dirty="0" sz="1050" spc="-55">
                <a:latin typeface="Palatino Linotype"/>
                <a:cs typeface="Palatino Linotype"/>
              </a:rPr>
              <a:t>digits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 %</a:t>
            </a:r>
            <a:r>
              <a:rPr dirty="0" sz="1000" spc="5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10 </a:t>
            </a:r>
            <a:r>
              <a:rPr dirty="0" sz="1050" spc="-40">
                <a:latin typeface="Palatino Linotype"/>
                <a:cs typeface="Palatino Linotype"/>
              </a:rPr>
              <a:t>yields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rightmost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digit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(in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base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10).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Similarly,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</a:t>
            </a:r>
            <a:r>
              <a:rPr dirty="0" sz="1000" spc="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%</a:t>
            </a:r>
            <a:r>
              <a:rPr dirty="0" sz="1000" spc="1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100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yields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last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two </a:t>
            </a:r>
            <a:r>
              <a:rPr dirty="0" sz="1050" spc="-10">
                <a:latin typeface="Palatino Linotype"/>
                <a:cs typeface="Palatino Linotype"/>
              </a:rPr>
              <a:t>digits.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Finally,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modulus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operator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“clock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arithmetic.”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example,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event starts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11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A.M.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three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hours,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figure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out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 marR="29845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12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P.M.: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25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//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25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5)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85" b="1">
                <a:latin typeface="Trebuchet MS"/>
                <a:cs typeface="Trebuchet MS"/>
              </a:rPr>
              <a:t>Boolean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Expressions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8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boolean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expression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either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false.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equals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==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compares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0">
                <a:latin typeface="Palatino Linotype"/>
                <a:cs typeface="Palatino Linotype"/>
              </a:rPr>
              <a:t>produces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equal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otherwise: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739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56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340485"/>
            <a:ext cx="4572000" cy="289560"/>
            <a:chOff x="914400" y="13404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3404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3420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19173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914400" y="240806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914400" y="280525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914400" y="338056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3702110"/>
            <a:ext cx="4572000" cy="289560"/>
            <a:chOff x="914400" y="3702110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370211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370369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27900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4356794"/>
            <a:ext cx="4572000" cy="289560"/>
            <a:chOff x="914400" y="4356794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435679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435838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493369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5255233"/>
            <a:ext cx="4572000" cy="289560"/>
            <a:chOff x="914400" y="5255233"/>
            <a:chExt cx="4572000" cy="28956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52552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52568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583213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914400" y="5909918"/>
            <a:ext cx="4572000" cy="289560"/>
            <a:chOff x="914400" y="5909918"/>
            <a:chExt cx="4572000" cy="289560"/>
          </a:xfrm>
        </p:grpSpPr>
        <p:sp>
          <p:nvSpPr>
            <p:cNvPr id="26" name="object 26" descr=""/>
            <p:cNvSpPr/>
            <p:nvPr/>
          </p:nvSpPr>
          <p:spPr>
            <a:xfrm>
              <a:off x="914400" y="590991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914400" y="59115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/>
          <p:nvPr/>
        </p:nvSpPr>
        <p:spPr>
          <a:xfrm>
            <a:off x="914400" y="648681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9" name="object 29" descr=""/>
          <p:cNvGrpSpPr/>
          <p:nvPr/>
        </p:nvGrpSpPr>
        <p:grpSpPr>
          <a:xfrm>
            <a:off x="914400" y="6564603"/>
            <a:ext cx="4572000" cy="289560"/>
            <a:chOff x="914400" y="6564603"/>
            <a:chExt cx="4572000" cy="289560"/>
          </a:xfrm>
        </p:grpSpPr>
        <p:sp>
          <p:nvSpPr>
            <p:cNvPr id="30" name="object 30" descr=""/>
            <p:cNvSpPr/>
            <p:nvPr/>
          </p:nvSpPr>
          <p:spPr>
            <a:xfrm>
              <a:off x="914400" y="65646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914400" y="65661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/>
          <p:nvPr/>
        </p:nvSpPr>
        <p:spPr>
          <a:xfrm>
            <a:off x="914400" y="71415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901661" y="728091"/>
            <a:ext cx="4597400" cy="1591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 indent="-635">
              <a:lnSpc>
                <a:spcPct val="104700"/>
              </a:lnSpc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common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single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equals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</a:t>
            </a:r>
            <a:r>
              <a:rPr dirty="0" sz="1000">
                <a:latin typeface="SimSun"/>
                <a:cs typeface="SimSun"/>
              </a:rPr>
              <a:t>=</a:t>
            </a:r>
            <a:r>
              <a:rPr dirty="0" sz="1050">
                <a:latin typeface="Palatino Linotype"/>
                <a:cs typeface="Palatino Linotype"/>
              </a:rPr>
              <a:t>)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instead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double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equals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sign</a:t>
            </a:r>
            <a:r>
              <a:rPr dirty="0" sz="1050" spc="-10">
                <a:latin typeface="Palatino Linotype"/>
                <a:cs typeface="Palatino Linotype"/>
              </a:rPr>
              <a:t> (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50" spc="-10">
                <a:latin typeface="Palatino Linotype"/>
                <a:cs typeface="Palatino Linotype"/>
              </a:rPr>
              <a:t>). </a:t>
            </a:r>
            <a:r>
              <a:rPr dirty="0" sz="1050" spc="-60">
                <a:latin typeface="Palatino Linotype"/>
                <a:cs typeface="Palatino Linotype"/>
              </a:rPr>
              <a:t>Remember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compares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14400" y="2409653"/>
            <a:ext cx="4572000" cy="39433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ts val="935"/>
              </a:lnSpc>
              <a:spcBef>
                <a:spcPts val="40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 marL="266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endParaRPr sz="850">
              <a:latin typeface="SimSun"/>
              <a:cs typeface="SimSu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14400" y="2806845"/>
            <a:ext cx="4572000" cy="2863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01732" y="3132028"/>
            <a:ext cx="4584700" cy="3916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belong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bool</a:t>
            </a:r>
            <a:r>
              <a:rPr dirty="0" sz="1050" spc="-10">
                <a:latin typeface="Palatino Linotype"/>
                <a:cs typeface="Palatino Linotype"/>
              </a:rPr>
              <a:t>;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strings:</a:t>
            </a:r>
            <a:endParaRPr sz="1050">
              <a:latin typeface="Palatino Linotype"/>
              <a:cs typeface="Palatino Linotype"/>
            </a:endParaRPr>
          </a:p>
          <a:p>
            <a:pPr marL="39370" marR="3997325">
              <a:lnSpc>
                <a:spcPts val="2250"/>
              </a:lnSpc>
              <a:spcBef>
                <a:spcPts val="265"/>
              </a:spcBef>
            </a:pPr>
            <a:r>
              <a:rPr dirty="0" sz="850" spc="-45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45">
                <a:latin typeface="SimSun"/>
                <a:cs typeface="SimSun"/>
              </a:rPr>
              <a:t>(</a:t>
            </a:r>
            <a:r>
              <a:rPr dirty="0" sz="850" spc="-45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r>
              <a:rPr dirty="0" sz="850" spc="-45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bool</a:t>
            </a:r>
            <a:endParaRPr sz="850">
              <a:latin typeface="SimSun"/>
              <a:cs typeface="SimSun"/>
            </a:endParaRPr>
          </a:p>
          <a:p>
            <a:pPr marL="39370" marR="3943350">
              <a:lnSpc>
                <a:spcPct val="220800"/>
              </a:lnSpc>
              <a:spcBef>
                <a:spcPts val="370"/>
              </a:spcBef>
            </a:pP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50">
                <a:latin typeface="SimSun"/>
                <a:cs typeface="SimSun"/>
              </a:rPr>
              <a:t>(</a:t>
            </a:r>
            <a:r>
              <a:rPr dirty="0" sz="850" spc="-5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r>
              <a:rPr dirty="0" sz="850" spc="-5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bool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relational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operators</a:t>
            </a:r>
            <a:r>
              <a:rPr dirty="0" sz="1050" spc="-40">
                <a:latin typeface="Palatino Linotype"/>
                <a:cs typeface="Palatino Linotype"/>
              </a:rPr>
              <a:t>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  <a:tabLst>
                <a:tab pos="1172845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!=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x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not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equal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y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tabLst>
                <a:tab pos="1172845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x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greater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than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y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  <a:tabLst>
                <a:tab pos="1118870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x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less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than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y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64789" y="7731125"/>
            <a:ext cx="1134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Boolean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Expressions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57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340485"/>
            <a:ext cx="4572000" cy="289560"/>
            <a:chOff x="914400" y="13404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3404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3420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19173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132838"/>
            <a:ext cx="4572000" cy="289560"/>
            <a:chOff x="914400" y="313283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13283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1344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7097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191297"/>
            <a:ext cx="4572000" cy="289560"/>
            <a:chOff x="914400" y="4191297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19129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19288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76819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257290"/>
            <a:ext cx="4572000" cy="289560"/>
            <a:chOff x="914400" y="5257290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25729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2588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8341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315749"/>
            <a:ext cx="4572000" cy="289560"/>
            <a:chOff x="914400" y="6315749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31574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3173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68926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33" y="728091"/>
            <a:ext cx="4598035" cy="6552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  <a:tabLst>
                <a:tab pos="1172845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x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greater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than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equal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y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tabLst>
                <a:tab pos="1172845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x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less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than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equal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y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70" b="1">
                <a:latin typeface="Trebuchet MS"/>
                <a:cs typeface="Trebuchet MS"/>
              </a:rPr>
              <a:t>Logical</a:t>
            </a:r>
            <a:r>
              <a:rPr dirty="0" sz="1900" spc="-245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Operators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80"/>
              </a:spcBef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combine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boolean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logical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operators</a:t>
            </a:r>
            <a:r>
              <a:rPr dirty="0" sz="1050" spc="-35">
                <a:latin typeface="Palatino Linotype"/>
                <a:cs typeface="Palatino Linotype"/>
              </a:rPr>
              <a:t>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most </a:t>
            </a:r>
            <a:r>
              <a:rPr dirty="0" sz="1050" spc="-20">
                <a:latin typeface="Palatino Linotype"/>
                <a:cs typeface="Palatino Linotype"/>
              </a:rPr>
              <a:t>common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meaning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these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similar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their </a:t>
            </a:r>
            <a:r>
              <a:rPr dirty="0" sz="1050" spc="-60">
                <a:latin typeface="Palatino Linotype"/>
                <a:cs typeface="Palatino Linotype"/>
              </a:rPr>
              <a:t>meaning</a:t>
            </a:r>
            <a:r>
              <a:rPr dirty="0" sz="1050" spc="-10">
                <a:latin typeface="Palatino Linotype"/>
                <a:cs typeface="Palatino Linotype"/>
              </a:rPr>
              <a:t> in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English.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following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True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00" spc="-10">
                <a:latin typeface="SimSun"/>
                <a:cs typeface="SimSun"/>
              </a:rPr>
              <a:t>x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greater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0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10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6861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either or both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conditions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true,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or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3: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9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55">
                <a:latin typeface="Palatino Linotype"/>
                <a:cs typeface="Palatino Linotype"/>
              </a:rPr>
              <a:t>Finally,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not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negates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boolean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 &gt; </a:t>
            </a:r>
            <a:r>
              <a:rPr dirty="0" sz="1000" spc="-10">
                <a:latin typeface="SimSun"/>
                <a:cs typeface="SimSun"/>
              </a:rPr>
              <a:t>y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30">
                <a:latin typeface="Palatino Linotype"/>
                <a:cs typeface="Palatino Linotype"/>
              </a:rPr>
              <a:t>Strictly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speaking,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operands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logical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 </a:t>
            </a:r>
            <a:r>
              <a:rPr dirty="0" sz="1050" spc="-35">
                <a:latin typeface="Palatino Linotype"/>
                <a:cs typeface="Palatino Linotype"/>
              </a:rPr>
              <a:t>boolean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expressions,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strict.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nonzero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interpreted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r>
              <a:rPr dirty="0" sz="850" spc="10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flexibility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subtleties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confusing. </a:t>
            </a: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avoid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1645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58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63589"/>
            <a:ext cx="4572000" cy="397510"/>
            <a:chOff x="914400" y="156358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6358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651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24843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017607"/>
            <a:ext cx="4572000" cy="397510"/>
            <a:chOff x="914400" y="4017607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01760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0191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5721145"/>
            <a:ext cx="4572000" cy="613410"/>
            <a:chOff x="914400" y="5721145"/>
            <a:chExt cx="4572000" cy="6134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721145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7227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662189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09220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04"/>
              <a:t>if</a:t>
            </a:r>
            <a:r>
              <a:rPr dirty="0" sz="1900" spc="-260"/>
              <a:t> </a:t>
            </a:r>
            <a:r>
              <a:rPr dirty="0" sz="1900" spc="-290"/>
              <a:t>Statements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50" y="964024"/>
            <a:ext cx="4598035" cy="604583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 indent="-635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order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almost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always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ability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condi‐ </a:t>
            </a:r>
            <a:r>
              <a:rPr dirty="0" sz="1050" spc="-20">
                <a:latin typeface="Palatino Linotype"/>
                <a:cs typeface="Palatino Linotype"/>
              </a:rPr>
              <a:t>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change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behavior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accordingly.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Conditional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statements </a:t>
            </a:r>
            <a:r>
              <a:rPr dirty="0" sz="1050" spc="-80">
                <a:latin typeface="Palatino Linotype"/>
                <a:cs typeface="Palatino Linotype"/>
              </a:rPr>
              <a:t>give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ability.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simplest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if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positive'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x is </a:t>
            </a:r>
            <a:r>
              <a:rPr dirty="0" sz="850" spc="-10">
                <a:latin typeface="SimSun"/>
                <a:cs typeface="SimSun"/>
              </a:rPr>
              <a:t>positive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if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keyword.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if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same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structure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defini‐ </a:t>
            </a:r>
            <a:r>
              <a:rPr dirty="0" sz="1050" spc="-30">
                <a:latin typeface="Palatino Linotype"/>
                <a:cs typeface="Palatino Linotype"/>
              </a:rPr>
              <a:t>tions: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 </a:t>
            </a:r>
            <a:r>
              <a:rPr dirty="0" sz="1050" spc="-55">
                <a:latin typeface="Palatino Linotype"/>
                <a:cs typeface="Palatino Linotype"/>
              </a:rPr>
              <a:t>indented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 b="1">
                <a:latin typeface="Palatino Linotype"/>
                <a:cs typeface="Palatino Linotype"/>
              </a:rPr>
              <a:t>block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boolean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after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SimSun"/>
                <a:cs typeface="SimSun"/>
              </a:rPr>
              <a:t>if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condition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it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true,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indented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block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don’t.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 spc="-40">
                <a:latin typeface="Palatino Linotype"/>
                <a:cs typeface="Palatino Linotype"/>
              </a:rPr>
              <a:t>There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limit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block,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there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least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Occasionall</a:t>
            </a:r>
            <a:r>
              <a:rPr dirty="0" sz="1050" spc="-13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block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nothing—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place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keeper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ve</a:t>
            </a:r>
            <a:r>
              <a:rPr dirty="0" sz="1050" spc="-16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yet.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case,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00" spc="-5">
                <a:latin typeface="SimSun"/>
                <a:cs typeface="SimSun"/>
              </a:rPr>
              <a:t>pass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nothing: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tabLst>
                <a:tab pos="1010919" algn="l"/>
              </a:tabLst>
            </a:pPr>
            <a:r>
              <a:rPr dirty="0" sz="850" spc="-20" b="1">
                <a:solidFill>
                  <a:srgbClr val="006C2C"/>
                </a:solidFill>
                <a:latin typeface="Courier New"/>
                <a:cs typeface="Courier New"/>
              </a:rPr>
              <a:t>pass</a:t>
            </a: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TODO: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need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handle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negative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values!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TODO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comment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conventional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reminder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there’s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later.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75" b="1">
                <a:latin typeface="Trebuchet MS"/>
                <a:cs typeface="Trebuchet MS"/>
              </a:rPr>
              <a:t>The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else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Clause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SimSun"/>
                <a:cs typeface="SimSun"/>
              </a:rPr>
              <a:t>if</a:t>
            </a:r>
            <a:r>
              <a:rPr dirty="0" sz="1000" spc="-3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part,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else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clause.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syntax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3623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even'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odd'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</a:t>
            </a:r>
            <a:r>
              <a:rPr dirty="0" sz="850" spc="-25">
                <a:latin typeface="SimSun"/>
                <a:cs typeface="SimSun"/>
              </a:rPr>
              <a:t>odd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condition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true,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first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indented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statement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runs;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otherwise,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second </a:t>
            </a:r>
            <a:r>
              <a:rPr dirty="0" sz="1050" spc="-60">
                <a:latin typeface="Palatino Linotype"/>
                <a:cs typeface="Palatino Linotype"/>
              </a:rPr>
              <a:t>indented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runs.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62356" y="7731125"/>
            <a:ext cx="9372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85" b="1">
                <a:latin typeface="Trebuchet MS"/>
                <a:cs typeface="Trebuchet MS"/>
              </a:rPr>
              <a:t>The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else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5" b="1">
                <a:latin typeface="Trebuchet MS"/>
                <a:cs typeface="Trebuchet MS"/>
              </a:rPr>
              <a:t>Clause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10" b="1">
                <a:latin typeface="Trebuchet MS"/>
                <a:cs typeface="Trebuchet MS"/>
              </a:rPr>
              <a:t>59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623482"/>
            <a:ext cx="4572000" cy="829310"/>
            <a:chOff x="914400" y="2623482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623482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6250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74012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5588044"/>
            <a:ext cx="4572000" cy="937260"/>
            <a:chOff x="914400" y="5588044"/>
            <a:chExt cx="4572000" cy="9372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588044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58963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681264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593" y="657564"/>
            <a:ext cx="4598035" cy="606171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even,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remainder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divided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2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condi‐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is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eve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odd,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remainder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false,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is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odd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Since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must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false,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exactly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alternatives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run.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alternatives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branches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Chained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75" b="1">
                <a:latin typeface="Trebuchet MS"/>
                <a:cs typeface="Trebuchet MS"/>
              </a:rPr>
              <a:t>Conditionals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09"/>
              </a:spcBef>
            </a:pPr>
            <a:r>
              <a:rPr dirty="0" sz="1050" spc="-50">
                <a:latin typeface="Palatino Linotype"/>
                <a:cs typeface="Palatino Linotype"/>
              </a:rPr>
              <a:t>Sometimes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possibilities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 </a:t>
            </a:r>
            <a:r>
              <a:rPr dirty="0" sz="1050" spc="-45">
                <a:latin typeface="Palatino Linotype"/>
                <a:cs typeface="Palatino Linotype"/>
              </a:rPr>
              <a:t>branches.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chain</a:t>
            </a:r>
            <a:r>
              <a:rPr dirty="0" sz="1050" spc="-40" b="1">
                <a:latin typeface="Palatino Linotype"/>
                <a:cs typeface="Palatino Linotype"/>
              </a:rPr>
              <a:t>e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c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65" b="1">
                <a:latin typeface="Palatino Linotype"/>
                <a:cs typeface="Palatino Linotype"/>
              </a:rPr>
              <a:t>nd</a:t>
            </a:r>
            <a:r>
              <a:rPr dirty="0" sz="1050" spc="-45" b="1">
                <a:latin typeface="Palatino Linotype"/>
                <a:cs typeface="Palatino Linotype"/>
              </a:rPr>
              <a:t>i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50" b="1">
                <a:latin typeface="Palatino Linotype"/>
                <a:cs typeface="Palatino Linotype"/>
              </a:rPr>
              <a:t>nal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elif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use: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less than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y'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greater than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y'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and y are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equal'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less than </a:t>
            </a:r>
            <a:r>
              <a:rPr dirty="0" sz="850" spc="-50"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7620">
              <a:lnSpc>
                <a:spcPct val="104700"/>
              </a:lnSpc>
            </a:pPr>
            <a:r>
              <a:rPr dirty="0" sz="1000" spc="-50">
                <a:latin typeface="SimSun"/>
                <a:cs typeface="SimSun"/>
              </a:rPr>
              <a:t>elif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abbreviation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“else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if.”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limit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elif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clauses.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else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clause,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checked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order.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false,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next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checked,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true,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corresponding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branch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if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ends. </a:t>
            </a:r>
            <a:r>
              <a:rPr dirty="0" sz="1050" spc="-80">
                <a:latin typeface="Palatino Linotype"/>
                <a:cs typeface="Palatino Linotype"/>
              </a:rPr>
              <a:t>Even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branch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Nested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75" b="1">
                <a:latin typeface="Trebuchet MS"/>
                <a:cs typeface="Trebuchet MS"/>
              </a:rPr>
              <a:t>Conditionals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One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nested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exam‐ </a:t>
            </a:r>
            <a:r>
              <a:rPr dirty="0" sz="1050" spc="-70">
                <a:latin typeface="Palatino Linotype"/>
                <a:cs typeface="Palatino Linotype"/>
              </a:rPr>
              <a:t>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and y are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equal'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less than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y'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greater than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y'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less than </a:t>
            </a:r>
            <a:r>
              <a:rPr dirty="0" sz="850" spc="-50"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685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60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209628"/>
            <a:ext cx="4572000" cy="505459"/>
            <a:chOff x="914400" y="2209628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20962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2112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0024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491522"/>
            <a:ext cx="4572000" cy="397510"/>
            <a:chOff x="914400" y="3491522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49152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49310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17636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490377"/>
            <a:ext cx="4572000" cy="397510"/>
            <a:chOff x="914400" y="4490377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49037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4919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1752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6208057"/>
            <a:ext cx="4572000" cy="829310"/>
            <a:chOff x="914400" y="6208057"/>
            <a:chExt cx="4572000" cy="8293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6208057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62096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901644" y="657564"/>
            <a:ext cx="4598035" cy="7236459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01600"/>
              </a:lnSpc>
              <a:spcBef>
                <a:spcPts val="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outer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if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branches.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first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branch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simple </a:t>
            </a:r>
            <a:r>
              <a:rPr dirty="0" sz="1050" spc="-10">
                <a:latin typeface="Palatino Linotype"/>
                <a:cs typeface="Palatino Linotype"/>
              </a:rPr>
              <a:t>statement.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second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branch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contains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another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if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which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two </a:t>
            </a:r>
            <a:r>
              <a:rPr dirty="0" sz="1050" spc="-35">
                <a:latin typeface="Palatino Linotype"/>
                <a:cs typeface="Palatino Linotype"/>
              </a:rPr>
              <a:t>branches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own.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Those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two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branches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simple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although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they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well.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Although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indentation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statements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makes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structure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apparent,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nested </a:t>
            </a:r>
            <a:r>
              <a:rPr dirty="0" sz="1050" spc="-50" b="1">
                <a:latin typeface="Palatino Linotype"/>
                <a:cs typeface="Palatino Linotype"/>
              </a:rPr>
              <a:t>conditionals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difficult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read.</a:t>
            </a:r>
            <a:r>
              <a:rPr dirty="0" sz="1050">
                <a:latin typeface="Palatino Linotype"/>
                <a:cs typeface="Palatino Linotype"/>
              </a:rPr>
              <a:t> 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suggest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avoid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Logical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operators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often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provide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way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simplify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nested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conditional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statements.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nested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conditional: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a positive single-digit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number.'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x is a positive single-digit </a:t>
            </a:r>
            <a:r>
              <a:rPr dirty="0" sz="850" spc="-10">
                <a:latin typeface="SimSun"/>
                <a:cs typeface="SimSun"/>
              </a:rPr>
              <a:t>number.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5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25">
                <a:latin typeface="Palatino Linotype"/>
                <a:cs typeface="Palatino Linotype"/>
              </a:rPr>
              <a:t>past</a:t>
            </a:r>
            <a:r>
              <a:rPr dirty="0" sz="1050">
                <a:latin typeface="Palatino Linotype"/>
                <a:cs typeface="Palatino Linotype"/>
              </a:rPr>
              <a:t> both </a:t>
            </a:r>
            <a:r>
              <a:rPr dirty="0" sz="1050" spc="-35">
                <a:latin typeface="Palatino Linotype"/>
                <a:cs typeface="Palatino Linotype"/>
              </a:rPr>
              <a:t>conditionals,</a:t>
            </a:r>
            <a:r>
              <a:rPr dirty="0" sz="1050">
                <a:latin typeface="Palatino Linotype"/>
                <a:cs typeface="Palatino Linotype"/>
              </a:rPr>
              <a:t> so </a:t>
            </a:r>
            <a:r>
              <a:rPr dirty="0" sz="1050" spc="-5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effect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and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a positive single-digit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number.'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a positive single-digit </a:t>
            </a:r>
            <a:r>
              <a:rPr dirty="0" sz="850" spc="-10">
                <a:latin typeface="SimSun"/>
                <a:cs typeface="SimSun"/>
              </a:rPr>
              <a:t>number.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a positive single-digit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number.'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a positive single-digit </a:t>
            </a:r>
            <a:r>
              <a:rPr dirty="0" sz="850" spc="-10">
                <a:latin typeface="SimSun"/>
                <a:cs typeface="SimSun"/>
              </a:rPr>
              <a:t>number.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315" b="1">
                <a:latin typeface="Trebuchet MS"/>
                <a:cs typeface="Trebuchet MS"/>
              </a:rPr>
              <a:t>Recursion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legal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itself.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may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 </a:t>
            </a:r>
            <a:r>
              <a:rPr dirty="0" sz="1050" spc="-60">
                <a:latin typeface="Palatino Linotype"/>
                <a:cs typeface="Palatino Linotype"/>
              </a:rPr>
              <a:t>obvious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why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thing,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out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2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magical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Here’s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 algn="ctr" marR="3592829">
              <a:lnSpc>
                <a:spcPts val="935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countdown(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854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algn="ctr" marR="2675255">
              <a:lnSpc>
                <a:spcPts val="850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'Blastoff!'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3362325">
              <a:lnSpc>
                <a:spcPts val="850"/>
              </a:lnSpc>
              <a:spcBef>
                <a:spcPts val="8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countdown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0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negative,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countdown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outputs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“Blastoff!”.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Otherwise,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outputs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n</a:t>
            </a: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itself,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n-1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7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14" b="1">
                <a:latin typeface="Trebuchet MS"/>
                <a:cs typeface="Trebuchet MS"/>
              </a:rPr>
              <a:t>Recursion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61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303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623448"/>
            <a:ext cx="4572000" cy="613410"/>
            <a:chOff x="914400" y="4623448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62344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6250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6227835"/>
            <a:ext cx="4572000" cy="289560"/>
            <a:chOff x="914400" y="6227835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22783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22942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71285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49" y="657564"/>
            <a:ext cx="4598035" cy="6377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countdown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490"/>
              </a:lnSpc>
            </a:pPr>
            <a:r>
              <a:rPr dirty="0" sz="8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latin typeface="SimSun"/>
                <a:cs typeface="SimSun"/>
              </a:rPr>
              <a:t>Blastoff!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SimSun"/>
              <a:cs typeface="SimSun"/>
            </a:endParaRPr>
          </a:p>
          <a:p>
            <a:pPr marL="241300" marR="233045" indent="-635">
              <a:lnSpc>
                <a:spcPct val="103299"/>
              </a:lnSpc>
            </a:pP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execution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204">
                <a:latin typeface="SimSun"/>
                <a:cs typeface="SimSun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begins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with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n=3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since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</a:t>
            </a:r>
            <a:r>
              <a:rPr dirty="0" sz="850" spc="-204">
                <a:latin typeface="SimSun"/>
                <a:cs typeface="SimSun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is </a:t>
            </a:r>
            <a:r>
              <a:rPr dirty="0" sz="900" spc="-35">
                <a:latin typeface="Palatino Linotype"/>
                <a:cs typeface="Palatino Linotype"/>
              </a:rPr>
              <a:t>greater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than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displays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 spc="-25">
                <a:latin typeface="SimSun"/>
                <a:cs typeface="SimSun"/>
              </a:rPr>
              <a:t>3</a:t>
            </a:r>
            <a:r>
              <a:rPr dirty="0" sz="900" spc="-25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and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then </a:t>
            </a:r>
            <a:r>
              <a:rPr dirty="0" sz="900" spc="-30">
                <a:latin typeface="Palatino Linotype"/>
                <a:cs typeface="Palatino Linotype"/>
              </a:rPr>
              <a:t>calls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itself…</a:t>
            </a:r>
            <a:endParaRPr sz="900">
              <a:latin typeface="Palatino Linotype"/>
              <a:cs typeface="Palatino Linotype"/>
            </a:endParaRPr>
          </a:p>
          <a:p>
            <a:pPr marL="469900" marR="462280" indent="-635">
              <a:lnSpc>
                <a:spcPct val="108200"/>
              </a:lnSpc>
              <a:spcBef>
                <a:spcPts val="750"/>
              </a:spcBef>
            </a:pP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3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execution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175">
                <a:latin typeface="SimSun"/>
                <a:cs typeface="SimSun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begins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with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n=2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since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</a:t>
            </a:r>
            <a:r>
              <a:rPr dirty="0" sz="850" spc="-175">
                <a:latin typeface="SimSun"/>
                <a:cs typeface="SimSun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greater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than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displays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2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and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calls</a:t>
            </a:r>
            <a:r>
              <a:rPr dirty="0" sz="900" spc="-10">
                <a:latin typeface="Palatino Linotype"/>
                <a:cs typeface="Palatino Linotype"/>
              </a:rPr>
              <a:t> itself…</a:t>
            </a:r>
            <a:endParaRPr sz="900">
              <a:latin typeface="Palatino Linotype"/>
              <a:cs typeface="Palatino Linotype"/>
            </a:endParaRPr>
          </a:p>
          <a:p>
            <a:pPr marL="698500" marR="690880">
              <a:lnSpc>
                <a:spcPct val="108200"/>
              </a:lnSpc>
              <a:spcBef>
                <a:spcPts val="750"/>
              </a:spcBef>
            </a:pP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25">
                <a:latin typeface="Palatino Linotype"/>
                <a:cs typeface="Palatino Linotype"/>
              </a:rPr>
              <a:t> execution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170">
                <a:latin typeface="SimSun"/>
                <a:cs typeface="SimSun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begins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with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n=1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since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</a:t>
            </a:r>
            <a:r>
              <a:rPr dirty="0" sz="850" spc="-170">
                <a:latin typeface="SimSun"/>
                <a:cs typeface="SimSun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greater </a:t>
            </a:r>
            <a:r>
              <a:rPr dirty="0" sz="900" spc="-25">
                <a:latin typeface="Palatino Linotype"/>
                <a:cs typeface="Palatino Linotype"/>
              </a:rPr>
              <a:t>than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displays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1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and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then </a:t>
            </a:r>
            <a:r>
              <a:rPr dirty="0" sz="900" spc="-30">
                <a:latin typeface="Palatino Linotype"/>
                <a:cs typeface="Palatino Linotype"/>
              </a:rPr>
              <a:t>calls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itself…</a:t>
            </a:r>
            <a:endParaRPr sz="900">
              <a:latin typeface="Palatino Linotype"/>
              <a:cs typeface="Palatino Linotype"/>
            </a:endParaRPr>
          </a:p>
          <a:p>
            <a:pPr marL="927100">
              <a:lnSpc>
                <a:spcPct val="100000"/>
              </a:lnSpc>
              <a:spcBef>
                <a:spcPts val="840"/>
              </a:spcBef>
            </a:pP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execution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155">
                <a:latin typeface="SimSun"/>
                <a:cs typeface="SimSun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begins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with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and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since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SimSun"/>
                <a:cs typeface="SimSun"/>
              </a:rPr>
              <a:t>n</a:t>
            </a:r>
            <a:endParaRPr sz="850">
              <a:latin typeface="SimSun"/>
              <a:cs typeface="SimSun"/>
            </a:endParaRPr>
          </a:p>
          <a:p>
            <a:pPr marL="927100">
              <a:lnSpc>
                <a:spcPct val="100000"/>
              </a:lnSpc>
              <a:spcBef>
                <a:spcPts val="85"/>
              </a:spcBef>
            </a:pPr>
            <a:r>
              <a:rPr dirty="0" sz="900" spc="-20">
                <a:latin typeface="Palatino Linotype"/>
                <a:cs typeface="Palatino Linotype"/>
              </a:rPr>
              <a:t>is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not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greater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than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displays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“Blastoff!”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and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returns.</a:t>
            </a:r>
            <a:endParaRPr sz="900">
              <a:latin typeface="Palatino Linotype"/>
              <a:cs typeface="Palatino Linotype"/>
            </a:endParaRPr>
          </a:p>
          <a:p>
            <a:pPr marL="698500">
              <a:lnSpc>
                <a:spcPct val="100000"/>
              </a:lnSpc>
              <a:spcBef>
                <a:spcPts val="840"/>
              </a:spcBef>
            </a:pPr>
            <a:r>
              <a:rPr dirty="0" sz="900" spc="-10">
                <a:latin typeface="Palatino Linotype"/>
                <a:cs typeface="Palatino Linotype"/>
              </a:rPr>
              <a:t>The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180">
                <a:latin typeface="SimSun"/>
                <a:cs typeface="SimSun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that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got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n=1</a:t>
            </a:r>
            <a:r>
              <a:rPr dirty="0" sz="850" spc="-180">
                <a:latin typeface="SimSun"/>
                <a:cs typeface="SimSun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returns.</a:t>
            </a:r>
            <a:endParaRPr sz="900">
              <a:latin typeface="Palatino Linotype"/>
              <a:cs typeface="Palatino Linotype"/>
            </a:endParaRPr>
          </a:p>
          <a:p>
            <a:pPr marL="469900">
              <a:lnSpc>
                <a:spcPct val="100000"/>
              </a:lnSpc>
              <a:spcBef>
                <a:spcPts val="840"/>
              </a:spcBef>
            </a:pPr>
            <a:r>
              <a:rPr dirty="0" sz="900" spc="-10">
                <a:latin typeface="Palatino Linotype"/>
                <a:cs typeface="Palatino Linotype"/>
              </a:rPr>
              <a:t>The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180">
                <a:latin typeface="SimSun"/>
                <a:cs typeface="SimSun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that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got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n=2</a:t>
            </a:r>
            <a:r>
              <a:rPr dirty="0" sz="850" spc="-180">
                <a:latin typeface="SimSun"/>
                <a:cs typeface="SimSun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returns.</a:t>
            </a:r>
            <a:endParaRPr sz="90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  <a:spcBef>
                <a:spcPts val="840"/>
              </a:spcBef>
            </a:pPr>
            <a:r>
              <a:rPr dirty="0" sz="900" spc="-10">
                <a:latin typeface="Palatino Linotype"/>
                <a:cs typeface="Palatino Linotype"/>
              </a:rPr>
              <a:t>The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countdown</a:t>
            </a:r>
            <a:r>
              <a:rPr dirty="0" sz="850" spc="-180">
                <a:latin typeface="SimSun"/>
                <a:cs typeface="SimSun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that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got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n=3</a:t>
            </a:r>
            <a:r>
              <a:rPr dirty="0" sz="850" spc="-180">
                <a:latin typeface="SimSun"/>
                <a:cs typeface="SimSun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returns.</a:t>
            </a:r>
            <a:endParaRPr sz="90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4700"/>
              </a:lnSpc>
              <a:spcBef>
                <a:spcPts val="675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itself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recursive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print_n_times(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714625">
              <a:lnSpc>
                <a:spcPts val="850"/>
              </a:lnSpc>
              <a:spcBef>
                <a:spcPts val="8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print_n_times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positive,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print_n_times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string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itself,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pass‐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string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n-1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arguments.</a:t>
            </a:r>
            <a:endParaRPr sz="1050">
              <a:latin typeface="Palatino Linotype"/>
              <a:cs typeface="Palatino Linotype"/>
            </a:endParaRPr>
          </a:p>
          <a:p>
            <a:pPr marL="12700" marR="561340">
              <a:lnSpc>
                <a:spcPct val="147600"/>
              </a:lnSpc>
              <a:spcBef>
                <a:spcPts val="6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0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negative,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print_n_times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nothing.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10">
                <a:latin typeface="Palatino Linotype"/>
                <a:cs typeface="Palatino Linotype"/>
              </a:rPr>
              <a:t>works:</a:t>
            </a:r>
            <a:endParaRPr sz="1050">
              <a:latin typeface="Palatino Linotype"/>
              <a:cs typeface="Palatino Linotype"/>
            </a:endParaRPr>
          </a:p>
          <a:p>
            <a:pPr marL="39370" marR="32004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print_n_times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 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Spam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484"/>
              </a:lnSpc>
            </a:pPr>
            <a:r>
              <a:rPr dirty="0" sz="850" spc="-20">
                <a:latin typeface="SimSun"/>
                <a:cs typeface="SimSun"/>
              </a:rPr>
              <a:t>Spam</a:t>
            </a:r>
            <a:endParaRPr sz="850">
              <a:latin typeface="SimSun"/>
              <a:cs typeface="SimSun"/>
            </a:endParaRPr>
          </a:p>
          <a:p>
            <a:pPr marL="39370" marR="4333875">
              <a:lnSpc>
                <a:spcPts val="850"/>
              </a:lnSpc>
              <a:spcBef>
                <a:spcPts val="85"/>
              </a:spcBef>
            </a:pPr>
            <a:r>
              <a:rPr dirty="0" sz="850" spc="-20">
                <a:latin typeface="SimSun"/>
                <a:cs typeface="SimSun"/>
              </a:rPr>
              <a:t>Spam Spam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716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62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5282084"/>
            <a:ext cx="4572000" cy="397510"/>
            <a:chOff x="914400" y="528208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528208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52836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901662" y="657564"/>
            <a:ext cx="4598035" cy="51308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probably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for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</a:t>
            </a:r>
            <a:r>
              <a:rPr dirty="0" sz="1050" spc="-95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easy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recursion,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earl</a:t>
            </a:r>
            <a:r>
              <a:rPr dirty="0" sz="1050" spc="-15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901813" y="1263140"/>
            <a:ext cx="309689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85"/>
              <a:t>Stack</a:t>
            </a:r>
            <a:r>
              <a:rPr dirty="0" sz="1900" spc="-260"/>
              <a:t> </a:t>
            </a:r>
            <a:r>
              <a:rPr dirty="0" sz="1900" spc="-275"/>
              <a:t>Diagrams</a:t>
            </a:r>
            <a:r>
              <a:rPr dirty="0" sz="1900" spc="-260"/>
              <a:t> </a:t>
            </a:r>
            <a:r>
              <a:rPr dirty="0" sz="1900" spc="-280"/>
              <a:t>for</a:t>
            </a:r>
            <a:r>
              <a:rPr dirty="0" sz="1900" spc="-254"/>
              <a:t> </a:t>
            </a:r>
            <a:r>
              <a:rPr dirty="0" sz="1900" spc="-310"/>
              <a:t>Recursive</a:t>
            </a:r>
            <a:r>
              <a:rPr dirty="0" sz="1900" spc="-260"/>
              <a:t> </a:t>
            </a:r>
            <a:r>
              <a:rPr dirty="0" sz="1900" spc="-310"/>
              <a:t>Functions</a:t>
            </a:r>
            <a:endParaRPr sz="1900"/>
          </a:p>
        </p:txBody>
      </p:sp>
      <p:sp>
        <p:nvSpPr>
          <p:cNvPr id="7" name="object 7" descr=""/>
          <p:cNvSpPr txBox="1"/>
          <p:nvPr/>
        </p:nvSpPr>
        <p:spPr>
          <a:xfrm>
            <a:off x="901673" y="1627678"/>
            <a:ext cx="4597400" cy="353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5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diagram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shows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frames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countdown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>
                <a:latin typeface="SimSun"/>
                <a:cs typeface="SimSun"/>
              </a:rPr>
              <a:t>n</a:t>
            </a:r>
            <a:r>
              <a:rPr dirty="0" sz="1000" spc="-1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=</a:t>
            </a:r>
            <a:r>
              <a:rPr dirty="0" sz="1000" spc="-10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158395"/>
            <a:ext cx="1163798" cy="145877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901612" y="3727475"/>
            <a:ext cx="4598035" cy="236918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four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countdown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frames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bottom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stack,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n=0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b</a:t>
            </a:r>
            <a:r>
              <a:rPr dirty="0" sz="1050" spc="-55" b="1">
                <a:latin typeface="Palatino Linotype"/>
                <a:cs typeface="Palatino Linotype"/>
              </a:rPr>
              <a:t>a</a:t>
            </a:r>
            <a:r>
              <a:rPr dirty="0" sz="1050" spc="-45" b="1">
                <a:latin typeface="Palatino Linotype"/>
                <a:cs typeface="Palatino Linotype"/>
              </a:rPr>
              <a:t>s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15" b="1">
                <a:latin typeface="Palatino Linotype"/>
                <a:cs typeface="Palatino Linotype"/>
              </a:rPr>
              <a:t>c</a:t>
            </a:r>
            <a:r>
              <a:rPr dirty="0" sz="1050" spc="-55" b="1">
                <a:latin typeface="Palatino Linotype"/>
                <a:cs typeface="Palatino Linotype"/>
              </a:rPr>
              <a:t>a</a:t>
            </a:r>
            <a:r>
              <a:rPr dirty="0" sz="1050" spc="-45" b="1">
                <a:latin typeface="Palatino Linotype"/>
                <a:cs typeface="Palatino Linotype"/>
              </a:rPr>
              <a:t>s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there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frames.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40" b="1">
                <a:latin typeface="Trebuchet MS"/>
                <a:cs typeface="Trebuchet MS"/>
              </a:rPr>
              <a:t>Infinite</a:t>
            </a:r>
            <a:r>
              <a:rPr dirty="0" sz="1900" spc="-229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Recursion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recursion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reaches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base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case,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goes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making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foreve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termin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known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infinite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5" b="1">
                <a:latin typeface="Palatino Linotype"/>
                <a:cs typeface="Palatino Linotype"/>
              </a:rPr>
              <a:t>r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20" b="1">
                <a:latin typeface="Palatino Linotype"/>
                <a:cs typeface="Palatino Linotype"/>
              </a:rPr>
              <a:t>c</a:t>
            </a:r>
            <a:r>
              <a:rPr dirty="0" sz="1050" spc="-40" b="1">
                <a:latin typeface="Palatino Linotype"/>
                <a:cs typeface="Palatino Linotype"/>
              </a:rPr>
              <a:t>ur</a:t>
            </a:r>
            <a:r>
              <a:rPr dirty="0" sz="1050" spc="-40" b="1">
                <a:latin typeface="Palatino Linotype"/>
                <a:cs typeface="Palatino Linotype"/>
              </a:rPr>
              <a:t>s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35" b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generally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idea.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minimal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infinite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recursion: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7941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recurse():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recurse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Every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recurse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itself,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frame.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Python,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limit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frames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64659" y="7731125"/>
            <a:ext cx="10350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0" b="1">
                <a:latin typeface="Trebuchet MS"/>
                <a:cs typeface="Trebuchet MS"/>
              </a:rPr>
              <a:t>Infinite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Recursion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10" b="1">
                <a:latin typeface="Trebuchet MS"/>
                <a:cs typeface="Trebuchet MS"/>
              </a:rPr>
              <a:t>63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5499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5946608"/>
            <a:ext cx="4572000" cy="289560"/>
            <a:chOff x="914400" y="594660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9466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9481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901700" y="650030"/>
            <a:ext cx="4584700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exceeds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limit,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causes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recurse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--------------------------------------------------------------------------</a:t>
            </a:r>
            <a:r>
              <a:rPr dirty="0" sz="850" spc="-50">
                <a:latin typeface="SimSun"/>
                <a:cs typeface="SimSun"/>
              </a:rPr>
              <a:t>-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195631" y="1358328"/>
            <a:ext cx="180657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Traceback (most recent call </a:t>
            </a:r>
            <a:r>
              <a:rPr dirty="0" sz="850" spc="-10">
                <a:latin typeface="SimSun"/>
                <a:cs typeface="SimSun"/>
              </a:rPr>
              <a:t>last)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28681" y="1358328"/>
            <a:ext cx="1050925" cy="370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35"/>
              </a:lnSpc>
              <a:spcBef>
                <a:spcPts val="100"/>
              </a:spcBef>
            </a:pPr>
            <a:r>
              <a:rPr dirty="0" sz="850" spc="-10">
                <a:latin typeface="SimSun"/>
                <a:cs typeface="SimSun"/>
              </a:rPr>
              <a:t>RecursionError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Cell In[41], line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----&gt; 1 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1644" y="1790128"/>
            <a:ext cx="4598035" cy="4354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Cell In[39], line 2, in 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  <a:p>
            <a:pPr algn="r" marR="336232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1 def </a:t>
            </a:r>
            <a:r>
              <a:rPr dirty="0" sz="850" spc="-10">
                <a:latin typeface="SimSun"/>
                <a:cs typeface="SimSun"/>
              </a:rPr>
              <a:t>recurse():</a:t>
            </a:r>
            <a:endParaRPr sz="850">
              <a:latin typeface="SimSun"/>
              <a:cs typeface="SimSun"/>
            </a:endParaRPr>
          </a:p>
          <a:p>
            <a:pPr algn="r" marR="3416300">
              <a:lnSpc>
                <a:spcPts val="935"/>
              </a:lnSpc>
              <a:tabLst>
                <a:tab pos="647065" algn="l"/>
              </a:tabLst>
            </a:pPr>
            <a:r>
              <a:rPr dirty="0" sz="850">
                <a:latin typeface="SimSun"/>
                <a:cs typeface="SimSun"/>
              </a:rPr>
              <a:t>----&gt; </a:t>
            </a:r>
            <a:r>
              <a:rPr dirty="0" sz="850" spc="-50"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>
                <a:latin typeface="SimSun"/>
                <a:cs typeface="SimSun"/>
              </a:rPr>
              <a:t>Cell In[39], line 2, in 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  <a:p>
            <a:pPr algn="r" marR="336232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1 def </a:t>
            </a:r>
            <a:r>
              <a:rPr dirty="0" sz="850" spc="-10">
                <a:latin typeface="SimSun"/>
                <a:cs typeface="SimSun"/>
              </a:rPr>
              <a:t>recurse():</a:t>
            </a:r>
            <a:endParaRPr sz="850">
              <a:latin typeface="SimSun"/>
              <a:cs typeface="SimSun"/>
            </a:endParaRPr>
          </a:p>
          <a:p>
            <a:pPr algn="r" marR="3416300">
              <a:lnSpc>
                <a:spcPts val="935"/>
              </a:lnSpc>
              <a:tabLst>
                <a:tab pos="647065" algn="l"/>
              </a:tabLst>
            </a:pPr>
            <a:r>
              <a:rPr dirty="0" sz="850">
                <a:latin typeface="SimSun"/>
                <a:cs typeface="SimSun"/>
              </a:rPr>
              <a:t>----&gt; </a:t>
            </a:r>
            <a:r>
              <a:rPr dirty="0" sz="850" spc="-50"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  <a:p>
            <a:pPr marL="39370" marR="1041400" indent="215900">
              <a:lnSpc>
                <a:spcPct val="166700"/>
              </a:lnSpc>
            </a:pPr>
            <a:r>
              <a:rPr dirty="0" sz="850">
                <a:latin typeface="SimSun"/>
                <a:cs typeface="SimSun"/>
              </a:rPr>
              <a:t>[... skipping similar frames: recurse at line 2 (2958 </a:t>
            </a:r>
            <a:r>
              <a:rPr dirty="0" sz="850" spc="-10">
                <a:latin typeface="SimSun"/>
                <a:cs typeface="SimSun"/>
              </a:rPr>
              <a:t>times)] </a:t>
            </a:r>
            <a:r>
              <a:rPr dirty="0" sz="850">
                <a:latin typeface="SimSun"/>
                <a:cs typeface="SimSun"/>
              </a:rPr>
              <a:t>Cell In[39], line 2, in 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  <a:p>
            <a:pPr algn="r" marR="3362325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1 def </a:t>
            </a:r>
            <a:r>
              <a:rPr dirty="0" sz="850" spc="-10">
                <a:latin typeface="SimSun"/>
                <a:cs typeface="SimSun"/>
              </a:rPr>
              <a:t>recurse():</a:t>
            </a:r>
            <a:endParaRPr sz="850">
              <a:latin typeface="SimSun"/>
              <a:cs typeface="SimSun"/>
            </a:endParaRPr>
          </a:p>
          <a:p>
            <a:pPr algn="r" marR="3416300">
              <a:lnSpc>
                <a:spcPts val="935"/>
              </a:lnSpc>
              <a:tabLst>
                <a:tab pos="647065" algn="l"/>
              </a:tabLst>
            </a:pPr>
            <a:r>
              <a:rPr dirty="0" sz="850">
                <a:latin typeface="SimSun"/>
                <a:cs typeface="SimSun"/>
              </a:rPr>
              <a:t>----&gt; </a:t>
            </a:r>
            <a:r>
              <a:rPr dirty="0" sz="850" spc="-50"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10">
                <a:latin typeface="SimSun"/>
                <a:cs typeface="SimSun"/>
              </a:rPr>
              <a:t>recurse()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latin typeface="SimSun"/>
                <a:cs typeface="SimSun"/>
              </a:rPr>
              <a:t>RecursionError: maximum recursion depth </a:t>
            </a:r>
            <a:r>
              <a:rPr dirty="0" sz="850" spc="-10">
                <a:latin typeface="SimSun"/>
                <a:cs typeface="SimSun"/>
              </a:rPr>
              <a:t>exceeded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traceback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 </a:t>
            </a: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three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thousand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frames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stack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occurred.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infinite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recursion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accide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review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confirm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case,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guara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Keyboard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Input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programs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accept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input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just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built-in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input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stops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waits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presses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 </a:t>
            </a:r>
            <a:r>
              <a:rPr dirty="0" sz="1050" spc="-55">
                <a:latin typeface="Palatino Linotype"/>
                <a:cs typeface="Palatino Linotype"/>
              </a:rPr>
              <a:t>resumes,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input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text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input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1685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64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823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914400" y="21776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" name="object 7" descr=""/>
          <p:cNvGrpSpPr/>
          <p:nvPr/>
        </p:nvGrpSpPr>
        <p:grpSpPr>
          <a:xfrm>
            <a:off x="914400" y="3230537"/>
            <a:ext cx="4572000" cy="505459"/>
            <a:chOff x="914400" y="3230537"/>
            <a:chExt cx="4572000" cy="505459"/>
          </a:xfrm>
        </p:grpSpPr>
        <p:sp>
          <p:nvSpPr>
            <p:cNvPr id="8" name="object 8" descr=""/>
            <p:cNvSpPr/>
            <p:nvPr/>
          </p:nvSpPr>
          <p:spPr>
            <a:xfrm>
              <a:off x="914400" y="323053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914400" y="323212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/>
          <p:nvPr/>
        </p:nvSpPr>
        <p:spPr>
          <a:xfrm>
            <a:off x="914400" y="413128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914400" y="442655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4740567"/>
            <a:ext cx="4572000" cy="289560"/>
            <a:chOff x="914400" y="4740567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74056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7421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542541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644" y="650030"/>
            <a:ext cx="4598035" cy="629602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getting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input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user,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6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prompt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telling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user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input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prompt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987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input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'What...is your 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name?</a:t>
            </a:r>
            <a:r>
              <a:rPr dirty="0" sz="850" spc="-30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30">
                <a:latin typeface="SimSun"/>
                <a:cs typeface="SimSun"/>
              </a:rPr>
              <a:t>)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What...is your </a:t>
            </a:r>
            <a:r>
              <a:rPr dirty="0" sz="850" spc="-10">
                <a:latin typeface="SimSun"/>
                <a:cs typeface="SimSun"/>
              </a:rPr>
              <a:t>name?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It is Arthur, King of the </a:t>
            </a:r>
            <a:r>
              <a:rPr dirty="0" sz="850" spc="-10">
                <a:latin typeface="SimSun"/>
                <a:cs typeface="SimSun"/>
              </a:rPr>
              <a:t>Britons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'It is Arthur, King of the </a:t>
            </a:r>
            <a:r>
              <a:rPr dirty="0" sz="850" spc="-10">
                <a:latin typeface="SimSun"/>
                <a:cs typeface="SimSun"/>
              </a:rPr>
              <a:t>Britons'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\n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prompt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represents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newline</a:t>
            </a:r>
            <a:r>
              <a:rPr dirty="0" sz="1050" spc="-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special </a:t>
            </a:r>
            <a:r>
              <a:rPr dirty="0" sz="1050" spc="-10">
                <a:latin typeface="Palatino Linotype"/>
                <a:cs typeface="Palatino Linotype"/>
              </a:rPr>
              <a:t>character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causes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line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break—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way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user’s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input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appears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below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pro</a:t>
            </a:r>
            <a:r>
              <a:rPr dirty="0" sz="1050" spc="-10">
                <a:latin typeface="Palatino Linotype"/>
                <a:cs typeface="Palatino Linotype"/>
              </a:rPr>
              <a:t>mpt.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int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int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9334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prompt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'What...is the airspeed velocity of an unladen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swallow?</a:t>
            </a:r>
            <a:r>
              <a:rPr dirty="0" sz="850" spc="-25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speed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input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prompt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speed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1635125">
              <a:lnSpc>
                <a:spcPts val="85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What...is the airspeed velocity of an unladen </a:t>
            </a:r>
            <a:r>
              <a:rPr dirty="0" sz="850" spc="-10">
                <a:latin typeface="SimSun"/>
                <a:cs typeface="SimSun"/>
              </a:rPr>
              <a:t>swallow? </a:t>
            </a:r>
            <a:r>
              <a:rPr dirty="0" sz="850">
                <a:latin typeface="SimSun"/>
                <a:cs typeface="SimSun"/>
              </a:rPr>
              <a:t>What do you mean: an African or European </a:t>
            </a:r>
            <a:r>
              <a:rPr dirty="0" sz="850" spc="-10">
                <a:latin typeface="SimSun"/>
                <a:cs typeface="SimSun"/>
              </a:rPr>
              <a:t>swallow?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'What do you mean: an African or European </a:t>
            </a:r>
            <a:r>
              <a:rPr dirty="0" sz="850" spc="-10">
                <a:latin typeface="SimSun"/>
                <a:cs typeface="SimSun"/>
              </a:rPr>
              <a:t>swallow?'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error.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speed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50">
              <a:latin typeface="SimSun"/>
              <a:cs typeface="SimSun"/>
            </a:endParaRPr>
          </a:p>
          <a:p>
            <a:pPr marL="687070" marR="771525" indent="-6477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ValueError: invalid literal for int() with base 10: 'What do you </a:t>
            </a:r>
            <a:r>
              <a:rPr dirty="0" sz="850" spc="-10">
                <a:latin typeface="SimSun"/>
                <a:cs typeface="SimSun"/>
              </a:rPr>
              <a:t>mean: </a:t>
            </a:r>
            <a:r>
              <a:rPr dirty="0" sz="850">
                <a:latin typeface="SimSun"/>
                <a:cs typeface="SimSun"/>
              </a:rPr>
              <a:t>an African or European </a:t>
            </a:r>
            <a:r>
              <a:rPr dirty="0" sz="850" spc="-10">
                <a:latin typeface="SimSun"/>
                <a:cs typeface="SimSun"/>
              </a:rPr>
              <a:t>swallow?'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later.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When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syntax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runtime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 </a:t>
            </a:r>
            <a:r>
              <a:rPr dirty="0" sz="1050" spc="-35">
                <a:latin typeface="Palatino Linotype"/>
                <a:cs typeface="Palatino Linotype"/>
              </a:rPr>
              <a:t>occurs,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error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informa‐ 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overwhelming.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usually: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Where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occurred.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12823" y="7731125"/>
            <a:ext cx="7867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65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2060"/>
            <a:ext cx="4572000" cy="397510"/>
            <a:chOff x="914400" y="124206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206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36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2507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288579"/>
            <a:ext cx="4572000" cy="721360"/>
            <a:chOff x="914400" y="3288579"/>
            <a:chExt cx="4572000" cy="7213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28857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2901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50529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61" y="650030"/>
            <a:ext cx="4598035" cy="3554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Syntax</a:t>
            </a:r>
            <a:r>
              <a:rPr dirty="0" sz="1050" spc="-25">
                <a:latin typeface="Palatino Linotype"/>
                <a:cs typeface="Palatino Linotype"/>
              </a:rPr>
              <a:t> errors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 </a:t>
            </a:r>
            <a:r>
              <a:rPr dirty="0" sz="1050" spc="-65">
                <a:latin typeface="Palatino Linotype"/>
                <a:cs typeface="Palatino Linotype"/>
              </a:rPr>
              <a:t>usually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easy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 </a:t>
            </a: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gotchas.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Errors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related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spaces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tabs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tricky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invisible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ignoring </a:t>
            </a:r>
            <a:r>
              <a:rPr dirty="0" sz="1050" spc="-10">
                <a:latin typeface="Palatino Linotype"/>
                <a:cs typeface="Palatino Linotype"/>
              </a:rPr>
              <a:t>them: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147320" marR="3524250" indent="-10795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Cell In[50], line </a:t>
            </a:r>
            <a:r>
              <a:rPr dirty="0" sz="850" spc="-50">
                <a:latin typeface="SimSun"/>
                <a:cs typeface="SimSun"/>
              </a:rPr>
              <a:t>2 </a:t>
            </a:r>
            <a:r>
              <a:rPr dirty="0" sz="850">
                <a:latin typeface="SimSun"/>
                <a:cs typeface="SimSun"/>
              </a:rPr>
              <a:t>y = </a:t>
            </a:r>
            <a:r>
              <a:rPr dirty="0" sz="850" spc="-50"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 marL="147320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^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IndentationError: unexpected </a:t>
            </a:r>
            <a:r>
              <a:rPr dirty="0" sz="850" spc="-10">
                <a:latin typeface="SimSun"/>
                <a:cs typeface="SimSun"/>
              </a:rPr>
              <a:t>indent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indented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space.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>
                <a:latin typeface="Palatino Linotype"/>
                <a:cs typeface="Palatino Linotype"/>
              </a:rPr>
              <a:t>error </a:t>
            </a:r>
            <a:r>
              <a:rPr dirty="0" sz="1050" spc="-50">
                <a:latin typeface="Palatino Linotype"/>
                <a:cs typeface="Palatino Linotype"/>
              </a:rPr>
              <a:t>message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points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00">
                <a:latin typeface="SimSun"/>
                <a:cs typeface="SimSun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45">
                <a:latin typeface="Palatino Linotype"/>
                <a:cs typeface="Palatino Linotype"/>
              </a:rPr>
              <a:t>misleading.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Error </a:t>
            </a:r>
            <a:r>
              <a:rPr dirty="0" sz="1050" spc="-50">
                <a:latin typeface="Palatino Linotype"/>
                <a:cs typeface="Palatino Linotype"/>
              </a:rPr>
              <a:t>messages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indicate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problem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discovered,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actual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earlier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ratio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decibels,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latin typeface="Courier New"/>
                <a:cs typeface="Courier New"/>
              </a:rPr>
              <a:t>math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numerator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denominator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endParaRPr sz="850">
              <a:latin typeface="SimSun"/>
              <a:cs typeface="SimSun"/>
            </a:endParaRPr>
          </a:p>
          <a:p>
            <a:pPr marL="39370" marR="27686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ratio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numerator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//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denominator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decibels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log10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ratio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--------------------------------------------------------------------------</a:t>
            </a:r>
            <a:r>
              <a:rPr dirty="0" sz="850" spc="-50">
                <a:latin typeface="SimSun"/>
                <a:cs typeface="SimSun"/>
              </a:rPr>
              <a:t>-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95619" y="4156687"/>
            <a:ext cx="180657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Traceback (most recent call </a:t>
            </a:r>
            <a:r>
              <a:rPr dirty="0" sz="850" spc="-10">
                <a:latin typeface="SimSun"/>
                <a:cs typeface="SimSun"/>
              </a:rPr>
              <a:t>last)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28669" y="4156687"/>
            <a:ext cx="223837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35"/>
              </a:lnSpc>
              <a:spcBef>
                <a:spcPts val="100"/>
              </a:spcBef>
            </a:pPr>
            <a:r>
              <a:rPr dirty="0" sz="850" spc="-10">
                <a:latin typeface="SimSun"/>
                <a:cs typeface="SimSun"/>
              </a:rPr>
              <a:t>ValueError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Cell In[52], line </a:t>
            </a:r>
            <a:r>
              <a:rPr dirty="0" sz="850" spc="-50"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 marL="444500" indent="-107950">
              <a:lnSpc>
                <a:spcPts val="850"/>
              </a:lnSpc>
              <a:buAutoNum type="arabicPlain" startAt="3"/>
              <a:tabLst>
                <a:tab pos="444500" algn="l"/>
              </a:tabLst>
            </a:pPr>
            <a:r>
              <a:rPr dirty="0" sz="850">
                <a:latin typeface="SimSun"/>
                <a:cs typeface="SimSun"/>
              </a:rPr>
              <a:t>denominator = </a:t>
            </a:r>
            <a:r>
              <a:rPr dirty="0" sz="850" spc="-25">
                <a:latin typeface="SimSun"/>
                <a:cs typeface="SimSun"/>
              </a:rPr>
              <a:t>10</a:t>
            </a:r>
            <a:endParaRPr sz="850">
              <a:latin typeface="SimSun"/>
              <a:cs typeface="SimSun"/>
            </a:endParaRPr>
          </a:p>
          <a:p>
            <a:pPr marL="444500" indent="-107950">
              <a:lnSpc>
                <a:spcPts val="850"/>
              </a:lnSpc>
              <a:buAutoNum type="arabicPlain" startAt="3"/>
              <a:tabLst>
                <a:tab pos="444500" algn="l"/>
              </a:tabLst>
            </a:pPr>
            <a:r>
              <a:rPr dirty="0" sz="850">
                <a:latin typeface="SimSun"/>
                <a:cs typeface="SimSun"/>
              </a:rPr>
              <a:t>ratio = numerator // </a:t>
            </a:r>
            <a:r>
              <a:rPr dirty="0" sz="850" spc="-10">
                <a:latin typeface="SimSun"/>
                <a:cs typeface="SimSun"/>
              </a:rPr>
              <a:t>denominator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----&gt; 5 decibels = 10 * </a:t>
            </a:r>
            <a:r>
              <a:rPr dirty="0" sz="850" spc="-10">
                <a:latin typeface="SimSun"/>
                <a:cs typeface="SimSun"/>
              </a:rPr>
              <a:t>math.log10(ratio)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1670" y="4804387"/>
            <a:ext cx="4598035" cy="2574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ValueError: math domain </a:t>
            </a:r>
            <a:r>
              <a:rPr dirty="0" sz="850" spc="-10">
                <a:latin typeface="SimSun"/>
                <a:cs typeface="SimSun"/>
              </a:rPr>
              <a:t>error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3499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5,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nothing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wrong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line.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4,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floor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instead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ting-poi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division—as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result,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ratio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math.log10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ValueError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domain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error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55">
                <a:latin typeface="Palatino Linotype"/>
                <a:cs typeface="Palatino Linotype"/>
              </a:rPr>
              <a:t>domai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valid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ts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math.log10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logarithm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undefined.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general,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should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take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time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read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error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messages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carefully,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don’t </a:t>
            </a:r>
            <a:r>
              <a:rPr dirty="0" sz="1050" spc="-70">
                <a:latin typeface="Palatino Linotype"/>
                <a:cs typeface="Palatino Linotype"/>
              </a:rPr>
              <a:t>assume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everything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correct.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35" b="1">
                <a:latin typeface="Palatino Linotype"/>
                <a:cs typeface="Palatino Linotype"/>
              </a:rPr>
              <a:t>recursion: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currently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executing.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65" b="1">
                <a:latin typeface="Palatino Linotype"/>
                <a:cs typeface="Palatino Linotype"/>
              </a:rPr>
              <a:t>modulus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operator: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operator,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%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integers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remainder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divided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another.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667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66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1" y="573830"/>
            <a:ext cx="4598035" cy="7320280"/>
          </a:xfrm>
          <a:prstGeom prst="rect">
            <a:avLst/>
          </a:prstGeom>
        </p:spPr>
        <p:txBody>
          <a:bodyPr wrap="square" lIns="0" tIns="965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1050" spc="-55" b="1">
                <a:latin typeface="Palatino Linotype"/>
                <a:cs typeface="Palatino Linotype"/>
              </a:rPr>
              <a:t>boolean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expression: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relational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operator: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operands: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==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!=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00">
                <a:latin typeface="SimSun"/>
                <a:cs typeface="SimSun"/>
              </a:rPr>
              <a:t>&gt;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&lt;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SimSun"/>
                <a:cs typeface="SimSun"/>
              </a:rPr>
              <a:t>&gt;=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&lt;=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logical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operator: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combines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boolean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including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000">
                <a:latin typeface="SimSun"/>
                <a:cs typeface="SimSun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conditional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statement: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controls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execution,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depending 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condition.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block:</a:t>
            </a:r>
            <a:r>
              <a:rPr dirty="0" sz="1050" spc="17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more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statements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indented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indicate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they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part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7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another statement.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condition: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boolean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determines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 </a:t>
            </a:r>
            <a:r>
              <a:rPr dirty="0" sz="1050" spc="-45">
                <a:latin typeface="Palatino Linotype"/>
                <a:cs typeface="Palatino Linotype"/>
              </a:rPr>
              <a:t>branch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branch: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alternative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sequences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chained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conditional: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series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alternative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branches.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nested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conditional: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appears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branches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recursive: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-10">
                <a:latin typeface="Palatino Linotype"/>
                <a:cs typeface="Palatino Linotype"/>
              </a:rPr>
              <a:t> itself.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base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case: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branch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recursive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recur‐ </a:t>
            </a:r>
            <a:r>
              <a:rPr dirty="0" sz="1050" spc="-70">
                <a:latin typeface="Palatino Linotype"/>
                <a:cs typeface="Palatino Linotype"/>
              </a:rPr>
              <a:t>sive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infinite</a:t>
            </a:r>
            <a:r>
              <a:rPr dirty="0" sz="1050" spc="5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recursion:</a:t>
            </a:r>
            <a:r>
              <a:rPr dirty="0" sz="1050" spc="6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recursion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doesn’t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base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case,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never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reaches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 </a:t>
            </a:r>
            <a:r>
              <a:rPr dirty="0" sz="1050" spc="-75">
                <a:latin typeface="Palatino Linotype"/>
                <a:cs typeface="Palatino Linotype"/>
              </a:rPr>
              <a:t>Eventually,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infinite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recursion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0" b="1">
                <a:latin typeface="Palatino Linotype"/>
                <a:cs typeface="Palatino Linotype"/>
              </a:rPr>
              <a:t>newline: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break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241300" indent="-119380">
              <a:lnSpc>
                <a:spcPct val="100000"/>
              </a:lnSpc>
              <a:spcBef>
                <a:spcPts val="865"/>
              </a:spcBef>
              <a:buChar char="•"/>
              <a:tabLst>
                <a:tab pos="241935" algn="l"/>
              </a:tabLst>
            </a:pPr>
            <a:r>
              <a:rPr dirty="0" sz="1050" spc="-80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operator?”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3099"/>
              </a:lnSpc>
              <a:spcBef>
                <a:spcPts val="420"/>
              </a:spcBef>
              <a:buChar char="•"/>
              <a:tabLst>
                <a:tab pos="241935" algn="l"/>
              </a:tabLst>
            </a:pPr>
            <a:r>
              <a:rPr dirty="0" sz="1050" spc="-30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compute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logical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,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doesn’t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exclusive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SimSun"/>
                <a:cs typeface="SimSun"/>
              </a:rPr>
              <a:t>or</a:t>
            </a:r>
            <a:r>
              <a:rPr dirty="0" sz="1000" spc="-2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operation,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usually </a:t>
            </a:r>
            <a:r>
              <a:rPr dirty="0" sz="1050" spc="-35">
                <a:latin typeface="Palatino Linotype"/>
                <a:cs typeface="Palatino Linotype"/>
              </a:rPr>
              <a:t>written </a:t>
            </a:r>
            <a:r>
              <a:rPr dirty="0" sz="1000">
                <a:latin typeface="SimSun"/>
                <a:cs typeface="SimSun"/>
              </a:rPr>
              <a:t>xor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Ask </a:t>
            </a:r>
            <a:r>
              <a:rPr dirty="0" sz="1050">
                <a:latin typeface="Palatino Linotype"/>
                <a:cs typeface="Palatino Linotype"/>
              </a:rPr>
              <a:t>an </a:t>
            </a:r>
            <a:r>
              <a:rPr dirty="0" sz="1050" spc="-35">
                <a:latin typeface="Palatino Linotype"/>
                <a:cs typeface="Palatino Linotype"/>
              </a:rPr>
              <a:t>assistant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is the </a:t>
            </a:r>
            <a:r>
              <a:rPr dirty="0" sz="1050" spc="-30">
                <a:latin typeface="Palatino Linotype"/>
                <a:cs typeface="Palatino Linotype"/>
              </a:rPr>
              <a:t>logical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xor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do </a:t>
            </a:r>
            <a:r>
              <a:rPr dirty="0" sz="1050" spc="-50">
                <a:latin typeface="Palatino Linotype"/>
                <a:cs typeface="Palatino Linotype"/>
              </a:rPr>
              <a:t>I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in </a:t>
            </a:r>
            <a:r>
              <a:rPr dirty="0" sz="1050" spc="-10">
                <a:latin typeface="Palatino Linotype"/>
                <a:cs typeface="Palatino Linotype"/>
              </a:rPr>
              <a:t>Python?”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6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60">
                <a:latin typeface="Palatino Linotype"/>
                <a:cs typeface="Palatino Linotype"/>
              </a:rPr>
              <a:t>w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if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branches,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chained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nested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vert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“</a:t>
            </a:r>
            <a:r>
              <a:rPr dirty="0" sz="1050" spc="-4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vert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chained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</a:t>
            </a:r>
            <a:r>
              <a:rPr dirty="0" sz="1050" spc="-60">
                <a:latin typeface="Palatino Linotype"/>
                <a:cs typeface="Palatino Linotype"/>
              </a:rPr>
              <a:t>l</a:t>
            </a:r>
            <a:r>
              <a:rPr dirty="0" sz="1050" spc="-65">
                <a:latin typeface="Palatino Linotype"/>
                <a:cs typeface="Palatino Linotype"/>
              </a:rPr>
              <a:t>”: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67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937260"/>
            <a:chOff x="914400" y="685800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103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224404"/>
            <a:ext cx="4572000" cy="505459"/>
            <a:chOff x="914400" y="2224404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22440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2259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01720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331209"/>
            <a:ext cx="4572000" cy="397510"/>
            <a:chOff x="914400" y="3331209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33120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33279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0160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330064"/>
            <a:ext cx="4572000" cy="829310"/>
            <a:chOff x="914400" y="4330064"/>
            <a:chExt cx="4572000" cy="8293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33006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33165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914400" y="5495289"/>
            <a:ext cx="4572000" cy="289560"/>
            <a:chOff x="914400" y="5495289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4952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4968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3960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50" y="728091"/>
            <a:ext cx="4598035" cy="6055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and y are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equal'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less than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y'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greater than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y'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less than </a:t>
            </a:r>
            <a:r>
              <a:rPr dirty="0" sz="850" spc="-50"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“Rewrite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conditional”: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a positive single-digit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number.'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a positive single-digit </a:t>
            </a:r>
            <a:r>
              <a:rPr dirty="0" sz="850" spc="-10">
                <a:latin typeface="SimSun"/>
                <a:cs typeface="SimSun"/>
              </a:rPr>
              <a:t>number.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unnecessary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complexity: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10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 is a positive single-digit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number.'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x is a positive single-digit </a:t>
            </a:r>
            <a:r>
              <a:rPr dirty="0" sz="850" spc="-10">
                <a:latin typeface="SimSun"/>
                <a:cs typeface="SimSun"/>
              </a:rPr>
              <a:t>number.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attempt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down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two: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countdown_by_two(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'Blastoff!'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984500">
              <a:lnSpc>
                <a:spcPts val="850"/>
              </a:lnSpc>
              <a:spcBef>
                <a:spcPts val="8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countdown_by_two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seems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work:</a:t>
            </a:r>
            <a:endParaRPr sz="1050">
              <a:latin typeface="Palatino Linotype"/>
              <a:cs typeface="Palatino Linotype"/>
            </a:endParaRPr>
          </a:p>
          <a:p>
            <a:pPr marL="39370" marR="35242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countdown_by_two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484"/>
              </a:lnSpc>
            </a:pPr>
            <a:r>
              <a:rPr dirty="0" sz="850"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latin typeface="SimSun"/>
                <a:cs typeface="SimSun"/>
              </a:rPr>
              <a:t>Blastoff!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what’s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fix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Paste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676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68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16059"/>
            <a:ext cx="4572000" cy="613410"/>
            <a:chOff x="914400" y="1516059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1605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176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4168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5787594"/>
            <a:ext cx="4572000" cy="937260"/>
            <a:chOff x="914400" y="5787594"/>
            <a:chExt cx="4572000" cy="9372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787594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789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70121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35" y="519390"/>
            <a:ext cx="4598035" cy="639953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module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“Unix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epoch,”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January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1,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1970,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00:00:00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UTC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(Coordinated </a:t>
            </a:r>
            <a:r>
              <a:rPr dirty="0" sz="1050" spc="-65">
                <a:latin typeface="Palatino Linotype"/>
                <a:cs typeface="Palatino Linotype"/>
              </a:rPr>
              <a:t>Universal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Time):</a:t>
            </a:r>
            <a:endParaRPr sz="1050">
              <a:latin typeface="Palatino Linotype"/>
              <a:cs typeface="Palatino Linotype"/>
            </a:endParaRPr>
          </a:p>
          <a:p>
            <a:pPr marL="39370" marR="3416300">
              <a:lnSpc>
                <a:spcPct val="166700"/>
              </a:lnSpc>
              <a:spcBef>
                <a:spcPts val="53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time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now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now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1709908595.7334914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floor </a:t>
            </a:r>
            <a:r>
              <a:rPr dirty="0" sz="1050" spc="-40">
                <a:latin typeface="Palatino Linotype"/>
                <a:cs typeface="Palatino Linotype"/>
              </a:rPr>
              <a:t>division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modulus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days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since </a:t>
            </a:r>
            <a:r>
              <a:rPr dirty="0" sz="1050" spc="-60">
                <a:latin typeface="Palatino Linotype"/>
                <a:cs typeface="Palatino Linotype"/>
              </a:rPr>
              <a:t>January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1, </a:t>
            </a:r>
            <a:r>
              <a:rPr dirty="0" sz="1050" spc="-25">
                <a:latin typeface="Palatino Linotype"/>
                <a:cs typeface="Palatino Linotype"/>
              </a:rPr>
              <a:t>1970,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current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hours,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minutes,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seconds.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59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three</a:t>
            </a:r>
            <a:r>
              <a:rPr dirty="0" sz="1050" spc="-35">
                <a:latin typeface="Palatino Linotype"/>
                <a:cs typeface="Palatino Linotype"/>
              </a:rPr>
              <a:t> sticks,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may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may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arrange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trian‐ </a:t>
            </a:r>
            <a:r>
              <a:rPr dirty="0" sz="1050" spc="-35">
                <a:latin typeface="Palatino Linotype"/>
                <a:cs typeface="Palatino Linotype"/>
              </a:rPr>
              <a:t>gle.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sticks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12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inches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long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other </a:t>
            </a:r>
            <a:r>
              <a:rPr dirty="0" sz="1050" spc="-50">
                <a:latin typeface="Palatino Linotype"/>
                <a:cs typeface="Palatino Linotype"/>
              </a:rPr>
              <a:t>two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 </a:t>
            </a:r>
            <a:r>
              <a:rPr dirty="0" sz="1050">
                <a:latin typeface="Palatino Linotype"/>
                <a:cs typeface="Palatino Linotype"/>
              </a:rPr>
              <a:t>1</a:t>
            </a:r>
            <a:r>
              <a:rPr dirty="0" sz="1050" spc="-20">
                <a:latin typeface="Palatino Linotype"/>
                <a:cs typeface="Palatino Linotype"/>
              </a:rPr>
              <a:t> inch </a:t>
            </a:r>
            <a:r>
              <a:rPr dirty="0" sz="1050" spc="-35">
                <a:latin typeface="Palatino Linotype"/>
                <a:cs typeface="Palatino Linotype"/>
              </a:rPr>
              <a:t>long,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45">
                <a:latin typeface="Palatino Linotype"/>
                <a:cs typeface="Palatino Linotype"/>
              </a:rPr>
              <a:t> 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 spc="-20">
                <a:latin typeface="Palatino Linotype"/>
                <a:cs typeface="Palatino Linotype"/>
              </a:rPr>
              <a:t> the </a:t>
            </a:r>
            <a:r>
              <a:rPr dirty="0" sz="1050" spc="-30">
                <a:latin typeface="Palatino Linotype"/>
                <a:cs typeface="Palatino Linotype"/>
              </a:rPr>
              <a:t>short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sticks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the </a:t>
            </a:r>
            <a:r>
              <a:rPr dirty="0" sz="1050" spc="-50">
                <a:latin typeface="Palatino Linotype"/>
                <a:cs typeface="Palatino Linotype"/>
              </a:rPr>
              <a:t>middle.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three </a:t>
            </a:r>
            <a:r>
              <a:rPr dirty="0" sz="1050" spc="-55">
                <a:latin typeface="Palatino Linotype"/>
                <a:cs typeface="Palatino Linotype"/>
              </a:rPr>
              <a:t>lengths,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possible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triangle: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233679">
              <a:lnSpc>
                <a:spcPct val="103299"/>
              </a:lnSpc>
              <a:spcBef>
                <a:spcPts val="765"/>
              </a:spcBef>
            </a:pPr>
            <a:r>
              <a:rPr dirty="0" sz="900">
                <a:latin typeface="Palatino Linotype"/>
                <a:cs typeface="Palatino Linotype"/>
              </a:rPr>
              <a:t>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any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three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lengths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greater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than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sum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other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two,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you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cannot </a:t>
            </a:r>
            <a:r>
              <a:rPr dirty="0" sz="900">
                <a:latin typeface="Palatino Linotype"/>
                <a:cs typeface="Palatino Linotype"/>
              </a:rPr>
              <a:t>form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triangle.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Otherwise,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you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can.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(If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 </a:t>
            </a:r>
            <a:r>
              <a:rPr dirty="0" sz="900" spc="-20">
                <a:latin typeface="Palatino Linotype"/>
                <a:cs typeface="Palatino Linotype"/>
              </a:rPr>
              <a:t>sum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two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lengths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equals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third,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they form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what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is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called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“degenerate”</a:t>
            </a:r>
            <a:r>
              <a:rPr dirty="0" sz="900" spc="-10">
                <a:latin typeface="Palatino Linotype"/>
                <a:cs typeface="Palatino Linotype"/>
              </a:rPr>
              <a:t> triangle.)</a:t>
            </a:r>
            <a:endParaRPr sz="90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795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is_triangle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“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5">
                <a:latin typeface="Palatino Linotype"/>
                <a:cs typeface="Palatino Linotype"/>
              </a:rPr>
              <a:t>e</a:t>
            </a:r>
            <a:r>
              <a:rPr dirty="0" sz="1050" spc="-100">
                <a:latin typeface="Palatino Linotype"/>
                <a:cs typeface="Palatino Linotype"/>
              </a:rPr>
              <a:t>s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75">
                <a:latin typeface="Palatino Linotype"/>
                <a:cs typeface="Palatino Linotype"/>
              </a:rPr>
              <a:t>o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depending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cannot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triangle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sticks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t: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chained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 spc="-25">
                <a:latin typeface="Palatino Linotype"/>
                <a:cs typeface="Palatino Linotype"/>
              </a:rPr>
              <a:t>What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output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program?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Draw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diagram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result.</a:t>
            </a:r>
            <a:endParaRPr sz="1050">
              <a:latin typeface="Palatino Linotype"/>
              <a:cs typeface="Palatino Linotype"/>
            </a:endParaRPr>
          </a:p>
          <a:p>
            <a:pPr algn="ctr" marR="353822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recurse(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22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algn="ctr" marR="3214370">
              <a:lnSpc>
                <a:spcPts val="850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recurse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recurse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91678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69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919833"/>
            <a:ext cx="4572000" cy="1692910"/>
            <a:chOff x="914400" y="1919833"/>
            <a:chExt cx="4572000" cy="16929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919833"/>
              <a:ext cx="4572000" cy="1692910"/>
            </a:xfrm>
            <a:custGeom>
              <a:avLst/>
              <a:gdLst/>
              <a:ahLst/>
              <a:cxnLst/>
              <a:rect l="l" t="t" r="r" b="b"/>
              <a:pathLst>
                <a:path w="4572000" h="1692910">
                  <a:moveTo>
                    <a:pt x="4572000" y="1692592"/>
                  </a:moveTo>
                  <a:lnTo>
                    <a:pt x="0" y="16925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6925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9214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6957033"/>
            <a:ext cx="4572000" cy="397510"/>
            <a:chOff x="914400" y="6957033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695703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1"/>
                  </a:moveTo>
                  <a:lnTo>
                    <a:pt x="0" y="397191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1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69586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5" y="519390"/>
            <a:ext cx="4598035" cy="674306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described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4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 spc="-50">
                <a:latin typeface="Palatino Linotype"/>
                <a:cs typeface="Palatino Linotype"/>
              </a:rPr>
              <a:t>Read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figure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does.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got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25">
                <a:latin typeface="Palatino Linotype"/>
                <a:cs typeface="Palatino Linotype"/>
              </a:rPr>
              <a:t>right.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Adjust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00">
                <a:latin typeface="SimSun"/>
                <a:cs typeface="SimSun"/>
              </a:rPr>
              <a:t>length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00">
                <a:latin typeface="SimSun"/>
                <a:cs typeface="SimSun"/>
              </a:rPr>
              <a:t>angle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factor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see </a:t>
            </a:r>
            <a:r>
              <a:rPr dirty="0" sz="1050" spc="-85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effect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understand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works,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assistant.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8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jupyturtle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right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back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36322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draw(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angle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0.6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29845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forward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right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left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angle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back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length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80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Koch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curve?”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Koch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curve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is: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Draw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Koch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curve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x/3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left</a:t>
            </a:r>
            <a:r>
              <a:rPr dirty="0" sz="1050" spc="-10">
                <a:latin typeface="Palatino Linotype"/>
                <a:cs typeface="Palatino Linotype"/>
              </a:rPr>
              <a:t> 60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degrees.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Draw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Koch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curve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x/3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120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degrees.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Draw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Koch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curve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x/3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left</a:t>
            </a:r>
            <a:r>
              <a:rPr dirty="0" sz="1050" spc="-10">
                <a:latin typeface="Palatino Linotype"/>
                <a:cs typeface="Palatino Linotype"/>
              </a:rPr>
              <a:t> 60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degrees.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Draw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Koch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curve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x/3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100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exception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5</a:t>
            </a:r>
            <a:r>
              <a:rPr dirty="0" sz="1050" spc="-50">
                <a:latin typeface="Palatino Linotype"/>
                <a:cs typeface="Palatino Linotype"/>
              </a:rPr>
              <a:t>—in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60">
                <a:latin typeface="Palatino Linotype"/>
                <a:cs typeface="Palatino Linotype"/>
              </a:rPr>
              <a:t>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 </a:t>
            </a:r>
            <a:r>
              <a:rPr dirty="0" sz="1050" spc="-50">
                <a:latin typeface="Palatino Linotype"/>
                <a:cs typeface="Palatino Linotype"/>
              </a:rPr>
              <a:t>length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koch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110">
                <a:latin typeface="Palatino Linotype"/>
                <a:cs typeface="Palatino Linotype"/>
              </a:rPr>
              <a:t>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K</a:t>
            </a:r>
            <a:r>
              <a:rPr dirty="0" sz="1050" spc="-40">
                <a:latin typeface="Palatino Linotype"/>
                <a:cs typeface="Palatino Linotype"/>
              </a:rPr>
              <a:t>och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47027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delay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koch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120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1664" y="7731125"/>
            <a:ext cx="1791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70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Conditionals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Recursion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4931481"/>
            <a:ext cx="4572000" cy="505459"/>
            <a:chOff x="914400" y="4931481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4931481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49330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685800"/>
            <a:ext cx="2752353" cy="137160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901635" y="2090943"/>
            <a:ext cx="4598035" cy="325374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050" spc="-35">
                <a:latin typeface="Palatino Linotype"/>
                <a:cs typeface="Palatino Linotype"/>
              </a:rPr>
              <a:t>Virtual </a:t>
            </a:r>
            <a:r>
              <a:rPr dirty="0" sz="1050" spc="-45">
                <a:latin typeface="Palatino Linotype"/>
                <a:cs typeface="Palatino Linotype"/>
              </a:rPr>
              <a:t>assistants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module,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because </a:t>
            </a: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 spc="-20">
                <a:latin typeface="Palatino Linotype"/>
                <a:cs typeface="Palatino Linotype"/>
              </a:rPr>
              <a:t> 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know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talking</a:t>
            </a:r>
            <a:r>
              <a:rPr dirty="0" sz="1050" spc="-10">
                <a:latin typeface="Palatino Linotype"/>
                <a:cs typeface="Palatino Linotype"/>
              </a:rPr>
              <a:t> about.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solve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ques‐ 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</a:t>
            </a:r>
            <a:r>
              <a:rPr dirty="0" sz="1050" spc="-145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jupy turtle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After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t,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draws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Sierpiński</a:t>
            </a:r>
            <a:r>
              <a:rPr dirty="0" sz="1050" spc="-10">
                <a:latin typeface="Palatino Linotype"/>
                <a:cs typeface="Palatino Linotype"/>
              </a:rPr>
              <a:t> triangle.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get </a:t>
            </a:r>
            <a:r>
              <a:rPr dirty="0" sz="1050" spc="-4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good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place,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some </a:t>
            </a:r>
            <a:r>
              <a:rPr dirty="0" sz="1050" spc="-50">
                <a:latin typeface="Palatino Linotype"/>
                <a:cs typeface="Palatino Linotype"/>
              </a:rPr>
              <a:t>debugging.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attempt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work,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assistant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 </a:t>
            </a:r>
            <a:r>
              <a:rPr dirty="0" sz="1050" spc="-75">
                <a:latin typeface="Palatino Linotype"/>
                <a:cs typeface="Palatino Linotype"/>
              </a:rPr>
              <a:t>happened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help—</a:t>
            </a:r>
            <a:r>
              <a:rPr dirty="0" sz="1050" spc="-5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debug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yourself.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Here’s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what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result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might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look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although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version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get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might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 </a:t>
            </a:r>
            <a:r>
              <a:rPr dirty="0" sz="1050" spc="-10">
                <a:latin typeface="Palatino Linotype"/>
                <a:cs typeface="Palatino Linotype"/>
              </a:rPr>
              <a:t>different:</a:t>
            </a:r>
            <a:endParaRPr sz="1050">
              <a:latin typeface="Palatino Linotype"/>
              <a:cs typeface="Palatino Linotype"/>
            </a:endParaRPr>
          </a:p>
          <a:p>
            <a:pPr marL="39370" marR="2822575">
              <a:lnSpc>
                <a:spcPct val="166700"/>
              </a:lnSpc>
              <a:spcBef>
                <a:spcPts val="53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delay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height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200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draw_sierpinski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5531874"/>
            <a:ext cx="2752353" cy="1645925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4791656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71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422070"/>
            <a:ext cx="4572000" cy="505459"/>
            <a:chOff x="914400" y="5422070"/>
            <a:chExt cx="4572000" cy="505459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42207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42365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914400" y="62148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" name="object 7" descr=""/>
          <p:cNvGrpSpPr/>
          <p:nvPr/>
        </p:nvGrpSpPr>
        <p:grpSpPr>
          <a:xfrm>
            <a:off x="914400" y="6528875"/>
            <a:ext cx="4572000" cy="289560"/>
            <a:chOff x="914400" y="6528875"/>
            <a:chExt cx="4572000" cy="289560"/>
          </a:xfrm>
        </p:grpSpPr>
        <p:sp>
          <p:nvSpPr>
            <p:cNvPr id="8" name="object 8" descr=""/>
            <p:cNvSpPr/>
            <p:nvPr/>
          </p:nvSpPr>
          <p:spPr>
            <a:xfrm>
              <a:off x="914400" y="65288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914400" y="65304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6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879600">
              <a:lnSpc>
                <a:spcPct val="100000"/>
              </a:lnSpc>
              <a:spcBef>
                <a:spcPts val="120"/>
              </a:spcBef>
            </a:pPr>
            <a:r>
              <a:rPr dirty="0" spc="-390"/>
              <a:t>Return</a:t>
            </a:r>
            <a:r>
              <a:rPr dirty="0" spc="-330"/>
              <a:t> </a:t>
            </a:r>
            <a:r>
              <a:rPr dirty="0" spc="-370"/>
              <a:t>Values</a:t>
            </a:r>
          </a:p>
        </p:txBody>
      </p:sp>
      <p:sp>
        <p:nvSpPr>
          <p:cNvPr id="12" name="object 12" descr=""/>
          <p:cNvSpPr txBox="1"/>
          <p:nvPr/>
        </p:nvSpPr>
        <p:spPr>
          <a:xfrm>
            <a:off x="901640" y="3052378"/>
            <a:ext cx="4598035" cy="367411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 indent="-635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chapters,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we’ve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functions—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abs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round</a:t>
            </a:r>
            <a:r>
              <a:rPr dirty="0" sz="1050" spc="-30">
                <a:latin typeface="Palatino Linotype"/>
                <a:cs typeface="Palatino Linotype"/>
              </a:rPr>
              <a:t>—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45">
                <a:latin typeface="Palatino Linotype"/>
                <a:cs typeface="Palatino Linotype"/>
              </a:rPr>
              <a:t>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math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module—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sqrt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pow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expression.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2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written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different.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print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Turtle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draw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figures.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don’t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return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expressions.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values.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335" b="1">
                <a:latin typeface="Trebuchet MS"/>
                <a:cs typeface="Trebuchet MS"/>
              </a:rPr>
              <a:t>Some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Functions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Have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Return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Values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10">
                <a:latin typeface="Palatino Linotype"/>
                <a:cs typeface="Palatino Linotype"/>
              </a:rPr>
              <a:t>When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math.sqrt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return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value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>
                <a:latin typeface="Palatino Linotype"/>
                <a:cs typeface="Palatino Linotype"/>
              </a:rPr>
              <a:t>function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appears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end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cell,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Jupyter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displays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return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 </a:t>
            </a:r>
            <a:r>
              <a:rPr dirty="0" sz="1050" spc="-10">
                <a:latin typeface="Palatino Linotype"/>
                <a:cs typeface="Palatino Linotype"/>
              </a:rPr>
              <a:t>immediately: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latin typeface="Courier New"/>
                <a:cs typeface="Courier New"/>
              </a:rPr>
              <a:t>math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3.656366395715726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displayed: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380435" y="7731125"/>
            <a:ext cx="118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73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12925"/>
            <a:ext cx="4572000" cy="289560"/>
            <a:chOff x="914400" y="181292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129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145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3898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703830"/>
            <a:ext cx="4572000" cy="505459"/>
            <a:chOff x="914400" y="2703830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70383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7054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4192733"/>
            <a:ext cx="4572000" cy="289560"/>
            <a:chOff x="914400" y="4192733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1927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1943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7696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083638"/>
            <a:ext cx="4572000" cy="289560"/>
            <a:chOff x="914400" y="5083638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08363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0852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914400" y="5709113"/>
            <a:ext cx="4572000" cy="289560"/>
            <a:chOff x="914400" y="5709113"/>
            <a:chExt cx="4572000" cy="28956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57091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57107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914400" y="628601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" name="object 24" descr=""/>
          <p:cNvGrpSpPr/>
          <p:nvPr/>
        </p:nvGrpSpPr>
        <p:grpSpPr>
          <a:xfrm>
            <a:off x="914400" y="6600018"/>
            <a:ext cx="4572000" cy="289560"/>
            <a:chOff x="914400" y="6600018"/>
            <a:chExt cx="4572000" cy="289560"/>
          </a:xfrm>
        </p:grpSpPr>
        <p:sp>
          <p:nvSpPr>
            <p:cNvPr id="25" name="object 25" descr=""/>
            <p:cNvSpPr/>
            <p:nvPr/>
          </p:nvSpPr>
          <p:spPr>
            <a:xfrm>
              <a:off x="914400" y="660001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914400" y="66016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/>
          <p:nvPr/>
        </p:nvSpPr>
        <p:spPr>
          <a:xfrm>
            <a:off x="914400" y="71769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901649" y="650030"/>
            <a:ext cx="4598035" cy="6433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later: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 spc="-10">
                <a:latin typeface="SimSun"/>
                <a:cs typeface="SimSun"/>
              </a:rPr>
              <a:t>3.656366395715726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expression:</a:t>
            </a:r>
            <a:endParaRPr sz="1050">
              <a:latin typeface="Palatino Linotype"/>
              <a:cs typeface="Palatino Linotype"/>
            </a:endParaRPr>
          </a:p>
          <a:p>
            <a:pPr marL="39370" marR="2822575">
              <a:lnSpc>
                <a:spcPts val="2250"/>
              </a:lnSpc>
              <a:spcBef>
                <a:spcPts val="26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pi</a:t>
            </a:r>
            <a:r>
              <a:rPr dirty="0" sz="850" spc="-10">
                <a:latin typeface="SimSun"/>
                <a:cs typeface="SimSun"/>
              </a:rPr>
              <a:t>) 7.312732791431452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circle_area(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area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pi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area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00" spc="-10">
                <a:latin typeface="SimSun"/>
                <a:cs typeface="SimSun"/>
              </a:rPr>
              <a:t>circle_area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radius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circle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10">
                <a:latin typeface="Palatino Linotype"/>
                <a:cs typeface="Palatino Linotype"/>
              </a:rPr>
              <a:t>radius.</a:t>
            </a:r>
            <a:endParaRPr sz="1050">
              <a:latin typeface="Palatino Linotype"/>
              <a:cs typeface="Palatino Linotype"/>
            </a:endParaRPr>
          </a:p>
          <a:p>
            <a:pPr marL="12700" marR="1140460">
              <a:lnSpc>
                <a:spcPct val="147600"/>
              </a:lnSpc>
              <a:spcBef>
                <a:spcPts val="5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return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area</a:t>
            </a:r>
            <a:r>
              <a:rPr dirty="0" sz="1050" spc="-10">
                <a:latin typeface="Palatino Linotype"/>
                <a:cs typeface="Palatino Linotype"/>
              </a:rPr>
              <a:t>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Jupyter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 marR="35242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circle_area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 42.00000000000001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variable: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circle_area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expression:</a:t>
            </a:r>
            <a:endParaRPr sz="1050">
              <a:latin typeface="Palatino Linotype"/>
              <a:cs typeface="Palatino Linotype"/>
            </a:endParaRPr>
          </a:p>
          <a:p>
            <a:pPr marL="39370" marR="19050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circle_area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circle_area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radius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latin typeface="SimSun"/>
                <a:cs typeface="SimSun"/>
              </a:rPr>
              <a:t>63.000000000000014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Later,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90"/>
              </a:spcBef>
            </a:pP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 spc="-10">
                <a:latin typeface="SimSun"/>
                <a:cs typeface="SimSun"/>
              </a:rPr>
              <a:t>42.00000000000001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01708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74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638087"/>
            <a:ext cx="4572000" cy="397510"/>
            <a:chOff x="914400" y="2638087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63808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63967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371512"/>
            <a:ext cx="4572000" cy="289560"/>
            <a:chOff x="914400" y="3371512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37151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37309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94840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589991"/>
            <a:ext cx="4572000" cy="289560"/>
            <a:chOff x="914400" y="4589991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58999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5915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16688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480896"/>
            <a:ext cx="4572000" cy="289560"/>
            <a:chOff x="914400" y="5480896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48089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48248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914400" y="6273925"/>
            <a:ext cx="4572000" cy="289560"/>
            <a:chOff x="914400" y="6273925"/>
            <a:chExt cx="4572000" cy="28956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62739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62755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914400" y="68508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901640" y="657564"/>
            <a:ext cx="4598035" cy="642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area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area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NameError: name 'area' is not </a:t>
            </a:r>
            <a:r>
              <a:rPr dirty="0" sz="850" spc="-10">
                <a:latin typeface="SimSun"/>
                <a:cs typeface="SimSun"/>
              </a:rPr>
              <a:t>defined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area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local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outside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0" b="1">
                <a:latin typeface="Trebuchet MS"/>
                <a:cs typeface="Trebuchet MS"/>
              </a:rPr>
              <a:t>And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335" b="1">
                <a:latin typeface="Trebuchet MS"/>
                <a:cs typeface="Trebuchet MS"/>
              </a:rPr>
              <a:t>Some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Have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55" b="1">
                <a:latin typeface="Trebuchet MS"/>
                <a:cs typeface="Trebuchet MS"/>
              </a:rPr>
              <a:t>None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doesn’t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return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None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value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repeat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702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repeat(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Monty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song</a:t>
            </a:r>
            <a:r>
              <a:rPr dirty="0" sz="1050" spc="-10">
                <a:latin typeface="Palatino Linotype"/>
                <a:cs typeface="Palatino Linotype"/>
              </a:rPr>
              <a:t> “Finland”:</a:t>
            </a:r>
            <a:endParaRPr sz="1050">
              <a:latin typeface="Palatino Linotype"/>
              <a:cs typeface="Palatino Linotype"/>
            </a:endParaRPr>
          </a:p>
          <a:p>
            <a:pPr marL="39370" marR="31464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'Finland, 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Finland, Finland, </a:t>
            </a:r>
            <a:r>
              <a:rPr dirty="0" sz="850" spc="-10">
                <a:latin typeface="SimSun"/>
                <a:cs typeface="SimSun"/>
              </a:rPr>
              <a:t>Finland,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20">
                <a:latin typeface="Palatino Linotype"/>
                <a:cs typeface="Palatino Linotype"/>
              </a:rPr>
              <a:t>yw</a:t>
            </a:r>
            <a:r>
              <a:rPr dirty="0" sz="1050" spc="-11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28765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'Finland, 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Finland, Finland, </a:t>
            </a:r>
            <a:r>
              <a:rPr dirty="0" sz="850" spc="-10">
                <a:latin typeface="SimSun"/>
                <a:cs typeface="SimSun"/>
              </a:rPr>
              <a:t>Finland,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nothing: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20">
                <a:latin typeface="SimSun"/>
                <a:cs typeface="SimSun"/>
              </a:rPr>
              <a:t>result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actually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Jupyter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However,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display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 marR="38481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None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repeat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None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327287" y="7731125"/>
            <a:ext cx="11722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0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Some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Have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80" b="1">
                <a:latin typeface="Trebuchet MS"/>
                <a:cs typeface="Trebuchet MS"/>
              </a:rPr>
              <a:t>None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20" b="1">
                <a:latin typeface="Trebuchet MS"/>
                <a:cs typeface="Trebuchet MS"/>
              </a:rPr>
              <a:t>75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66753"/>
            <a:ext cx="4572000" cy="289560"/>
            <a:chOff x="914400" y="2066753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6675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0683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2699762"/>
            <a:ext cx="4572000" cy="289560"/>
            <a:chOff x="914400" y="2699762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269976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27013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32766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4393227"/>
            <a:ext cx="4572000" cy="721360"/>
            <a:chOff x="914400" y="4393227"/>
            <a:chExt cx="4572000" cy="7213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393227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3948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14400" y="6364472"/>
            <a:ext cx="4572000" cy="721360"/>
            <a:chOff x="914400" y="6364472"/>
            <a:chExt cx="4572000" cy="72136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6364472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59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63660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901641" y="657564"/>
            <a:ext cx="4598035" cy="6336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similar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repeat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except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value: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repeat_string(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Notice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return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With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version,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assign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runs,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anything: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repeat_string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'Spam, 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'Spam, Spam, Spam, Spam, </a:t>
            </a:r>
            <a:r>
              <a:rPr dirty="0" sz="850" spc="-50"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pure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function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display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anything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or 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85">
                <a:latin typeface="Palatino Linotype"/>
                <a:cs typeface="Palatino Linotype"/>
              </a:rPr>
              <a:t>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effect—</a:t>
            </a:r>
            <a:r>
              <a:rPr dirty="0" sz="1050" spc="-45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Return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Values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75" b="1">
                <a:latin typeface="Trebuchet MS"/>
                <a:cs typeface="Trebuchet MS"/>
              </a:rPr>
              <a:t>Conditionals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abs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absolute_value(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neg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tive,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-x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ends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immedi‐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tel</a:t>
            </a:r>
            <a:r>
              <a:rPr dirty="0" sz="1050" spc="-15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65">
                <a:latin typeface="Palatino Linotype"/>
                <a:cs typeface="Palatino Linotype"/>
              </a:rPr>
              <a:t>wise,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12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12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ends.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80">
                <a:latin typeface="Palatino Linotype"/>
                <a:cs typeface="Palatino Linotype"/>
              </a:rPr>
              <a:t>oweve</a:t>
            </a:r>
            <a:r>
              <a:rPr dirty="0" sz="1050" spc="-12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sure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65">
                <a:latin typeface="Palatino Linotype"/>
                <a:cs typeface="Palatino Linotype"/>
              </a:rPr>
              <a:t>eve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possible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50">
                <a:latin typeface="Palatino Linotype"/>
                <a:cs typeface="Palatino Linotype"/>
              </a:rPr>
              <a:t>s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incorrect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absolute_value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absolute_value_wrong(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44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76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01446"/>
            <a:ext cx="4572000" cy="937260"/>
            <a:chOff x="914400" y="2301446"/>
            <a:chExt cx="4572000" cy="9372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01446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030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2353145" y="5754756"/>
            <a:ext cx="30480" cy="147955"/>
          </a:xfrm>
          <a:custGeom>
            <a:avLst/>
            <a:gdLst/>
            <a:ahLst/>
            <a:cxnLst/>
            <a:rect l="l" t="t" r="r" b="b"/>
            <a:pathLst>
              <a:path w="30480" h="147954">
                <a:moveTo>
                  <a:pt x="27550" y="147726"/>
                </a:moveTo>
                <a:lnTo>
                  <a:pt x="15240" y="133485"/>
                </a:lnTo>
                <a:lnTo>
                  <a:pt x="6659" y="115947"/>
                </a:lnTo>
                <a:lnTo>
                  <a:pt x="1636" y="95791"/>
                </a:lnTo>
                <a:lnTo>
                  <a:pt x="0" y="73694"/>
                </a:lnTo>
                <a:lnTo>
                  <a:pt x="1636" y="51816"/>
                </a:lnTo>
                <a:lnTo>
                  <a:pt x="6659" y="31799"/>
                </a:lnTo>
                <a:lnTo>
                  <a:pt x="15240" y="14306"/>
                </a:lnTo>
                <a:lnTo>
                  <a:pt x="27550" y="0"/>
                </a:lnTo>
                <a:lnTo>
                  <a:pt x="29910" y="3869"/>
                </a:lnTo>
                <a:lnTo>
                  <a:pt x="21190" y="16628"/>
                </a:lnTo>
                <a:lnTo>
                  <a:pt x="14748" y="33251"/>
                </a:lnTo>
                <a:lnTo>
                  <a:pt x="10756" y="52681"/>
                </a:lnTo>
                <a:lnTo>
                  <a:pt x="9387" y="73863"/>
                </a:lnTo>
                <a:lnTo>
                  <a:pt x="10775" y="95047"/>
                </a:lnTo>
                <a:lnTo>
                  <a:pt x="14798" y="114496"/>
                </a:lnTo>
                <a:lnTo>
                  <a:pt x="21246" y="131169"/>
                </a:lnTo>
                <a:lnTo>
                  <a:pt x="29910" y="144024"/>
                </a:lnTo>
                <a:lnTo>
                  <a:pt x="27550" y="147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675625" y="5754756"/>
            <a:ext cx="30480" cy="147955"/>
          </a:xfrm>
          <a:custGeom>
            <a:avLst/>
            <a:gdLst/>
            <a:ahLst/>
            <a:cxnLst/>
            <a:rect l="l" t="t" r="r" b="b"/>
            <a:pathLst>
              <a:path w="30480" h="147954">
                <a:moveTo>
                  <a:pt x="2480" y="147726"/>
                </a:moveTo>
                <a:lnTo>
                  <a:pt x="0" y="144024"/>
                </a:lnTo>
                <a:lnTo>
                  <a:pt x="8845" y="131098"/>
                </a:lnTo>
                <a:lnTo>
                  <a:pt x="15316" y="114433"/>
                </a:lnTo>
                <a:lnTo>
                  <a:pt x="19290" y="95023"/>
                </a:lnTo>
                <a:lnTo>
                  <a:pt x="20642" y="73863"/>
                </a:lnTo>
                <a:lnTo>
                  <a:pt x="19254" y="52658"/>
                </a:lnTo>
                <a:lnTo>
                  <a:pt x="15221" y="33187"/>
                </a:lnTo>
                <a:lnTo>
                  <a:pt x="8738" y="16557"/>
                </a:lnTo>
                <a:lnTo>
                  <a:pt x="0" y="3869"/>
                </a:lnTo>
                <a:lnTo>
                  <a:pt x="2480" y="0"/>
                </a:lnTo>
                <a:lnTo>
                  <a:pt x="14992" y="14380"/>
                </a:lnTo>
                <a:lnTo>
                  <a:pt x="23551" y="31884"/>
                </a:lnTo>
                <a:lnTo>
                  <a:pt x="28461" y="51911"/>
                </a:lnTo>
                <a:lnTo>
                  <a:pt x="30030" y="73863"/>
                </a:lnTo>
                <a:lnTo>
                  <a:pt x="28461" y="95791"/>
                </a:lnTo>
                <a:lnTo>
                  <a:pt x="23551" y="115779"/>
                </a:lnTo>
                <a:lnTo>
                  <a:pt x="14992" y="133275"/>
                </a:lnTo>
                <a:lnTo>
                  <a:pt x="2480" y="147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009629" y="5754756"/>
            <a:ext cx="30480" cy="147955"/>
          </a:xfrm>
          <a:custGeom>
            <a:avLst/>
            <a:gdLst/>
            <a:ahLst/>
            <a:cxnLst/>
            <a:rect l="l" t="t" r="r" b="b"/>
            <a:pathLst>
              <a:path w="30480" h="147954">
                <a:moveTo>
                  <a:pt x="27550" y="147726"/>
                </a:moveTo>
                <a:lnTo>
                  <a:pt x="15240" y="133485"/>
                </a:lnTo>
                <a:lnTo>
                  <a:pt x="6659" y="115947"/>
                </a:lnTo>
                <a:lnTo>
                  <a:pt x="1636" y="95791"/>
                </a:lnTo>
                <a:lnTo>
                  <a:pt x="0" y="73694"/>
                </a:lnTo>
                <a:lnTo>
                  <a:pt x="1636" y="51816"/>
                </a:lnTo>
                <a:lnTo>
                  <a:pt x="6659" y="31799"/>
                </a:lnTo>
                <a:lnTo>
                  <a:pt x="15240" y="14306"/>
                </a:lnTo>
                <a:lnTo>
                  <a:pt x="27550" y="0"/>
                </a:lnTo>
                <a:lnTo>
                  <a:pt x="29910" y="3869"/>
                </a:lnTo>
                <a:lnTo>
                  <a:pt x="21190" y="16628"/>
                </a:lnTo>
                <a:lnTo>
                  <a:pt x="14748" y="33251"/>
                </a:lnTo>
                <a:lnTo>
                  <a:pt x="10756" y="52681"/>
                </a:lnTo>
                <a:lnTo>
                  <a:pt x="9387" y="73863"/>
                </a:lnTo>
                <a:lnTo>
                  <a:pt x="10775" y="95047"/>
                </a:lnTo>
                <a:lnTo>
                  <a:pt x="14798" y="114496"/>
                </a:lnTo>
                <a:lnTo>
                  <a:pt x="21246" y="131169"/>
                </a:lnTo>
                <a:lnTo>
                  <a:pt x="29910" y="144024"/>
                </a:lnTo>
                <a:lnTo>
                  <a:pt x="27550" y="147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332109" y="5754756"/>
            <a:ext cx="30480" cy="147955"/>
          </a:xfrm>
          <a:custGeom>
            <a:avLst/>
            <a:gdLst/>
            <a:ahLst/>
            <a:cxnLst/>
            <a:rect l="l" t="t" r="r" b="b"/>
            <a:pathLst>
              <a:path w="30479" h="147954">
                <a:moveTo>
                  <a:pt x="2480" y="147726"/>
                </a:moveTo>
                <a:lnTo>
                  <a:pt x="0" y="144024"/>
                </a:lnTo>
                <a:lnTo>
                  <a:pt x="8845" y="131098"/>
                </a:lnTo>
                <a:lnTo>
                  <a:pt x="15316" y="114433"/>
                </a:lnTo>
                <a:lnTo>
                  <a:pt x="19290" y="95023"/>
                </a:lnTo>
                <a:lnTo>
                  <a:pt x="20642" y="73863"/>
                </a:lnTo>
                <a:lnTo>
                  <a:pt x="19254" y="52658"/>
                </a:lnTo>
                <a:lnTo>
                  <a:pt x="15221" y="33187"/>
                </a:lnTo>
                <a:lnTo>
                  <a:pt x="8738" y="16557"/>
                </a:lnTo>
                <a:lnTo>
                  <a:pt x="0" y="3869"/>
                </a:lnTo>
                <a:lnTo>
                  <a:pt x="2480" y="0"/>
                </a:lnTo>
                <a:lnTo>
                  <a:pt x="14992" y="14380"/>
                </a:lnTo>
                <a:lnTo>
                  <a:pt x="23551" y="31884"/>
                </a:lnTo>
                <a:lnTo>
                  <a:pt x="28461" y="51911"/>
                </a:lnTo>
                <a:lnTo>
                  <a:pt x="30030" y="73863"/>
                </a:lnTo>
                <a:lnTo>
                  <a:pt x="28461" y="95791"/>
                </a:lnTo>
                <a:lnTo>
                  <a:pt x="23551" y="115779"/>
                </a:lnTo>
                <a:lnTo>
                  <a:pt x="14992" y="133275"/>
                </a:lnTo>
                <a:lnTo>
                  <a:pt x="2480" y="147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668462" y="6280746"/>
            <a:ext cx="1183640" cy="218440"/>
          </a:xfrm>
          <a:custGeom>
            <a:avLst/>
            <a:gdLst/>
            <a:ahLst/>
            <a:cxnLst/>
            <a:rect l="l" t="t" r="r" b="b"/>
            <a:pathLst>
              <a:path w="1183639" h="218439">
                <a:moveTo>
                  <a:pt x="115125" y="46418"/>
                </a:moveTo>
                <a:lnTo>
                  <a:pt x="88201" y="94373"/>
                </a:lnTo>
                <a:lnTo>
                  <a:pt x="86639" y="116243"/>
                </a:lnTo>
                <a:lnTo>
                  <a:pt x="88201" y="138341"/>
                </a:lnTo>
                <a:lnTo>
                  <a:pt x="92976" y="158496"/>
                </a:lnTo>
                <a:lnTo>
                  <a:pt x="101155" y="176034"/>
                </a:lnTo>
                <a:lnTo>
                  <a:pt x="112877" y="190284"/>
                </a:lnTo>
                <a:lnTo>
                  <a:pt x="115125" y="186575"/>
                </a:lnTo>
                <a:lnTo>
                  <a:pt x="106870" y="173723"/>
                </a:lnTo>
                <a:lnTo>
                  <a:pt x="100736" y="157048"/>
                </a:lnTo>
                <a:lnTo>
                  <a:pt x="96901" y="137604"/>
                </a:lnTo>
                <a:lnTo>
                  <a:pt x="95580" y="116420"/>
                </a:lnTo>
                <a:lnTo>
                  <a:pt x="96875" y="95237"/>
                </a:lnTo>
                <a:lnTo>
                  <a:pt x="100685" y="75806"/>
                </a:lnTo>
                <a:lnTo>
                  <a:pt x="106819" y="59182"/>
                </a:lnTo>
                <a:lnTo>
                  <a:pt x="115125" y="46418"/>
                </a:lnTo>
                <a:close/>
              </a:path>
              <a:path w="1183639" h="218439">
                <a:moveTo>
                  <a:pt x="503555" y="116420"/>
                </a:moveTo>
                <a:lnTo>
                  <a:pt x="502069" y="94462"/>
                </a:lnTo>
                <a:lnTo>
                  <a:pt x="497382" y="74434"/>
                </a:lnTo>
                <a:lnTo>
                  <a:pt x="489242" y="56934"/>
                </a:lnTo>
                <a:lnTo>
                  <a:pt x="477316" y="42557"/>
                </a:lnTo>
                <a:lnTo>
                  <a:pt x="474954" y="46418"/>
                </a:lnTo>
                <a:lnTo>
                  <a:pt x="483285" y="59105"/>
                </a:lnTo>
                <a:lnTo>
                  <a:pt x="489458" y="75742"/>
                </a:lnTo>
                <a:lnTo>
                  <a:pt x="493293" y="95211"/>
                </a:lnTo>
                <a:lnTo>
                  <a:pt x="494614" y="116420"/>
                </a:lnTo>
                <a:lnTo>
                  <a:pt x="493331" y="137579"/>
                </a:lnTo>
                <a:lnTo>
                  <a:pt x="489546" y="156984"/>
                </a:lnTo>
                <a:lnTo>
                  <a:pt x="483387" y="173647"/>
                </a:lnTo>
                <a:lnTo>
                  <a:pt x="474954" y="186575"/>
                </a:lnTo>
                <a:lnTo>
                  <a:pt x="477316" y="190284"/>
                </a:lnTo>
                <a:lnTo>
                  <a:pt x="489242" y="175831"/>
                </a:lnTo>
                <a:lnTo>
                  <a:pt x="497382" y="158330"/>
                </a:lnTo>
                <a:lnTo>
                  <a:pt x="502069" y="138341"/>
                </a:lnTo>
                <a:lnTo>
                  <a:pt x="503555" y="116420"/>
                </a:lnTo>
                <a:close/>
              </a:path>
              <a:path w="1183639" h="218439">
                <a:moveTo>
                  <a:pt x="729665" y="46418"/>
                </a:moveTo>
                <a:lnTo>
                  <a:pt x="702729" y="94373"/>
                </a:lnTo>
                <a:lnTo>
                  <a:pt x="701179" y="116243"/>
                </a:lnTo>
                <a:lnTo>
                  <a:pt x="702729" y="138341"/>
                </a:lnTo>
                <a:lnTo>
                  <a:pt x="707517" y="158496"/>
                </a:lnTo>
                <a:lnTo>
                  <a:pt x="715695" y="176034"/>
                </a:lnTo>
                <a:lnTo>
                  <a:pt x="727417" y="190284"/>
                </a:lnTo>
                <a:lnTo>
                  <a:pt x="729665" y="186575"/>
                </a:lnTo>
                <a:lnTo>
                  <a:pt x="721410" y="173723"/>
                </a:lnTo>
                <a:lnTo>
                  <a:pt x="715264" y="157048"/>
                </a:lnTo>
                <a:lnTo>
                  <a:pt x="711441" y="137604"/>
                </a:lnTo>
                <a:lnTo>
                  <a:pt x="710120" y="116420"/>
                </a:lnTo>
                <a:lnTo>
                  <a:pt x="711415" y="95237"/>
                </a:lnTo>
                <a:lnTo>
                  <a:pt x="715225" y="75806"/>
                </a:lnTo>
                <a:lnTo>
                  <a:pt x="721360" y="59182"/>
                </a:lnTo>
                <a:lnTo>
                  <a:pt x="729665" y="46418"/>
                </a:lnTo>
                <a:close/>
              </a:path>
              <a:path w="1183639" h="218439">
                <a:moveTo>
                  <a:pt x="1124953" y="116420"/>
                </a:moveTo>
                <a:lnTo>
                  <a:pt x="1123467" y="94462"/>
                </a:lnTo>
                <a:lnTo>
                  <a:pt x="1118781" y="74434"/>
                </a:lnTo>
                <a:lnTo>
                  <a:pt x="1110627" y="56934"/>
                </a:lnTo>
                <a:lnTo>
                  <a:pt x="1098715" y="42557"/>
                </a:lnTo>
                <a:lnTo>
                  <a:pt x="1096352" y="46418"/>
                </a:lnTo>
                <a:lnTo>
                  <a:pt x="1104671" y="59105"/>
                </a:lnTo>
                <a:lnTo>
                  <a:pt x="1110856" y="75742"/>
                </a:lnTo>
                <a:lnTo>
                  <a:pt x="1114691" y="95211"/>
                </a:lnTo>
                <a:lnTo>
                  <a:pt x="1116012" y="116420"/>
                </a:lnTo>
                <a:lnTo>
                  <a:pt x="1114729" y="137579"/>
                </a:lnTo>
                <a:lnTo>
                  <a:pt x="1110945" y="156984"/>
                </a:lnTo>
                <a:lnTo>
                  <a:pt x="1104773" y="173647"/>
                </a:lnTo>
                <a:lnTo>
                  <a:pt x="1096352" y="186575"/>
                </a:lnTo>
                <a:lnTo>
                  <a:pt x="1098715" y="190284"/>
                </a:lnTo>
                <a:lnTo>
                  <a:pt x="1110627" y="175831"/>
                </a:lnTo>
                <a:lnTo>
                  <a:pt x="1118781" y="158330"/>
                </a:lnTo>
                <a:lnTo>
                  <a:pt x="1123467" y="138341"/>
                </a:lnTo>
                <a:lnTo>
                  <a:pt x="1124953" y="116420"/>
                </a:lnTo>
                <a:close/>
              </a:path>
              <a:path w="1183639" h="218439">
                <a:moveTo>
                  <a:pt x="1183525" y="0"/>
                </a:moveTo>
                <a:lnTo>
                  <a:pt x="74764" y="0"/>
                </a:lnTo>
                <a:lnTo>
                  <a:pt x="39649" y="188290"/>
                </a:lnTo>
                <a:lnTo>
                  <a:pt x="22021" y="124802"/>
                </a:lnTo>
                <a:lnTo>
                  <a:pt x="17360" y="108026"/>
                </a:lnTo>
                <a:lnTo>
                  <a:pt x="0" y="135801"/>
                </a:lnTo>
                <a:lnTo>
                  <a:pt x="2997" y="137668"/>
                </a:lnTo>
                <a:lnTo>
                  <a:pt x="11036" y="124802"/>
                </a:lnTo>
                <a:lnTo>
                  <a:pt x="36931" y="218020"/>
                </a:lnTo>
                <a:lnTo>
                  <a:pt x="41287" y="218020"/>
                </a:lnTo>
                <a:lnTo>
                  <a:pt x="46837" y="188290"/>
                </a:lnTo>
                <a:lnTo>
                  <a:pt x="80632" y="7061"/>
                </a:lnTo>
                <a:lnTo>
                  <a:pt x="1183525" y="7061"/>
                </a:lnTo>
                <a:lnTo>
                  <a:pt x="11835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850799" y="657564"/>
            <a:ext cx="4699635" cy="6349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0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argument:</a:t>
            </a:r>
            <a:endParaRPr sz="1050">
              <a:latin typeface="Palatino Linotype"/>
              <a:cs typeface="Palatino Linotype"/>
            </a:endParaRPr>
          </a:p>
          <a:p>
            <a:pPr marL="901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absolute_value_wrong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63500" marR="55244">
              <a:lnSpc>
                <a:spcPct val="104700"/>
              </a:lnSpc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nothing!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problem: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neither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hitting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None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J</a:t>
            </a:r>
            <a:r>
              <a:rPr dirty="0" sz="1050" spc="-65">
                <a:latin typeface="Palatino Linotype"/>
                <a:cs typeface="Palatino Linotype"/>
              </a:rPr>
              <a:t>upyter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nothing.</a:t>
            </a:r>
            <a:endParaRPr sz="1050">
              <a:latin typeface="Palatino Linotype"/>
              <a:cs typeface="Palatino Linotype"/>
            </a:endParaRPr>
          </a:p>
          <a:p>
            <a:pPr algn="just" marL="63500" marR="55880">
              <a:lnSpc>
                <a:spcPct val="100000"/>
              </a:lnSpc>
              <a:spcBef>
                <a:spcPts val="660"/>
              </a:spcBef>
            </a:pPr>
            <a:r>
              <a:rPr dirty="0" sz="1050" spc="-35">
                <a:latin typeface="Palatino Linotype"/>
                <a:cs typeface="Palatino Linotype"/>
              </a:rPr>
              <a:t>As another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absolute_value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extra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return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state‐ </a:t>
            </a:r>
            <a:r>
              <a:rPr dirty="0" sz="1050" spc="-60">
                <a:latin typeface="Palatino Linotype"/>
                <a:cs typeface="Palatino Linotype"/>
              </a:rPr>
              <a:t>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end:</a:t>
            </a:r>
            <a:endParaRPr sz="1050">
              <a:latin typeface="Palatino Linotype"/>
              <a:cs typeface="Palatino Linotype"/>
            </a:endParaRPr>
          </a:p>
          <a:p>
            <a:pPr marL="901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absolute_value_extra_return(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3060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5219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3060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5219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306070">
              <a:lnSpc>
                <a:spcPct val="100000"/>
              </a:lnSpc>
              <a:spcBef>
                <a:spcPts val="680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'This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is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dead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code'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63500" marR="558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neg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tive,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wise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third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t—so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run.</a:t>
            </a:r>
            <a:endParaRPr sz="1050">
              <a:latin typeface="Palatino Linotype"/>
              <a:cs typeface="Palatino Linotype"/>
            </a:endParaRPr>
          </a:p>
          <a:p>
            <a:pPr algn="just" marL="63500" marR="558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Code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never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run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dead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general,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doesn’t</a:t>
            </a:r>
            <a:r>
              <a:rPr dirty="0" sz="1050">
                <a:latin typeface="Palatino Linotype"/>
                <a:cs typeface="Palatino Linotype"/>
              </a:rPr>
              <a:t> 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any </a:t>
            </a:r>
            <a:r>
              <a:rPr dirty="0" sz="1050" spc="-45">
                <a:latin typeface="Palatino Linotype"/>
                <a:cs typeface="Palatino Linotype"/>
              </a:rPr>
              <a:t>harm,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misunderstanding,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confusing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some‐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trying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understand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program.</a:t>
            </a:r>
            <a:endParaRPr sz="105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  <a:spcBef>
                <a:spcPts val="919"/>
              </a:spcBef>
            </a:pPr>
            <a:r>
              <a:rPr dirty="0" sz="1900" spc="-295" b="1">
                <a:latin typeface="Trebuchet MS"/>
                <a:cs typeface="Trebuchet MS"/>
              </a:rPr>
              <a:t>Incremental</a:t>
            </a:r>
            <a:r>
              <a:rPr dirty="0" sz="1900" spc="-240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Development</a:t>
            </a:r>
            <a:endParaRPr sz="1900">
              <a:latin typeface="Trebuchet MS"/>
              <a:cs typeface="Trebuchet MS"/>
            </a:endParaRPr>
          </a:p>
          <a:p>
            <a:pPr algn="just" marL="63500" marR="558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larger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yourself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spending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debug‐ </a:t>
            </a:r>
            <a:r>
              <a:rPr dirty="0" sz="1050" spc="-55">
                <a:latin typeface="Palatino Linotype"/>
                <a:cs typeface="Palatino Linotype"/>
              </a:rPr>
              <a:t>ging.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deal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increasingly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plex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inc</a:t>
            </a:r>
            <a:r>
              <a:rPr dirty="0" sz="1050" spc="-35" b="1">
                <a:latin typeface="Palatino Linotype"/>
                <a:cs typeface="Palatino Linotype"/>
              </a:rPr>
              <a:t>r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20" b="1">
                <a:latin typeface="Palatino Linotype"/>
                <a:cs typeface="Palatino Linotype"/>
              </a:rPr>
              <a:t>n‐ </a:t>
            </a:r>
            <a:r>
              <a:rPr dirty="0" sz="1050" spc="-30" b="1">
                <a:latin typeface="Palatino Linotype"/>
                <a:cs typeface="Palatino Linotype"/>
              </a:rPr>
              <a:t>tal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105" b="1">
                <a:latin typeface="Palatino Linotype"/>
                <a:cs typeface="Palatino Linotype"/>
              </a:rPr>
              <a:t>v</a:t>
            </a:r>
            <a:r>
              <a:rPr dirty="0" sz="1050" spc="-75" b="1">
                <a:latin typeface="Palatino Linotype"/>
                <a:cs typeface="Palatino Linotype"/>
              </a:rPr>
              <a:t>e</a:t>
            </a:r>
            <a:r>
              <a:rPr dirty="0" sz="1050" spc="-55" b="1">
                <a:latin typeface="Palatino Linotype"/>
                <a:cs typeface="Palatino Linotype"/>
              </a:rPr>
              <a:t>l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85" b="1">
                <a:latin typeface="Palatino Linotype"/>
                <a:cs typeface="Palatino Linotype"/>
              </a:rPr>
              <a:t>p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15" b="1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amou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time.</a:t>
            </a:r>
            <a:endParaRPr sz="1050">
              <a:latin typeface="Palatino Linotype"/>
              <a:cs typeface="Palatino Linotype"/>
            </a:endParaRPr>
          </a:p>
          <a:p>
            <a:pPr algn="just" marL="63500" marR="55880">
              <a:lnSpc>
                <a:spcPct val="106700"/>
              </a:lnSpc>
              <a:spcBef>
                <a:spcPts val="515"/>
              </a:spcBef>
            </a:pP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suppose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distance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points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repre‐ </a:t>
            </a:r>
            <a:r>
              <a:rPr dirty="0" sz="1050" spc="-55">
                <a:latin typeface="Palatino Linotype"/>
                <a:cs typeface="Palatino Linotype"/>
              </a:rPr>
              <a:t>se</a:t>
            </a:r>
            <a:r>
              <a:rPr dirty="0" sz="1050" spc="-55">
                <a:latin typeface="Palatino Linotype"/>
                <a:cs typeface="Palatino Linotype"/>
              </a:rPr>
              <a:t>nted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coordinates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x</a:t>
            </a:r>
            <a:r>
              <a:rPr dirty="0" baseline="-24305" sz="1200" spc="-30">
                <a:latin typeface="Palatino Linotype"/>
                <a:cs typeface="Palatino Linotype"/>
              </a:rPr>
              <a:t>1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y</a:t>
            </a:r>
            <a:r>
              <a:rPr dirty="0" baseline="-24305" sz="1200">
                <a:latin typeface="Palatino Linotype"/>
                <a:cs typeface="Palatino Linotype"/>
              </a:rPr>
              <a:t>1</a:t>
            </a:r>
            <a:r>
              <a:rPr dirty="0" baseline="-24305" sz="1200" spc="4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54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x</a:t>
            </a:r>
            <a:r>
              <a:rPr dirty="0" baseline="-24305" sz="1200" spc="-44">
                <a:latin typeface="Palatino Linotype"/>
                <a:cs typeface="Palatino Linotype"/>
              </a:rPr>
              <a:t>2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y</a:t>
            </a:r>
            <a:r>
              <a:rPr dirty="0" baseline="-24305" sz="1200">
                <a:latin typeface="Palatino Linotype"/>
                <a:cs typeface="Palatino Linotype"/>
              </a:rPr>
              <a:t>2</a:t>
            </a:r>
            <a:r>
              <a:rPr dirty="0" baseline="-24305" sz="1200" spc="112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Pythagorean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theorem,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dis‐ </a:t>
            </a:r>
            <a:r>
              <a:rPr dirty="0" sz="1050" spc="-45">
                <a:latin typeface="Palatino Linotype"/>
                <a:cs typeface="Palatino Linotype"/>
              </a:rPr>
              <a:t>tance</a:t>
            </a:r>
            <a:r>
              <a:rPr dirty="0" sz="1050" spc="-25">
                <a:latin typeface="Palatino Linotype"/>
                <a:cs typeface="Palatino Linotype"/>
              </a:rPr>
              <a:t> 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254000">
              <a:lnSpc>
                <a:spcPct val="100000"/>
              </a:lnSpc>
              <a:tabLst>
                <a:tab pos="93916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distance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=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4305" sz="1200">
                <a:latin typeface="Palatino Linotype"/>
                <a:cs typeface="Palatino Linotype"/>
              </a:rPr>
              <a:t>2</a:t>
            </a:r>
            <a:r>
              <a:rPr dirty="0" baseline="-24305" sz="1200" spc="-7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4305" sz="1200">
                <a:latin typeface="Palatino Linotype"/>
                <a:cs typeface="Palatino Linotype"/>
              </a:rPr>
              <a:t>1</a:t>
            </a:r>
            <a:r>
              <a:rPr dirty="0" baseline="-24305" sz="1200" spc="165">
                <a:latin typeface="Palatino Linotype"/>
                <a:cs typeface="Palatino Linotype"/>
              </a:rPr>
              <a:t> </a:t>
            </a:r>
            <a:r>
              <a:rPr dirty="0" baseline="31250" sz="1200">
                <a:latin typeface="Palatino Linotype"/>
                <a:cs typeface="Palatino Linotype"/>
              </a:rPr>
              <a:t>2 </a:t>
            </a:r>
            <a:r>
              <a:rPr dirty="0" sz="1000" spc="80">
                <a:latin typeface="Palatino Linotype"/>
                <a:cs typeface="Palatino Linotype"/>
              </a:rPr>
              <a:t>+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4305" sz="1200" spc="-15">
                <a:latin typeface="Palatino Linotype"/>
                <a:cs typeface="Palatino Linotype"/>
              </a:rPr>
              <a:t>2</a:t>
            </a:r>
            <a:r>
              <a:rPr dirty="0" baseline="-24305" sz="120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4305" sz="1200">
                <a:latin typeface="Palatino Linotype"/>
                <a:cs typeface="Palatino Linotype"/>
              </a:rPr>
              <a:t>1</a:t>
            </a:r>
            <a:r>
              <a:rPr dirty="0" baseline="-24305" sz="1200" spc="172">
                <a:latin typeface="Palatino Linotype"/>
                <a:cs typeface="Palatino Linotype"/>
              </a:rPr>
              <a:t> </a:t>
            </a:r>
            <a:r>
              <a:rPr dirty="0" baseline="31250" sz="1200" spc="-75">
                <a:latin typeface="Palatino Linotype"/>
                <a:cs typeface="Palatino Linotype"/>
              </a:rPr>
              <a:t>2</a:t>
            </a:r>
            <a:endParaRPr baseline="31250" sz="12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50">
              <a:latin typeface="Palatino Linotype"/>
              <a:cs typeface="Palatino Linotype"/>
            </a:endParaRPr>
          </a:p>
          <a:p>
            <a:pPr algn="just" marL="63500" marR="558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step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consider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distance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5">
                <a:latin typeface="Palatino Linotype"/>
                <a:cs typeface="Palatino Linotype"/>
              </a:rPr>
              <a:t>Python—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inputs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(parameters)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output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(return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value)?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43128" y="7731125"/>
            <a:ext cx="1356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Incremental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Development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05" b="1">
                <a:latin typeface="Trebuchet MS"/>
                <a:cs typeface="Trebuchet MS"/>
              </a:rPr>
              <a:t>77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397510"/>
            <a:chOff x="914400" y="108203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71725"/>
            <a:ext cx="4572000" cy="289560"/>
            <a:chOff x="914400" y="2371725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717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733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9486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329087"/>
            <a:ext cx="4572000" cy="829310"/>
            <a:chOff x="914400" y="4329087"/>
            <a:chExt cx="4572000" cy="8293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329087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33067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5821886"/>
            <a:ext cx="4572000" cy="289560"/>
            <a:chOff x="914400" y="5821886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82188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8234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650673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914400" y="680200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34" y="650030"/>
            <a:ext cx="4598035" cy="6058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latin typeface="Palatino Linotype"/>
                <a:cs typeface="Palatino Linotype"/>
              </a:rPr>
              <a:t>For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inputs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coordinates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points.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distance.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Immediately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distance(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y2</a:t>
            </a:r>
            <a:r>
              <a:rPr dirty="0" sz="850" spc="-2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distances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yet—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80">
                <a:latin typeface="Palatino Linotype"/>
                <a:cs typeface="Palatino Linotype"/>
              </a:rPr>
              <a:t>always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zero.</a:t>
            </a:r>
            <a:r>
              <a:rPr dirty="0" sz="1050">
                <a:latin typeface="Palatino Linotype"/>
                <a:cs typeface="Palatino Linotype"/>
              </a:rPr>
              <a:t> But it is a </a:t>
            </a:r>
            <a:r>
              <a:rPr dirty="0" sz="1050" spc="-20">
                <a:latin typeface="Palatino Linotype"/>
                <a:cs typeface="Palatino Linotype"/>
              </a:rPr>
              <a:t>com‐ </a:t>
            </a:r>
            <a:r>
              <a:rPr dirty="0" sz="1050" spc="-55">
                <a:latin typeface="Palatino Linotype"/>
                <a:cs typeface="Palatino Linotype"/>
              </a:rPr>
              <a:t>plete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make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complicated.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0.0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horizo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distance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vertical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distance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4</a:t>
            </a:r>
            <a:r>
              <a:rPr dirty="0" sz="1050" spc="-25">
                <a:latin typeface="Palatino Linotype"/>
                <a:cs typeface="Palatino Linotype"/>
              </a:rPr>
              <a:t>. 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 spc="-5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5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55">
                <a:latin typeface="Palatino Linotype"/>
                <a:cs typeface="Palatino Linotype"/>
              </a:rPr>
              <a:t>ypote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3-4-5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triangle.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testing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answe</a:t>
            </a:r>
            <a:r>
              <a:rPr dirty="0" sz="1050" spc="-12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14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confirmed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bod</a:t>
            </a:r>
            <a:r>
              <a:rPr dirty="0" sz="1050" spc="-15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step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x2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-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x1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y2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-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y1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pora</a:t>
            </a:r>
            <a:r>
              <a:rPr dirty="0" sz="1050" spc="-1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dis‐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845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distance(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endParaRPr sz="850">
              <a:latin typeface="SimSun"/>
              <a:cs typeface="SimSun"/>
            </a:endParaRPr>
          </a:p>
          <a:p>
            <a:pPr marL="255270" marR="33623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y1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'dx is'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'dy is'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dx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is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3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dy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is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15">
                <a:latin typeface="SimSun"/>
                <a:cs typeface="SimSun"/>
              </a:rPr>
              <a:t>4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getting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5">
                <a:latin typeface="Palatino Linotype"/>
                <a:cs typeface="Palatino Linotype"/>
              </a:rPr>
              <a:t>cor‐ </a:t>
            </a:r>
            <a:r>
              <a:rPr dirty="0" sz="1050" spc="-45">
                <a:latin typeface="Palatino Linotype"/>
                <a:cs typeface="Palatino Linotype"/>
              </a:rPr>
              <a:t>rectl</a:t>
            </a:r>
            <a:r>
              <a:rPr dirty="0" sz="1050" spc="-14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lines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dx is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dy is </a:t>
            </a:r>
            <a:r>
              <a:rPr dirty="0" sz="850" spc="-50"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0.0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1730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78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829310"/>
            <a:chOff x="914400" y="929554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102313"/>
            <a:ext cx="4572000" cy="289560"/>
            <a:chOff x="914400" y="2102313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1023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1039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67921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914400" y="29744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96027"/>
            <a:ext cx="4572000" cy="829310"/>
            <a:chOff x="914400" y="3296027"/>
            <a:chExt cx="4572000" cy="8293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96027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976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4461252"/>
            <a:ext cx="4572000" cy="289560"/>
            <a:chOff x="914400" y="4461252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46125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4628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03815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687266"/>
            <a:ext cx="4572000" cy="829310"/>
            <a:chOff x="914400" y="5687266"/>
            <a:chExt cx="4572000" cy="8293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687266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68885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37" y="657564"/>
            <a:ext cx="4598035" cy="6276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far.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Next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sum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squares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dx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dy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845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distance(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endParaRPr sz="850">
              <a:latin typeface="SimSun"/>
              <a:cs typeface="SimSun"/>
            </a:endParaRPr>
          </a:p>
          <a:p>
            <a:pPr marL="255270" marR="26066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dsquared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'dsquared is: 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dsquared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Again,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output,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25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dsquared is:</a:t>
            </a:r>
            <a:r>
              <a:rPr dirty="0" sz="850" spc="420">
                <a:latin typeface="SimSun"/>
                <a:cs typeface="SimSun"/>
              </a:rPr>
              <a:t> </a:t>
            </a:r>
            <a:r>
              <a:rPr dirty="0" sz="850" spc="-25">
                <a:latin typeface="SimSun"/>
                <a:cs typeface="SimSun"/>
              </a:rPr>
              <a:t>25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0.0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Finally,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math.sqrt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distance: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845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distance(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endParaRPr sz="850">
              <a:latin typeface="SimSun"/>
              <a:cs typeface="SimSun"/>
            </a:endParaRPr>
          </a:p>
          <a:p>
            <a:pPr marL="255270" marR="28225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dsquared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dsquared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"result is"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result is </a:t>
            </a:r>
            <a:r>
              <a:rPr dirty="0" sz="850" spc="-25">
                <a:latin typeface="SimSun"/>
                <a:cs typeface="SimSun"/>
              </a:rPr>
              <a:t>5.0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correct,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version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displays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rather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than </a:t>
            </a:r>
            <a:r>
              <a:rPr dirty="0" sz="1050" spc="-45">
                <a:latin typeface="Palatino Linotype"/>
                <a:cs typeface="Palatino Linotype"/>
              </a:rPr>
              <a:t>returning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</a:t>
            </a:r>
            <a:r>
              <a:rPr dirty="0" sz="1050" spc="-35">
                <a:latin typeface="Palatino Linotype"/>
                <a:cs typeface="Palatino Linotype"/>
              </a:rPr>
              <a:t> 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None</a:t>
            </a:r>
            <a:r>
              <a:rPr dirty="0" sz="1050">
                <a:latin typeface="Palatino Linotype"/>
                <a:cs typeface="Palatino Linotype"/>
              </a:rPr>
              <a:t>.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replacing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print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return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845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distance(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x1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y1</a:t>
            </a:r>
            <a:endParaRPr sz="850">
              <a:latin typeface="SimSun"/>
              <a:cs typeface="SimSun"/>
            </a:endParaRPr>
          </a:p>
          <a:p>
            <a:pPr marL="255270" marR="28225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dsquared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sqrt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dsquared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distance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pure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10">
                <a:latin typeface="Palatino Linotype"/>
                <a:cs typeface="Palatino Linotype"/>
              </a:rPr>
              <a:t>displayed: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43092" y="7731125"/>
            <a:ext cx="1356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Incremental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Development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05" b="1">
                <a:latin typeface="Trebuchet MS"/>
                <a:cs typeface="Trebuchet MS"/>
              </a:rPr>
              <a:t>79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576705"/>
            <a:ext cx="4572000" cy="289560"/>
            <a:chOff x="914400" y="157670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57670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5782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4823122"/>
            <a:ext cx="4572000" cy="721360"/>
            <a:chOff x="914400" y="4823122"/>
            <a:chExt cx="4572000" cy="7213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823122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82470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5880397"/>
            <a:ext cx="4572000" cy="289560"/>
            <a:chOff x="914400" y="5880397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88039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88198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645729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914400" y="6535081"/>
            <a:ext cx="4572000" cy="289560"/>
            <a:chOff x="914400" y="6535081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653508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65366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711197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49" y="728091"/>
            <a:ext cx="4598035" cy="6290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5.0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displayed: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wrote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debugging,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once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working,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them.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scaffolding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help‐ </a:t>
            </a:r>
            <a:r>
              <a:rPr dirty="0" sz="1050" spc="-25">
                <a:latin typeface="Palatino Linotype"/>
                <a:cs typeface="Palatino Linotype"/>
              </a:rPr>
              <a:t>ful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building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final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product.</a:t>
            </a:r>
            <a:r>
              <a:rPr dirty="0" sz="1050" spc="-20">
                <a:latin typeface="Palatino Linotype"/>
                <a:cs typeface="Palatino Linotype"/>
              </a:rPr>
              <a:t> This </a:t>
            </a:r>
            <a:r>
              <a:rPr dirty="0" sz="1050" spc="-60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dem‐ </a:t>
            </a:r>
            <a:r>
              <a:rPr dirty="0" sz="1050" spc="-50">
                <a:latin typeface="Palatino Linotype"/>
                <a:cs typeface="Palatino Linotype"/>
              </a:rPr>
              <a:t>onstr</a:t>
            </a:r>
            <a:r>
              <a:rPr dirty="0" sz="1050" spc="-50">
                <a:latin typeface="Palatino Linotype"/>
                <a:cs typeface="Palatino Linotype"/>
              </a:rPr>
              <a:t>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incremental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development.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aspects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are: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1000"/>
              </a:spcBef>
              <a:buAutoNum type="arabicPeriod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small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changes,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after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change.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hold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intermediate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Once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scaffolding.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14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idea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Increme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tal </a:t>
            </a:r>
            <a:r>
              <a:rPr dirty="0" sz="1050" spc="-65">
                <a:latin typeface="Palatino Linotype"/>
                <a:cs typeface="Palatino Linotype"/>
              </a:rPr>
              <a:t>developme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Boolean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Functions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Functions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boolean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True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False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convenient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encapsulating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complex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test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is_divisible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checks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x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y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remainder:</a:t>
            </a:r>
            <a:endParaRPr sz="1050">
              <a:latin typeface="Palatino Linotype"/>
              <a:cs typeface="Palatino Linotype"/>
            </a:endParaRPr>
          </a:p>
          <a:p>
            <a:pPr algn="ctr" marR="3269615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is_divisible(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32359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 marR="35242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 marR="35782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is_divisible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 marL="39370" marR="3578225">
              <a:lnSpc>
                <a:spcPct val="220800"/>
              </a:lnSpc>
              <a:spcBef>
                <a:spcPts val="37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is_divisible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1738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80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822999"/>
            <a:ext cx="4572000" cy="397510"/>
            <a:chOff x="914400" y="1822999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82299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8245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5078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2821854"/>
            <a:ext cx="4572000" cy="397510"/>
            <a:chOff x="914400" y="2821854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8218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82344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5067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1497973" y="6768703"/>
            <a:ext cx="28575" cy="112395"/>
          </a:xfrm>
          <a:custGeom>
            <a:avLst/>
            <a:gdLst/>
            <a:ahLst/>
            <a:cxnLst/>
            <a:rect l="l" t="t" r="r" b="b"/>
            <a:pathLst>
              <a:path w="28575" h="112395">
                <a:moveTo>
                  <a:pt x="26238" y="112141"/>
                </a:moveTo>
                <a:lnTo>
                  <a:pt x="14514" y="101330"/>
                </a:lnTo>
                <a:lnTo>
                  <a:pt x="6342" y="88017"/>
                </a:lnTo>
                <a:lnTo>
                  <a:pt x="1558" y="72716"/>
                </a:lnTo>
                <a:lnTo>
                  <a:pt x="0" y="55942"/>
                </a:lnTo>
                <a:lnTo>
                  <a:pt x="1558" y="39334"/>
                </a:lnTo>
                <a:lnTo>
                  <a:pt x="6342" y="24139"/>
                </a:lnTo>
                <a:lnTo>
                  <a:pt x="14514" y="10860"/>
                </a:lnTo>
                <a:lnTo>
                  <a:pt x="26238" y="0"/>
                </a:lnTo>
                <a:lnTo>
                  <a:pt x="28486" y="2937"/>
                </a:lnTo>
                <a:lnTo>
                  <a:pt x="20181" y="12622"/>
                </a:lnTo>
                <a:lnTo>
                  <a:pt x="14046" y="25241"/>
                </a:lnTo>
                <a:lnTo>
                  <a:pt x="10244" y="39991"/>
                </a:lnTo>
                <a:lnTo>
                  <a:pt x="8940" y="56070"/>
                </a:lnTo>
                <a:lnTo>
                  <a:pt x="10262" y="72151"/>
                </a:lnTo>
                <a:lnTo>
                  <a:pt x="14093" y="86915"/>
                </a:lnTo>
                <a:lnTo>
                  <a:pt x="20235" y="99572"/>
                </a:lnTo>
                <a:lnTo>
                  <a:pt x="28486" y="109331"/>
                </a:lnTo>
                <a:lnTo>
                  <a:pt x="26238" y="112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1797140" y="6768703"/>
            <a:ext cx="29209" cy="112395"/>
          </a:xfrm>
          <a:custGeom>
            <a:avLst/>
            <a:gdLst/>
            <a:ahLst/>
            <a:cxnLst/>
            <a:rect l="l" t="t" r="r" b="b"/>
            <a:pathLst>
              <a:path w="29210" h="112395">
                <a:moveTo>
                  <a:pt x="2362" y="112141"/>
                </a:moveTo>
                <a:lnTo>
                  <a:pt x="0" y="109331"/>
                </a:lnTo>
                <a:lnTo>
                  <a:pt x="8424" y="99518"/>
                </a:lnTo>
                <a:lnTo>
                  <a:pt x="14587" y="86867"/>
                </a:lnTo>
                <a:lnTo>
                  <a:pt x="18371" y="72133"/>
                </a:lnTo>
                <a:lnTo>
                  <a:pt x="19659" y="56070"/>
                </a:lnTo>
                <a:lnTo>
                  <a:pt x="18338" y="39973"/>
                </a:lnTo>
                <a:lnTo>
                  <a:pt x="14497" y="25193"/>
                </a:lnTo>
                <a:lnTo>
                  <a:pt x="8322" y="12568"/>
                </a:lnTo>
                <a:lnTo>
                  <a:pt x="0" y="2937"/>
                </a:lnTo>
                <a:lnTo>
                  <a:pt x="2362" y="0"/>
                </a:lnTo>
                <a:lnTo>
                  <a:pt x="14278" y="10916"/>
                </a:lnTo>
                <a:lnTo>
                  <a:pt x="22429" y="24203"/>
                </a:lnTo>
                <a:lnTo>
                  <a:pt x="27106" y="39406"/>
                </a:lnTo>
                <a:lnTo>
                  <a:pt x="28600" y="56070"/>
                </a:lnTo>
                <a:lnTo>
                  <a:pt x="27106" y="72716"/>
                </a:lnTo>
                <a:lnTo>
                  <a:pt x="22429" y="87889"/>
                </a:lnTo>
                <a:lnTo>
                  <a:pt x="14278" y="101170"/>
                </a:lnTo>
                <a:lnTo>
                  <a:pt x="2362" y="112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901640" y="657564"/>
            <a:ext cx="4598035" cy="6731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latin typeface="Palatino Linotype"/>
                <a:cs typeface="Palatino Linotype"/>
              </a:rPr>
              <a:t>Inside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result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==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boolean,</a:t>
            </a:r>
            <a:r>
              <a:rPr dirty="0" sz="1050">
                <a:latin typeface="Palatino Linotype"/>
                <a:cs typeface="Palatino Linotype"/>
              </a:rPr>
              <a:t> 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concisely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directly:</a:t>
            </a:r>
            <a:endParaRPr sz="1050">
              <a:latin typeface="Palatino Linotype"/>
              <a:cs typeface="Palatino Linotype"/>
            </a:endParaRPr>
          </a:p>
          <a:p>
            <a:pPr algn="r" marR="330835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is_divisible(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Boolean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r" marL="255270" marR="33623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is_divisible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'divisible'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divisible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tempting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is_divisible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8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r>
              <a:rPr dirty="0" sz="850" spc="-8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'divisible'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divisible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comparison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unnecessary.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305" b="1">
                <a:latin typeface="Trebuchet MS"/>
                <a:cs typeface="Trebuchet MS"/>
              </a:rPr>
              <a:t>Recursion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70" b="1">
                <a:latin typeface="Trebuchet MS"/>
                <a:cs typeface="Trebuchet MS"/>
              </a:rPr>
              <a:t>with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Return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Values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35"/>
              </a:spcBef>
            </a:pPr>
            <a:r>
              <a:rPr dirty="0" sz="1050" spc="-130">
                <a:latin typeface="Palatino Linotype"/>
                <a:cs typeface="Palatino Linotype"/>
              </a:rPr>
              <a:t>Now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recursive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functions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capability,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passed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important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threshold—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subset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Turing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complete</a:t>
            </a:r>
            <a:r>
              <a:rPr dirty="0" sz="1050" spc="-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per‐ </a:t>
            </a:r>
            <a:r>
              <a:rPr dirty="0" sz="1050" spc="-55">
                <a:latin typeface="Palatino Linotype"/>
                <a:cs typeface="Palatino Linotype"/>
              </a:rPr>
              <a:t>form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described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algorithm.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recursion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evalu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recursively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defined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tical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functions.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similar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circular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sense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defined.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truly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circular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useful: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  <a:spcBef>
                <a:spcPts val="805"/>
              </a:spcBef>
            </a:pPr>
            <a:r>
              <a:rPr dirty="0" sz="900" spc="-40">
                <a:latin typeface="Palatino Linotype"/>
                <a:cs typeface="Palatino Linotype"/>
              </a:rPr>
              <a:t>vorpal: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An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adjective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describe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something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that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vorpal.</a:t>
            </a:r>
            <a:endParaRPr sz="90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73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definition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might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annoyed.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 </a:t>
            </a:r>
            <a:r>
              <a:rPr dirty="0" sz="1050" spc="-55">
                <a:latin typeface="Palatino Linotype"/>
                <a:cs typeface="Palatino Linotype"/>
              </a:rPr>
              <a:t>hand,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looked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up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factorial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denoted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sym‐ </a:t>
            </a:r>
            <a:r>
              <a:rPr dirty="0" sz="1050" spc="-50">
                <a:latin typeface="Palatino Linotype"/>
                <a:cs typeface="Palatino Linotype"/>
              </a:rPr>
              <a:t>bol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!,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09550">
              <a:lnSpc>
                <a:spcPct val="100000"/>
              </a:lnSpc>
              <a:spcBef>
                <a:spcPts val="5"/>
              </a:spcBef>
            </a:pPr>
            <a:r>
              <a:rPr dirty="0" sz="1000">
                <a:latin typeface="Palatino Linotype"/>
                <a:cs typeface="Palatino Linotype"/>
              </a:rPr>
              <a:t>0!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203200">
              <a:lnSpc>
                <a:spcPct val="100000"/>
              </a:lnSpc>
              <a:spcBef>
                <a:spcPts val="23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!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409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!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says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factorial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factorial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multiplied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factorial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spc="80">
                <a:latin typeface="Palatino Linotype"/>
                <a:cs typeface="Palatino Linotype"/>
              </a:rPr>
              <a:t>−</a:t>
            </a:r>
            <a:r>
              <a:rPr dirty="0" sz="1050" spc="-25">
                <a:latin typeface="Palatino Linotype"/>
                <a:cs typeface="Palatino Linotype"/>
              </a:rPr>
              <a:t> 1.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026774" y="7731125"/>
            <a:ext cx="14725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Recursion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with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Values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00" b="1">
                <a:latin typeface="Trebuchet MS"/>
                <a:cs typeface="Trebuchet MS"/>
              </a:rPr>
              <a:t>81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9594"/>
            <a:ext cx="4572000" cy="397510"/>
            <a:chOff x="914400" y="124959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959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51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143039"/>
            <a:ext cx="4572000" cy="721360"/>
            <a:chOff x="914400" y="2143039"/>
            <a:chExt cx="4572000" cy="7213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14303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1446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367868"/>
            <a:ext cx="4572000" cy="829310"/>
            <a:chOff x="914400" y="3367868"/>
            <a:chExt cx="4572000" cy="8293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36786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3694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661" y="650030"/>
            <a:ext cx="4598035" cy="640207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something,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evalu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60">
                <a:latin typeface="Palatino Linotype"/>
                <a:cs typeface="Palatino Linotype"/>
              </a:rPr>
              <a:t>ollowing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increme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developme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alw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ctr" marR="3592195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20">
                <a:latin typeface="Palatino Linotype"/>
                <a:cs typeface="Palatino Linotype"/>
              </a:rPr>
              <a:t>Now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let’s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40">
                <a:latin typeface="Palatino Linotype"/>
                <a:cs typeface="Palatino Linotype"/>
              </a:rPr>
              <a:t> part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definition—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happens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0,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1:</a:t>
            </a:r>
            <a:endParaRPr sz="1050">
              <a:latin typeface="Palatino Linotype"/>
              <a:cs typeface="Palatino Linotype"/>
            </a:endParaRPr>
          </a:p>
          <a:p>
            <a:pPr algn="ctr" marR="3592195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22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part—if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find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factorial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n</a:t>
            </a:r>
            <a:r>
              <a:rPr dirty="0" sz="1050" spc="-30" i="1">
                <a:latin typeface="Palatino Linotype"/>
                <a:cs typeface="Palatino Linotype"/>
              </a:rPr>
              <a:t> </a:t>
            </a:r>
            <a:r>
              <a:rPr dirty="0" sz="1050" spc="80">
                <a:latin typeface="Palatino Linotype"/>
                <a:cs typeface="Palatino Linotype"/>
              </a:rPr>
              <a:t>−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ultiply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ctr" marR="3592195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22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recurse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recurse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flow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execution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similar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flow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countdown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Chap‐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ter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5</a:t>
            </a:r>
            <a:r>
              <a:rPr dirty="0" sz="1050" spc="-10">
                <a:latin typeface="Palatino Linotype"/>
                <a:cs typeface="Palatino Linotype"/>
              </a:rPr>
              <a:t>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factorial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469900" marR="461645" indent="-229235">
              <a:lnSpc>
                <a:spcPct val="177600"/>
              </a:lnSpc>
              <a:spcBef>
                <a:spcPts val="15"/>
              </a:spcBef>
            </a:pPr>
            <a:r>
              <a:rPr dirty="0" sz="900" spc="-20">
                <a:latin typeface="Palatino Linotype"/>
                <a:cs typeface="Palatino Linotype"/>
              </a:rPr>
              <a:t>Since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3</a:t>
            </a:r>
            <a:r>
              <a:rPr dirty="0" sz="850" spc="-210">
                <a:latin typeface="SimSun"/>
                <a:cs typeface="SimSun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is</a:t>
            </a:r>
            <a:r>
              <a:rPr dirty="0" sz="900" spc="-10">
                <a:latin typeface="Palatino Linotype"/>
                <a:cs typeface="Palatino Linotype"/>
              </a:rPr>
              <a:t> not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85">
                <a:latin typeface="Palatino Linotype"/>
                <a:cs typeface="Palatino Linotype"/>
              </a:rPr>
              <a:t>we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take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second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branch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calculate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factorial</a:t>
            </a:r>
            <a:r>
              <a:rPr dirty="0" sz="900" spc="-10">
                <a:latin typeface="Palatino Linotype"/>
                <a:cs typeface="Palatino Linotype"/>
              </a:rPr>
              <a:t> of </a:t>
            </a:r>
            <a:r>
              <a:rPr dirty="0" sz="850">
                <a:latin typeface="SimSun"/>
                <a:cs typeface="SimSun"/>
              </a:rPr>
              <a:t>n-</a:t>
            </a:r>
            <a:r>
              <a:rPr dirty="0" sz="850" spc="-25">
                <a:latin typeface="SimSun"/>
                <a:cs typeface="SimSun"/>
              </a:rPr>
              <a:t>1</a:t>
            </a:r>
            <a:r>
              <a:rPr dirty="0" sz="900" spc="-25">
                <a:latin typeface="Palatino Linotype"/>
                <a:cs typeface="Palatino Linotype"/>
              </a:rPr>
              <a:t>…</a:t>
            </a:r>
            <a:r>
              <a:rPr dirty="0" sz="900">
                <a:latin typeface="Palatino Linotype"/>
                <a:cs typeface="Palatino Linotype"/>
              </a:rPr>
              <a:t> Since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2</a:t>
            </a:r>
            <a:r>
              <a:rPr dirty="0" sz="850" spc="-105">
                <a:latin typeface="SimSun"/>
                <a:cs typeface="SimSun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not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we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take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second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branch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and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calculate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7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factorial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endParaRPr sz="900">
              <a:latin typeface="Palatino Linotype"/>
              <a:cs typeface="Palatino Linotype"/>
            </a:endParaRPr>
          </a:p>
          <a:p>
            <a:pPr marL="469900">
              <a:lnSpc>
                <a:spcPct val="100000"/>
              </a:lnSpc>
              <a:spcBef>
                <a:spcPts val="90"/>
              </a:spcBef>
            </a:pPr>
            <a:r>
              <a:rPr dirty="0" sz="850">
                <a:latin typeface="SimSun"/>
                <a:cs typeface="SimSun"/>
              </a:rPr>
              <a:t>n-</a:t>
            </a:r>
            <a:r>
              <a:rPr dirty="0" sz="850" spc="-25">
                <a:latin typeface="SimSun"/>
                <a:cs typeface="SimSun"/>
              </a:rPr>
              <a:t>1</a:t>
            </a:r>
            <a:r>
              <a:rPr dirty="0" sz="900" spc="-25">
                <a:latin typeface="Palatino Linotype"/>
                <a:cs typeface="Palatino Linotype"/>
              </a:rPr>
              <a:t>…</a:t>
            </a:r>
            <a:endParaRPr sz="900">
              <a:latin typeface="Palatino Linotype"/>
              <a:cs typeface="Palatino Linotype"/>
            </a:endParaRPr>
          </a:p>
          <a:p>
            <a:pPr marL="698500" marR="690245">
              <a:lnSpc>
                <a:spcPct val="108200"/>
              </a:lnSpc>
              <a:spcBef>
                <a:spcPts val="750"/>
              </a:spcBef>
            </a:pPr>
            <a:r>
              <a:rPr dirty="0" sz="900" spc="-10">
                <a:latin typeface="Palatino Linotype"/>
                <a:cs typeface="Palatino Linotype"/>
              </a:rPr>
              <a:t>Since</a:t>
            </a:r>
            <a:r>
              <a:rPr dirty="0" sz="900" spc="-5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1</a:t>
            </a:r>
            <a:r>
              <a:rPr dirty="0" sz="850" spc="-175">
                <a:latin typeface="SimSun"/>
                <a:cs typeface="SimSun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-4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not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we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take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second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branch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calculate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10">
                <a:latin typeface="Palatino Linotype"/>
                <a:cs typeface="Palatino Linotype"/>
              </a:rPr>
              <a:t> facto‐ </a:t>
            </a:r>
            <a:r>
              <a:rPr dirty="0" sz="900" spc="-20">
                <a:latin typeface="Palatino Linotype"/>
                <a:cs typeface="Palatino Linotype"/>
              </a:rPr>
              <a:t>rial</a:t>
            </a:r>
            <a:r>
              <a:rPr dirty="0" sz="900" spc="-3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n-</a:t>
            </a:r>
            <a:r>
              <a:rPr dirty="0" sz="850" spc="-25">
                <a:latin typeface="SimSun"/>
                <a:cs typeface="SimSun"/>
              </a:rPr>
              <a:t>1</a:t>
            </a:r>
            <a:r>
              <a:rPr dirty="0" sz="900" spc="-25">
                <a:latin typeface="Palatino Linotype"/>
                <a:cs typeface="Palatino Linotype"/>
              </a:rPr>
              <a:t>…</a:t>
            </a:r>
            <a:endParaRPr sz="900">
              <a:latin typeface="Palatino Linotype"/>
              <a:cs typeface="Palatino Linotype"/>
            </a:endParaRPr>
          </a:p>
          <a:p>
            <a:pPr marL="927100">
              <a:lnSpc>
                <a:spcPct val="100000"/>
              </a:lnSpc>
              <a:spcBef>
                <a:spcPts val="840"/>
              </a:spcBef>
            </a:pPr>
            <a:r>
              <a:rPr dirty="0" sz="900">
                <a:latin typeface="Palatino Linotype"/>
                <a:cs typeface="Palatino Linotype"/>
              </a:rPr>
              <a:t>Since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850" spc="-110">
                <a:latin typeface="SimSun"/>
                <a:cs typeface="SimSun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equals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0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6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we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take</a:t>
            </a:r>
            <a:r>
              <a:rPr dirty="0" sz="900" spc="6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6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first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branch</a:t>
            </a:r>
            <a:r>
              <a:rPr dirty="0" sz="900" spc="6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and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</a:t>
            </a:r>
            <a:r>
              <a:rPr dirty="0" sz="900" spc="6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926465">
              <a:lnSpc>
                <a:spcPct val="100000"/>
              </a:lnSpc>
              <a:spcBef>
                <a:spcPts val="35"/>
              </a:spcBef>
            </a:pPr>
            <a:r>
              <a:rPr dirty="0" sz="900" spc="-40">
                <a:latin typeface="Palatino Linotype"/>
                <a:cs typeface="Palatino Linotype"/>
              </a:rPr>
              <a:t>without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making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any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more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recursive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calls.</a:t>
            </a:r>
            <a:endParaRPr sz="900">
              <a:latin typeface="Palatino Linotype"/>
              <a:cs typeface="Palatino Linotype"/>
            </a:endParaRPr>
          </a:p>
          <a:p>
            <a:pPr marL="698500" marR="691515">
              <a:lnSpc>
                <a:spcPct val="103299"/>
              </a:lnSpc>
              <a:spcBef>
                <a:spcPts val="800"/>
              </a:spcBef>
            </a:pP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return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value,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1</a:t>
            </a:r>
            <a:r>
              <a:rPr dirty="0" sz="900">
                <a:latin typeface="Palatino Linotype"/>
                <a:cs typeface="Palatino Linotype"/>
              </a:rPr>
              <a:t>, 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multiplied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by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</a:t>
            </a:r>
            <a:r>
              <a:rPr dirty="0" sz="900">
                <a:latin typeface="Palatino Linotype"/>
                <a:cs typeface="Palatino Linotype"/>
              </a:rPr>
              <a:t>, </a:t>
            </a:r>
            <a:r>
              <a:rPr dirty="0" sz="900" spc="-30">
                <a:latin typeface="Palatino Linotype"/>
                <a:cs typeface="Palatino Linotype"/>
              </a:rPr>
              <a:t>which</a:t>
            </a:r>
            <a:r>
              <a:rPr dirty="0" sz="900">
                <a:latin typeface="Palatino Linotype"/>
                <a:cs typeface="Palatino Linotype"/>
              </a:rPr>
              <a:t> 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1</a:t>
            </a:r>
            <a:r>
              <a:rPr dirty="0" sz="900">
                <a:latin typeface="Palatino Linotype"/>
                <a:cs typeface="Palatino Linotype"/>
              </a:rPr>
              <a:t>, </a:t>
            </a:r>
            <a:r>
              <a:rPr dirty="0" sz="900" spc="-20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 </a:t>
            </a:r>
            <a:r>
              <a:rPr dirty="0" sz="900" spc="-20">
                <a:latin typeface="Palatino Linotype"/>
                <a:cs typeface="Palatino Linotype"/>
              </a:rPr>
              <a:t>result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is</a:t>
            </a:r>
            <a:r>
              <a:rPr dirty="0" sz="900" spc="-10">
                <a:latin typeface="Palatino Linotype"/>
                <a:cs typeface="Palatino Linotype"/>
              </a:rPr>
              <a:t> returned.</a:t>
            </a:r>
            <a:endParaRPr sz="900">
              <a:latin typeface="Palatino Linotype"/>
              <a:cs typeface="Palatino Linotype"/>
            </a:endParaRPr>
          </a:p>
          <a:p>
            <a:pPr marL="469900">
              <a:lnSpc>
                <a:spcPct val="100000"/>
              </a:lnSpc>
              <a:spcBef>
                <a:spcPts val="840"/>
              </a:spcBef>
            </a:pPr>
            <a:r>
              <a:rPr dirty="0" sz="900" spc="-10">
                <a:latin typeface="Palatino Linotype"/>
                <a:cs typeface="Palatino Linotype"/>
              </a:rPr>
              <a:t>The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return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value,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1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20">
                <a:latin typeface="Palatino Linotype"/>
                <a:cs typeface="Palatino Linotype"/>
              </a:rPr>
              <a:t> is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multiplied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by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which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is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2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and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result</a:t>
            </a:r>
            <a:r>
              <a:rPr dirty="0" sz="900" spc="-20">
                <a:latin typeface="Palatino Linotype"/>
                <a:cs typeface="Palatino Linotype"/>
              </a:rPr>
              <a:t> is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returned.</a:t>
            </a:r>
            <a:endParaRPr sz="900">
              <a:latin typeface="Palatino Linotype"/>
              <a:cs typeface="Palatino Linotype"/>
            </a:endParaRPr>
          </a:p>
          <a:p>
            <a:pPr marL="241300" marR="233679" indent="-635">
              <a:lnSpc>
                <a:spcPct val="103299"/>
              </a:lnSpc>
              <a:spcBef>
                <a:spcPts val="805"/>
              </a:spcBef>
            </a:pP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4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value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2</a:t>
            </a:r>
            <a:r>
              <a:rPr dirty="0" sz="850" spc="-175">
                <a:latin typeface="SimSun"/>
                <a:cs typeface="SimSun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multiplied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by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n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which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3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result,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850">
                <a:latin typeface="SimSun"/>
                <a:cs typeface="SimSun"/>
              </a:rPr>
              <a:t>6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becomes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the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return </a:t>
            </a:r>
            <a:r>
              <a:rPr dirty="0" sz="900" spc="-50">
                <a:latin typeface="Palatino Linotype"/>
                <a:cs typeface="Palatino Linotype"/>
              </a:rPr>
              <a:t>value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of </a:t>
            </a:r>
            <a:r>
              <a:rPr dirty="0" sz="900" spc="-20">
                <a:latin typeface="Palatino Linotype"/>
                <a:cs typeface="Palatino Linotype"/>
              </a:rPr>
              <a:t>the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call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that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started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the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whole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process.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1676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82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700" y="650030"/>
            <a:ext cx="42983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figure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013193"/>
            <a:ext cx="2198882" cy="16545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901623" y="2770492"/>
            <a:ext cx="4598035" cy="443230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return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shown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passed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back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stack.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frame,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product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recurse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frame,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20">
                <a:latin typeface="Palatino Linotype"/>
                <a:cs typeface="Palatino Linotype"/>
              </a:rPr>
              <a:t>local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recurse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not </a:t>
            </a:r>
            <a:r>
              <a:rPr dirty="0" sz="1050" spc="-20">
                <a:latin typeface="Palatino Linotype"/>
                <a:cs typeface="Palatino Linotype"/>
              </a:rPr>
              <a:t>exist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25">
                <a:latin typeface="Palatino Linotype"/>
                <a:cs typeface="Palatino Linotype"/>
              </a:rPr>
              <a:t>branch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0">
                <a:latin typeface="Palatino Linotype"/>
                <a:cs typeface="Palatino Linotype"/>
              </a:rPr>
              <a:t>cre</a:t>
            </a:r>
            <a:r>
              <a:rPr dirty="0" sz="1050" spc="-50">
                <a:latin typeface="Palatino Linotype"/>
                <a:cs typeface="Palatino Linotype"/>
              </a:rPr>
              <a:t>ates</a:t>
            </a:r>
            <a:r>
              <a:rPr dirty="0" sz="1050" spc="-20">
                <a:latin typeface="Palatino Linotype"/>
                <a:cs typeface="Palatino Linotype"/>
              </a:rPr>
              <a:t> 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0" b="1">
                <a:latin typeface="Trebuchet MS"/>
                <a:cs typeface="Trebuchet MS"/>
              </a:rPr>
              <a:t>Leap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260" b="1">
                <a:latin typeface="Trebuchet MS"/>
                <a:cs typeface="Trebuchet MS"/>
              </a:rPr>
              <a:t>of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Faith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40">
                <a:latin typeface="Palatino Linotype"/>
                <a:cs typeface="Palatino Linotype"/>
              </a:rPr>
              <a:t>Following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flow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execution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read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programs,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quickly </a:t>
            </a:r>
            <a:r>
              <a:rPr dirty="0" sz="1050" spc="-25">
                <a:latin typeface="Palatino Linotype"/>
                <a:cs typeface="Palatino Linotype"/>
              </a:rPr>
              <a:t>become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overwhelming.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alternative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“leap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faith.”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20">
                <a:latin typeface="Palatino Linotype"/>
                <a:cs typeface="Palatino Linotype"/>
              </a:rPr>
              <a:t>come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execution,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assume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correctly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fact,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practicing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leap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faith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functions. </a:t>
            </a:r>
            <a:r>
              <a:rPr dirty="0" sz="1050" spc="-40">
                <a:latin typeface="Palatino Linotype"/>
                <a:cs typeface="Palatino Linotype"/>
              </a:rPr>
              <a:t>When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abs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math.sqrt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bodies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those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functions—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assume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1600"/>
              </a:lnSpc>
              <a:spcBef>
                <a:spcPts val="5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call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own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earlier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65">
                <a:latin typeface="Palatino Linotype"/>
                <a:cs typeface="Palatino Linotype"/>
              </a:rPr>
              <a:t>wrote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is_divisible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determines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divisi‐ </a:t>
            </a:r>
            <a:r>
              <a:rPr dirty="0" sz="1050" spc="-50">
                <a:latin typeface="Palatino Linotype"/>
                <a:cs typeface="Palatino Linotype"/>
              </a:rPr>
              <a:t>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by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another.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convince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ourselves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body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again.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instead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flow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execution,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assume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recursive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yourself,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“Assuming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I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compute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factorial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</a:t>
            </a:r>
            <a:r>
              <a:rPr dirty="0" sz="1050" spc="-35" i="1">
                <a:latin typeface="Palatino Linotype"/>
                <a:cs typeface="Palatino Linotype"/>
              </a:rPr>
              <a:t> </a:t>
            </a:r>
            <a:r>
              <a:rPr dirty="0" sz="1050" spc="80">
                <a:latin typeface="Palatino Linotype"/>
                <a:cs typeface="Palatino Linotype"/>
              </a:rPr>
              <a:t>−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1,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compute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factorial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 i="1">
                <a:latin typeface="Palatino Linotype"/>
                <a:cs typeface="Palatino Linotype"/>
              </a:rPr>
              <a:t>n</a:t>
            </a:r>
            <a:r>
              <a:rPr dirty="0" sz="1050" spc="-80">
                <a:latin typeface="Palatino Linotype"/>
                <a:cs typeface="Palatino Linotype"/>
              </a:rPr>
              <a:t>?”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factorial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implies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by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multi‐ </a:t>
            </a:r>
            <a:r>
              <a:rPr dirty="0" sz="1050" spc="-75">
                <a:latin typeface="Palatino Linotype"/>
                <a:cs typeface="Palatino Linotype"/>
              </a:rPr>
              <a:t>plying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course,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strange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assume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works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correctly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90">
                <a:latin typeface="Palatino Linotype"/>
                <a:cs typeface="Palatino Linotype"/>
              </a:rPr>
              <a:t>haven’t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finished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why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leap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faith!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641253" y="7731125"/>
            <a:ext cx="8578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0" b="1">
                <a:latin typeface="Trebuchet MS"/>
                <a:cs typeface="Trebuchet MS"/>
              </a:rPr>
              <a:t>Leap</a:t>
            </a:r>
            <a:r>
              <a:rPr dirty="0" sz="900" spc="-130" b="1">
                <a:latin typeface="Trebuchet MS"/>
                <a:cs typeface="Trebuchet MS"/>
              </a:rPr>
              <a:t> of </a:t>
            </a:r>
            <a:r>
              <a:rPr dirty="0" sz="900" spc="-75" b="1">
                <a:latin typeface="Trebuchet MS"/>
                <a:cs typeface="Trebuchet MS"/>
              </a:rPr>
              <a:t>Faith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83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436841"/>
            <a:ext cx="4572000" cy="937260"/>
            <a:chOff x="914400" y="2436841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436841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4384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068835"/>
            <a:ext cx="4572000" cy="289560"/>
            <a:chOff x="914400" y="5068835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06883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0704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564573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76390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5"/>
              <a:t>Fibonacci</a:t>
            </a:r>
            <a:endParaRPr sz="1900"/>
          </a:p>
        </p:txBody>
      </p:sp>
      <p:sp>
        <p:nvSpPr>
          <p:cNvPr id="10" name="object 10" descr=""/>
          <p:cNvSpPr txBox="1"/>
          <p:nvPr/>
        </p:nvSpPr>
        <p:spPr>
          <a:xfrm>
            <a:off x="901721" y="971559"/>
            <a:ext cx="4598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After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factorial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most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common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recursive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fibonacci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definition: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588058" y="1520028"/>
            <a:ext cx="28575" cy="123189"/>
          </a:xfrm>
          <a:custGeom>
            <a:avLst/>
            <a:gdLst/>
            <a:ahLst/>
            <a:cxnLst/>
            <a:rect l="l" t="t" r="r" b="b"/>
            <a:pathLst>
              <a:path w="28575" h="123189">
                <a:moveTo>
                  <a:pt x="26238" y="122682"/>
                </a:moveTo>
                <a:lnTo>
                  <a:pt x="14514" y="110855"/>
                </a:lnTo>
                <a:lnTo>
                  <a:pt x="6342" y="96290"/>
                </a:lnTo>
                <a:lnTo>
                  <a:pt x="1558" y="79551"/>
                </a:lnTo>
                <a:lnTo>
                  <a:pt x="0" y="61201"/>
                </a:lnTo>
                <a:lnTo>
                  <a:pt x="1558" y="43032"/>
                </a:lnTo>
                <a:lnTo>
                  <a:pt x="6342" y="26408"/>
                </a:lnTo>
                <a:lnTo>
                  <a:pt x="14514" y="11881"/>
                </a:lnTo>
                <a:lnTo>
                  <a:pt x="26238" y="0"/>
                </a:lnTo>
                <a:lnTo>
                  <a:pt x="28486" y="3213"/>
                </a:lnTo>
                <a:lnTo>
                  <a:pt x="20181" y="13809"/>
                </a:lnTo>
                <a:lnTo>
                  <a:pt x="14046" y="27613"/>
                </a:lnTo>
                <a:lnTo>
                  <a:pt x="10244" y="43750"/>
                </a:lnTo>
                <a:lnTo>
                  <a:pt x="8940" y="61341"/>
                </a:lnTo>
                <a:lnTo>
                  <a:pt x="10262" y="78933"/>
                </a:lnTo>
                <a:lnTo>
                  <a:pt x="14093" y="95085"/>
                </a:lnTo>
                <a:lnTo>
                  <a:pt x="20235" y="108931"/>
                </a:lnTo>
                <a:lnTo>
                  <a:pt x="28486" y="119607"/>
                </a:lnTo>
                <a:lnTo>
                  <a:pt x="26238" y="122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689557" y="1520028"/>
            <a:ext cx="29209" cy="123189"/>
          </a:xfrm>
          <a:custGeom>
            <a:avLst/>
            <a:gdLst/>
            <a:ahLst/>
            <a:cxnLst/>
            <a:rect l="l" t="t" r="r" b="b"/>
            <a:pathLst>
              <a:path w="29210" h="123189">
                <a:moveTo>
                  <a:pt x="2362" y="122682"/>
                </a:moveTo>
                <a:lnTo>
                  <a:pt x="0" y="119607"/>
                </a:lnTo>
                <a:lnTo>
                  <a:pt x="8424" y="108872"/>
                </a:lnTo>
                <a:lnTo>
                  <a:pt x="14587" y="95033"/>
                </a:lnTo>
                <a:lnTo>
                  <a:pt x="18371" y="78914"/>
                </a:lnTo>
                <a:lnTo>
                  <a:pt x="19659" y="61341"/>
                </a:lnTo>
                <a:lnTo>
                  <a:pt x="18338" y="43730"/>
                </a:lnTo>
                <a:lnTo>
                  <a:pt x="14497" y="27561"/>
                </a:lnTo>
                <a:lnTo>
                  <a:pt x="8322" y="13750"/>
                </a:lnTo>
                <a:lnTo>
                  <a:pt x="0" y="3213"/>
                </a:lnTo>
                <a:lnTo>
                  <a:pt x="2362" y="0"/>
                </a:lnTo>
                <a:lnTo>
                  <a:pt x="14278" y="11942"/>
                </a:lnTo>
                <a:lnTo>
                  <a:pt x="22429" y="26478"/>
                </a:lnTo>
                <a:lnTo>
                  <a:pt x="27106" y="43110"/>
                </a:lnTo>
                <a:lnTo>
                  <a:pt x="28600" y="61341"/>
                </a:lnTo>
                <a:lnTo>
                  <a:pt x="27106" y="79551"/>
                </a:lnTo>
                <a:lnTo>
                  <a:pt x="22429" y="96150"/>
                </a:lnTo>
                <a:lnTo>
                  <a:pt x="14278" y="110680"/>
                </a:lnTo>
                <a:lnTo>
                  <a:pt x="2362" y="122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1588058" y="1702654"/>
            <a:ext cx="28575" cy="123189"/>
          </a:xfrm>
          <a:custGeom>
            <a:avLst/>
            <a:gdLst/>
            <a:ahLst/>
            <a:cxnLst/>
            <a:rect l="l" t="t" r="r" b="b"/>
            <a:pathLst>
              <a:path w="28575" h="123189">
                <a:moveTo>
                  <a:pt x="26238" y="122681"/>
                </a:moveTo>
                <a:lnTo>
                  <a:pt x="14514" y="110855"/>
                </a:lnTo>
                <a:lnTo>
                  <a:pt x="6342" y="96290"/>
                </a:lnTo>
                <a:lnTo>
                  <a:pt x="1558" y="79551"/>
                </a:lnTo>
                <a:lnTo>
                  <a:pt x="0" y="61201"/>
                </a:lnTo>
                <a:lnTo>
                  <a:pt x="1558" y="43032"/>
                </a:lnTo>
                <a:lnTo>
                  <a:pt x="6342" y="26408"/>
                </a:lnTo>
                <a:lnTo>
                  <a:pt x="14514" y="11881"/>
                </a:lnTo>
                <a:lnTo>
                  <a:pt x="26238" y="0"/>
                </a:lnTo>
                <a:lnTo>
                  <a:pt x="28486" y="3213"/>
                </a:lnTo>
                <a:lnTo>
                  <a:pt x="20181" y="13809"/>
                </a:lnTo>
                <a:lnTo>
                  <a:pt x="14046" y="27613"/>
                </a:lnTo>
                <a:lnTo>
                  <a:pt x="10244" y="43750"/>
                </a:lnTo>
                <a:lnTo>
                  <a:pt x="8940" y="61340"/>
                </a:lnTo>
                <a:lnTo>
                  <a:pt x="10262" y="78933"/>
                </a:lnTo>
                <a:lnTo>
                  <a:pt x="14093" y="95085"/>
                </a:lnTo>
                <a:lnTo>
                  <a:pt x="20235" y="108931"/>
                </a:lnTo>
                <a:lnTo>
                  <a:pt x="28486" y="119607"/>
                </a:lnTo>
                <a:lnTo>
                  <a:pt x="26238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1689557" y="1702654"/>
            <a:ext cx="29209" cy="123189"/>
          </a:xfrm>
          <a:custGeom>
            <a:avLst/>
            <a:gdLst/>
            <a:ahLst/>
            <a:cxnLst/>
            <a:rect l="l" t="t" r="r" b="b"/>
            <a:pathLst>
              <a:path w="29210" h="123189">
                <a:moveTo>
                  <a:pt x="2362" y="122681"/>
                </a:moveTo>
                <a:lnTo>
                  <a:pt x="0" y="119607"/>
                </a:lnTo>
                <a:lnTo>
                  <a:pt x="8424" y="108872"/>
                </a:lnTo>
                <a:lnTo>
                  <a:pt x="14587" y="95033"/>
                </a:lnTo>
                <a:lnTo>
                  <a:pt x="18371" y="78914"/>
                </a:lnTo>
                <a:lnTo>
                  <a:pt x="19659" y="61340"/>
                </a:lnTo>
                <a:lnTo>
                  <a:pt x="18338" y="43730"/>
                </a:lnTo>
                <a:lnTo>
                  <a:pt x="14497" y="27561"/>
                </a:lnTo>
                <a:lnTo>
                  <a:pt x="8322" y="13750"/>
                </a:lnTo>
                <a:lnTo>
                  <a:pt x="0" y="3213"/>
                </a:lnTo>
                <a:lnTo>
                  <a:pt x="2362" y="0"/>
                </a:lnTo>
                <a:lnTo>
                  <a:pt x="14278" y="11942"/>
                </a:lnTo>
                <a:lnTo>
                  <a:pt x="22429" y="26478"/>
                </a:lnTo>
                <a:lnTo>
                  <a:pt x="27106" y="43110"/>
                </a:lnTo>
                <a:lnTo>
                  <a:pt x="28600" y="61340"/>
                </a:lnTo>
                <a:lnTo>
                  <a:pt x="27106" y="79551"/>
                </a:lnTo>
                <a:lnTo>
                  <a:pt x="22429" y="96150"/>
                </a:lnTo>
                <a:lnTo>
                  <a:pt x="14278" y="110680"/>
                </a:lnTo>
                <a:lnTo>
                  <a:pt x="2362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1581454" y="1885280"/>
            <a:ext cx="28575" cy="123189"/>
          </a:xfrm>
          <a:custGeom>
            <a:avLst/>
            <a:gdLst/>
            <a:ahLst/>
            <a:cxnLst/>
            <a:rect l="l" t="t" r="r" b="b"/>
            <a:pathLst>
              <a:path w="28575" h="123189">
                <a:moveTo>
                  <a:pt x="26238" y="122681"/>
                </a:moveTo>
                <a:lnTo>
                  <a:pt x="14514" y="110855"/>
                </a:lnTo>
                <a:lnTo>
                  <a:pt x="6342" y="96290"/>
                </a:lnTo>
                <a:lnTo>
                  <a:pt x="1558" y="79551"/>
                </a:lnTo>
                <a:lnTo>
                  <a:pt x="0" y="61201"/>
                </a:lnTo>
                <a:lnTo>
                  <a:pt x="1558" y="43032"/>
                </a:lnTo>
                <a:lnTo>
                  <a:pt x="6342" y="26408"/>
                </a:lnTo>
                <a:lnTo>
                  <a:pt x="14514" y="11881"/>
                </a:lnTo>
                <a:lnTo>
                  <a:pt x="26238" y="0"/>
                </a:lnTo>
                <a:lnTo>
                  <a:pt x="28486" y="3213"/>
                </a:lnTo>
                <a:lnTo>
                  <a:pt x="20181" y="13809"/>
                </a:lnTo>
                <a:lnTo>
                  <a:pt x="14046" y="27613"/>
                </a:lnTo>
                <a:lnTo>
                  <a:pt x="10244" y="43750"/>
                </a:lnTo>
                <a:lnTo>
                  <a:pt x="8940" y="61340"/>
                </a:lnTo>
                <a:lnTo>
                  <a:pt x="10262" y="78933"/>
                </a:lnTo>
                <a:lnTo>
                  <a:pt x="14093" y="95085"/>
                </a:lnTo>
                <a:lnTo>
                  <a:pt x="20235" y="108931"/>
                </a:lnTo>
                <a:lnTo>
                  <a:pt x="28486" y="119607"/>
                </a:lnTo>
                <a:lnTo>
                  <a:pt x="26238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092196" y="1440271"/>
            <a:ext cx="604520" cy="57340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335"/>
              </a:spcBef>
            </a:pPr>
            <a:r>
              <a:rPr dirty="0" sz="1000" spc="-30">
                <a:latin typeface="Palatino Linotype"/>
                <a:cs typeface="Palatino Linotype"/>
              </a:rPr>
              <a:t>fibonacci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6350">
              <a:lnSpc>
                <a:spcPct val="119800"/>
              </a:lnSpc>
            </a:pPr>
            <a:r>
              <a:rPr dirty="0" sz="1000" spc="-30">
                <a:latin typeface="Palatino Linotype"/>
                <a:cs typeface="Palatino Linotype"/>
              </a:rPr>
              <a:t>fibonacci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fibonacci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689557" y="1885280"/>
            <a:ext cx="29209" cy="123189"/>
          </a:xfrm>
          <a:custGeom>
            <a:avLst/>
            <a:gdLst/>
            <a:ahLst/>
            <a:cxnLst/>
            <a:rect l="l" t="t" r="r" b="b"/>
            <a:pathLst>
              <a:path w="29210" h="123189">
                <a:moveTo>
                  <a:pt x="2362" y="122681"/>
                </a:moveTo>
                <a:lnTo>
                  <a:pt x="0" y="119607"/>
                </a:lnTo>
                <a:lnTo>
                  <a:pt x="8424" y="108872"/>
                </a:lnTo>
                <a:lnTo>
                  <a:pt x="14587" y="95033"/>
                </a:lnTo>
                <a:lnTo>
                  <a:pt x="18371" y="78914"/>
                </a:lnTo>
                <a:lnTo>
                  <a:pt x="19659" y="61340"/>
                </a:lnTo>
                <a:lnTo>
                  <a:pt x="18338" y="43730"/>
                </a:lnTo>
                <a:lnTo>
                  <a:pt x="14497" y="27561"/>
                </a:lnTo>
                <a:lnTo>
                  <a:pt x="8322" y="13750"/>
                </a:lnTo>
                <a:lnTo>
                  <a:pt x="0" y="3213"/>
                </a:lnTo>
                <a:lnTo>
                  <a:pt x="2362" y="0"/>
                </a:lnTo>
                <a:lnTo>
                  <a:pt x="14278" y="11942"/>
                </a:lnTo>
                <a:lnTo>
                  <a:pt x="22429" y="26478"/>
                </a:lnTo>
                <a:lnTo>
                  <a:pt x="27106" y="43110"/>
                </a:lnTo>
                <a:lnTo>
                  <a:pt x="28600" y="61340"/>
                </a:lnTo>
                <a:lnTo>
                  <a:pt x="27106" y="79551"/>
                </a:lnTo>
                <a:lnTo>
                  <a:pt x="22429" y="96150"/>
                </a:lnTo>
                <a:lnTo>
                  <a:pt x="14278" y="110680"/>
                </a:lnTo>
                <a:lnTo>
                  <a:pt x="2362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2369080" y="1885280"/>
            <a:ext cx="28575" cy="123189"/>
          </a:xfrm>
          <a:custGeom>
            <a:avLst/>
            <a:gdLst/>
            <a:ahLst/>
            <a:cxnLst/>
            <a:rect l="l" t="t" r="r" b="b"/>
            <a:pathLst>
              <a:path w="28575" h="123189">
                <a:moveTo>
                  <a:pt x="26238" y="122681"/>
                </a:moveTo>
                <a:lnTo>
                  <a:pt x="14514" y="110855"/>
                </a:lnTo>
                <a:lnTo>
                  <a:pt x="6342" y="96290"/>
                </a:lnTo>
                <a:lnTo>
                  <a:pt x="1558" y="79551"/>
                </a:lnTo>
                <a:lnTo>
                  <a:pt x="0" y="61201"/>
                </a:lnTo>
                <a:lnTo>
                  <a:pt x="1558" y="43032"/>
                </a:lnTo>
                <a:lnTo>
                  <a:pt x="6342" y="26408"/>
                </a:lnTo>
                <a:lnTo>
                  <a:pt x="14514" y="11881"/>
                </a:lnTo>
                <a:lnTo>
                  <a:pt x="26238" y="0"/>
                </a:lnTo>
                <a:lnTo>
                  <a:pt x="28485" y="3213"/>
                </a:lnTo>
                <a:lnTo>
                  <a:pt x="20181" y="13809"/>
                </a:lnTo>
                <a:lnTo>
                  <a:pt x="14046" y="27613"/>
                </a:lnTo>
                <a:lnTo>
                  <a:pt x="10244" y="43750"/>
                </a:lnTo>
                <a:lnTo>
                  <a:pt x="8940" y="61340"/>
                </a:lnTo>
                <a:lnTo>
                  <a:pt x="10262" y="78933"/>
                </a:lnTo>
                <a:lnTo>
                  <a:pt x="14093" y="95085"/>
                </a:lnTo>
                <a:lnTo>
                  <a:pt x="20234" y="108931"/>
                </a:lnTo>
                <a:lnTo>
                  <a:pt x="28485" y="119607"/>
                </a:lnTo>
                <a:lnTo>
                  <a:pt x="26238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2668247" y="1885280"/>
            <a:ext cx="29209" cy="123189"/>
          </a:xfrm>
          <a:custGeom>
            <a:avLst/>
            <a:gdLst/>
            <a:ahLst/>
            <a:cxnLst/>
            <a:rect l="l" t="t" r="r" b="b"/>
            <a:pathLst>
              <a:path w="29210" h="123189">
                <a:moveTo>
                  <a:pt x="2362" y="122681"/>
                </a:moveTo>
                <a:lnTo>
                  <a:pt x="0" y="119607"/>
                </a:lnTo>
                <a:lnTo>
                  <a:pt x="8424" y="108872"/>
                </a:lnTo>
                <a:lnTo>
                  <a:pt x="14587" y="95033"/>
                </a:lnTo>
                <a:lnTo>
                  <a:pt x="18372" y="78914"/>
                </a:lnTo>
                <a:lnTo>
                  <a:pt x="19659" y="61340"/>
                </a:lnTo>
                <a:lnTo>
                  <a:pt x="18338" y="43730"/>
                </a:lnTo>
                <a:lnTo>
                  <a:pt x="14497" y="27561"/>
                </a:lnTo>
                <a:lnTo>
                  <a:pt x="8322" y="13750"/>
                </a:lnTo>
                <a:lnTo>
                  <a:pt x="0" y="3213"/>
                </a:lnTo>
                <a:lnTo>
                  <a:pt x="2362" y="0"/>
                </a:lnTo>
                <a:lnTo>
                  <a:pt x="14279" y="11942"/>
                </a:lnTo>
                <a:lnTo>
                  <a:pt x="22429" y="26478"/>
                </a:lnTo>
                <a:lnTo>
                  <a:pt x="27106" y="43110"/>
                </a:lnTo>
                <a:lnTo>
                  <a:pt x="28600" y="61340"/>
                </a:lnTo>
                <a:lnTo>
                  <a:pt x="27106" y="79551"/>
                </a:lnTo>
                <a:lnTo>
                  <a:pt x="22429" y="96150"/>
                </a:lnTo>
                <a:lnTo>
                  <a:pt x="14279" y="110680"/>
                </a:lnTo>
                <a:lnTo>
                  <a:pt x="2362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313311" y="1885280"/>
            <a:ext cx="28575" cy="123189"/>
          </a:xfrm>
          <a:custGeom>
            <a:avLst/>
            <a:gdLst/>
            <a:ahLst/>
            <a:cxnLst/>
            <a:rect l="l" t="t" r="r" b="b"/>
            <a:pathLst>
              <a:path w="28575" h="123189">
                <a:moveTo>
                  <a:pt x="26238" y="122681"/>
                </a:moveTo>
                <a:lnTo>
                  <a:pt x="14514" y="110855"/>
                </a:lnTo>
                <a:lnTo>
                  <a:pt x="6342" y="96290"/>
                </a:lnTo>
                <a:lnTo>
                  <a:pt x="1558" y="79551"/>
                </a:lnTo>
                <a:lnTo>
                  <a:pt x="0" y="61201"/>
                </a:lnTo>
                <a:lnTo>
                  <a:pt x="1558" y="43032"/>
                </a:lnTo>
                <a:lnTo>
                  <a:pt x="6342" y="26408"/>
                </a:lnTo>
                <a:lnTo>
                  <a:pt x="14514" y="11881"/>
                </a:lnTo>
                <a:lnTo>
                  <a:pt x="26238" y="0"/>
                </a:lnTo>
                <a:lnTo>
                  <a:pt x="28486" y="3213"/>
                </a:lnTo>
                <a:lnTo>
                  <a:pt x="20181" y="13809"/>
                </a:lnTo>
                <a:lnTo>
                  <a:pt x="14046" y="27613"/>
                </a:lnTo>
                <a:lnTo>
                  <a:pt x="10244" y="43750"/>
                </a:lnTo>
                <a:lnTo>
                  <a:pt x="8940" y="61340"/>
                </a:lnTo>
                <a:lnTo>
                  <a:pt x="10262" y="78933"/>
                </a:lnTo>
                <a:lnTo>
                  <a:pt x="14093" y="95085"/>
                </a:lnTo>
                <a:lnTo>
                  <a:pt x="20235" y="108931"/>
                </a:lnTo>
                <a:lnTo>
                  <a:pt x="28486" y="119607"/>
                </a:lnTo>
                <a:lnTo>
                  <a:pt x="26238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770884" y="1440271"/>
            <a:ext cx="1849120" cy="57340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fibonacci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275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+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fibonacci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3612478" y="1885280"/>
            <a:ext cx="29209" cy="123189"/>
          </a:xfrm>
          <a:custGeom>
            <a:avLst/>
            <a:gdLst/>
            <a:ahLst/>
            <a:cxnLst/>
            <a:rect l="l" t="t" r="r" b="b"/>
            <a:pathLst>
              <a:path w="29210" h="123189">
                <a:moveTo>
                  <a:pt x="2362" y="122681"/>
                </a:moveTo>
                <a:lnTo>
                  <a:pt x="0" y="119607"/>
                </a:lnTo>
                <a:lnTo>
                  <a:pt x="8424" y="108872"/>
                </a:lnTo>
                <a:lnTo>
                  <a:pt x="14587" y="95033"/>
                </a:lnTo>
                <a:lnTo>
                  <a:pt x="18371" y="78914"/>
                </a:lnTo>
                <a:lnTo>
                  <a:pt x="19659" y="61340"/>
                </a:lnTo>
                <a:lnTo>
                  <a:pt x="18337" y="43730"/>
                </a:lnTo>
                <a:lnTo>
                  <a:pt x="14496" y="27561"/>
                </a:lnTo>
                <a:lnTo>
                  <a:pt x="8322" y="13750"/>
                </a:lnTo>
                <a:lnTo>
                  <a:pt x="0" y="3213"/>
                </a:lnTo>
                <a:lnTo>
                  <a:pt x="2362" y="0"/>
                </a:lnTo>
                <a:lnTo>
                  <a:pt x="14278" y="11942"/>
                </a:lnTo>
                <a:lnTo>
                  <a:pt x="22429" y="26478"/>
                </a:lnTo>
                <a:lnTo>
                  <a:pt x="27106" y="43110"/>
                </a:lnTo>
                <a:lnTo>
                  <a:pt x="28600" y="61340"/>
                </a:lnTo>
                <a:lnTo>
                  <a:pt x="27106" y="79551"/>
                </a:lnTo>
                <a:lnTo>
                  <a:pt x="22429" y="96150"/>
                </a:lnTo>
                <a:lnTo>
                  <a:pt x="14278" y="110680"/>
                </a:lnTo>
                <a:lnTo>
                  <a:pt x="2362" y="12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901620" y="2164851"/>
            <a:ext cx="4598035" cy="4859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latin typeface="Palatino Linotype"/>
                <a:cs typeface="Palatino Linotype"/>
              </a:rPr>
              <a:t>Translated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ctr" marR="3592195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fibonacci(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22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20" b="1">
                <a:solidFill>
                  <a:srgbClr val="006C2C"/>
                </a:solidFill>
                <a:latin typeface="Courier New"/>
                <a:cs typeface="Courier New"/>
              </a:rPr>
              <a:t>elif</a:t>
            </a:r>
            <a:r>
              <a:rPr dirty="0" sz="850" spc="20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6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-7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flow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execution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here,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even</a:t>
            </a:r>
            <a:r>
              <a:rPr dirty="0" sz="1050" spc="-10">
                <a:latin typeface="Palatino Linotype"/>
                <a:cs typeface="Palatino Linotype"/>
              </a:rPr>
              <a:t> 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small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head </a:t>
            </a:r>
            <a:r>
              <a:rPr dirty="0" sz="1050" spc="-60">
                <a:latin typeface="Palatino Linotype"/>
                <a:cs typeface="Palatino Linotype"/>
              </a:rPr>
              <a:t>explodes.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according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leap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faith,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assume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recursive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calls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correctly,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confident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correct.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10">
                <a:latin typeface="Palatino Linotype"/>
                <a:cs typeface="Palatino Linotype"/>
              </a:rPr>
              <a:t>As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aside,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way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Fibonacci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numbers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very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inefficient.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“Memos”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146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explain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why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suggest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improve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Checking</a:t>
            </a:r>
            <a:r>
              <a:rPr dirty="0" sz="1900" spc="-250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Types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factorial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give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1.5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argument?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1.5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RecursionError: maximum recursion depth exceeded in </a:t>
            </a:r>
            <a:r>
              <a:rPr dirty="0" sz="850" spc="-10">
                <a:latin typeface="SimSun"/>
                <a:cs typeface="SimSun"/>
              </a:rPr>
              <a:t>comparison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looks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infinite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recursion.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be?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case—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==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0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 i="1">
                <a:latin typeface="Palatino Linotype"/>
                <a:cs typeface="Palatino Linotype"/>
              </a:rPr>
              <a:t>miss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recurse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forever.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initial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1.5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4700"/>
              </a:lnSpc>
            </a:pPr>
            <a:r>
              <a:rPr dirty="0" sz="1000">
                <a:latin typeface="SimSun"/>
                <a:cs typeface="SimSun"/>
              </a:rPr>
              <a:t>0.5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next,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-</a:t>
            </a:r>
            <a:r>
              <a:rPr dirty="0" sz="1000">
                <a:latin typeface="SimSun"/>
                <a:cs typeface="SimSun"/>
              </a:rPr>
              <a:t>0.5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there,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gets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smaller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(more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negative),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will </a:t>
            </a:r>
            <a:r>
              <a:rPr dirty="0" sz="1050" spc="-65">
                <a:latin typeface="Palatino Linotype"/>
                <a:cs typeface="Palatino Linotype"/>
              </a:rPr>
              <a:t>never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avoid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infinite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recursion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isinstance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integer: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1717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84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340485"/>
            <a:ext cx="4572000" cy="289560"/>
            <a:chOff x="914400" y="13404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3404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3420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19173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238924"/>
            <a:ext cx="4572000" cy="1369060"/>
            <a:chOff x="914400" y="2238924"/>
            <a:chExt cx="4572000" cy="13690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238924"/>
              <a:ext cx="4572000" cy="1369060"/>
            </a:xfrm>
            <a:custGeom>
              <a:avLst/>
              <a:gdLst/>
              <a:ahLst/>
              <a:cxnLst/>
              <a:rect l="l" t="t" r="r" b="b"/>
              <a:pathLst>
                <a:path w="4572000" h="1369060">
                  <a:moveTo>
                    <a:pt x="4572000" y="1368742"/>
                  </a:moveTo>
                  <a:lnTo>
                    <a:pt x="0" y="13687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3687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24051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4118987"/>
            <a:ext cx="4572000" cy="289560"/>
            <a:chOff x="914400" y="411898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11898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1205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6958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184980"/>
            <a:ext cx="4572000" cy="289560"/>
            <a:chOff x="914400" y="5184980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18498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18656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576187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25" y="728091"/>
            <a:ext cx="4598035" cy="6384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isinstance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 marL="39370" marR="3470275">
              <a:lnSpc>
                <a:spcPct val="220800"/>
              </a:lnSpc>
              <a:spcBef>
                <a:spcPts val="65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isinstance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1.5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factorial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checking: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isinstance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'factorial is only defined for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integers.'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 marR="35242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None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'factorial is not defined for negative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numbers.'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 marR="35242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None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First,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message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returns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None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'crunchy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frog'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factorial is only defined for </a:t>
            </a:r>
            <a:r>
              <a:rPr dirty="0" sz="850" spc="-10">
                <a:latin typeface="SimSun"/>
                <a:cs typeface="SimSun"/>
              </a:rPr>
              <a:t>integers.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checks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negative.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25">
                <a:latin typeface="Palatino Linotype"/>
                <a:cs typeface="Palatino Linotype"/>
              </a:rPr>
              <a:t>so,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displays</a:t>
            </a:r>
            <a:r>
              <a:rPr dirty="0" sz="1050">
                <a:latin typeface="Palatino Linotype"/>
                <a:cs typeface="Palatino Linotype"/>
              </a:rPr>
              <a:t> an </a:t>
            </a:r>
            <a:r>
              <a:rPr dirty="0" sz="1050" spc="-20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message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returns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None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factorial is not defined for negative </a:t>
            </a:r>
            <a:r>
              <a:rPr dirty="0" sz="850" spc="-10">
                <a:latin typeface="SimSun"/>
                <a:cs typeface="SimSun"/>
              </a:rPr>
              <a:t>numbers.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nonneg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50">
                <a:latin typeface="Palatino Linotype"/>
                <a:cs typeface="Palatino Linotype"/>
              </a:rPr>
              <a:t>fide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recursion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termin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te.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Checking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 </a:t>
            </a:r>
            <a:r>
              <a:rPr dirty="0" sz="1050" spc="-55">
                <a:latin typeface="Palatino Linotype"/>
                <a:cs typeface="Palatino Linotype"/>
              </a:rPr>
              <a:t>sure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70" b="1">
                <a:latin typeface="Palatino Linotype"/>
                <a:cs typeface="Palatino Linotype"/>
              </a:rPr>
              <a:t>n</a:t>
            </a:r>
            <a:r>
              <a:rPr dirty="0" sz="1050" spc="-80" b="1">
                <a:latin typeface="Palatino Linotype"/>
                <a:cs typeface="Palatino Linotype"/>
              </a:rPr>
              <a:t>p</a:t>
            </a:r>
            <a:r>
              <a:rPr dirty="0" sz="1050" spc="-70" b="1">
                <a:latin typeface="Palatino Linotype"/>
                <a:cs typeface="Palatino Linotype"/>
              </a:rPr>
              <a:t>u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val</a:t>
            </a:r>
            <a:r>
              <a:rPr dirty="0" sz="1050" spc="-40" b="1">
                <a:latin typeface="Palatino Linotype"/>
                <a:cs typeface="Palatino Linotype"/>
              </a:rPr>
              <a:t>i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20" b="1">
                <a:latin typeface="Palatino Linotype"/>
                <a:cs typeface="Palatino Linotype"/>
              </a:rPr>
              <a:t>a</a:t>
            </a:r>
            <a:r>
              <a:rPr dirty="0" sz="1050" spc="-2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50" b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Breaking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large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program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smaller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creates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natural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checkpoints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5">
                <a:latin typeface="Palatino Linotype"/>
                <a:cs typeface="Palatino Linotype"/>
              </a:rPr>
              <a:t>debugging.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possibilities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consider: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12807" y="7731125"/>
            <a:ext cx="7867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85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707971"/>
            <a:ext cx="4572000" cy="1369060"/>
            <a:chOff x="914400" y="3707971"/>
            <a:chExt cx="4572000" cy="13690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707971"/>
              <a:ext cx="4572000" cy="1369060"/>
            </a:xfrm>
            <a:custGeom>
              <a:avLst/>
              <a:gdLst/>
              <a:ahLst/>
              <a:cxnLst/>
              <a:rect l="l" t="t" r="r" b="b"/>
              <a:pathLst>
                <a:path w="4572000" h="1369060">
                  <a:moveTo>
                    <a:pt x="4572000" y="1368742"/>
                  </a:moveTo>
                  <a:lnTo>
                    <a:pt x="0" y="13687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3687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7095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588034"/>
            <a:ext cx="4572000" cy="289560"/>
            <a:chOff x="914400" y="5588034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58803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58962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69205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914400" y="72158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44" y="700830"/>
            <a:ext cx="4598035" cy="6421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118745">
              <a:lnSpc>
                <a:spcPct val="100000"/>
              </a:lnSpc>
              <a:spcBef>
                <a:spcPts val="100"/>
              </a:spcBef>
              <a:buChar char="•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There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wrong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getting—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is, </a:t>
            </a:r>
            <a:r>
              <a:rPr dirty="0" sz="1050" spc="-50">
                <a:latin typeface="Palatino Linotype"/>
                <a:cs typeface="Palatino Linotype"/>
              </a:rPr>
              <a:t>a precondition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violated.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function—that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postcondition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violated.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6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possibilit</a:t>
            </a:r>
            <a:r>
              <a:rPr dirty="0" sz="1050" spc="-14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(and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ybe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types).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preconditions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explicitl</a:t>
            </a:r>
            <a:r>
              <a:rPr dirty="0" sz="1050" spc="-14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55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return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te‐ </a:t>
            </a:r>
            <a:r>
              <a:rPr dirty="0" sz="1050" spc="-60">
                <a:latin typeface="Palatino Linotype"/>
                <a:cs typeface="Palatino Linotype"/>
              </a:rPr>
              <a:t>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possible,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easy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seems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correctly—</a:t>
            </a:r>
            <a:r>
              <a:rPr dirty="0" sz="1050" spc="-50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all!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75">
                <a:latin typeface="Palatino Linotype"/>
                <a:cs typeface="Palatino Linotype"/>
              </a:rPr>
              <a:t>Adding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print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help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20">
                <a:latin typeface="Palatino Linotype"/>
                <a:cs typeface="Palatino Linotype"/>
              </a:rPr>
              <a:t>flow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execution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visible.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here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version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factorial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 </a:t>
            </a:r>
            <a:r>
              <a:rPr dirty="0" sz="1000" spc="-10">
                <a:latin typeface="SimSun"/>
                <a:cs typeface="SimSun"/>
              </a:rPr>
              <a:t>print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8225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space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space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'factorial'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space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'returning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1'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8225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recurse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recurse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space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'returning'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00" spc="-35">
                <a:latin typeface="SimSun"/>
                <a:cs typeface="SimSun"/>
              </a:rPr>
              <a:t>space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space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controls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indentation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output.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Here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factorial(4)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687070">
              <a:lnSpc>
                <a:spcPts val="935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factorial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factorial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factorial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factorial </a:t>
            </a:r>
            <a:r>
              <a:rPr dirty="0" sz="850" spc="-50"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returning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returning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returning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returning </a:t>
            </a:r>
            <a:r>
              <a:rPr dirty="0" sz="850" spc="-50"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725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86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5388014"/>
            <a:ext cx="4572000" cy="721360"/>
            <a:chOff x="914400" y="538801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538801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538960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6445289"/>
            <a:ext cx="4572000" cy="937260"/>
            <a:chOff x="914400" y="6445289"/>
            <a:chExt cx="4572000" cy="9372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6445289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1"/>
                  </a:moveTo>
                  <a:lnTo>
                    <a:pt x="0" y="936941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1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64468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62" y="650030"/>
            <a:ext cx="459803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confused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flow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execution,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output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helpful.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develop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effective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scaffolding,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little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scaffolding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ve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01776" y="1248072"/>
            <a:ext cx="6819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00"/>
              <a:t>Glossary</a:t>
            </a:r>
            <a:endParaRPr sz="1900"/>
          </a:p>
        </p:txBody>
      </p:sp>
      <p:sp>
        <p:nvSpPr>
          <p:cNvPr id="10" name="object 10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pc="-25" b="1">
                <a:latin typeface="Palatino Linotype"/>
                <a:cs typeface="Palatino Linotype"/>
              </a:rPr>
              <a:t>return</a:t>
            </a:r>
            <a:r>
              <a:rPr dirty="0" spc="-45" b="1">
                <a:latin typeface="Palatino Linotype"/>
                <a:cs typeface="Palatino Linotype"/>
              </a:rPr>
              <a:t> </a:t>
            </a:r>
            <a:r>
              <a:rPr dirty="0" spc="-55" b="1">
                <a:latin typeface="Palatino Linotype"/>
                <a:cs typeface="Palatino Linotype"/>
              </a:rPr>
              <a:t>value:</a:t>
            </a:r>
            <a:r>
              <a:rPr dirty="0" spc="-10" b="1">
                <a:latin typeface="Palatino Linotype"/>
                <a:cs typeface="Palatino Linotype"/>
              </a:rPr>
              <a:t> </a:t>
            </a:r>
            <a:r>
              <a:rPr dirty="0" spc="-10"/>
              <a:t>The</a:t>
            </a:r>
            <a:r>
              <a:rPr dirty="0" spc="-35"/>
              <a:t> </a:t>
            </a:r>
            <a:r>
              <a:rPr dirty="0" spc="-40"/>
              <a:t>result</a:t>
            </a:r>
            <a:r>
              <a:rPr dirty="0" spc="-20"/>
              <a:t> </a:t>
            </a:r>
            <a:r>
              <a:rPr dirty="0"/>
              <a:t>of</a:t>
            </a:r>
            <a:r>
              <a:rPr dirty="0" spc="-20"/>
              <a:t> </a:t>
            </a:r>
            <a:r>
              <a:rPr dirty="0"/>
              <a:t>a</a:t>
            </a:r>
            <a:r>
              <a:rPr dirty="0" spc="-20"/>
              <a:t> </a:t>
            </a:r>
            <a:r>
              <a:rPr dirty="0" spc="-35"/>
              <a:t>function.</a:t>
            </a:r>
            <a:r>
              <a:rPr dirty="0" spc="-20"/>
              <a:t> </a:t>
            </a:r>
            <a:r>
              <a:rPr dirty="0"/>
              <a:t>If</a:t>
            </a:r>
            <a:r>
              <a:rPr dirty="0" spc="-20"/>
              <a:t> </a:t>
            </a:r>
            <a:r>
              <a:rPr dirty="0"/>
              <a:t>a</a:t>
            </a:r>
            <a:r>
              <a:rPr dirty="0" spc="-20"/>
              <a:t> </a:t>
            </a:r>
            <a:r>
              <a:rPr dirty="0" spc="-35"/>
              <a:t>function</a:t>
            </a:r>
            <a:r>
              <a:rPr dirty="0" spc="-20"/>
              <a:t> </a:t>
            </a:r>
            <a:r>
              <a:rPr dirty="0" spc="-30"/>
              <a:t>call</a:t>
            </a:r>
            <a:r>
              <a:rPr dirty="0" spc="-20"/>
              <a:t> </a:t>
            </a:r>
            <a:r>
              <a:rPr dirty="0"/>
              <a:t>is</a:t>
            </a:r>
            <a:r>
              <a:rPr dirty="0" spc="-20"/>
              <a:t> </a:t>
            </a:r>
            <a:r>
              <a:rPr dirty="0" spc="-65"/>
              <a:t>used</a:t>
            </a:r>
            <a:r>
              <a:rPr dirty="0"/>
              <a:t> </a:t>
            </a:r>
            <a:r>
              <a:rPr dirty="0" spc="-35"/>
              <a:t>as</a:t>
            </a:r>
            <a:r>
              <a:rPr dirty="0" spc="-20"/>
              <a:t> </a:t>
            </a:r>
            <a:r>
              <a:rPr dirty="0" spc="-10"/>
              <a:t>an</a:t>
            </a:r>
            <a:r>
              <a:rPr dirty="0" spc="-20"/>
              <a:t> </a:t>
            </a:r>
            <a:r>
              <a:rPr dirty="0" spc="-45"/>
              <a:t>expression,</a:t>
            </a:r>
            <a:r>
              <a:rPr dirty="0" spc="-20"/>
              <a:t> </a:t>
            </a:r>
            <a:r>
              <a:rPr dirty="0" spc="-25"/>
              <a:t>the </a:t>
            </a:r>
            <a:r>
              <a:rPr dirty="0" spc="-45"/>
              <a:t>return</a:t>
            </a:r>
            <a:r>
              <a:rPr dirty="0" spc="-5"/>
              <a:t> </a:t>
            </a:r>
            <a:r>
              <a:rPr dirty="0" spc="-80"/>
              <a:t>value</a:t>
            </a:r>
            <a:r>
              <a:rPr dirty="0" spc="-5"/>
              <a:t> </a:t>
            </a:r>
            <a:r>
              <a:rPr dirty="0" spc="-50"/>
              <a:t>is</a:t>
            </a:r>
            <a:r>
              <a:rPr dirty="0"/>
              <a:t> </a:t>
            </a:r>
            <a:r>
              <a:rPr dirty="0" spc="-50"/>
              <a:t>the</a:t>
            </a:r>
            <a:r>
              <a:rPr dirty="0" spc="-5"/>
              <a:t> </a:t>
            </a:r>
            <a:r>
              <a:rPr dirty="0" spc="-80"/>
              <a:t>value</a:t>
            </a:r>
            <a:r>
              <a:rPr dirty="0"/>
              <a:t> </a:t>
            </a:r>
            <a:r>
              <a:rPr dirty="0" spc="-50"/>
              <a:t>of</a:t>
            </a:r>
            <a:r>
              <a:rPr dirty="0" spc="-5"/>
              <a:t> </a:t>
            </a:r>
            <a:r>
              <a:rPr dirty="0" spc="-50"/>
              <a:t>the</a:t>
            </a:r>
            <a:r>
              <a:rPr dirty="0"/>
              <a:t> </a:t>
            </a:r>
            <a:r>
              <a:rPr dirty="0" spc="-10"/>
              <a:t>expression.</a:t>
            </a: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pc="-30" b="1">
                <a:latin typeface="Palatino Linotype"/>
                <a:cs typeface="Palatino Linotype"/>
              </a:rPr>
              <a:t>pure</a:t>
            </a:r>
            <a:r>
              <a:rPr dirty="0" spc="10" b="1">
                <a:latin typeface="Palatino Linotype"/>
                <a:cs typeface="Palatino Linotype"/>
              </a:rPr>
              <a:t> </a:t>
            </a:r>
            <a:r>
              <a:rPr dirty="0" spc="-30" b="1">
                <a:latin typeface="Palatino Linotype"/>
                <a:cs typeface="Palatino Linotype"/>
              </a:rPr>
              <a:t>function:</a:t>
            </a:r>
            <a:r>
              <a:rPr dirty="0" spc="15" b="1">
                <a:latin typeface="Palatino Linotype"/>
                <a:cs typeface="Palatino Linotype"/>
              </a:rPr>
              <a:t> </a:t>
            </a:r>
            <a:r>
              <a:rPr dirty="0"/>
              <a:t>A</a:t>
            </a:r>
            <a:r>
              <a:rPr dirty="0" spc="20"/>
              <a:t> </a:t>
            </a:r>
            <a:r>
              <a:rPr dirty="0" spc="-30"/>
              <a:t>function</a:t>
            </a:r>
            <a:r>
              <a:rPr dirty="0" spc="20"/>
              <a:t> </a:t>
            </a:r>
            <a:r>
              <a:rPr dirty="0" spc="-25"/>
              <a:t>that</a:t>
            </a:r>
            <a:r>
              <a:rPr dirty="0" spc="20"/>
              <a:t> </a:t>
            </a:r>
            <a:r>
              <a:rPr dirty="0" spc="-40"/>
              <a:t>does</a:t>
            </a:r>
            <a:r>
              <a:rPr dirty="0" spc="15"/>
              <a:t> </a:t>
            </a:r>
            <a:r>
              <a:rPr dirty="0"/>
              <a:t>not</a:t>
            </a:r>
            <a:r>
              <a:rPr dirty="0" spc="20"/>
              <a:t> </a:t>
            </a:r>
            <a:r>
              <a:rPr dirty="0" spc="-60"/>
              <a:t>display</a:t>
            </a:r>
            <a:r>
              <a:rPr dirty="0" spc="20"/>
              <a:t> </a:t>
            </a:r>
            <a:r>
              <a:rPr dirty="0" spc="-50"/>
              <a:t>anything</a:t>
            </a:r>
            <a:r>
              <a:rPr dirty="0" spc="15"/>
              <a:t> </a:t>
            </a:r>
            <a:r>
              <a:rPr dirty="0"/>
              <a:t>or</a:t>
            </a:r>
            <a:r>
              <a:rPr dirty="0" spc="20"/>
              <a:t> </a:t>
            </a:r>
            <a:r>
              <a:rPr dirty="0" spc="-55"/>
              <a:t>have</a:t>
            </a:r>
            <a:r>
              <a:rPr dirty="0" spc="20"/>
              <a:t> </a:t>
            </a:r>
            <a:r>
              <a:rPr dirty="0" spc="-40"/>
              <a:t>any</a:t>
            </a:r>
            <a:r>
              <a:rPr dirty="0" spc="20"/>
              <a:t> </a:t>
            </a:r>
            <a:r>
              <a:rPr dirty="0" spc="-20"/>
              <a:t>other</a:t>
            </a:r>
            <a:r>
              <a:rPr dirty="0" spc="15"/>
              <a:t> </a:t>
            </a:r>
            <a:r>
              <a:rPr dirty="0" spc="-20"/>
              <a:t>effect, </a:t>
            </a:r>
            <a:r>
              <a:rPr dirty="0" spc="-40"/>
              <a:t>other</a:t>
            </a:r>
            <a:r>
              <a:rPr dirty="0" spc="-15"/>
              <a:t> </a:t>
            </a:r>
            <a:r>
              <a:rPr dirty="0" spc="-55"/>
              <a:t>than</a:t>
            </a:r>
            <a:r>
              <a:rPr dirty="0" spc="-15"/>
              <a:t> </a:t>
            </a:r>
            <a:r>
              <a:rPr dirty="0" spc="-45"/>
              <a:t>returning</a:t>
            </a:r>
            <a:r>
              <a:rPr dirty="0" spc="-15"/>
              <a:t> </a:t>
            </a:r>
            <a:r>
              <a:rPr dirty="0" spc="-75"/>
              <a:t>a</a:t>
            </a:r>
            <a:r>
              <a:rPr dirty="0" spc="-10"/>
              <a:t> </a:t>
            </a:r>
            <a:r>
              <a:rPr dirty="0" spc="-45"/>
              <a:t>return</a:t>
            </a:r>
            <a:r>
              <a:rPr dirty="0" spc="-15"/>
              <a:t> </a:t>
            </a:r>
            <a:r>
              <a:rPr dirty="0" spc="-10"/>
              <a:t>value.</a:t>
            </a: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pc="-30" b="1">
                <a:latin typeface="Palatino Linotype"/>
                <a:cs typeface="Palatino Linotype"/>
              </a:rPr>
              <a:t>dead</a:t>
            </a:r>
            <a:r>
              <a:rPr dirty="0" spc="25" b="1">
                <a:latin typeface="Palatino Linotype"/>
                <a:cs typeface="Palatino Linotype"/>
              </a:rPr>
              <a:t> </a:t>
            </a:r>
            <a:r>
              <a:rPr dirty="0" spc="-10" b="1">
                <a:latin typeface="Palatino Linotype"/>
                <a:cs typeface="Palatino Linotype"/>
              </a:rPr>
              <a:t>code:</a:t>
            </a:r>
            <a:r>
              <a:rPr dirty="0" spc="35" b="1">
                <a:latin typeface="Palatino Linotype"/>
                <a:cs typeface="Palatino Linotype"/>
              </a:rPr>
              <a:t> </a:t>
            </a:r>
            <a:r>
              <a:rPr dirty="0" spc="-20"/>
              <a:t>Part</a:t>
            </a:r>
            <a:r>
              <a:rPr dirty="0" spc="35"/>
              <a:t> </a:t>
            </a:r>
            <a:r>
              <a:rPr dirty="0"/>
              <a:t>of</a:t>
            </a:r>
            <a:r>
              <a:rPr dirty="0" spc="35"/>
              <a:t> </a:t>
            </a:r>
            <a:r>
              <a:rPr dirty="0"/>
              <a:t>a</a:t>
            </a:r>
            <a:r>
              <a:rPr dirty="0" spc="30"/>
              <a:t> </a:t>
            </a:r>
            <a:r>
              <a:rPr dirty="0" spc="-45"/>
              <a:t>program</a:t>
            </a:r>
            <a:r>
              <a:rPr dirty="0" spc="35"/>
              <a:t> </a:t>
            </a:r>
            <a:r>
              <a:rPr dirty="0" spc="-20"/>
              <a:t>that</a:t>
            </a:r>
            <a:r>
              <a:rPr dirty="0" spc="35"/>
              <a:t> </a:t>
            </a:r>
            <a:r>
              <a:rPr dirty="0"/>
              <a:t>can</a:t>
            </a:r>
            <a:r>
              <a:rPr dirty="0" spc="35"/>
              <a:t> </a:t>
            </a:r>
            <a:r>
              <a:rPr dirty="0" spc="-40"/>
              <a:t>never</a:t>
            </a:r>
            <a:r>
              <a:rPr dirty="0" spc="30"/>
              <a:t> </a:t>
            </a:r>
            <a:r>
              <a:rPr dirty="0" spc="-10"/>
              <a:t>run,</a:t>
            </a:r>
            <a:r>
              <a:rPr dirty="0" spc="35"/>
              <a:t> </a:t>
            </a:r>
            <a:r>
              <a:rPr dirty="0" spc="-25"/>
              <a:t>often</a:t>
            </a:r>
            <a:r>
              <a:rPr dirty="0" spc="35"/>
              <a:t> </a:t>
            </a:r>
            <a:r>
              <a:rPr dirty="0" spc="-50"/>
              <a:t>because</a:t>
            </a:r>
            <a:r>
              <a:rPr dirty="0" spc="30"/>
              <a:t> </a:t>
            </a:r>
            <a:r>
              <a:rPr dirty="0"/>
              <a:t>it</a:t>
            </a:r>
            <a:r>
              <a:rPr dirty="0" spc="35"/>
              <a:t> </a:t>
            </a:r>
            <a:r>
              <a:rPr dirty="0" spc="-55"/>
              <a:t>appears</a:t>
            </a:r>
            <a:r>
              <a:rPr dirty="0" spc="35"/>
              <a:t> </a:t>
            </a:r>
            <a:r>
              <a:rPr dirty="0" spc="-25"/>
              <a:t>after</a:t>
            </a:r>
            <a:r>
              <a:rPr dirty="0" spc="35"/>
              <a:t> </a:t>
            </a:r>
            <a:r>
              <a:rPr dirty="0" spc="-50"/>
              <a:t>a</a:t>
            </a: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return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pc="-10"/>
              <a:t>statement.</a:t>
            </a: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pc="-40" b="1">
                <a:latin typeface="Palatino Linotype"/>
                <a:cs typeface="Palatino Linotype"/>
              </a:rPr>
              <a:t>incremental</a:t>
            </a:r>
            <a:r>
              <a:rPr dirty="0" spc="15" b="1">
                <a:latin typeface="Palatino Linotype"/>
                <a:cs typeface="Palatino Linotype"/>
              </a:rPr>
              <a:t> </a:t>
            </a:r>
            <a:r>
              <a:rPr dirty="0" spc="-50" b="1">
                <a:latin typeface="Palatino Linotype"/>
                <a:cs typeface="Palatino Linotype"/>
              </a:rPr>
              <a:t>development:</a:t>
            </a:r>
            <a:r>
              <a:rPr dirty="0" spc="30" b="1">
                <a:latin typeface="Palatino Linotype"/>
                <a:cs typeface="Palatino Linotype"/>
              </a:rPr>
              <a:t> </a:t>
            </a:r>
            <a:r>
              <a:rPr dirty="0"/>
              <a:t>A</a:t>
            </a:r>
            <a:r>
              <a:rPr dirty="0" spc="25"/>
              <a:t> </a:t>
            </a:r>
            <a:r>
              <a:rPr dirty="0" spc="-50"/>
              <a:t>program</a:t>
            </a:r>
            <a:r>
              <a:rPr dirty="0" spc="30"/>
              <a:t> </a:t>
            </a:r>
            <a:r>
              <a:rPr dirty="0" spc="-60"/>
              <a:t>development</a:t>
            </a:r>
            <a:r>
              <a:rPr dirty="0" spc="25"/>
              <a:t> </a:t>
            </a:r>
            <a:r>
              <a:rPr dirty="0" spc="-35"/>
              <a:t>plan</a:t>
            </a:r>
            <a:r>
              <a:rPr dirty="0" spc="30"/>
              <a:t> </a:t>
            </a:r>
            <a:r>
              <a:rPr dirty="0" spc="-45"/>
              <a:t>intended</a:t>
            </a:r>
            <a:r>
              <a:rPr dirty="0" spc="25"/>
              <a:t> </a:t>
            </a:r>
            <a:r>
              <a:rPr dirty="0"/>
              <a:t>to</a:t>
            </a:r>
            <a:r>
              <a:rPr dirty="0" spc="30"/>
              <a:t> </a:t>
            </a:r>
            <a:r>
              <a:rPr dirty="0" spc="-55"/>
              <a:t>avoid</a:t>
            </a:r>
            <a:r>
              <a:rPr dirty="0" spc="25"/>
              <a:t> </a:t>
            </a:r>
            <a:r>
              <a:rPr dirty="0" spc="-40"/>
              <a:t>debug‐ </a:t>
            </a:r>
            <a:r>
              <a:rPr dirty="0" spc="-70"/>
              <a:t>ging</a:t>
            </a:r>
            <a:r>
              <a:rPr dirty="0"/>
              <a:t> </a:t>
            </a:r>
            <a:r>
              <a:rPr dirty="0" spc="-85"/>
              <a:t>by</a:t>
            </a:r>
            <a:r>
              <a:rPr dirty="0"/>
              <a:t> </a:t>
            </a:r>
            <a:r>
              <a:rPr dirty="0" spc="-75"/>
              <a:t>adding</a:t>
            </a:r>
            <a:r>
              <a:rPr dirty="0"/>
              <a:t> </a:t>
            </a:r>
            <a:r>
              <a:rPr dirty="0" spc="-75"/>
              <a:t>and</a:t>
            </a:r>
            <a:r>
              <a:rPr dirty="0"/>
              <a:t> </a:t>
            </a:r>
            <a:r>
              <a:rPr dirty="0" spc="-50"/>
              <a:t>testing</a:t>
            </a:r>
            <a:r>
              <a:rPr dirty="0"/>
              <a:t> </a:t>
            </a:r>
            <a:r>
              <a:rPr dirty="0" spc="-65"/>
              <a:t>only</a:t>
            </a:r>
            <a:r>
              <a:rPr dirty="0"/>
              <a:t> </a:t>
            </a:r>
            <a:r>
              <a:rPr dirty="0" spc="-75"/>
              <a:t>a</a:t>
            </a:r>
            <a:r>
              <a:rPr dirty="0"/>
              <a:t> </a:t>
            </a:r>
            <a:r>
              <a:rPr dirty="0" spc="-65"/>
              <a:t>small</a:t>
            </a:r>
            <a:r>
              <a:rPr dirty="0"/>
              <a:t> </a:t>
            </a:r>
            <a:r>
              <a:rPr dirty="0" spc="-65"/>
              <a:t>amount</a:t>
            </a:r>
            <a:r>
              <a:rPr dirty="0"/>
              <a:t> </a:t>
            </a:r>
            <a:r>
              <a:rPr dirty="0" spc="-50"/>
              <a:t>of</a:t>
            </a:r>
            <a:r>
              <a:rPr dirty="0"/>
              <a:t> </a:t>
            </a:r>
            <a:r>
              <a:rPr dirty="0" spc="-60"/>
              <a:t>code</a:t>
            </a:r>
            <a:r>
              <a:rPr dirty="0"/>
              <a:t> </a:t>
            </a:r>
            <a:r>
              <a:rPr dirty="0" spc="-60"/>
              <a:t>at</a:t>
            </a:r>
            <a:r>
              <a:rPr dirty="0"/>
              <a:t> </a:t>
            </a:r>
            <a:r>
              <a:rPr dirty="0" spc="-75"/>
              <a:t>a</a:t>
            </a:r>
            <a:r>
              <a:rPr dirty="0"/>
              <a:t> </a:t>
            </a:r>
            <a:r>
              <a:rPr dirty="0" spc="-10"/>
              <a:t>time.</a:t>
            </a: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pc="-50" b="1">
                <a:latin typeface="Palatino Linotype"/>
                <a:cs typeface="Palatino Linotype"/>
              </a:rPr>
              <a:t>scaffolding:</a:t>
            </a:r>
            <a:r>
              <a:rPr dirty="0" spc="25" b="1">
                <a:latin typeface="Palatino Linotype"/>
                <a:cs typeface="Palatino Linotype"/>
              </a:rPr>
              <a:t> </a:t>
            </a:r>
            <a:r>
              <a:rPr dirty="0" spc="-35"/>
              <a:t>Code</a:t>
            </a:r>
            <a:r>
              <a:rPr dirty="0" spc="25"/>
              <a:t> </a:t>
            </a:r>
            <a:r>
              <a:rPr dirty="0" spc="-20"/>
              <a:t>that</a:t>
            </a:r>
            <a:r>
              <a:rPr dirty="0" spc="30"/>
              <a:t> </a:t>
            </a:r>
            <a:r>
              <a:rPr dirty="0"/>
              <a:t>is</a:t>
            </a:r>
            <a:r>
              <a:rPr dirty="0" spc="25"/>
              <a:t> </a:t>
            </a:r>
            <a:r>
              <a:rPr dirty="0" spc="-45"/>
              <a:t>used</a:t>
            </a:r>
            <a:r>
              <a:rPr dirty="0" spc="30"/>
              <a:t> </a:t>
            </a:r>
            <a:r>
              <a:rPr dirty="0" spc="-45"/>
              <a:t>during</a:t>
            </a:r>
            <a:r>
              <a:rPr dirty="0" spc="25"/>
              <a:t> </a:t>
            </a:r>
            <a:r>
              <a:rPr dirty="0" spc="-45"/>
              <a:t>program</a:t>
            </a:r>
            <a:r>
              <a:rPr dirty="0" spc="25"/>
              <a:t> </a:t>
            </a:r>
            <a:r>
              <a:rPr dirty="0" spc="-55"/>
              <a:t>development</a:t>
            </a:r>
            <a:r>
              <a:rPr dirty="0" spc="30"/>
              <a:t> </a:t>
            </a:r>
            <a:r>
              <a:rPr dirty="0" spc="-10"/>
              <a:t>but</a:t>
            </a:r>
            <a:r>
              <a:rPr dirty="0" spc="25"/>
              <a:t> </a:t>
            </a:r>
            <a:r>
              <a:rPr dirty="0"/>
              <a:t>is</a:t>
            </a:r>
            <a:r>
              <a:rPr dirty="0" spc="30"/>
              <a:t> </a:t>
            </a:r>
            <a:r>
              <a:rPr dirty="0"/>
              <a:t>not</a:t>
            </a:r>
            <a:r>
              <a:rPr dirty="0" spc="25"/>
              <a:t> </a:t>
            </a:r>
            <a:r>
              <a:rPr dirty="0" spc="-25"/>
              <a:t>part</a:t>
            </a:r>
            <a:r>
              <a:rPr dirty="0" spc="30"/>
              <a:t> </a:t>
            </a:r>
            <a:r>
              <a:rPr dirty="0"/>
              <a:t>of</a:t>
            </a:r>
            <a:r>
              <a:rPr dirty="0" spc="25"/>
              <a:t> </a:t>
            </a:r>
            <a:r>
              <a:rPr dirty="0" spc="-25"/>
              <a:t>the </a:t>
            </a:r>
            <a:r>
              <a:rPr dirty="0" spc="-50"/>
              <a:t>final</a:t>
            </a:r>
            <a:r>
              <a:rPr dirty="0" spc="15"/>
              <a:t> </a:t>
            </a:r>
            <a:r>
              <a:rPr dirty="0" spc="-10"/>
              <a:t>version.</a:t>
            </a: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pc="-45" b="1">
                <a:latin typeface="Palatino Linotype"/>
                <a:cs typeface="Palatino Linotype"/>
              </a:rPr>
              <a:t>Turing</a:t>
            </a:r>
            <a:r>
              <a:rPr dirty="0" spc="25" b="1">
                <a:latin typeface="Palatino Linotype"/>
                <a:cs typeface="Palatino Linotype"/>
              </a:rPr>
              <a:t> </a:t>
            </a:r>
            <a:r>
              <a:rPr dirty="0" spc="-40" b="1">
                <a:latin typeface="Palatino Linotype"/>
                <a:cs typeface="Palatino Linotype"/>
              </a:rPr>
              <a:t>complete:</a:t>
            </a:r>
            <a:r>
              <a:rPr dirty="0" spc="30" b="1">
                <a:latin typeface="Palatino Linotype"/>
                <a:cs typeface="Palatino Linotype"/>
              </a:rPr>
              <a:t> </a:t>
            </a:r>
            <a:r>
              <a:rPr dirty="0"/>
              <a:t>A</a:t>
            </a:r>
            <a:r>
              <a:rPr dirty="0" spc="35"/>
              <a:t> </a:t>
            </a:r>
            <a:r>
              <a:rPr dirty="0" spc="-60"/>
              <a:t>language,</a:t>
            </a:r>
            <a:r>
              <a:rPr dirty="0" spc="30"/>
              <a:t> </a:t>
            </a:r>
            <a:r>
              <a:rPr dirty="0"/>
              <a:t>or</a:t>
            </a:r>
            <a:r>
              <a:rPr dirty="0" spc="35"/>
              <a:t> </a:t>
            </a:r>
            <a:r>
              <a:rPr dirty="0" spc="-40"/>
              <a:t>subset</a:t>
            </a:r>
            <a:r>
              <a:rPr dirty="0" spc="35"/>
              <a:t> </a:t>
            </a:r>
            <a:r>
              <a:rPr dirty="0"/>
              <a:t>of</a:t>
            </a:r>
            <a:r>
              <a:rPr dirty="0" spc="30"/>
              <a:t> </a:t>
            </a:r>
            <a:r>
              <a:rPr dirty="0"/>
              <a:t>a</a:t>
            </a:r>
            <a:r>
              <a:rPr dirty="0" spc="35"/>
              <a:t> </a:t>
            </a:r>
            <a:r>
              <a:rPr dirty="0" spc="-60"/>
              <a:t>language,</a:t>
            </a:r>
            <a:r>
              <a:rPr dirty="0" spc="35"/>
              <a:t> </a:t>
            </a:r>
            <a:r>
              <a:rPr dirty="0"/>
              <a:t>is</a:t>
            </a:r>
            <a:r>
              <a:rPr dirty="0" spc="30"/>
              <a:t> </a:t>
            </a:r>
            <a:r>
              <a:rPr dirty="0" spc="-45"/>
              <a:t>Turing</a:t>
            </a:r>
            <a:r>
              <a:rPr dirty="0" spc="35"/>
              <a:t> </a:t>
            </a:r>
            <a:r>
              <a:rPr dirty="0" spc="-45"/>
              <a:t>complete</a:t>
            </a:r>
            <a:r>
              <a:rPr dirty="0" spc="35"/>
              <a:t> </a:t>
            </a:r>
            <a:r>
              <a:rPr dirty="0"/>
              <a:t>if</a:t>
            </a:r>
            <a:r>
              <a:rPr dirty="0" spc="30"/>
              <a:t> </a:t>
            </a:r>
            <a:r>
              <a:rPr dirty="0"/>
              <a:t>it</a:t>
            </a:r>
            <a:r>
              <a:rPr dirty="0" spc="35"/>
              <a:t> </a:t>
            </a:r>
            <a:r>
              <a:rPr dirty="0" spc="-25"/>
              <a:t>can </a:t>
            </a:r>
            <a:r>
              <a:rPr dirty="0" spc="-50"/>
              <a:t>perform</a:t>
            </a:r>
            <a:r>
              <a:rPr dirty="0" spc="-5"/>
              <a:t> </a:t>
            </a:r>
            <a:r>
              <a:rPr dirty="0" spc="-85"/>
              <a:t>any</a:t>
            </a:r>
            <a:r>
              <a:rPr dirty="0" spc="-5"/>
              <a:t> </a:t>
            </a:r>
            <a:r>
              <a:rPr dirty="0" spc="-55"/>
              <a:t>computation</a:t>
            </a:r>
            <a:r>
              <a:rPr dirty="0" spc="-5"/>
              <a:t> </a:t>
            </a:r>
            <a:r>
              <a:rPr dirty="0" spc="-55"/>
              <a:t>that</a:t>
            </a:r>
            <a:r>
              <a:rPr dirty="0" spc="-5"/>
              <a:t> </a:t>
            </a:r>
            <a:r>
              <a:rPr dirty="0" spc="-45"/>
              <a:t>can</a:t>
            </a:r>
            <a:r>
              <a:rPr dirty="0" spc="-5"/>
              <a:t> </a:t>
            </a:r>
            <a:r>
              <a:rPr dirty="0" spc="-55"/>
              <a:t>be</a:t>
            </a:r>
            <a:r>
              <a:rPr dirty="0" spc="-5"/>
              <a:t> </a:t>
            </a:r>
            <a:r>
              <a:rPr dirty="0" spc="-60"/>
              <a:t>described</a:t>
            </a:r>
            <a:r>
              <a:rPr dirty="0" spc="-5"/>
              <a:t> </a:t>
            </a:r>
            <a:r>
              <a:rPr dirty="0" spc="-85"/>
              <a:t>by</a:t>
            </a:r>
            <a:r>
              <a:rPr dirty="0" spc="-5"/>
              <a:t> </a:t>
            </a:r>
            <a:r>
              <a:rPr dirty="0" spc="-55"/>
              <a:t>an</a:t>
            </a:r>
            <a:r>
              <a:rPr dirty="0" spc="-5"/>
              <a:t> </a:t>
            </a:r>
            <a:r>
              <a:rPr dirty="0" spc="-10"/>
              <a:t>algorithm.</a:t>
            </a: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pc="-40" b="1">
                <a:latin typeface="Palatino Linotype"/>
                <a:cs typeface="Palatino Linotype"/>
              </a:rPr>
              <a:t>input</a:t>
            </a:r>
            <a:r>
              <a:rPr dirty="0" spc="-30" b="1">
                <a:latin typeface="Palatino Linotype"/>
                <a:cs typeface="Palatino Linotype"/>
              </a:rPr>
              <a:t> </a:t>
            </a:r>
            <a:r>
              <a:rPr dirty="0" spc="-40" b="1">
                <a:latin typeface="Palatino Linotype"/>
                <a:cs typeface="Palatino Linotype"/>
              </a:rPr>
              <a:t>validation:</a:t>
            </a:r>
            <a:r>
              <a:rPr dirty="0" spc="-5" b="1">
                <a:latin typeface="Palatino Linotype"/>
                <a:cs typeface="Palatino Linotype"/>
              </a:rPr>
              <a:t> </a:t>
            </a:r>
            <a:r>
              <a:rPr dirty="0" spc="-45"/>
              <a:t>Checking</a:t>
            </a:r>
            <a:r>
              <a:rPr dirty="0" spc="-10"/>
              <a:t> </a:t>
            </a:r>
            <a:r>
              <a:rPr dirty="0" spc="-20"/>
              <a:t>the</a:t>
            </a:r>
            <a:r>
              <a:rPr dirty="0" spc="-5"/>
              <a:t> </a:t>
            </a:r>
            <a:r>
              <a:rPr dirty="0" spc="-50"/>
              <a:t>parameters</a:t>
            </a:r>
            <a:r>
              <a:rPr dirty="0" spc="-10"/>
              <a:t> </a:t>
            </a:r>
            <a:r>
              <a:rPr dirty="0"/>
              <a:t>of</a:t>
            </a:r>
            <a:r>
              <a:rPr dirty="0" spc="-5"/>
              <a:t> </a:t>
            </a:r>
            <a:r>
              <a:rPr dirty="0"/>
              <a:t>a</a:t>
            </a:r>
            <a:r>
              <a:rPr dirty="0" spc="-10"/>
              <a:t> </a:t>
            </a:r>
            <a:r>
              <a:rPr dirty="0" spc="-35"/>
              <a:t>function</a:t>
            </a:r>
            <a:r>
              <a:rPr dirty="0" spc="-5"/>
              <a:t> </a:t>
            </a:r>
            <a:r>
              <a:rPr dirty="0"/>
              <a:t>to</a:t>
            </a:r>
            <a:r>
              <a:rPr dirty="0" spc="-10"/>
              <a:t> </a:t>
            </a:r>
            <a:r>
              <a:rPr dirty="0" spc="-55"/>
              <a:t>make</a:t>
            </a:r>
            <a:r>
              <a:rPr dirty="0" spc="-5"/>
              <a:t> </a:t>
            </a:r>
            <a:r>
              <a:rPr dirty="0" spc="-45"/>
              <a:t>sure</a:t>
            </a:r>
            <a:r>
              <a:rPr dirty="0" spc="-10"/>
              <a:t> </a:t>
            </a:r>
            <a:r>
              <a:rPr dirty="0" spc="-50"/>
              <a:t>they</a:t>
            </a:r>
            <a:r>
              <a:rPr dirty="0" spc="-5"/>
              <a:t> </a:t>
            </a:r>
            <a:r>
              <a:rPr dirty="0" spc="-70"/>
              <a:t>have</a:t>
            </a:r>
            <a:r>
              <a:rPr dirty="0" spc="5"/>
              <a:t> </a:t>
            </a:r>
            <a:r>
              <a:rPr dirty="0" spc="-25"/>
              <a:t>the </a:t>
            </a:r>
            <a:r>
              <a:rPr dirty="0" spc="-35"/>
              <a:t>correct</a:t>
            </a:r>
            <a:r>
              <a:rPr dirty="0" spc="5"/>
              <a:t> </a:t>
            </a:r>
            <a:r>
              <a:rPr dirty="0" spc="-75"/>
              <a:t>types</a:t>
            </a:r>
            <a:r>
              <a:rPr dirty="0" spc="10"/>
              <a:t> </a:t>
            </a:r>
            <a:r>
              <a:rPr dirty="0" spc="-75"/>
              <a:t>and</a:t>
            </a:r>
            <a:r>
              <a:rPr dirty="0" spc="10"/>
              <a:t> </a:t>
            </a:r>
            <a:r>
              <a:rPr dirty="0" spc="-10"/>
              <a:t>values.</a:t>
            </a: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/>
              <a:t>In</a:t>
            </a:r>
            <a:r>
              <a:rPr dirty="0" spc="-15"/>
              <a:t> </a:t>
            </a:r>
            <a:r>
              <a:rPr dirty="0" spc="-50"/>
              <a:t>this</a:t>
            </a:r>
            <a:r>
              <a:rPr dirty="0" spc="-10"/>
              <a:t> </a:t>
            </a:r>
            <a:r>
              <a:rPr dirty="0" spc="-60"/>
              <a:t>chapter,</a:t>
            </a:r>
            <a:r>
              <a:rPr dirty="0" spc="-10"/>
              <a:t> </a:t>
            </a:r>
            <a:r>
              <a:rPr dirty="0" spc="-120"/>
              <a:t>we</a:t>
            </a:r>
            <a:r>
              <a:rPr dirty="0" spc="-10"/>
              <a:t> </a:t>
            </a:r>
            <a:r>
              <a:rPr dirty="0" spc="-110"/>
              <a:t>saw</a:t>
            </a:r>
            <a:r>
              <a:rPr dirty="0" spc="-15"/>
              <a:t> </a:t>
            </a:r>
            <a:r>
              <a:rPr dirty="0" spc="-55"/>
              <a:t>an</a:t>
            </a:r>
            <a:r>
              <a:rPr dirty="0" spc="-10"/>
              <a:t> </a:t>
            </a:r>
            <a:r>
              <a:rPr dirty="0" spc="-35"/>
              <a:t>incorrect</a:t>
            </a:r>
            <a:r>
              <a:rPr dirty="0" spc="-10"/>
              <a:t> </a:t>
            </a:r>
            <a:r>
              <a:rPr dirty="0" spc="-40"/>
              <a:t>function</a:t>
            </a:r>
            <a:r>
              <a:rPr dirty="0" spc="-10"/>
              <a:t> </a:t>
            </a:r>
            <a:r>
              <a:rPr dirty="0" spc="-55"/>
              <a:t>that</a:t>
            </a:r>
            <a:r>
              <a:rPr dirty="0" spc="-10"/>
              <a:t> </a:t>
            </a:r>
            <a:r>
              <a:rPr dirty="0" spc="-45"/>
              <a:t>can</a:t>
            </a:r>
            <a:r>
              <a:rPr dirty="0" spc="-15"/>
              <a:t> </a:t>
            </a:r>
            <a:r>
              <a:rPr dirty="0" spc="-70"/>
              <a:t>end</a:t>
            </a:r>
            <a:r>
              <a:rPr dirty="0" spc="-10"/>
              <a:t> </a:t>
            </a:r>
            <a:r>
              <a:rPr dirty="0" spc="-60"/>
              <a:t>without</a:t>
            </a:r>
            <a:r>
              <a:rPr dirty="0" spc="-10"/>
              <a:t> </a:t>
            </a:r>
            <a:r>
              <a:rPr dirty="0" spc="-45"/>
              <a:t>returning</a:t>
            </a:r>
            <a:r>
              <a:rPr dirty="0" spc="-10"/>
              <a:t> </a:t>
            </a:r>
            <a:r>
              <a:rPr dirty="0" spc="-75"/>
              <a:t>a</a:t>
            </a:r>
            <a:r>
              <a:rPr dirty="0" spc="-15"/>
              <a:t> </a:t>
            </a:r>
            <a:r>
              <a:rPr dirty="0" spc="-10"/>
              <a:t>value:</a:t>
            </a: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absolute_value_wrong(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pc="-85"/>
              <a:t>And</a:t>
            </a:r>
            <a:r>
              <a:rPr dirty="0" spc="-10"/>
              <a:t> </a:t>
            </a:r>
            <a:r>
              <a:rPr dirty="0" spc="-75"/>
              <a:t>a</a:t>
            </a:r>
            <a:r>
              <a:rPr dirty="0" spc="-5"/>
              <a:t> </a:t>
            </a:r>
            <a:r>
              <a:rPr dirty="0" spc="-55"/>
              <a:t>version</a:t>
            </a:r>
            <a:r>
              <a:rPr dirty="0" spc="-5"/>
              <a:t> </a:t>
            </a:r>
            <a:r>
              <a:rPr dirty="0" spc="-50"/>
              <a:t>of</a:t>
            </a:r>
            <a:r>
              <a:rPr dirty="0" spc="-5"/>
              <a:t> </a:t>
            </a:r>
            <a:r>
              <a:rPr dirty="0" spc="-50"/>
              <a:t>the</a:t>
            </a:r>
            <a:r>
              <a:rPr dirty="0" spc="-5"/>
              <a:t> </a:t>
            </a:r>
            <a:r>
              <a:rPr dirty="0" spc="-75"/>
              <a:t>same</a:t>
            </a:r>
            <a:r>
              <a:rPr dirty="0" spc="-5"/>
              <a:t> </a:t>
            </a:r>
            <a:r>
              <a:rPr dirty="0" spc="-40"/>
              <a:t>function</a:t>
            </a:r>
            <a:r>
              <a:rPr dirty="0" spc="-5"/>
              <a:t> </a:t>
            </a:r>
            <a:r>
              <a:rPr dirty="0" spc="-55"/>
              <a:t>that</a:t>
            </a:r>
            <a:r>
              <a:rPr dirty="0" spc="-5"/>
              <a:t> </a:t>
            </a:r>
            <a:r>
              <a:rPr dirty="0" spc="-70"/>
              <a:t>has</a:t>
            </a:r>
            <a:r>
              <a:rPr dirty="0" spc="-5"/>
              <a:t> </a:t>
            </a:r>
            <a:r>
              <a:rPr dirty="0" spc="-85"/>
              <a:t>dead</a:t>
            </a:r>
            <a:r>
              <a:rPr dirty="0" spc="-5"/>
              <a:t> </a:t>
            </a:r>
            <a:r>
              <a:rPr dirty="0" spc="-60"/>
              <a:t>code</a:t>
            </a:r>
            <a:r>
              <a:rPr dirty="0" spc="-5"/>
              <a:t> </a:t>
            </a:r>
            <a:r>
              <a:rPr dirty="0" spc="-60"/>
              <a:t>at</a:t>
            </a:r>
            <a:r>
              <a:rPr dirty="0" spc="-5"/>
              <a:t> </a:t>
            </a:r>
            <a:r>
              <a:rPr dirty="0" spc="-50"/>
              <a:t>the</a:t>
            </a:r>
            <a:r>
              <a:rPr dirty="0" spc="-5"/>
              <a:t> </a:t>
            </a:r>
            <a:r>
              <a:rPr dirty="0" spc="-20"/>
              <a:t>end:</a:t>
            </a: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absolute_value_extra_return(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ct val="100000"/>
              </a:lnSpc>
              <a:spcBef>
                <a:spcPts val="680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'This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is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dead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code.'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91685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87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721360"/>
            <a:chOff x="914400" y="922019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2434243" y="5688339"/>
            <a:ext cx="30480" cy="118110"/>
          </a:xfrm>
          <a:custGeom>
            <a:avLst/>
            <a:gdLst/>
            <a:ahLst/>
            <a:cxnLst/>
            <a:rect l="l" t="t" r="r" b="b"/>
            <a:pathLst>
              <a:path w="30480" h="118110">
                <a:moveTo>
                  <a:pt x="27550" y="117748"/>
                </a:moveTo>
                <a:lnTo>
                  <a:pt x="15240" y="106396"/>
                </a:lnTo>
                <a:lnTo>
                  <a:pt x="6659" y="92418"/>
                </a:lnTo>
                <a:lnTo>
                  <a:pt x="1636" y="76352"/>
                </a:lnTo>
                <a:lnTo>
                  <a:pt x="0" y="58739"/>
                </a:lnTo>
                <a:lnTo>
                  <a:pt x="1636" y="41301"/>
                </a:lnTo>
                <a:lnTo>
                  <a:pt x="6659" y="25346"/>
                </a:lnTo>
                <a:lnTo>
                  <a:pt x="15240" y="11403"/>
                </a:lnTo>
                <a:lnTo>
                  <a:pt x="27550" y="0"/>
                </a:lnTo>
                <a:lnTo>
                  <a:pt x="29910" y="3084"/>
                </a:lnTo>
                <a:lnTo>
                  <a:pt x="21190" y="13253"/>
                </a:lnTo>
                <a:lnTo>
                  <a:pt x="14748" y="26503"/>
                </a:lnTo>
                <a:lnTo>
                  <a:pt x="10756" y="41990"/>
                </a:lnTo>
                <a:lnTo>
                  <a:pt x="9387" y="58874"/>
                </a:lnTo>
                <a:lnTo>
                  <a:pt x="10775" y="75759"/>
                </a:lnTo>
                <a:lnTo>
                  <a:pt x="14798" y="91261"/>
                </a:lnTo>
                <a:lnTo>
                  <a:pt x="21246" y="104550"/>
                </a:lnTo>
                <a:lnTo>
                  <a:pt x="29910" y="114797"/>
                </a:lnTo>
                <a:lnTo>
                  <a:pt x="27550" y="117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705326" y="5688339"/>
            <a:ext cx="30480" cy="118110"/>
          </a:xfrm>
          <a:custGeom>
            <a:avLst/>
            <a:gdLst/>
            <a:ahLst/>
            <a:cxnLst/>
            <a:rect l="l" t="t" r="r" b="b"/>
            <a:pathLst>
              <a:path w="30480" h="118110">
                <a:moveTo>
                  <a:pt x="2480" y="117748"/>
                </a:moveTo>
                <a:lnTo>
                  <a:pt x="0" y="114797"/>
                </a:lnTo>
                <a:lnTo>
                  <a:pt x="8845" y="104494"/>
                </a:lnTo>
                <a:lnTo>
                  <a:pt x="15316" y="91211"/>
                </a:lnTo>
                <a:lnTo>
                  <a:pt x="19290" y="75740"/>
                </a:lnTo>
                <a:lnTo>
                  <a:pt x="20642" y="58874"/>
                </a:lnTo>
                <a:lnTo>
                  <a:pt x="19254" y="41972"/>
                </a:lnTo>
                <a:lnTo>
                  <a:pt x="15221" y="26453"/>
                </a:lnTo>
                <a:lnTo>
                  <a:pt x="8738" y="13197"/>
                </a:lnTo>
                <a:lnTo>
                  <a:pt x="0" y="3084"/>
                </a:lnTo>
                <a:lnTo>
                  <a:pt x="2480" y="0"/>
                </a:lnTo>
                <a:lnTo>
                  <a:pt x="14992" y="11462"/>
                </a:lnTo>
                <a:lnTo>
                  <a:pt x="23551" y="25413"/>
                </a:lnTo>
                <a:lnTo>
                  <a:pt x="28461" y="41376"/>
                </a:lnTo>
                <a:lnTo>
                  <a:pt x="30030" y="58874"/>
                </a:lnTo>
                <a:lnTo>
                  <a:pt x="28461" y="76352"/>
                </a:lnTo>
                <a:lnTo>
                  <a:pt x="23551" y="92284"/>
                </a:lnTo>
                <a:lnTo>
                  <a:pt x="14992" y="106229"/>
                </a:lnTo>
                <a:lnTo>
                  <a:pt x="2480" y="117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901637" y="650030"/>
            <a:ext cx="4598035" cy="516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saw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idiomatic:</a:t>
            </a:r>
            <a:endParaRPr sz="1050">
              <a:latin typeface="Palatino Linotype"/>
              <a:cs typeface="Palatino Linotype"/>
            </a:endParaRPr>
          </a:p>
          <a:p>
            <a:pPr algn="ctr" marR="3268979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is_divisible(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322954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 marR="35242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wrong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spot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prove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style.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Then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 spc="-30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coordinates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distance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them.”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resembles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distance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wrote 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chapter.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050" spc="-9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incremental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development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hypot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length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hypotenuse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right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triangle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given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lengths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other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two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legs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 spc="-10">
                <a:latin typeface="Palatino Linotype"/>
                <a:cs typeface="Palatino Linotype"/>
              </a:rPr>
              <a:t>argume</a:t>
            </a:r>
            <a:r>
              <a:rPr dirty="0" sz="1050" spc="-10">
                <a:latin typeface="Palatino Linotype"/>
                <a:cs typeface="Palatino Linotype"/>
              </a:rPr>
              <a:t>nts.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ote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</a:t>
            </a:r>
            <a:r>
              <a:rPr dirty="0" sz="1050" spc="-110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math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hypot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thing,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exercise!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70">
                <a:latin typeface="Palatino Linotype"/>
                <a:cs typeface="Palatino Linotype"/>
              </a:rPr>
              <a:t>E</a:t>
            </a:r>
            <a:r>
              <a:rPr dirty="0" sz="1050" spc="-70">
                <a:latin typeface="Palatino Linotype"/>
                <a:cs typeface="Palatino Linotype"/>
              </a:rPr>
              <a:t>ven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correctly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85">
                <a:latin typeface="Palatino Linotype"/>
                <a:cs typeface="Palatino Linotype"/>
              </a:rPr>
              <a:t>alw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practice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</a:t>
            </a:r>
            <a:r>
              <a:rPr dirty="0" sz="1050" spc="-10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 </a:t>
            </a:r>
            <a:r>
              <a:rPr dirty="0" sz="1050" spc="-50">
                <a:latin typeface="Palatino Linotype"/>
                <a:cs typeface="Palatino Linotype"/>
              </a:rPr>
              <a:t>done,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value—it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ything.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20"/>
              </a:spcBef>
            </a:pP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boolean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is_between(x, y, z)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x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50">
                <a:latin typeface="Palatino Linotype"/>
                <a:cs typeface="Palatino Linotype"/>
              </a:rPr>
              <a:t>&lt;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y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50">
                <a:latin typeface="Palatino Linotype"/>
                <a:cs typeface="Palatino Linotype"/>
              </a:rPr>
              <a:t>&lt;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z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50" i="1">
                <a:latin typeface="Palatino Linotype"/>
                <a:cs typeface="Palatino Linotype"/>
              </a:rPr>
              <a:t>z</a:t>
            </a:r>
            <a:r>
              <a:rPr dirty="0" sz="1050" spc="25" i="1">
                <a:latin typeface="Palatino Linotype"/>
                <a:cs typeface="Palatino Linotype"/>
              </a:rPr>
              <a:t> </a:t>
            </a:r>
            <a:r>
              <a:rPr dirty="0" sz="1050" spc="50">
                <a:latin typeface="Palatino Linotype"/>
                <a:cs typeface="Palatino Linotype"/>
              </a:rPr>
              <a:t>&lt;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y</a:t>
            </a:r>
            <a:r>
              <a:rPr dirty="0" sz="1050" spc="25" i="1">
                <a:latin typeface="Palatino Linotype"/>
                <a:cs typeface="Palatino Linotype"/>
              </a:rPr>
              <a:t> </a:t>
            </a:r>
            <a:r>
              <a:rPr dirty="0" sz="1050" spc="50">
                <a:latin typeface="Palatino Linotype"/>
                <a:cs typeface="Palatino Linotype"/>
              </a:rPr>
              <a:t>&lt;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x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otherwise.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Ackermann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</a:t>
            </a:r>
            <a:r>
              <a:rPr dirty="0" sz="1050" spc="6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m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</a:t>
            </a:r>
            <a:r>
              <a:rPr dirty="0" sz="1050" spc="90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25">
                <a:latin typeface="Palatino Linotype"/>
                <a:cs typeface="Palatino Linotype"/>
              </a:rPr>
              <a:t> as: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200581" y="6207779"/>
            <a:ext cx="28575" cy="112395"/>
          </a:xfrm>
          <a:custGeom>
            <a:avLst/>
            <a:gdLst/>
            <a:ahLst/>
            <a:cxnLst/>
            <a:rect l="l" t="t" r="r" b="b"/>
            <a:pathLst>
              <a:path w="28575" h="112395">
                <a:moveTo>
                  <a:pt x="26238" y="112140"/>
                </a:moveTo>
                <a:lnTo>
                  <a:pt x="14514" y="101330"/>
                </a:lnTo>
                <a:lnTo>
                  <a:pt x="6342" y="88017"/>
                </a:lnTo>
                <a:lnTo>
                  <a:pt x="1558" y="72716"/>
                </a:lnTo>
                <a:lnTo>
                  <a:pt x="0" y="55942"/>
                </a:lnTo>
                <a:lnTo>
                  <a:pt x="1558" y="39334"/>
                </a:lnTo>
                <a:lnTo>
                  <a:pt x="6342" y="24139"/>
                </a:lnTo>
                <a:lnTo>
                  <a:pt x="14514" y="10860"/>
                </a:lnTo>
                <a:lnTo>
                  <a:pt x="26238" y="0"/>
                </a:lnTo>
                <a:lnTo>
                  <a:pt x="28486" y="2937"/>
                </a:lnTo>
                <a:lnTo>
                  <a:pt x="20181" y="12622"/>
                </a:lnTo>
                <a:lnTo>
                  <a:pt x="14046" y="25241"/>
                </a:lnTo>
                <a:lnTo>
                  <a:pt x="10244" y="39991"/>
                </a:lnTo>
                <a:lnTo>
                  <a:pt x="8940" y="56070"/>
                </a:lnTo>
                <a:lnTo>
                  <a:pt x="10262" y="72151"/>
                </a:lnTo>
                <a:lnTo>
                  <a:pt x="14093" y="86915"/>
                </a:lnTo>
                <a:lnTo>
                  <a:pt x="20235" y="99572"/>
                </a:lnTo>
                <a:lnTo>
                  <a:pt x="28486" y="109331"/>
                </a:lnTo>
                <a:lnTo>
                  <a:pt x="26238" y="112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458755" y="6207779"/>
            <a:ext cx="29209" cy="112395"/>
          </a:xfrm>
          <a:custGeom>
            <a:avLst/>
            <a:gdLst/>
            <a:ahLst/>
            <a:cxnLst/>
            <a:rect l="l" t="t" r="r" b="b"/>
            <a:pathLst>
              <a:path w="29209" h="112395">
                <a:moveTo>
                  <a:pt x="2362" y="112140"/>
                </a:moveTo>
                <a:lnTo>
                  <a:pt x="0" y="109331"/>
                </a:lnTo>
                <a:lnTo>
                  <a:pt x="8424" y="99518"/>
                </a:lnTo>
                <a:lnTo>
                  <a:pt x="14587" y="86867"/>
                </a:lnTo>
                <a:lnTo>
                  <a:pt x="18371" y="72133"/>
                </a:lnTo>
                <a:lnTo>
                  <a:pt x="19659" y="56070"/>
                </a:lnTo>
                <a:lnTo>
                  <a:pt x="18338" y="39973"/>
                </a:lnTo>
                <a:lnTo>
                  <a:pt x="14497" y="25193"/>
                </a:lnTo>
                <a:lnTo>
                  <a:pt x="8322" y="12568"/>
                </a:lnTo>
                <a:lnTo>
                  <a:pt x="0" y="2937"/>
                </a:lnTo>
                <a:lnTo>
                  <a:pt x="2362" y="0"/>
                </a:lnTo>
                <a:lnTo>
                  <a:pt x="14278" y="10916"/>
                </a:lnTo>
                <a:lnTo>
                  <a:pt x="22429" y="24203"/>
                </a:lnTo>
                <a:lnTo>
                  <a:pt x="27106" y="39406"/>
                </a:lnTo>
                <a:lnTo>
                  <a:pt x="28600" y="56070"/>
                </a:lnTo>
                <a:lnTo>
                  <a:pt x="27106" y="72716"/>
                </a:lnTo>
                <a:lnTo>
                  <a:pt x="22429" y="87889"/>
                </a:lnTo>
                <a:lnTo>
                  <a:pt x="14278" y="101170"/>
                </a:lnTo>
                <a:lnTo>
                  <a:pt x="2362" y="112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649504" y="6017724"/>
            <a:ext cx="28575" cy="492759"/>
          </a:xfrm>
          <a:custGeom>
            <a:avLst/>
            <a:gdLst/>
            <a:ahLst/>
            <a:cxnLst/>
            <a:rect l="l" t="t" r="r" b="b"/>
            <a:pathLst>
              <a:path w="28575" h="492759">
                <a:moveTo>
                  <a:pt x="28346" y="492252"/>
                </a:moveTo>
                <a:lnTo>
                  <a:pt x="22466" y="491281"/>
                </a:lnTo>
                <a:lnTo>
                  <a:pt x="16698" y="486943"/>
                </a:lnTo>
                <a:lnTo>
                  <a:pt x="12310" y="477100"/>
                </a:lnTo>
                <a:lnTo>
                  <a:pt x="10566" y="459613"/>
                </a:lnTo>
                <a:lnTo>
                  <a:pt x="11252" y="362211"/>
                </a:lnTo>
                <a:lnTo>
                  <a:pt x="11379" y="262280"/>
                </a:lnTo>
                <a:lnTo>
                  <a:pt x="10998" y="250901"/>
                </a:lnTo>
                <a:lnTo>
                  <a:pt x="0" y="249377"/>
                </a:lnTo>
                <a:lnTo>
                  <a:pt x="0" y="241249"/>
                </a:lnTo>
                <a:lnTo>
                  <a:pt x="10998" y="239750"/>
                </a:lnTo>
                <a:lnTo>
                  <a:pt x="11379" y="228549"/>
                </a:lnTo>
                <a:lnTo>
                  <a:pt x="11252" y="128501"/>
                </a:lnTo>
                <a:lnTo>
                  <a:pt x="10566" y="32893"/>
                </a:lnTo>
                <a:lnTo>
                  <a:pt x="12310" y="15344"/>
                </a:lnTo>
                <a:lnTo>
                  <a:pt x="16698" y="5416"/>
                </a:lnTo>
                <a:lnTo>
                  <a:pt x="22466" y="1003"/>
                </a:lnTo>
                <a:lnTo>
                  <a:pt x="28346" y="0"/>
                </a:lnTo>
                <a:lnTo>
                  <a:pt x="28346" y="6985"/>
                </a:lnTo>
                <a:lnTo>
                  <a:pt x="22767" y="10119"/>
                </a:lnTo>
                <a:lnTo>
                  <a:pt x="19608" y="15427"/>
                </a:lnTo>
                <a:lnTo>
                  <a:pt x="18202" y="22369"/>
                </a:lnTo>
                <a:lnTo>
                  <a:pt x="17881" y="30403"/>
                </a:lnTo>
                <a:lnTo>
                  <a:pt x="18694" y="71961"/>
                </a:lnTo>
                <a:lnTo>
                  <a:pt x="19253" y="124747"/>
                </a:lnTo>
                <a:lnTo>
                  <a:pt x="19507" y="215569"/>
                </a:lnTo>
                <a:lnTo>
                  <a:pt x="8940" y="244779"/>
                </a:lnTo>
                <a:lnTo>
                  <a:pt x="8940" y="245846"/>
                </a:lnTo>
                <a:lnTo>
                  <a:pt x="13758" y="249902"/>
                </a:lnTo>
                <a:lnTo>
                  <a:pt x="17038" y="256632"/>
                </a:lnTo>
                <a:lnTo>
                  <a:pt x="18911" y="265366"/>
                </a:lnTo>
                <a:lnTo>
                  <a:pt x="19507" y="275437"/>
                </a:lnTo>
                <a:lnTo>
                  <a:pt x="19253" y="366595"/>
                </a:lnTo>
                <a:lnTo>
                  <a:pt x="18694" y="419354"/>
                </a:lnTo>
                <a:lnTo>
                  <a:pt x="17881" y="460629"/>
                </a:lnTo>
                <a:lnTo>
                  <a:pt x="18202" y="468977"/>
                </a:lnTo>
                <a:lnTo>
                  <a:pt x="19608" y="476211"/>
                </a:lnTo>
                <a:lnTo>
                  <a:pt x="22767" y="481788"/>
                </a:lnTo>
                <a:lnTo>
                  <a:pt x="28346" y="485165"/>
                </a:lnTo>
                <a:lnTo>
                  <a:pt x="28346" y="4922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672686" y="5970353"/>
            <a:ext cx="2844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+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27497" y="5940127"/>
            <a:ext cx="1026794" cy="39116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 </a:t>
            </a:r>
            <a:r>
              <a:rPr dirty="0" sz="1000" spc="50">
                <a:latin typeface="Palatino Linotype"/>
                <a:cs typeface="Palatino Linotype"/>
              </a:rPr>
              <a:t>&gt;</a:t>
            </a:r>
            <a:r>
              <a:rPr dirty="0" sz="1000">
                <a:latin typeface="Palatino Linotype"/>
                <a:cs typeface="Palatino Linotype"/>
              </a:rPr>
              <a:t> 0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 </a:t>
            </a: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781126" y="6207779"/>
            <a:ext cx="28575" cy="112395"/>
          </a:xfrm>
          <a:custGeom>
            <a:avLst/>
            <a:gdLst/>
            <a:ahLst/>
            <a:cxnLst/>
            <a:rect l="l" t="t" r="r" b="b"/>
            <a:pathLst>
              <a:path w="28575" h="112395">
                <a:moveTo>
                  <a:pt x="26238" y="112140"/>
                </a:moveTo>
                <a:lnTo>
                  <a:pt x="14514" y="101330"/>
                </a:lnTo>
                <a:lnTo>
                  <a:pt x="6342" y="88017"/>
                </a:lnTo>
                <a:lnTo>
                  <a:pt x="1558" y="72716"/>
                </a:lnTo>
                <a:lnTo>
                  <a:pt x="0" y="55942"/>
                </a:lnTo>
                <a:lnTo>
                  <a:pt x="1558" y="39334"/>
                </a:lnTo>
                <a:lnTo>
                  <a:pt x="6342" y="24139"/>
                </a:lnTo>
                <a:lnTo>
                  <a:pt x="14514" y="10860"/>
                </a:lnTo>
                <a:lnTo>
                  <a:pt x="26238" y="0"/>
                </a:lnTo>
                <a:lnTo>
                  <a:pt x="28486" y="2937"/>
                </a:lnTo>
                <a:lnTo>
                  <a:pt x="20181" y="12622"/>
                </a:lnTo>
                <a:lnTo>
                  <a:pt x="14046" y="25241"/>
                </a:lnTo>
                <a:lnTo>
                  <a:pt x="10244" y="39991"/>
                </a:lnTo>
                <a:lnTo>
                  <a:pt x="8940" y="56070"/>
                </a:lnTo>
                <a:lnTo>
                  <a:pt x="10262" y="72151"/>
                </a:lnTo>
                <a:lnTo>
                  <a:pt x="14093" y="86915"/>
                </a:lnTo>
                <a:lnTo>
                  <a:pt x="20235" y="99572"/>
                </a:lnTo>
                <a:lnTo>
                  <a:pt x="28486" y="109331"/>
                </a:lnTo>
                <a:lnTo>
                  <a:pt x="26238" y="112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094582" y="6152979"/>
            <a:ext cx="11366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=</a:t>
            </a:r>
            <a:r>
              <a:rPr dirty="0" sz="1000" spc="3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1,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223761" y="6207779"/>
            <a:ext cx="29209" cy="112395"/>
          </a:xfrm>
          <a:custGeom>
            <a:avLst/>
            <a:gdLst/>
            <a:ahLst/>
            <a:cxnLst/>
            <a:rect l="l" t="t" r="r" b="b"/>
            <a:pathLst>
              <a:path w="29210" h="112395">
                <a:moveTo>
                  <a:pt x="2362" y="112140"/>
                </a:moveTo>
                <a:lnTo>
                  <a:pt x="0" y="109331"/>
                </a:lnTo>
                <a:lnTo>
                  <a:pt x="8424" y="99518"/>
                </a:lnTo>
                <a:lnTo>
                  <a:pt x="14587" y="86867"/>
                </a:lnTo>
                <a:lnTo>
                  <a:pt x="18371" y="72133"/>
                </a:lnTo>
                <a:lnTo>
                  <a:pt x="19659" y="56070"/>
                </a:lnTo>
                <a:lnTo>
                  <a:pt x="18338" y="39973"/>
                </a:lnTo>
                <a:lnTo>
                  <a:pt x="14497" y="25193"/>
                </a:lnTo>
                <a:lnTo>
                  <a:pt x="8322" y="12568"/>
                </a:lnTo>
                <a:lnTo>
                  <a:pt x="0" y="2937"/>
                </a:lnTo>
                <a:lnTo>
                  <a:pt x="2362" y="0"/>
                </a:lnTo>
                <a:lnTo>
                  <a:pt x="14278" y="10916"/>
                </a:lnTo>
                <a:lnTo>
                  <a:pt x="22429" y="24203"/>
                </a:lnTo>
                <a:lnTo>
                  <a:pt x="27106" y="39406"/>
                </a:lnTo>
                <a:lnTo>
                  <a:pt x="28600" y="56070"/>
                </a:lnTo>
                <a:lnTo>
                  <a:pt x="27106" y="72716"/>
                </a:lnTo>
                <a:lnTo>
                  <a:pt x="22429" y="87889"/>
                </a:lnTo>
                <a:lnTo>
                  <a:pt x="14278" y="101170"/>
                </a:lnTo>
                <a:lnTo>
                  <a:pt x="2362" y="112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1781126" y="6390405"/>
            <a:ext cx="28575" cy="112395"/>
          </a:xfrm>
          <a:custGeom>
            <a:avLst/>
            <a:gdLst/>
            <a:ahLst/>
            <a:cxnLst/>
            <a:rect l="l" t="t" r="r" b="b"/>
            <a:pathLst>
              <a:path w="28575" h="112395">
                <a:moveTo>
                  <a:pt x="26238" y="112140"/>
                </a:moveTo>
                <a:lnTo>
                  <a:pt x="14514" y="101330"/>
                </a:lnTo>
                <a:lnTo>
                  <a:pt x="6342" y="88017"/>
                </a:lnTo>
                <a:lnTo>
                  <a:pt x="1558" y="72716"/>
                </a:lnTo>
                <a:lnTo>
                  <a:pt x="0" y="55942"/>
                </a:lnTo>
                <a:lnTo>
                  <a:pt x="1558" y="39334"/>
                </a:lnTo>
                <a:lnTo>
                  <a:pt x="6342" y="24139"/>
                </a:lnTo>
                <a:lnTo>
                  <a:pt x="14514" y="10860"/>
                </a:lnTo>
                <a:lnTo>
                  <a:pt x="26238" y="0"/>
                </a:lnTo>
                <a:lnTo>
                  <a:pt x="28486" y="2937"/>
                </a:lnTo>
                <a:lnTo>
                  <a:pt x="20181" y="12622"/>
                </a:lnTo>
                <a:lnTo>
                  <a:pt x="14046" y="25241"/>
                </a:lnTo>
                <a:lnTo>
                  <a:pt x="10244" y="39991"/>
                </a:lnTo>
                <a:lnTo>
                  <a:pt x="8940" y="56070"/>
                </a:lnTo>
                <a:lnTo>
                  <a:pt x="10262" y="72151"/>
                </a:lnTo>
                <a:lnTo>
                  <a:pt x="14093" y="86915"/>
                </a:lnTo>
                <a:lnTo>
                  <a:pt x="20235" y="99572"/>
                </a:lnTo>
                <a:lnTo>
                  <a:pt x="28486" y="109331"/>
                </a:lnTo>
                <a:lnTo>
                  <a:pt x="26238" y="112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2252946" y="6390405"/>
            <a:ext cx="28575" cy="112395"/>
          </a:xfrm>
          <a:custGeom>
            <a:avLst/>
            <a:gdLst/>
            <a:ahLst/>
            <a:cxnLst/>
            <a:rect l="l" t="t" r="r" b="b"/>
            <a:pathLst>
              <a:path w="28575" h="112395">
                <a:moveTo>
                  <a:pt x="26238" y="112140"/>
                </a:moveTo>
                <a:lnTo>
                  <a:pt x="14514" y="101330"/>
                </a:lnTo>
                <a:lnTo>
                  <a:pt x="6342" y="88017"/>
                </a:lnTo>
                <a:lnTo>
                  <a:pt x="1558" y="72716"/>
                </a:lnTo>
                <a:lnTo>
                  <a:pt x="0" y="55942"/>
                </a:lnTo>
                <a:lnTo>
                  <a:pt x="1558" y="39334"/>
                </a:lnTo>
                <a:lnTo>
                  <a:pt x="6342" y="24139"/>
                </a:lnTo>
                <a:lnTo>
                  <a:pt x="14514" y="10860"/>
                </a:lnTo>
                <a:lnTo>
                  <a:pt x="26238" y="0"/>
                </a:lnTo>
                <a:lnTo>
                  <a:pt x="28486" y="2937"/>
                </a:lnTo>
                <a:lnTo>
                  <a:pt x="20181" y="12622"/>
                </a:lnTo>
                <a:lnTo>
                  <a:pt x="14046" y="25241"/>
                </a:lnTo>
                <a:lnTo>
                  <a:pt x="10244" y="39991"/>
                </a:lnTo>
                <a:lnTo>
                  <a:pt x="8940" y="56070"/>
                </a:lnTo>
                <a:lnTo>
                  <a:pt x="10262" y="72151"/>
                </a:lnTo>
                <a:lnTo>
                  <a:pt x="14093" y="86915"/>
                </a:lnTo>
                <a:lnTo>
                  <a:pt x="20235" y="99572"/>
                </a:lnTo>
                <a:lnTo>
                  <a:pt x="28486" y="109331"/>
                </a:lnTo>
                <a:lnTo>
                  <a:pt x="26238" y="112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02184" y="6390405"/>
            <a:ext cx="72542" cy="112140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901703" y="6335605"/>
            <a:ext cx="4598035" cy="689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85495">
              <a:lnSpc>
                <a:spcPct val="100000"/>
              </a:lnSpc>
              <a:spcBef>
                <a:spcPts val="100"/>
              </a:spcBef>
              <a:tabLst>
                <a:tab pos="1938020" algn="l"/>
              </a:tabLst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1,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−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if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 </a:t>
            </a:r>
            <a:r>
              <a:rPr dirty="0" sz="1000" spc="50">
                <a:latin typeface="Palatino Linotype"/>
                <a:cs typeface="Palatino Linotype"/>
              </a:rPr>
              <a:t>&gt;</a:t>
            </a:r>
            <a:r>
              <a:rPr dirty="0" sz="1000">
                <a:latin typeface="Palatino Linotype"/>
                <a:cs typeface="Palatino Linotype"/>
              </a:rPr>
              <a:t> 0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 </a:t>
            </a:r>
            <a:r>
              <a:rPr dirty="0" sz="1000" spc="50">
                <a:latin typeface="Palatino Linotype"/>
                <a:cs typeface="Palatino Linotype"/>
              </a:rPr>
              <a:t>&gt;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0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ackermann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evaluates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Ackermann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What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ackermann(5,</a:t>
            </a:r>
            <a:r>
              <a:rPr dirty="0" sz="1000" spc="-10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5)</a:t>
            </a:r>
            <a:r>
              <a:rPr dirty="0" sz="1050" spc="-25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1683" y="7731125"/>
            <a:ext cx="12998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88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Return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Values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317750" y="1524127"/>
            <a:ext cx="30480" cy="128905"/>
          </a:xfrm>
          <a:custGeom>
            <a:avLst/>
            <a:gdLst/>
            <a:ahLst/>
            <a:cxnLst/>
            <a:rect l="l" t="t" r="r" b="b"/>
            <a:pathLst>
              <a:path w="30479" h="128905">
                <a:moveTo>
                  <a:pt x="27550" y="128816"/>
                </a:moveTo>
                <a:lnTo>
                  <a:pt x="15240" y="116398"/>
                </a:lnTo>
                <a:lnTo>
                  <a:pt x="6659" y="101105"/>
                </a:lnTo>
                <a:lnTo>
                  <a:pt x="1636" y="83529"/>
                </a:lnTo>
                <a:lnTo>
                  <a:pt x="0" y="64261"/>
                </a:lnTo>
                <a:lnTo>
                  <a:pt x="1636" y="45183"/>
                </a:lnTo>
                <a:lnTo>
                  <a:pt x="6659" y="27729"/>
                </a:lnTo>
                <a:lnTo>
                  <a:pt x="15240" y="12475"/>
                </a:lnTo>
                <a:lnTo>
                  <a:pt x="27550" y="0"/>
                </a:lnTo>
                <a:lnTo>
                  <a:pt x="29910" y="3374"/>
                </a:lnTo>
                <a:lnTo>
                  <a:pt x="21190" y="14499"/>
                </a:lnTo>
                <a:lnTo>
                  <a:pt x="14748" y="28994"/>
                </a:lnTo>
                <a:lnTo>
                  <a:pt x="10756" y="45937"/>
                </a:lnTo>
                <a:lnTo>
                  <a:pt x="9387" y="64408"/>
                </a:lnTo>
                <a:lnTo>
                  <a:pt x="10775" y="82880"/>
                </a:lnTo>
                <a:lnTo>
                  <a:pt x="14798" y="99839"/>
                </a:lnTo>
                <a:lnTo>
                  <a:pt x="21246" y="114378"/>
                </a:lnTo>
                <a:lnTo>
                  <a:pt x="29910" y="125588"/>
                </a:lnTo>
                <a:lnTo>
                  <a:pt x="27550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543093" y="1524127"/>
            <a:ext cx="30480" cy="128905"/>
          </a:xfrm>
          <a:custGeom>
            <a:avLst/>
            <a:gdLst/>
            <a:ahLst/>
            <a:cxnLst/>
            <a:rect l="l" t="t" r="r" b="b"/>
            <a:pathLst>
              <a:path w="30479" h="128905">
                <a:moveTo>
                  <a:pt x="2480" y="128816"/>
                </a:moveTo>
                <a:lnTo>
                  <a:pt x="0" y="125588"/>
                </a:lnTo>
                <a:lnTo>
                  <a:pt x="8845" y="114316"/>
                </a:lnTo>
                <a:lnTo>
                  <a:pt x="15316" y="99784"/>
                </a:lnTo>
                <a:lnTo>
                  <a:pt x="19290" y="82859"/>
                </a:lnTo>
                <a:lnTo>
                  <a:pt x="20642" y="64408"/>
                </a:lnTo>
                <a:lnTo>
                  <a:pt x="19254" y="45917"/>
                </a:lnTo>
                <a:lnTo>
                  <a:pt x="15221" y="28939"/>
                </a:lnTo>
                <a:lnTo>
                  <a:pt x="8738" y="14437"/>
                </a:lnTo>
                <a:lnTo>
                  <a:pt x="0" y="3374"/>
                </a:lnTo>
                <a:lnTo>
                  <a:pt x="2480" y="0"/>
                </a:lnTo>
                <a:lnTo>
                  <a:pt x="14992" y="12539"/>
                </a:lnTo>
                <a:lnTo>
                  <a:pt x="23551" y="27802"/>
                </a:lnTo>
                <a:lnTo>
                  <a:pt x="28461" y="45266"/>
                </a:lnTo>
                <a:lnTo>
                  <a:pt x="30030" y="64408"/>
                </a:lnTo>
                <a:lnTo>
                  <a:pt x="28461" y="83529"/>
                </a:lnTo>
                <a:lnTo>
                  <a:pt x="23551" y="100958"/>
                </a:lnTo>
                <a:lnTo>
                  <a:pt x="14992" y="116214"/>
                </a:lnTo>
                <a:lnTo>
                  <a:pt x="2480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33456" y="1524127"/>
            <a:ext cx="30480" cy="128905"/>
          </a:xfrm>
          <a:custGeom>
            <a:avLst/>
            <a:gdLst/>
            <a:ahLst/>
            <a:cxnLst/>
            <a:rect l="l" t="t" r="r" b="b"/>
            <a:pathLst>
              <a:path w="30479" h="128905">
                <a:moveTo>
                  <a:pt x="27549" y="128816"/>
                </a:moveTo>
                <a:lnTo>
                  <a:pt x="15239" y="116398"/>
                </a:lnTo>
                <a:lnTo>
                  <a:pt x="6659" y="101105"/>
                </a:lnTo>
                <a:lnTo>
                  <a:pt x="1636" y="83529"/>
                </a:lnTo>
                <a:lnTo>
                  <a:pt x="0" y="64261"/>
                </a:lnTo>
                <a:lnTo>
                  <a:pt x="1636" y="45183"/>
                </a:lnTo>
                <a:lnTo>
                  <a:pt x="6659" y="27729"/>
                </a:lnTo>
                <a:lnTo>
                  <a:pt x="15239" y="12475"/>
                </a:lnTo>
                <a:lnTo>
                  <a:pt x="27549" y="0"/>
                </a:lnTo>
                <a:lnTo>
                  <a:pt x="29910" y="3374"/>
                </a:lnTo>
                <a:lnTo>
                  <a:pt x="21190" y="14499"/>
                </a:lnTo>
                <a:lnTo>
                  <a:pt x="14748" y="28994"/>
                </a:lnTo>
                <a:lnTo>
                  <a:pt x="10756" y="45937"/>
                </a:lnTo>
                <a:lnTo>
                  <a:pt x="9387" y="64408"/>
                </a:lnTo>
                <a:lnTo>
                  <a:pt x="10775" y="82880"/>
                </a:lnTo>
                <a:lnTo>
                  <a:pt x="14798" y="99839"/>
                </a:lnTo>
                <a:lnTo>
                  <a:pt x="21246" y="114378"/>
                </a:lnTo>
                <a:lnTo>
                  <a:pt x="29910" y="125588"/>
                </a:lnTo>
                <a:lnTo>
                  <a:pt x="27549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144798" y="1524127"/>
            <a:ext cx="30480" cy="128905"/>
          </a:xfrm>
          <a:custGeom>
            <a:avLst/>
            <a:gdLst/>
            <a:ahLst/>
            <a:cxnLst/>
            <a:rect l="l" t="t" r="r" b="b"/>
            <a:pathLst>
              <a:path w="30479" h="128905">
                <a:moveTo>
                  <a:pt x="2480" y="128816"/>
                </a:moveTo>
                <a:lnTo>
                  <a:pt x="0" y="125588"/>
                </a:lnTo>
                <a:lnTo>
                  <a:pt x="8845" y="114316"/>
                </a:lnTo>
                <a:lnTo>
                  <a:pt x="15316" y="99784"/>
                </a:lnTo>
                <a:lnTo>
                  <a:pt x="19290" y="82859"/>
                </a:lnTo>
                <a:lnTo>
                  <a:pt x="20642" y="64408"/>
                </a:lnTo>
                <a:lnTo>
                  <a:pt x="19254" y="45917"/>
                </a:lnTo>
                <a:lnTo>
                  <a:pt x="15221" y="28939"/>
                </a:lnTo>
                <a:lnTo>
                  <a:pt x="8738" y="14437"/>
                </a:lnTo>
                <a:lnTo>
                  <a:pt x="0" y="3374"/>
                </a:lnTo>
                <a:lnTo>
                  <a:pt x="2480" y="0"/>
                </a:lnTo>
                <a:lnTo>
                  <a:pt x="14992" y="12539"/>
                </a:lnTo>
                <a:lnTo>
                  <a:pt x="23551" y="27802"/>
                </a:lnTo>
                <a:lnTo>
                  <a:pt x="28461" y="45266"/>
                </a:lnTo>
                <a:lnTo>
                  <a:pt x="30030" y="64408"/>
                </a:lnTo>
                <a:lnTo>
                  <a:pt x="28461" y="83529"/>
                </a:lnTo>
                <a:lnTo>
                  <a:pt x="23551" y="100958"/>
                </a:lnTo>
                <a:lnTo>
                  <a:pt x="14992" y="116214"/>
                </a:lnTo>
                <a:lnTo>
                  <a:pt x="2480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319703" y="1684147"/>
            <a:ext cx="30480" cy="128905"/>
          </a:xfrm>
          <a:custGeom>
            <a:avLst/>
            <a:gdLst/>
            <a:ahLst/>
            <a:cxnLst/>
            <a:rect l="l" t="t" r="r" b="b"/>
            <a:pathLst>
              <a:path w="30480" h="128905">
                <a:moveTo>
                  <a:pt x="27550" y="128816"/>
                </a:moveTo>
                <a:lnTo>
                  <a:pt x="15240" y="116398"/>
                </a:lnTo>
                <a:lnTo>
                  <a:pt x="6659" y="101105"/>
                </a:lnTo>
                <a:lnTo>
                  <a:pt x="1636" y="83529"/>
                </a:lnTo>
                <a:lnTo>
                  <a:pt x="0" y="64261"/>
                </a:lnTo>
                <a:lnTo>
                  <a:pt x="1636" y="45183"/>
                </a:lnTo>
                <a:lnTo>
                  <a:pt x="6659" y="27729"/>
                </a:lnTo>
                <a:lnTo>
                  <a:pt x="15240" y="12475"/>
                </a:lnTo>
                <a:lnTo>
                  <a:pt x="27550" y="0"/>
                </a:lnTo>
                <a:lnTo>
                  <a:pt x="29910" y="3374"/>
                </a:lnTo>
                <a:lnTo>
                  <a:pt x="21190" y="14499"/>
                </a:lnTo>
                <a:lnTo>
                  <a:pt x="14748" y="28994"/>
                </a:lnTo>
                <a:lnTo>
                  <a:pt x="10756" y="45937"/>
                </a:lnTo>
                <a:lnTo>
                  <a:pt x="9387" y="64408"/>
                </a:lnTo>
                <a:lnTo>
                  <a:pt x="10775" y="82880"/>
                </a:lnTo>
                <a:lnTo>
                  <a:pt x="14798" y="99839"/>
                </a:lnTo>
                <a:lnTo>
                  <a:pt x="21246" y="114378"/>
                </a:lnTo>
                <a:lnTo>
                  <a:pt x="29910" y="125588"/>
                </a:lnTo>
                <a:lnTo>
                  <a:pt x="27550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544247" y="1684147"/>
            <a:ext cx="30480" cy="128905"/>
          </a:xfrm>
          <a:custGeom>
            <a:avLst/>
            <a:gdLst/>
            <a:ahLst/>
            <a:cxnLst/>
            <a:rect l="l" t="t" r="r" b="b"/>
            <a:pathLst>
              <a:path w="30480" h="128905">
                <a:moveTo>
                  <a:pt x="2480" y="128816"/>
                </a:moveTo>
                <a:lnTo>
                  <a:pt x="0" y="125588"/>
                </a:lnTo>
                <a:lnTo>
                  <a:pt x="8845" y="114316"/>
                </a:lnTo>
                <a:lnTo>
                  <a:pt x="15316" y="99784"/>
                </a:lnTo>
                <a:lnTo>
                  <a:pt x="19290" y="82859"/>
                </a:lnTo>
                <a:lnTo>
                  <a:pt x="20642" y="64408"/>
                </a:lnTo>
                <a:lnTo>
                  <a:pt x="19254" y="45917"/>
                </a:lnTo>
                <a:lnTo>
                  <a:pt x="15221" y="28939"/>
                </a:lnTo>
                <a:lnTo>
                  <a:pt x="8738" y="14437"/>
                </a:lnTo>
                <a:lnTo>
                  <a:pt x="0" y="3374"/>
                </a:lnTo>
                <a:lnTo>
                  <a:pt x="2480" y="0"/>
                </a:lnTo>
                <a:lnTo>
                  <a:pt x="14992" y="12539"/>
                </a:lnTo>
                <a:lnTo>
                  <a:pt x="23551" y="27802"/>
                </a:lnTo>
                <a:lnTo>
                  <a:pt x="28461" y="45266"/>
                </a:lnTo>
                <a:lnTo>
                  <a:pt x="30030" y="64408"/>
                </a:lnTo>
                <a:lnTo>
                  <a:pt x="28461" y="83529"/>
                </a:lnTo>
                <a:lnTo>
                  <a:pt x="23551" y="100958"/>
                </a:lnTo>
                <a:lnTo>
                  <a:pt x="14992" y="116214"/>
                </a:lnTo>
                <a:lnTo>
                  <a:pt x="2480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901635" y="530706"/>
            <a:ext cx="4598035" cy="1691639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59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greatest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common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divisor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(GCD)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b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largest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divides both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remainder.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way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find</a:t>
            </a:r>
            <a:r>
              <a:rPr dirty="0" sz="1050" spc="-30">
                <a:latin typeface="Palatino Linotype"/>
                <a:cs typeface="Palatino Linotype"/>
              </a:rPr>
              <a:t> the</a:t>
            </a:r>
            <a:r>
              <a:rPr dirty="0" sz="1050" spc="-35">
                <a:latin typeface="Palatino Linotype"/>
                <a:cs typeface="Palatino Linotype"/>
              </a:rPr>
              <a:t> GCD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based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observation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r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remainder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</a:t>
            </a:r>
            <a:r>
              <a:rPr dirty="0" sz="1050" spc="-2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divided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b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gcd</a:t>
            </a:r>
            <a:r>
              <a:rPr dirty="0" sz="1050" spc="70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b</a:t>
            </a:r>
            <a:r>
              <a:rPr dirty="0" sz="1050" spc="310" i="1">
                <a:latin typeface="Palatino Linotype"/>
                <a:cs typeface="Palatino Linotype"/>
              </a:rPr>
              <a:t> </a:t>
            </a:r>
            <a:r>
              <a:rPr dirty="0" sz="1050" spc="80">
                <a:latin typeface="Palatino Linotype"/>
                <a:cs typeface="Palatino Linotype"/>
              </a:rPr>
              <a:t>=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gcd</a:t>
            </a:r>
            <a:r>
              <a:rPr dirty="0" sz="1050" spc="65" i="1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b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r</a:t>
            </a:r>
            <a:r>
              <a:rPr dirty="0" sz="1050" spc="7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case,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gcd</a:t>
            </a:r>
            <a:r>
              <a:rPr dirty="0" sz="1050" spc="9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0</a:t>
            </a:r>
            <a:r>
              <a:rPr dirty="0" sz="1050" spc="360">
                <a:latin typeface="Palatino Linotype"/>
                <a:cs typeface="Palatino Linotype"/>
              </a:rPr>
              <a:t> </a:t>
            </a:r>
            <a:r>
              <a:rPr dirty="0" sz="1050" spc="80">
                <a:latin typeface="Palatino Linotype"/>
                <a:cs typeface="Palatino Linotype"/>
              </a:rPr>
              <a:t>=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gcd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b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test </a:t>
            </a:r>
            <a:r>
              <a:rPr dirty="0" sz="1050" spc="-45">
                <a:latin typeface="Palatino Linotype"/>
                <a:cs typeface="Palatino Linotype"/>
              </a:rPr>
              <a:t>common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diviso</a:t>
            </a:r>
            <a:r>
              <a:rPr dirty="0" sz="1050" spc="-12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91639" y="7731125"/>
            <a:ext cx="708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89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567021"/>
            <a:ext cx="4572000" cy="397510"/>
            <a:chOff x="914400" y="5567021"/>
            <a:chExt cx="4572000" cy="3975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56702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56860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914400" y="625186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7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12850">
              <a:lnSpc>
                <a:spcPct val="100000"/>
              </a:lnSpc>
              <a:spcBef>
                <a:spcPts val="120"/>
              </a:spcBef>
            </a:pPr>
            <a:r>
              <a:rPr dirty="0" spc="-320"/>
              <a:t>Iteration</a:t>
            </a:r>
            <a:r>
              <a:rPr dirty="0" spc="-335"/>
              <a:t> </a:t>
            </a:r>
            <a:r>
              <a:rPr dirty="0" spc="-370"/>
              <a:t>and</a:t>
            </a:r>
            <a:r>
              <a:rPr dirty="0" spc="-335"/>
              <a:t> </a:t>
            </a:r>
            <a:r>
              <a:rPr dirty="0" spc="-405"/>
              <a:t>Search</a:t>
            </a:r>
          </a:p>
        </p:txBody>
      </p:sp>
      <p:sp>
        <p:nvSpPr>
          <p:cNvPr id="9" name="object 9" descr=""/>
          <p:cNvSpPr txBox="1"/>
          <p:nvPr/>
        </p:nvSpPr>
        <p:spPr>
          <a:xfrm>
            <a:off x="901642" y="3044843"/>
            <a:ext cx="4598035" cy="36023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1939,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Ernest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Vincent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Wright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published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50,000-</a:t>
            </a:r>
            <a:r>
              <a:rPr dirty="0" sz="1050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novel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Gadsby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</a:t>
            </a:r>
            <a:r>
              <a:rPr dirty="0" sz="1050" spc="-40">
                <a:latin typeface="Palatino Linotype"/>
                <a:cs typeface="Palatino Linotype"/>
              </a:rPr>
              <a:t> contain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“e.”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Since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85">
                <a:latin typeface="Palatino Linotype"/>
                <a:cs typeface="Palatino Linotype"/>
              </a:rPr>
              <a:t>“e”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English,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writing </a:t>
            </a:r>
            <a:r>
              <a:rPr dirty="0" sz="1050" spc="-55">
                <a:latin typeface="Palatino Linotype"/>
                <a:cs typeface="Palatino Linotype"/>
              </a:rPr>
              <a:t>even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difficult.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sense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difficult,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60">
                <a:latin typeface="Palatino Linotype"/>
                <a:cs typeface="Palatino Linotype"/>
              </a:rPr>
              <a:t>chapter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fraction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English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“e.”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64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upd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40">
                <a:latin typeface="Palatino Linotype"/>
                <a:cs typeface="Palatino Linotype"/>
              </a:rPr>
              <a:t>tain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2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“linear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tools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solve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puzzle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“Spelling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Bee.”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Loops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95" b="1">
                <a:latin typeface="Trebuchet MS"/>
                <a:cs typeface="Trebuchet MS"/>
              </a:rPr>
              <a:t>Strings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3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saw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for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range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numbers: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1630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algn="just"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0 1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end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after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newline.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380455" y="7731125"/>
            <a:ext cx="1187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91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144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659758"/>
            <a:ext cx="4572000" cy="505459"/>
            <a:chOff x="914400" y="2659758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65975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6613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501132"/>
            <a:ext cx="4572000" cy="613410"/>
            <a:chOff x="914400" y="3501132"/>
            <a:chExt cx="4572000" cy="6134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501132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5027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4625546"/>
            <a:ext cx="4572000" cy="721360"/>
            <a:chOff x="914400" y="4625546"/>
            <a:chExt cx="4572000" cy="7213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625546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6271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14400" y="5682821"/>
            <a:ext cx="4572000" cy="721360"/>
            <a:chOff x="914400" y="5682821"/>
            <a:chExt cx="4572000" cy="72136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5682821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568440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901643" y="657564"/>
            <a:ext cx="4598035" cy="5654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'Gadsby'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G a d s b </a:t>
            </a:r>
            <a:r>
              <a:rPr dirty="0" sz="850" spc="-50"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 spc="-25">
                <a:latin typeface="Palatino Linotype"/>
                <a:cs typeface="Palatino Linotype"/>
              </a:rPr>
              <a:t>Notice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changed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provides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information</a:t>
            </a:r>
            <a:r>
              <a:rPr dirty="0" sz="1050" spc="-30">
                <a:latin typeface="Palatino Linotype"/>
                <a:cs typeface="Palatino Linotype"/>
              </a:rPr>
              <a:t> about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25">
                <a:latin typeface="Palatino Linotype"/>
                <a:cs typeface="Palatino Linotype"/>
              </a:rPr>
              <a:t>refers</a:t>
            </a:r>
            <a:r>
              <a:rPr dirty="0" sz="1050">
                <a:latin typeface="Palatino Linotype"/>
                <a:cs typeface="Palatino Linotype"/>
              </a:rPr>
              <a:t> to.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defined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SimSun"/>
                <a:cs typeface="SimSun"/>
              </a:rPr>
              <a:t>for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loop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tains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125">
                <a:latin typeface="Palatino Linotype"/>
                <a:cs typeface="Palatino Linotype"/>
              </a:rPr>
              <a:t>e</a:t>
            </a:r>
            <a:r>
              <a:rPr dirty="0" sz="1050" spc="-65">
                <a:latin typeface="Palatino Linotype"/>
                <a:cs typeface="Palatino Linotype"/>
              </a:rPr>
              <a:t>”: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"Gadsby"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4987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-2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'This word has an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"e"'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encapsulate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has_e():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"Gadsby"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-2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'This word has an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"e"'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pure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“e”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otherwise: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has_e():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"Gadsby"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-2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 marR="3308350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generalize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-2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 marR="3308350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749" y="7731125"/>
            <a:ext cx="1537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92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576705"/>
            <a:ext cx="4572000" cy="289560"/>
            <a:chOff x="914400" y="157670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57670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5782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15360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750230"/>
            <a:ext cx="4572000" cy="289560"/>
            <a:chOff x="914400" y="3750230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75023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7518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4543258"/>
            <a:ext cx="4572000" cy="289560"/>
            <a:chOff x="914400" y="4543258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54325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5448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1201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736840"/>
            <a:ext cx="4572000" cy="397510"/>
            <a:chOff x="914400" y="6736840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73684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7384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742168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08" y="650030"/>
            <a:ext cx="4598035" cy="6678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'Gadsby'</a:t>
            </a:r>
            <a:r>
              <a:rPr dirty="0" sz="850" spc="-10">
                <a:latin typeface="SimSun"/>
                <a:cs typeface="SimSun"/>
              </a:rPr>
              <a:t>) False</a:t>
            </a:r>
            <a:endParaRPr sz="850">
              <a:latin typeface="SimSun"/>
              <a:cs typeface="SimSun"/>
            </a:endParaRPr>
          </a:p>
          <a:p>
            <a:pPr marL="39370" marR="3848100">
              <a:lnSpc>
                <a:spcPct val="220800"/>
              </a:lnSpc>
              <a:spcBef>
                <a:spcPts val="37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'Emma'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75" b="1">
                <a:latin typeface="Trebuchet MS"/>
                <a:cs typeface="Trebuchet MS"/>
              </a:rPr>
              <a:t>Reading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the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40" b="1">
                <a:latin typeface="Trebuchet MS"/>
                <a:cs typeface="Trebuchet MS"/>
              </a:rPr>
              <a:t>Word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0" b="1">
                <a:latin typeface="Trebuchet MS"/>
                <a:cs typeface="Trebuchet MS"/>
              </a:rPr>
              <a:t>List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“e,”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114,000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official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crosswords;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considered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valid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0">
                <a:latin typeface="Palatino Linotype"/>
                <a:cs typeface="Palatino Linotype"/>
              </a:rPr>
              <a:t>crossword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puzzles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games.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words.txt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downloaded</a:t>
            </a:r>
            <a:r>
              <a:rPr dirty="0" sz="1050">
                <a:latin typeface="Palatino Linotype"/>
                <a:cs typeface="Palatino Linotype"/>
              </a:rPr>
              <a:t> in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notebook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open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file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object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file_object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readline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until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string:</a:t>
            </a:r>
            <a:endParaRPr sz="1050">
              <a:latin typeface="Palatino Linotype"/>
              <a:cs typeface="Palatino Linotype"/>
            </a:endParaRPr>
          </a:p>
          <a:p>
            <a:pPr marL="39370" marR="33623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file_object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readline</a:t>
            </a:r>
            <a:r>
              <a:rPr dirty="0" sz="850" spc="-10">
                <a:latin typeface="SimSun"/>
                <a:cs typeface="SimSun"/>
              </a:rPr>
              <a:t>() 'aa\n'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1600"/>
              </a:lnSpc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otice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tax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calling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readline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95">
                <a:latin typeface="Palatino Linotype"/>
                <a:cs typeface="Palatino Linotype"/>
              </a:rPr>
              <a:t>’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 </a:t>
            </a:r>
            <a:r>
              <a:rPr dirty="0" sz="1050" spc="-45">
                <a:latin typeface="Palatino Linotype"/>
                <a:cs typeface="Palatino Linotype"/>
              </a:rPr>
              <a:t>fa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 spc="-5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me</a:t>
            </a:r>
            <a:r>
              <a:rPr dirty="0" sz="1050" spc="-30" b="1">
                <a:latin typeface="Palatino Linotype"/>
                <a:cs typeface="Palatino Linotype"/>
              </a:rPr>
              <a:t>th</a:t>
            </a:r>
            <a:r>
              <a:rPr dirty="0" sz="1050" spc="-25" b="1">
                <a:latin typeface="Palatino Linotype"/>
                <a:cs typeface="Palatino Linotype"/>
              </a:rPr>
              <a:t>o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associ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 </a:t>
            </a:r>
            <a:r>
              <a:rPr dirty="0" sz="1050" spc="-55">
                <a:latin typeface="Palatino Linotype"/>
                <a:cs typeface="Palatino Linotype"/>
              </a:rPr>
              <a:t>case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readline</a:t>
            </a:r>
            <a:r>
              <a:rPr dirty="0" sz="1000" spc="-1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associ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120">
                <a:latin typeface="Palatino Linotype"/>
                <a:cs typeface="Palatino Linotype"/>
              </a:rPr>
              <a:t>“aa,”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60">
                <a:latin typeface="Palatino Linotype"/>
                <a:cs typeface="Palatino Linotype"/>
              </a:rPr>
              <a:t>lava.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SimSun"/>
                <a:cs typeface="SimSun"/>
              </a:rPr>
              <a:t>\n</a:t>
            </a:r>
            <a:r>
              <a:rPr dirty="0" sz="1000" spc="-6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represents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separates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next.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55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track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readline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again,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8450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file_object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readline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'aah\n'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299227" y="7731125"/>
            <a:ext cx="1200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Reading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the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Word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45" b="1">
                <a:latin typeface="Trebuchet MS"/>
                <a:cs typeface="Trebuchet MS"/>
              </a:rPr>
              <a:t>List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14" b="1">
                <a:latin typeface="Trebuchet MS"/>
                <a:cs typeface="Trebuchet MS"/>
              </a:rPr>
              <a:t>93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7442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659758"/>
            <a:ext cx="4572000" cy="505459"/>
            <a:chOff x="914400" y="2659758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65975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6613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4852418"/>
            <a:ext cx="4572000" cy="397510"/>
            <a:chOff x="914400" y="4852418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85241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8540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53726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851273"/>
            <a:ext cx="4572000" cy="397510"/>
            <a:chOff x="914400" y="5851273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85127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8528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5361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43" y="657564"/>
            <a:ext cx="4598035" cy="6106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remove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newline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word,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strip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242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'aah'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00">
                <a:latin typeface="SimSun"/>
                <a:cs typeface="SimSun"/>
              </a:rPr>
              <a:t>strip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removes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whitespace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characters—</a:t>
            </a:r>
            <a:r>
              <a:rPr dirty="0" sz="1050" spc="-35">
                <a:latin typeface="Palatino Linotype"/>
                <a:cs typeface="Palatino Linotype"/>
              </a:rPr>
              <a:t>including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spaces,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tabs,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newlines—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file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00" spc="-55">
                <a:latin typeface="SimSun"/>
                <a:cs typeface="SimSun"/>
              </a:rPr>
              <a:t>for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words.txt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20">
                <a:latin typeface="Palatino Linotype"/>
                <a:cs typeface="Palatino Linotype"/>
              </a:rPr>
              <a:t>Now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next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step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count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30">
                <a:latin typeface="Palatino Linotype"/>
                <a:cs typeface="Palatino Linotype"/>
              </a:rPr>
              <a:t>that,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ability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update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0" b="1">
                <a:latin typeface="Trebuchet MS"/>
                <a:cs typeface="Trebuchet MS"/>
              </a:rPr>
              <a:t>Updating</a:t>
            </a:r>
            <a:r>
              <a:rPr dirty="0" sz="1900" spc="-250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Variables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discovered,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legal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existing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(and </a:t>
            </a:r>
            <a:r>
              <a:rPr dirty="0" sz="1050" spc="-55">
                <a:latin typeface="Palatino Linotype"/>
                <a:cs typeface="Palatino Linotype"/>
              </a:rPr>
              <a:t>stop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value).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initial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variable: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2799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5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changes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27990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7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figure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diagram: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6941301"/>
            <a:ext cx="423687" cy="308379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901700" y="7731125"/>
            <a:ext cx="1537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94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93348"/>
            <a:ext cx="4572000" cy="397510"/>
            <a:chOff x="914400" y="1493348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9334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949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1781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223552"/>
            <a:ext cx="4572000" cy="289560"/>
            <a:chOff x="914400" y="3223552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22355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22513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4009047"/>
            <a:ext cx="4572000" cy="505459"/>
            <a:chOff x="914400" y="4009047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00904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0106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80184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910877"/>
            <a:ext cx="4572000" cy="721360"/>
            <a:chOff x="914400" y="5910877"/>
            <a:chExt cx="4572000" cy="7213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910877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59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91246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901633" y="657564"/>
            <a:ext cx="4598035" cy="588264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dotted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arrow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5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solid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arrow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now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7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common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kind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assignment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update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 </a:t>
            </a:r>
            <a:r>
              <a:rPr dirty="0" sz="1050" spc="-70">
                <a:latin typeface="Palatino Linotype"/>
                <a:cs typeface="Palatino Linotype"/>
              </a:rPr>
              <a:t>depends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old: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0640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8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0">
                <a:latin typeface="Palatino Linotype"/>
                <a:cs typeface="Palatino Linotype"/>
              </a:rPr>
              <a:t> statement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“get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current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back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00" spc="-25">
                <a:latin typeface="SimSun"/>
                <a:cs typeface="SimSun"/>
              </a:rPr>
              <a:t>x</a:t>
            </a:r>
            <a:r>
              <a:rPr dirty="0" sz="1050" spc="-25">
                <a:latin typeface="Palatino Linotype"/>
                <a:cs typeface="Palatino Linotype"/>
              </a:rPr>
              <a:t>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update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exist,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Python </a:t>
            </a:r>
            <a:r>
              <a:rPr dirty="0" sz="1050" spc="-60">
                <a:latin typeface="Palatino Linotype"/>
                <a:cs typeface="Palatino Linotype"/>
              </a:rPr>
              <a:t>evaluates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assigns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left: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Before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update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variable,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initialize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usually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simple </a:t>
            </a:r>
            <a:r>
              <a:rPr dirty="0" sz="1050" spc="-10">
                <a:latin typeface="Palatino Linotype"/>
                <a:cs typeface="Palatino Linotype"/>
              </a:rPr>
              <a:t>assignment: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 marR="40640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6985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Increasing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inc</a:t>
            </a:r>
            <a:r>
              <a:rPr dirty="0" sz="1050" spc="-35" b="1">
                <a:latin typeface="Palatino Linotype"/>
                <a:cs typeface="Palatino Linotype"/>
              </a:rPr>
              <a:t>r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;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decreasing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5" b="1">
                <a:latin typeface="Palatino Linotype"/>
                <a:cs typeface="Palatino Linotype"/>
              </a:rPr>
              <a:t>c</a:t>
            </a:r>
            <a:r>
              <a:rPr dirty="0" sz="1050" spc="-15" b="1">
                <a:latin typeface="Palatino Linotype"/>
                <a:cs typeface="Palatino Linotype"/>
              </a:rPr>
              <a:t>r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80" b="1">
                <a:latin typeface="Trebuchet MS"/>
                <a:cs typeface="Trebuchet MS"/>
              </a:rPr>
              <a:t>Looping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Counting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3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299047" y="7731125"/>
            <a:ext cx="1200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Looping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Counting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20" b="1">
                <a:latin typeface="Trebuchet MS"/>
                <a:cs typeface="Trebuchet MS"/>
              </a:rPr>
              <a:t>95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544273"/>
            <a:ext cx="4572000" cy="1045210"/>
            <a:chOff x="914400" y="2544273"/>
            <a:chExt cx="4572000" cy="10452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544273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5458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925398"/>
            <a:ext cx="4572000" cy="289560"/>
            <a:chOff x="914400" y="392539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92539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9269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5022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823837"/>
            <a:ext cx="4572000" cy="289560"/>
            <a:chOff x="914400" y="482383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82383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8254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4007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684856"/>
            <a:ext cx="4572000" cy="397510"/>
            <a:chOff x="914400" y="6684856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68485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68644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736970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43" y="657564"/>
            <a:ext cx="4598035" cy="6618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initializing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total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 </a:t>
            </a:r>
            <a:r>
              <a:rPr dirty="0" sz="1000">
                <a:latin typeface="SimSun"/>
                <a:cs typeface="SimSun"/>
              </a:rPr>
              <a:t>0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increments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total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total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total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words:</a:t>
            </a:r>
            <a:endParaRPr sz="1050">
              <a:latin typeface="Palatino Linotype"/>
              <a:cs typeface="Palatino Linotype"/>
            </a:endParaRPr>
          </a:p>
          <a:p>
            <a:pPr marL="39370" marR="4225925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 spc="-10">
                <a:latin typeface="SimSun"/>
                <a:cs typeface="SimSun"/>
              </a:rPr>
              <a:t>113783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variable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something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" b="1">
                <a:latin typeface="Palatino Linotype"/>
                <a:cs typeface="Palatino Linotype"/>
              </a:rPr>
              <a:t>counter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add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counter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keep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words 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“e”: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“e”:</a:t>
            </a:r>
            <a:endParaRPr sz="1050">
              <a:latin typeface="Palatino Linotype"/>
              <a:cs typeface="Palatino Linotype"/>
            </a:endParaRPr>
          </a:p>
          <a:p>
            <a:pPr marL="39370" marR="42799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 spc="-10">
                <a:latin typeface="SimSun"/>
                <a:cs typeface="SimSun"/>
              </a:rPr>
              <a:t>76162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percentage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total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two-</a:t>
            </a:r>
            <a:r>
              <a:rPr dirty="0" sz="1050" spc="-55">
                <a:latin typeface="Palatino Linotype"/>
                <a:cs typeface="Palatino Linotype"/>
              </a:rPr>
              <a:t>thirds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“e”:</a:t>
            </a:r>
            <a:endParaRPr sz="1050">
              <a:latin typeface="Palatino Linotype"/>
              <a:cs typeface="Palatino Linotype"/>
            </a:endParaRPr>
          </a:p>
          <a:p>
            <a:pPr marL="39370" marR="35242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100 </a:t>
            </a:r>
            <a:r>
              <a:rPr dirty="0" sz="850" spc="-10">
                <a:latin typeface="SimSun"/>
                <a:cs typeface="SimSun"/>
              </a:rPr>
              <a:t>66.93618554617122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understand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why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difficult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craft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75" b="1">
                <a:latin typeface="Trebuchet MS"/>
                <a:cs typeface="Trebuchet MS"/>
              </a:rPr>
              <a:t>The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50" b="1">
                <a:latin typeface="Trebuchet MS"/>
                <a:cs typeface="Trebuchet MS"/>
              </a:rPr>
              <a:t>in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Operator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56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has_e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wrote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chapter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complicated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needs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>
                <a:latin typeface="Palatino Linotype"/>
                <a:cs typeface="Palatino Linotype"/>
              </a:rPr>
              <a:t>be.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Python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provides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checks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whether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character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appears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401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'Gadsby'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735" y="7731125"/>
            <a:ext cx="1537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96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721360"/>
            <a:chOff x="914400" y="92955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161917"/>
            <a:ext cx="4572000" cy="397510"/>
            <a:chOff x="914400" y="2161917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16191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1635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062897"/>
            <a:ext cx="4572000" cy="289560"/>
            <a:chOff x="914400" y="3062897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06289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06448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363979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4128890"/>
            <a:ext cx="4572000" cy="289560"/>
            <a:chOff x="914400" y="4128890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12889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1304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47057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914400" y="502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914400" y="542610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914400" y="600141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914400" y="6079206"/>
            <a:ext cx="4572000" cy="289560"/>
            <a:chOff x="914400" y="6079206"/>
            <a:chExt cx="4572000" cy="289560"/>
          </a:xfrm>
        </p:grpSpPr>
        <p:sp>
          <p:nvSpPr>
            <p:cNvPr id="20" name="object 20" descr=""/>
            <p:cNvSpPr/>
            <p:nvPr/>
          </p:nvSpPr>
          <p:spPr>
            <a:xfrm>
              <a:off x="914400" y="607920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914400" y="60807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/>
          <p:nvPr/>
        </p:nvSpPr>
        <p:spPr>
          <a:xfrm>
            <a:off x="914400" y="665610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901643" y="657564"/>
            <a:ext cx="4598035" cy="4283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has_e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2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 marR="35242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ct val="104700"/>
              </a:lnSpc>
              <a:spcBef>
                <a:spcPts val="520"/>
              </a:spcBef>
            </a:pP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if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boolean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elimi‐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if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boolean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directly: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simplify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lower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lowercase.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example: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 'gadsby'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00" spc="-10">
                <a:latin typeface="SimSun"/>
                <a:cs typeface="SimSun"/>
              </a:rPr>
              <a:t>lower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existing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string—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word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unchanged:</a:t>
            </a:r>
            <a:endParaRPr sz="1050">
              <a:latin typeface="Palatino Linotype"/>
              <a:cs typeface="Palatino Linotype"/>
            </a:endParaRPr>
          </a:p>
          <a:p>
            <a:pPr marL="39370" marR="4117975">
              <a:lnSpc>
                <a:spcPts val="2250"/>
              </a:lnSpc>
              <a:spcBef>
                <a:spcPts val="26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 spc="-10">
                <a:latin typeface="SimSun"/>
                <a:cs typeface="SimSun"/>
              </a:rPr>
              <a:t>'Gadsby'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lower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has_e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4400" y="5030504"/>
            <a:ext cx="4572000" cy="39433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ts val="935"/>
              </a:lnSpc>
              <a:spcBef>
                <a:spcPts val="40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425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14400" y="5427696"/>
            <a:ext cx="4572000" cy="2863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'Gadsby'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14400" y="5752880"/>
            <a:ext cx="4572000" cy="809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 marL="26670" marR="3835400">
              <a:lnSpc>
                <a:spcPct val="220800"/>
              </a:lnSpc>
              <a:spcBef>
                <a:spcPts val="65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'Emma'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47119" y="7731125"/>
            <a:ext cx="9525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85" b="1">
                <a:latin typeface="Trebuchet MS"/>
                <a:cs typeface="Trebuchet MS"/>
              </a:rPr>
              <a:t>The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Operator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14" b="1">
                <a:latin typeface="Trebuchet MS"/>
                <a:cs typeface="Trebuchet MS"/>
              </a:rPr>
              <a:t>97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78657"/>
            <a:ext cx="4572000" cy="721360"/>
            <a:chOff x="914400" y="1578657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78657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802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643467"/>
            <a:ext cx="4572000" cy="289560"/>
            <a:chOff x="914400" y="2643467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64346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6450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22036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541906"/>
            <a:ext cx="4572000" cy="289560"/>
            <a:chOff x="914400" y="3541906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54190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54349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11880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600365"/>
            <a:ext cx="4572000" cy="289560"/>
            <a:chOff x="914400" y="4600365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60036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60195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17726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55181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20"/>
              <a:t>Search</a:t>
            </a:r>
            <a:endParaRPr sz="1900"/>
          </a:p>
        </p:txBody>
      </p:sp>
      <p:sp>
        <p:nvSpPr>
          <p:cNvPr id="18" name="object 18" descr=""/>
          <p:cNvSpPr txBox="1"/>
          <p:nvPr/>
        </p:nvSpPr>
        <p:spPr>
          <a:xfrm>
            <a:off x="901651" y="971559"/>
            <a:ext cx="4598035" cy="533209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60">
                <a:latin typeface="Palatino Linotype"/>
                <a:cs typeface="Palatino Linotype"/>
              </a:rPr>
              <a:t>Based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has_e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 </a:t>
            </a:r>
            <a:r>
              <a:rPr dirty="0" sz="1000" spc="-5">
                <a:latin typeface="SimSun"/>
                <a:cs typeface="SimSun"/>
              </a:rPr>
              <a:t>uses_any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True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False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65">
                <a:latin typeface="Palatino Linotype"/>
                <a:cs typeface="Palatino Linotype"/>
              </a:rPr>
              <a:t>wise: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uses_any(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255270" marR="3308350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0924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uses_any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'aeiou'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uses_any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'apple'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'xyz'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00" spc="-10">
                <a:latin typeface="SimSun"/>
                <a:cs typeface="SimSun"/>
              </a:rPr>
              <a:t>uses_only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letters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lowercase,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combination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cases:</a:t>
            </a:r>
            <a:endParaRPr sz="1050">
              <a:latin typeface="Palatino Linotype"/>
              <a:cs typeface="Palatino Linotype"/>
            </a:endParaRPr>
          </a:p>
          <a:p>
            <a:pPr marL="39370" marR="3092450">
              <a:lnSpc>
                <a:spcPts val="2250"/>
              </a:lnSpc>
              <a:spcBef>
                <a:spcPts val="26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uses_any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'AEIOU'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structure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uses_any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similar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has_e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loops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word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checks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finds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appears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True </a:t>
            </a:r>
            <a:r>
              <a:rPr dirty="0" sz="1050" spc="-55">
                <a:latin typeface="Palatino Linotype"/>
                <a:cs typeface="Palatino Linotype"/>
              </a:rPr>
              <a:t>immediately.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gets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finding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any,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lin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15" b="1">
                <a:latin typeface="Palatino Linotype"/>
                <a:cs typeface="Palatino Linotype"/>
              </a:rPr>
              <a:t>ar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s</a:t>
            </a:r>
            <a:r>
              <a:rPr dirty="0" sz="1050" spc="-65" b="1">
                <a:latin typeface="Palatino Linotype"/>
                <a:cs typeface="Palatino Linotype"/>
              </a:rPr>
              <a:t>e</a:t>
            </a:r>
            <a:r>
              <a:rPr dirty="0" sz="1050" spc="-15" b="1">
                <a:latin typeface="Palatino Linotype"/>
                <a:cs typeface="Palatino Linotype"/>
              </a:rPr>
              <a:t>a</a:t>
            </a:r>
            <a:r>
              <a:rPr dirty="0" sz="1050" spc="-20" b="1">
                <a:latin typeface="Palatino Linotype"/>
                <a:cs typeface="Palatino Linotype"/>
              </a:rPr>
              <a:t>r</a:t>
            </a:r>
            <a:r>
              <a:rPr dirty="0" sz="1050" spc="-40" b="1">
                <a:latin typeface="Palatino Linotype"/>
                <a:cs typeface="Palatino Linotype"/>
              </a:rPr>
              <a:t>c</a:t>
            </a:r>
            <a:r>
              <a:rPr dirty="0" sz="1050" spc="-30" b="1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738" y="7731125"/>
            <a:ext cx="1537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latin typeface="Trebuchet MS"/>
                <a:cs typeface="Trebuchet MS"/>
              </a:rPr>
              <a:t>98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63589"/>
            <a:ext cx="4572000" cy="1477010"/>
            <a:chOff x="914400" y="1563589"/>
            <a:chExt cx="4572000" cy="14770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63589"/>
              <a:ext cx="4572000" cy="1477010"/>
            </a:xfrm>
            <a:custGeom>
              <a:avLst/>
              <a:gdLst/>
              <a:ahLst/>
              <a:cxnLst/>
              <a:rect l="l" t="t" r="r" b="b"/>
              <a:pathLst>
                <a:path w="4572000" h="1477010">
                  <a:moveTo>
                    <a:pt x="4572000" y="1476692"/>
                  </a:moveTo>
                  <a:lnTo>
                    <a:pt x="0" y="14766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4766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651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4846745"/>
            <a:ext cx="4572000" cy="613410"/>
            <a:chOff x="914400" y="4846745"/>
            <a:chExt cx="4572000" cy="6134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4846745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484833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5971158"/>
            <a:ext cx="4572000" cy="289560"/>
            <a:chOff x="914400" y="5971158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597115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59727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6184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0"/>
              <a:t>Doctest</a:t>
            </a:r>
            <a:endParaRPr sz="1900"/>
          </a:p>
        </p:txBody>
      </p:sp>
      <p:sp>
        <p:nvSpPr>
          <p:cNvPr id="12" name="object 12" descr=""/>
          <p:cNvSpPr txBox="1"/>
          <p:nvPr/>
        </p:nvSpPr>
        <p:spPr>
          <a:xfrm>
            <a:off x="901637" y="964024"/>
            <a:ext cx="4598035" cy="612521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“Docstrings”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48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0">
                <a:latin typeface="Palatino Linotype"/>
                <a:cs typeface="Palatino Linotype"/>
              </a:rPr>
              <a:t>docstring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document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function—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is,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explain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does.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possible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test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function.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uses_any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docstring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tests: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uses_any(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any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list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ourier New"/>
              <a:cs typeface="Courier New"/>
            </a:endParaRPr>
          </a:p>
          <a:p>
            <a:pPr marL="255270" marR="266065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uses_any('banana',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'aeiou')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uses_any('apple',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'xyz')</a:t>
            </a:r>
            <a:endParaRPr sz="850">
              <a:latin typeface="Courier New"/>
              <a:cs typeface="Courier New"/>
            </a:endParaRPr>
          </a:p>
          <a:p>
            <a:pPr marL="255270" marR="4064000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255270" marR="3308350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0000"/>
              </a:lnSpc>
              <a:spcBef>
                <a:spcPts val="585"/>
              </a:spcBef>
            </a:pP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&gt;&gt;&gt;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vironme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doctest,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50" spc="-50">
                <a:latin typeface="Palatino Linotype"/>
                <a:cs typeface="Palatino Linotype"/>
              </a:rPr>
              <a:t>expression,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expres‐ </a:t>
            </a:r>
            <a:r>
              <a:rPr dirty="0" sz="1050" spc="-40">
                <a:latin typeface="Palatino Linotype"/>
                <a:cs typeface="Palatino Linotype"/>
              </a:rPr>
              <a:t>sion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correctl</a:t>
            </a:r>
            <a:r>
              <a:rPr dirty="0" sz="1050" spc="-13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'banana'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'a'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 </a:t>
            </a:r>
            <a:r>
              <a:rPr dirty="0" sz="1000">
                <a:latin typeface="SimSun"/>
                <a:cs typeface="SimSun"/>
              </a:rPr>
              <a:t>True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second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'apple'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'xyz'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35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tests,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import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doctest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 </a:t>
            </a:r>
            <a:r>
              <a:rPr dirty="0" sz="1000" spc="-10">
                <a:latin typeface="SimSun"/>
                <a:cs typeface="SimSun"/>
              </a:rPr>
              <a:t>run_docstring_examples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easier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wrote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following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doctest</a:t>
            </a:r>
            <a:r>
              <a:rPr dirty="0" sz="850" spc="-65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run_docstring_examples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run_doctests(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func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run_docstring_examples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func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globals</a:t>
            </a:r>
            <a:r>
              <a:rPr dirty="0" sz="850">
                <a:latin typeface="SimSun"/>
                <a:cs typeface="SimSun"/>
              </a:rPr>
              <a:t>(),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func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name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5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"/>
              </a:spcBef>
            </a:pP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haven’t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about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globals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name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80">
                <a:latin typeface="Palatino Linotype"/>
                <a:cs typeface="Palatino Linotype"/>
              </a:rPr>
              <a:t>yet—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ignore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Now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uses_any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run_doctests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uses_any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20">
                <a:latin typeface="SimSun"/>
                <a:cs typeface="SimSun"/>
              </a:rPr>
              <a:t>run_doctests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finds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evaluates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them.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result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expected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passes</a:t>
            </a:r>
            <a:r>
              <a:rPr dirty="0" sz="1050" spc="-6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Otherwise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fails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715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tests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pass,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run_doctests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displays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output—</a:t>
            </a:r>
            <a:r>
              <a:rPr dirty="0" sz="1050" spc="-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case,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news.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fails,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incorrect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uses_any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45892" y="7731125"/>
            <a:ext cx="6534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0" b="1">
                <a:latin typeface="Trebuchet MS"/>
                <a:cs typeface="Trebuchet MS"/>
              </a:rPr>
              <a:t>Doctest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99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1584960"/>
            <a:chOff x="914400" y="685800"/>
            <a:chExt cx="4572000" cy="15849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1584960"/>
            </a:xfrm>
            <a:custGeom>
              <a:avLst/>
              <a:gdLst/>
              <a:ahLst/>
              <a:cxnLst/>
              <a:rect l="l" t="t" r="r" b="b"/>
              <a:pathLst>
                <a:path w="4572000" h="1584960">
                  <a:moveTo>
                    <a:pt x="4572000" y="1584642"/>
                  </a:moveTo>
                  <a:lnTo>
                    <a:pt x="0" y="15846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5846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606675"/>
            <a:ext cx="4572000" cy="289560"/>
            <a:chOff x="914400" y="2606675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6066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6082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9392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901639" y="728091"/>
            <a:ext cx="4598035" cy="65347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uses_any_incorrect(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any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list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12090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uses_any_incorrect('banana',</a:t>
            </a:r>
            <a:r>
              <a:rPr dirty="0" sz="850" spc="4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'aeiou')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3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uses_any_incorrect('apple',</a:t>
            </a:r>
            <a:r>
              <a:rPr dirty="0" sz="850" spc="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'xyz')</a:t>
            </a:r>
            <a:endParaRPr sz="850">
              <a:latin typeface="Courier New"/>
              <a:cs typeface="Courier New"/>
            </a:endParaRPr>
          </a:p>
          <a:p>
            <a:pPr marL="255270" marR="4064000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 marR="33083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  <a:tabLst>
                <a:tab pos="1604645" algn="l"/>
              </a:tabLst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r>
              <a:rPr dirty="0" sz="850" b="1">
                <a:solidFill>
                  <a:srgbClr val="006699"/>
                </a:solidFill>
                <a:latin typeface="Courier New"/>
                <a:cs typeface="Courier New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INCORRECT!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run_doctests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uses_any_incorrect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771525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********************************************************************** </a:t>
            </a:r>
            <a:r>
              <a:rPr dirty="0" sz="850">
                <a:latin typeface="SimSun"/>
                <a:cs typeface="SimSun"/>
              </a:rPr>
              <a:t>File "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", line 4, in </a:t>
            </a:r>
            <a:r>
              <a:rPr dirty="0" sz="850" spc="-10">
                <a:latin typeface="SimSun"/>
                <a:cs typeface="SimSun"/>
              </a:rPr>
              <a:t>uses_any_incorrect</a:t>
            </a:r>
            <a:endParaRPr sz="850">
              <a:latin typeface="SimSun"/>
              <a:cs typeface="SimSun"/>
            </a:endParaRPr>
          </a:p>
          <a:p>
            <a:pPr marL="255270" marR="2336800" indent="-2159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Failed </a:t>
            </a:r>
            <a:r>
              <a:rPr dirty="0" sz="850" spc="-10">
                <a:latin typeface="SimSun"/>
                <a:cs typeface="SimSun"/>
              </a:rPr>
              <a:t>example: </a:t>
            </a:r>
            <a:r>
              <a:rPr dirty="0" sz="850">
                <a:latin typeface="SimSun"/>
                <a:cs typeface="SimSun"/>
              </a:rPr>
              <a:t>uses_any_incorrect('banana', </a:t>
            </a:r>
            <a:r>
              <a:rPr dirty="0" sz="850" spc="-10">
                <a:latin typeface="SimSun"/>
                <a:cs typeface="SimSun"/>
              </a:rPr>
              <a:t>'aeiou')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765"/>
              </a:lnSpc>
            </a:pPr>
            <a:r>
              <a:rPr dirty="0" sz="850" spc="-10">
                <a:latin typeface="SimSun"/>
                <a:cs typeface="SimSun"/>
              </a:rPr>
              <a:t>Expected: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20">
                <a:latin typeface="SimSun"/>
                <a:cs typeface="SimSun"/>
              </a:rPr>
              <a:t>Got: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output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failed,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produce,</a:t>
            </a:r>
            <a:r>
              <a:rPr dirty="0" sz="1050" spc="-30">
                <a:latin typeface="Palatino Linotype"/>
                <a:cs typeface="Palatino Linotype"/>
              </a:rPr>
              <a:t> and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actually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produced.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failed,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debug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exercise.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loop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variable: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 b="1">
                <a:latin typeface="Palatino Linotype"/>
                <a:cs typeface="Palatino Linotype"/>
              </a:rPr>
              <a:t>file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object: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keeps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written.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method: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update:</a:t>
            </a:r>
            <a:r>
              <a:rPr dirty="0" sz="1050" spc="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assignment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gives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already exists,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variable.</a:t>
            </a:r>
            <a:endParaRPr sz="1050">
              <a:latin typeface="Palatino Linotype"/>
              <a:cs typeface="Palatino Linotype"/>
            </a:endParaRPr>
          </a:p>
          <a:p>
            <a:pPr marL="12700" marR="1859914">
              <a:lnSpc>
                <a:spcPct val="147600"/>
              </a:lnSpc>
            </a:pPr>
            <a:r>
              <a:rPr dirty="0" sz="1050" spc="-45" b="1">
                <a:latin typeface="Palatino Linotype"/>
                <a:cs typeface="Palatino Linotype"/>
              </a:rPr>
              <a:t>initialize: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give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value. </a:t>
            </a:r>
            <a:r>
              <a:rPr dirty="0" sz="1050" spc="-40" b="1">
                <a:latin typeface="Palatino Linotype"/>
                <a:cs typeface="Palatino Linotype"/>
              </a:rPr>
              <a:t>increment: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Increase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variable. </a:t>
            </a:r>
            <a:r>
              <a:rPr dirty="0" sz="1050" spc="-45" b="1">
                <a:latin typeface="Palatino Linotype"/>
                <a:cs typeface="Palatino Linotype"/>
              </a:rPr>
              <a:t>decrement: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Decrease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counter:</a:t>
            </a:r>
            <a:r>
              <a:rPr dirty="0" sz="1050" spc="6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variable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count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something,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usually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initialized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zero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then </a:t>
            </a:r>
            <a:r>
              <a:rPr dirty="0" sz="1050" spc="-10">
                <a:latin typeface="Palatino Linotype"/>
                <a:cs typeface="Palatino Linotype"/>
              </a:rPr>
              <a:t>incremented.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1698" y="7731125"/>
            <a:ext cx="15843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100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687988"/>
            <a:ext cx="4572000" cy="721360"/>
            <a:chOff x="914400" y="2687988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687988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6895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912818"/>
            <a:ext cx="4572000" cy="829310"/>
            <a:chOff x="914400" y="3912818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91281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9144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6226066"/>
            <a:ext cx="4572000" cy="1153160"/>
            <a:chOff x="914400" y="6226066"/>
            <a:chExt cx="4572000" cy="11531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6226066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59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622765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637" y="650030"/>
            <a:ext cx="4598035" cy="6637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linear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search: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computational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pattern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searches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through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elements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stops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pass: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passes.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fail: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fails.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uses_any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noticed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return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loop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outside: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uses_any(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255270" marR="3308350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50" spc="-30">
                <a:latin typeface="Palatino Linotype"/>
                <a:cs typeface="Palatino Linotype"/>
              </a:rPr>
              <a:t>When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people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common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return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statements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uses_any_incorrect(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 marR="3308350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True </a:t>
            </a: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  <a:tabLst>
                <a:tab pos="1604645" algn="l"/>
              </a:tabLst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r>
              <a:rPr dirty="0" sz="850" b="1">
                <a:solidFill>
                  <a:srgbClr val="006699"/>
                </a:solidFill>
                <a:latin typeface="Courier New"/>
                <a:cs typeface="Courier New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INCORRECT!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80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version.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4700"/>
              </a:lnSpc>
              <a:spcBef>
                <a:spcPts val="459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uses_none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forbidden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letters,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forbidden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outline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doctests.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Fill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5">
                <a:latin typeface="Palatino Linotype"/>
                <a:cs typeface="Palatino Linotype"/>
              </a:rPr>
              <a:t>passes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doctest: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uses_none(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avoid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forbidden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71462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uses_none('banana',</a:t>
            </a:r>
            <a:r>
              <a:rPr dirty="0" sz="850" spc="-4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'xyz')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uses_none('apple',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'efg')</a:t>
            </a:r>
            <a:endParaRPr sz="850">
              <a:latin typeface="Courier New"/>
              <a:cs typeface="Courier New"/>
            </a:endParaRPr>
          </a:p>
          <a:p>
            <a:pPr marL="255270" marR="4064000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endParaRPr sz="8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45020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101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759813"/>
            <a:ext cx="4572000" cy="1153160"/>
            <a:chOff x="914400" y="1759813"/>
            <a:chExt cx="4572000" cy="11531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759813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7614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4136879"/>
            <a:ext cx="4572000" cy="1153160"/>
            <a:chOff x="914400" y="4136879"/>
            <a:chExt cx="4572000" cy="11531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4136879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41384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5" y="519390"/>
            <a:ext cx="4598035" cy="677735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465"/>
              </a:spcBef>
            </a:pP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uses_only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string.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outline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doctests.</a:t>
            </a:r>
            <a:r>
              <a:rPr dirty="0" sz="1050" spc="-10">
                <a:latin typeface="Palatino Linotype"/>
                <a:cs typeface="Palatino Linotype"/>
              </a:rPr>
              <a:t> Fill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5">
                <a:latin typeface="Palatino Linotype"/>
                <a:cs typeface="Palatino Linotype"/>
              </a:rPr>
              <a:t>passes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doctest: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uses_only(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only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available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71462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uses_only('banana',</a:t>
            </a:r>
            <a:r>
              <a:rPr dirty="0" sz="850" spc="-4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'ban')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uses_only('apple',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'apl')</a:t>
            </a:r>
            <a:endParaRPr sz="850">
              <a:latin typeface="Courier New"/>
              <a:cs typeface="Courier New"/>
            </a:endParaRPr>
          </a:p>
          <a:p>
            <a:pPr marL="255270" marR="4064000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64"/>
              </a:spcBef>
            </a:pP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35">
                <a:latin typeface="Palatino Linotype"/>
                <a:cs typeface="Palatino Linotype"/>
              </a:rPr>
              <a:t> 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uses_all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once.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outline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doctests.</a:t>
            </a:r>
            <a:r>
              <a:rPr dirty="0" sz="1050" spc="-10">
                <a:latin typeface="Palatino Linotype"/>
                <a:cs typeface="Palatino Linotype"/>
              </a:rPr>
              <a:t> Fill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5">
                <a:latin typeface="Palatino Linotype"/>
                <a:cs typeface="Palatino Linotype"/>
              </a:rPr>
              <a:t>passes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doctest.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uses_all(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required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all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required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ourier New"/>
              <a:cs typeface="Courier New"/>
            </a:endParaRPr>
          </a:p>
          <a:p>
            <a:pPr marL="255270" marR="276860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uses_all('banana',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'ban')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uses_all('apple',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'api')</a:t>
            </a:r>
            <a:endParaRPr sz="850">
              <a:latin typeface="Courier New"/>
              <a:cs typeface="Courier New"/>
            </a:endParaRPr>
          </a:p>
          <a:p>
            <a:pPr marL="255270" marR="4064000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New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York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Times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publishes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daily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puzzle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“Spelling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Bee”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challenges </a:t>
            </a:r>
            <a:r>
              <a:rPr dirty="0" sz="1050" spc="-55">
                <a:latin typeface="Palatino Linotype"/>
                <a:cs typeface="Palatino Linotype"/>
              </a:rPr>
              <a:t>readers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possible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four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example,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day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wrote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ACDLORT,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with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required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 </a:t>
            </a:r>
            <a:r>
              <a:rPr dirty="0" sz="1050" spc="-75">
                <a:latin typeface="Palatino Linotype"/>
                <a:cs typeface="Palatino Linotype"/>
              </a:rPr>
              <a:t>“color”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acceptable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“told”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</a:t>
            </a:r>
            <a:r>
              <a:rPr dirty="0" sz="1050" spc="-20">
                <a:latin typeface="Palatino Linotype"/>
                <a:cs typeface="Palatino Linotype"/>
              </a:rPr>
              <a:t>use </a:t>
            </a:r>
            <a:r>
              <a:rPr dirty="0" sz="1050">
                <a:latin typeface="Palatino Linotype"/>
                <a:cs typeface="Palatino Linotype"/>
              </a:rPr>
              <a:t>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“rat”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three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repeated,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</a:t>
            </a:r>
            <a:r>
              <a:rPr dirty="0" sz="1050" spc="-75">
                <a:latin typeface="Palatino Linotype"/>
                <a:cs typeface="Palatino Linotype"/>
              </a:rPr>
              <a:t>“ratatat”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acceptable.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check_word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acceptable.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vailable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1710" y="7731125"/>
            <a:ext cx="15843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102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78280"/>
            <a:ext cx="4572000" cy="1800860"/>
            <a:chOff x="914400" y="1478280"/>
            <a:chExt cx="4572000" cy="18008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78280"/>
              <a:ext cx="4572000" cy="1800860"/>
            </a:xfrm>
            <a:custGeom>
              <a:avLst/>
              <a:gdLst/>
              <a:ahLst/>
              <a:cxnLst/>
              <a:rect l="l" t="t" r="r" b="b"/>
              <a:pathLst>
                <a:path w="4572000" h="1800860">
                  <a:moveTo>
                    <a:pt x="4572000" y="1800542"/>
                  </a:moveTo>
                  <a:lnTo>
                    <a:pt x="0" y="18005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8005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798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174529"/>
            <a:ext cx="4572000" cy="1369060"/>
            <a:chOff x="914400" y="5174529"/>
            <a:chExt cx="4572000" cy="13690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174529"/>
              <a:ext cx="4572000" cy="1369060"/>
            </a:xfrm>
            <a:custGeom>
              <a:avLst/>
              <a:gdLst/>
              <a:ahLst/>
              <a:cxnLst/>
              <a:rect l="l" t="t" r="r" b="b"/>
              <a:pathLst>
                <a:path w="4572000" h="1369059">
                  <a:moveTo>
                    <a:pt x="4572000" y="1368742"/>
                  </a:moveTo>
                  <a:lnTo>
                    <a:pt x="0" y="13687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3687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1761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3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single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wrote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exercises.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outline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doctests.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then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tests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pass: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check_word(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required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acceptable.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22885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check_word('color',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'R')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 marR="2174875" indent="-5397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check_word('ratatat',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'ACDLORT',</a:t>
            </a:r>
            <a:r>
              <a:rPr dirty="0" sz="850" spc="-4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'R')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 marR="233680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check_word('rat',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'R')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255270" marR="228282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check_word('told',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'R')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check_word('bee',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'R')</a:t>
            </a:r>
            <a:endParaRPr sz="850">
              <a:latin typeface="Courier New"/>
              <a:cs typeface="Courier New"/>
            </a:endParaRPr>
          </a:p>
          <a:p>
            <a:pPr marL="255270" marR="4064000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60">
                <a:latin typeface="Palatino Linotype"/>
                <a:cs typeface="Palatino Linotype"/>
              </a:rPr>
              <a:t>According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“Spelling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Bee”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rules: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Four-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each.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65">
                <a:latin typeface="Palatino Linotype"/>
                <a:cs typeface="Palatino Linotype"/>
              </a:rPr>
              <a:t>Longer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earn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puzzle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least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“pangram”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every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70">
                <a:latin typeface="Palatino Linotype"/>
                <a:cs typeface="Palatino Linotype"/>
              </a:rPr>
              <a:t>worth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extra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points!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55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score_word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word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available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lessons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score.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assume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acceptable.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Again,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doctests: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word_score(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"""Compute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score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for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acceptable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word.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55270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word_score('card',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1</a:t>
            </a:r>
            <a:endParaRPr sz="850">
              <a:latin typeface="Courier New"/>
              <a:cs typeface="Courier New"/>
            </a:endParaRPr>
          </a:p>
          <a:p>
            <a:pPr marL="255270" marR="249872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word_score('color',</a:t>
            </a:r>
            <a:r>
              <a:rPr dirty="0" sz="850" spc="-4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5</a:t>
            </a:r>
            <a:endParaRPr sz="850">
              <a:latin typeface="Courier New"/>
              <a:cs typeface="Courier New"/>
            </a:endParaRPr>
          </a:p>
          <a:p>
            <a:pPr marL="255270" marR="233680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1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word_score('cartload',</a:t>
            </a:r>
            <a:r>
              <a:rPr dirty="0" sz="850" spc="1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'ACDLORT')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15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noticed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wrote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>
                <a:latin typeface="Palatino Linotype"/>
                <a:cs typeface="Palatino Linotype"/>
              </a:rPr>
              <a:t>lot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common.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fact,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similar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often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write </a:t>
            </a:r>
            <a:r>
              <a:rPr dirty="0" sz="1050" spc="-10">
                <a:latin typeface="Palatino Linotype"/>
                <a:cs typeface="Palatino Linotype"/>
              </a:rPr>
              <a:t>another.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9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103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1369060"/>
            <a:chOff x="914400" y="1089574"/>
            <a:chExt cx="4572000" cy="13690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1369060"/>
            </a:xfrm>
            <a:custGeom>
              <a:avLst/>
              <a:gdLst/>
              <a:ahLst/>
              <a:cxnLst/>
              <a:rect l="l" t="t" r="r" b="b"/>
              <a:pathLst>
                <a:path w="4572000" h="1369060">
                  <a:moveTo>
                    <a:pt x="4572000" y="1368742"/>
                  </a:moveTo>
                  <a:lnTo>
                    <a:pt x="0" y="13687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3687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901639" y="650030"/>
            <a:ext cx="4598035" cy="526859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forbidden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90">
                <a:latin typeface="Palatino Linotype"/>
                <a:cs typeface="Palatino Linotype"/>
              </a:rPr>
              <a:t>any.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uses_none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uses_none(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avoids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forbidden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71462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uses_none('banana',</a:t>
            </a:r>
            <a:r>
              <a:rPr dirty="0" sz="850" spc="-4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'xyz')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 marR="2768600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uses_none('apple',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'efg')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uses_none('',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'abc')</a:t>
            </a:r>
            <a:endParaRPr sz="850">
              <a:latin typeface="Courier New"/>
              <a:cs typeface="Courier New"/>
            </a:endParaRPr>
          </a:p>
          <a:p>
            <a:pPr marL="255270" marR="4117975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uses_any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similarity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uses_only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uses_all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advan‐ </a:t>
            </a:r>
            <a:r>
              <a:rPr dirty="0" sz="1050" spc="-60">
                <a:latin typeface="Palatino Linotype"/>
                <a:cs typeface="Palatino Linotype"/>
              </a:rPr>
              <a:t>tage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of.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uses_only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SimSun"/>
                <a:cs typeface="SimSun"/>
              </a:rPr>
              <a:t>uses_all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uses_only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3099"/>
              </a:lnSpc>
              <a:spcBef>
                <a:spcPts val="42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stuck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question,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“</a:t>
            </a:r>
            <a:r>
              <a:rPr dirty="0" sz="1050" spc="-60">
                <a:latin typeface="Palatino Linotype"/>
                <a:cs typeface="Palatino Linotype"/>
              </a:rPr>
              <a:t>Given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uses_only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uses_all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allowing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repe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run_doctests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answer.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2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uses_all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based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uses_any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640"/>
              </a:spcBef>
            </a:pPr>
            <a:r>
              <a:rPr dirty="0" sz="1050">
                <a:latin typeface="Palatino Linotype"/>
                <a:cs typeface="Palatino Linotype"/>
              </a:rPr>
              <a:t>Ask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virtual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assistant,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“Given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uses_any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checks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any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uses_all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second, </a:t>
            </a:r>
            <a:r>
              <a:rPr dirty="0" sz="1050" spc="-70">
                <a:latin typeface="Palatino Linotype"/>
                <a:cs typeface="Palatino Linotype"/>
              </a:rPr>
              <a:t>allowing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repeats.”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says</a:t>
            </a:r>
            <a:r>
              <a:rPr dirty="0" sz="1050" spc="-20">
                <a:latin typeface="Palatino Linotype"/>
                <a:cs typeface="Palatino Linotype"/>
              </a:rPr>
              <a:t> it </a:t>
            </a:r>
            <a:r>
              <a:rPr dirty="0" sz="1050" spc="-45">
                <a:latin typeface="Palatino Linotype"/>
                <a:cs typeface="Palatino Linotype"/>
              </a:rPr>
              <a:t>can,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664" y="7731125"/>
            <a:ext cx="15843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104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Iteration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Search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628153"/>
            <a:ext cx="4572000" cy="397510"/>
            <a:chOff x="914400" y="5628153"/>
            <a:chExt cx="4572000" cy="3975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62815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6297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914400" y="6521598"/>
            <a:ext cx="4572000" cy="289560"/>
            <a:chOff x="914400" y="652159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652159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65231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70984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8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05"/>
              <a:t>Strings</a:t>
            </a:r>
            <a:r>
              <a:rPr dirty="0" spc="-345"/>
              <a:t> </a:t>
            </a:r>
            <a:r>
              <a:rPr dirty="0" spc="-370"/>
              <a:t>and</a:t>
            </a:r>
            <a:r>
              <a:rPr dirty="0" spc="-345"/>
              <a:t> Regular</a:t>
            </a:r>
            <a:r>
              <a:rPr dirty="0" spc="-340"/>
              <a:t> </a:t>
            </a:r>
            <a:r>
              <a:rPr dirty="0" spc="-385"/>
              <a:t>Expressions</a:t>
            </a:r>
          </a:p>
        </p:txBody>
      </p:sp>
      <p:sp>
        <p:nvSpPr>
          <p:cNvPr id="12" name="object 12" descr=""/>
          <p:cNvSpPr txBox="1"/>
          <p:nvPr/>
        </p:nvSpPr>
        <p:spPr>
          <a:xfrm>
            <a:off x="901642" y="3044843"/>
            <a:ext cx="4598035" cy="39604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Strings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tegers,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booleans.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s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95" b="1">
                <a:latin typeface="Palatino Linotype"/>
                <a:cs typeface="Palatino Linotype"/>
              </a:rPr>
              <a:t>q</a:t>
            </a:r>
            <a:r>
              <a:rPr dirty="0" sz="1050" spc="-55" b="1">
                <a:latin typeface="Palatino Linotype"/>
                <a:cs typeface="Palatino Linotype"/>
              </a:rPr>
              <a:t>u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nc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means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ultiple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particular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orde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access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70">
                <a:latin typeface="Palatino Linotype"/>
                <a:cs typeface="Palatino Linotype"/>
              </a:rPr>
              <a:t>powerful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performing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replace.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exercise,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you’ll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have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chance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apply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these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tools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word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game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called </a:t>
            </a:r>
            <a:r>
              <a:rPr dirty="0" sz="1050" spc="-10">
                <a:latin typeface="Palatino Linotype"/>
                <a:cs typeface="Palatino Linotype"/>
              </a:rPr>
              <a:t>Wordle.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65" b="1">
                <a:latin typeface="Trebuchet MS"/>
                <a:cs typeface="Trebuchet MS"/>
              </a:rPr>
              <a:t>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40" b="1">
                <a:latin typeface="Trebuchet MS"/>
                <a:cs typeface="Trebuchet MS"/>
              </a:rPr>
              <a:t>String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175" b="1">
                <a:latin typeface="Trebuchet MS"/>
                <a:cs typeface="Trebuchet MS"/>
              </a:rPr>
              <a:t>Is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Sequence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cha</a:t>
            </a:r>
            <a:r>
              <a:rPr dirty="0" sz="1050" spc="-20" b="1">
                <a:latin typeface="Palatino Linotype"/>
                <a:cs typeface="Palatino Linotype"/>
              </a:rPr>
              <a:t>r</a:t>
            </a:r>
            <a:r>
              <a:rPr dirty="0" sz="1050" spc="-35" b="1">
                <a:latin typeface="Palatino Linotype"/>
                <a:cs typeface="Palatino Linotype"/>
              </a:rPr>
              <a:t>a</a:t>
            </a:r>
            <a:r>
              <a:rPr dirty="0" sz="1050" spc="-25" b="1">
                <a:latin typeface="Palatino Linotype"/>
                <a:cs typeface="Palatino Linotype"/>
              </a:rPr>
              <a:t>c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15" b="1">
                <a:latin typeface="Palatino Linotype"/>
                <a:cs typeface="Palatino Linotype"/>
              </a:rPr>
              <a:t>r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almost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alpha‐ </a:t>
            </a:r>
            <a:r>
              <a:rPr dirty="0" sz="1050" spc="-30">
                <a:latin typeface="Palatino Linotype"/>
                <a:cs typeface="Palatino Linotype"/>
              </a:rPr>
              <a:t>bet),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digit,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punctu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mark,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whitespace.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6350">
              <a:lnSpc>
                <a:spcPct val="104700"/>
              </a:lnSpc>
              <a:spcBef>
                <a:spcPts val="540"/>
              </a:spcBef>
            </a:pP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select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te‐ </a:t>
            </a:r>
            <a:r>
              <a:rPr dirty="0" sz="1050" spc="-60">
                <a:latin typeface="Palatino Linotype"/>
                <a:cs typeface="Palatino Linotype"/>
              </a:rPr>
              <a:t>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fruit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letter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322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fruit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an </a:t>
            </a:r>
            <a:r>
              <a:rPr dirty="0" sz="1050" spc="-40" b="1">
                <a:latin typeface="Palatino Linotype"/>
                <a:cs typeface="Palatino Linotype"/>
              </a:rPr>
              <a:t>index</a:t>
            </a:r>
            <a:r>
              <a:rPr dirty="0" sz="1050" spc="-4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so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indicates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character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expect:</a:t>
            </a:r>
            <a:endParaRPr sz="1050">
              <a:latin typeface="Palatino Linotype"/>
              <a:cs typeface="Palatino Linotype"/>
            </a:endParaRPr>
          </a:p>
          <a:p>
            <a:pPr marL="39370" marR="4225925">
              <a:lnSpc>
                <a:spcPts val="2250"/>
              </a:lnSpc>
              <a:spcBef>
                <a:spcPts val="9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 </a:t>
            </a:r>
            <a:r>
              <a:rPr dirty="0" sz="850" spc="-25">
                <a:latin typeface="SimSun"/>
                <a:cs typeface="SimSun"/>
              </a:rPr>
              <a:t>'a'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333778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105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231767"/>
            <a:ext cx="4572000" cy="397510"/>
            <a:chOff x="914400" y="2231767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23176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2333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9166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30622"/>
            <a:ext cx="4572000" cy="289560"/>
            <a:chOff x="914400" y="3230622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3062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322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075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129061"/>
            <a:ext cx="4572000" cy="289560"/>
            <a:chOff x="914400" y="4129061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12906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13064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70595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187520"/>
            <a:ext cx="4572000" cy="397510"/>
            <a:chOff x="914400" y="5187520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18752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18910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87236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186375"/>
            <a:ext cx="4572000" cy="289560"/>
            <a:chOff x="914400" y="6186375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1863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18796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676327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36" y="657564"/>
            <a:ext cx="4598035" cy="667639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index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actually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offset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offset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1179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25">
                <a:latin typeface="SimSun"/>
                <a:cs typeface="SimSun"/>
              </a:rPr>
              <a:t>'b'</a:t>
            </a:r>
            <a:endParaRPr sz="850">
              <a:latin typeface="SimSun"/>
              <a:cs typeface="SimSun"/>
            </a:endParaRPr>
          </a:p>
          <a:p>
            <a:pPr marL="12700" marR="581025">
              <a:lnSpc>
                <a:spcPct val="147600"/>
              </a:lnSpc>
              <a:spcBef>
                <a:spcPts val="45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'b'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0th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'banana'</a:t>
            </a:r>
            <a:r>
              <a:rPr dirty="0" sz="1050" spc="-20">
                <a:latin typeface="Palatino Linotype"/>
                <a:cs typeface="Palatino Linotype"/>
              </a:rPr>
              <a:t>—</a:t>
            </a:r>
            <a:r>
              <a:rPr dirty="0" sz="1050" spc="-55">
                <a:latin typeface="Palatino Linotype"/>
                <a:cs typeface="Palatino Linotype"/>
              </a:rPr>
              <a:t>pronounced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“zero-</a:t>
            </a:r>
            <a:r>
              <a:rPr dirty="0" sz="1050" spc="-55">
                <a:latin typeface="Palatino Linotype"/>
                <a:cs typeface="Palatino Linotype"/>
              </a:rPr>
              <a:t>eth.”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brackets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1179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'a'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operators: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25">
                <a:latin typeface="SimSun"/>
                <a:cs typeface="SimSun"/>
              </a:rPr>
              <a:t>'n'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integer—</a:t>
            </a:r>
            <a:r>
              <a:rPr dirty="0" sz="1050" spc="-55">
                <a:latin typeface="Palatino Linotype"/>
                <a:cs typeface="Palatino Linotype"/>
              </a:rPr>
              <a:t>otherwise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1.5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string indices must be </a:t>
            </a:r>
            <a:r>
              <a:rPr dirty="0" sz="850" spc="-10">
                <a:latin typeface="SimSun"/>
                <a:cs typeface="SimSun"/>
              </a:rPr>
              <a:t>integers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45720" indent="-635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As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saw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3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length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6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tempted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IndexError: string index out of </a:t>
            </a:r>
            <a:r>
              <a:rPr dirty="0" sz="850" spc="-10">
                <a:latin typeface="SimSun"/>
                <a:cs typeface="SimSun"/>
              </a:rPr>
              <a:t>range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IndexError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'banana'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</a:t>
            </a:r>
            <a:r>
              <a:rPr dirty="0" sz="1050" spc="-25">
                <a:latin typeface="Palatino Linotype"/>
                <a:cs typeface="Palatino Linotype"/>
              </a:rPr>
              <a:t>. </a:t>
            </a:r>
            <a:r>
              <a:rPr dirty="0" sz="1050" spc="-5">
                <a:latin typeface="Palatino Linotype"/>
                <a:cs typeface="Palatino Linotype"/>
              </a:rPr>
              <a:t>B</a:t>
            </a:r>
            <a:r>
              <a:rPr dirty="0" sz="1050" spc="-50">
                <a:latin typeface="Palatino Linotype"/>
                <a:cs typeface="Palatino Linotype"/>
              </a:rPr>
              <a:t>ec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started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six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umbered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5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last </a:t>
            </a:r>
            <a:r>
              <a:rPr dirty="0" sz="1050" spc="-40">
                <a:latin typeface="Palatino Linotype"/>
                <a:cs typeface="Palatino Linotype"/>
              </a:rPr>
              <a:t>characte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subtract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1726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106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736725"/>
            <a:ext cx="4572000" cy="289560"/>
            <a:chOff x="914400" y="173672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7367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7383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3136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430189"/>
            <a:ext cx="4572000" cy="397510"/>
            <a:chOff x="914400" y="3430189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43018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4317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1150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6051825"/>
            <a:ext cx="4572000" cy="289560"/>
            <a:chOff x="914400" y="6051825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60518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605341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662872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942730"/>
            <a:ext cx="4572000" cy="289560"/>
            <a:chOff x="914400" y="6942730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94273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1"/>
                  </a:moveTo>
                  <a:lnTo>
                    <a:pt x="0" y="289241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1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9443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751962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49" y="728091"/>
            <a:ext cx="4598035" cy="4102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'a'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</a:t>
            </a:r>
            <a:r>
              <a:rPr dirty="0" sz="1050" spc="-110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neg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tive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index,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] 'a'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-1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-2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40" b="1">
                <a:latin typeface="Trebuchet MS"/>
                <a:cs typeface="Trebuchet MS"/>
              </a:rPr>
              <a:t>String</a:t>
            </a:r>
            <a:r>
              <a:rPr dirty="0" sz="1900" spc="-235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Slices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segment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string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b="1">
                <a:latin typeface="Palatino Linotype"/>
                <a:cs typeface="Palatino Linotype"/>
              </a:rPr>
              <a:t>slice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Selecting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slice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similar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selecting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character: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861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fruit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'ban'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[n:m]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</a:t>
            </a:r>
            <a:r>
              <a:rPr dirty="0" sz="1050">
                <a:latin typeface="Palatino Linotype"/>
                <a:cs typeface="Palatino Linotype"/>
              </a:rPr>
              <a:t>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character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m</a:t>
            </a:r>
            <a:r>
              <a:rPr dirty="0" sz="1050" spc="-25">
                <a:latin typeface="Palatino Linotype"/>
                <a:cs typeface="Palatino Linotype"/>
              </a:rPr>
              <a:t>th </a:t>
            </a:r>
            <a:r>
              <a:rPr dirty="0" sz="1050" spc="-50">
                <a:latin typeface="Palatino Linotype"/>
                <a:cs typeface="Palatino Linotype"/>
              </a:rPr>
              <a:t>character,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excluding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behavior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counterintui‐ </a:t>
            </a:r>
            <a:r>
              <a:rPr dirty="0" sz="1050" spc="-25">
                <a:latin typeface="Palatino Linotype"/>
                <a:cs typeface="Palatino Linotype"/>
              </a:rPr>
              <a:t>tive,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help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imagine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indices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pointing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between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characters,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figure: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5007812"/>
            <a:ext cx="1080670" cy="265474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901675" y="5383596"/>
            <a:ext cx="4598035" cy="2510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slice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[3:6]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selects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ana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6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legal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part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slice,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legal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index.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omit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index,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] 'ban'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omit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index,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slice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goes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:] 'ana'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SimSun"/>
              <a:cs typeface="SimSun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20" b="1">
                <a:latin typeface="Trebuchet MS"/>
                <a:cs typeface="Trebuchet MS"/>
              </a:rPr>
              <a:t>String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75" b="1">
                <a:latin typeface="Trebuchet MS"/>
                <a:cs typeface="Trebuchet MS"/>
              </a:rPr>
              <a:t>Slices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107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289560"/>
            <a:chOff x="914400" y="108203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589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019258"/>
            <a:ext cx="4572000" cy="397510"/>
            <a:chOff x="914400" y="3019258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01925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0208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7041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901948"/>
            <a:ext cx="4572000" cy="397510"/>
            <a:chOff x="914400" y="4901948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90194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9035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5867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6068357"/>
            <a:ext cx="4572000" cy="289560"/>
            <a:chOff x="914400" y="6068357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606835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60699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664525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01634" y="650030"/>
            <a:ext cx="4598035" cy="5901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index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greater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empty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60">
                <a:latin typeface="Palatino Linotype"/>
                <a:cs typeface="Palatino Linotype"/>
              </a:rPr>
              <a:t>represented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two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quotation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marks: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fruit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25">
                <a:latin typeface="SimSun"/>
                <a:cs typeface="SimSun"/>
              </a:rPr>
              <a:t>''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0.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55"/>
              </a:spcBef>
            </a:pPr>
            <a:r>
              <a:rPr dirty="0" sz="1050" spc="-55">
                <a:latin typeface="Palatino Linotype"/>
                <a:cs typeface="Palatino Linotype"/>
              </a:rPr>
              <a:t>Continuing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fruit[:]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means?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45" b="1">
                <a:latin typeface="Trebuchet MS"/>
                <a:cs typeface="Trebuchet MS"/>
              </a:rPr>
              <a:t>Strings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Are</a:t>
            </a:r>
            <a:r>
              <a:rPr dirty="0" sz="1900" spc="-25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Immutable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tempting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SimSun"/>
                <a:cs typeface="SimSun"/>
              </a:rPr>
              <a:t>[]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-20">
                <a:latin typeface="Palatino Linotype"/>
                <a:cs typeface="Palatino Linotype"/>
              </a:rPr>
              <a:t> 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left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inten‐ </a:t>
            </a:r>
            <a:r>
              <a:rPr dirty="0" sz="1050" spc="-30">
                <a:latin typeface="Palatino Linotype"/>
                <a:cs typeface="Palatino Linotype"/>
              </a:rPr>
              <a:t>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greeting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'Hello,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world!'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greeting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'J'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'str' object does not support item </a:t>
            </a:r>
            <a:r>
              <a:rPr dirty="0" sz="850" spc="-10">
                <a:latin typeface="SimSun"/>
                <a:cs typeface="SimSun"/>
              </a:rPr>
              <a:t>assignment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TypeError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message,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object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item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no</a:t>
            </a:r>
            <a:r>
              <a:rPr dirty="0" sz="1050" spc="-180">
                <a:latin typeface="Palatino Linotype"/>
                <a:cs typeface="Palatino Linotype"/>
              </a:rPr>
              <a:t>w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95" b="1">
                <a:latin typeface="Palatino Linotype"/>
                <a:cs typeface="Palatino Linotype"/>
              </a:rPr>
              <a:t>b</a:t>
            </a:r>
            <a:r>
              <a:rPr dirty="0" sz="1050" spc="-50" b="1">
                <a:latin typeface="Palatino Linotype"/>
                <a:cs typeface="Palatino Linotype"/>
              </a:rPr>
              <a:t>j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20" b="1">
                <a:latin typeface="Palatino Linotype"/>
                <a:cs typeface="Palatino Linotype"/>
              </a:rPr>
              <a:t>c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refine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reason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strings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immutable</a:t>
            </a:r>
            <a:r>
              <a:rPr dirty="0" sz="1050" spc="-55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means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can’t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change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best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original: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new_greeting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greeting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:]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new_greeting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'Jello, </a:t>
            </a:r>
            <a:r>
              <a:rPr dirty="0" sz="850" spc="-10">
                <a:latin typeface="SimSun"/>
                <a:cs typeface="SimSun"/>
              </a:rPr>
              <a:t>world!'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concatenates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 </a:t>
            </a:r>
            <a:r>
              <a:rPr dirty="0" sz="1050" spc="-30">
                <a:latin typeface="Palatino Linotype"/>
                <a:cs typeface="Palatino Linotype"/>
              </a:rPr>
              <a:t>letter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slice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greeting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original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8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greeting </a:t>
            </a:r>
            <a:r>
              <a:rPr dirty="0" sz="850">
                <a:latin typeface="SimSun"/>
                <a:cs typeface="SimSun"/>
              </a:rPr>
              <a:t>'Hello, </a:t>
            </a:r>
            <a:r>
              <a:rPr dirty="0" sz="850" spc="-10">
                <a:latin typeface="SimSun"/>
                <a:cs typeface="SimSun"/>
              </a:rPr>
              <a:t>world!'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710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108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3569"/>
            <a:ext cx="4572000" cy="613410"/>
            <a:chOff x="914400" y="1403569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356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05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30431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914400" y="26199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914400" y="355685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914400" y="413216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606191"/>
            <a:ext cx="4572000" cy="289560"/>
            <a:chOff x="914400" y="4606191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60619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6077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18308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4814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40"/>
              <a:t>String</a:t>
            </a:r>
            <a:r>
              <a:rPr dirty="0" sz="1900" spc="-235"/>
              <a:t> </a:t>
            </a:r>
            <a:r>
              <a:rPr dirty="0" sz="1900" spc="-315"/>
              <a:t>Comparison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40" y="964024"/>
            <a:ext cx="4598035" cy="156781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relational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equal,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'All right,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banana.'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All right, </a:t>
            </a:r>
            <a:r>
              <a:rPr dirty="0" sz="850" spc="-10">
                <a:latin typeface="SimSun"/>
                <a:cs typeface="SimSun"/>
              </a:rPr>
              <a:t>banana.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relational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putting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alphabetical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14400" y="2621499"/>
            <a:ext cx="4572000" cy="9340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algn="r" marR="3295650">
              <a:lnSpc>
                <a:spcPts val="935"/>
              </a:lnSpc>
              <a:spcBef>
                <a:spcPts val="40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compare_word(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r" marR="329565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584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'comes before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banana.'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425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584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'comes after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banana.'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425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584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'All right,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banana.'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4400" y="3558441"/>
            <a:ext cx="4572000" cy="2863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compare_word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'apple'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56" y="3883624"/>
            <a:ext cx="4598035" cy="2969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apple comes before </a:t>
            </a:r>
            <a:r>
              <a:rPr dirty="0" sz="850" spc="-10">
                <a:latin typeface="SimSun"/>
                <a:cs typeface="SimSun"/>
              </a:rPr>
              <a:t>banana.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uppercase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lowercase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way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people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All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uppercase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lowercase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so:</a:t>
            </a:r>
            <a:endParaRPr sz="1050">
              <a:latin typeface="Palatino Linotype"/>
              <a:cs typeface="Palatino Linotype"/>
            </a:endParaRPr>
          </a:p>
          <a:p>
            <a:pPr marL="39370" marR="29305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compare_word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'Pineapple'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Pineapple comes before </a:t>
            </a:r>
            <a:r>
              <a:rPr dirty="0" sz="850" spc="-10">
                <a:latin typeface="SimSun"/>
                <a:cs typeface="SimSun"/>
              </a:rPr>
              <a:t>banana.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solve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convert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standard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lower‐ case,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before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performing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comparison.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Keep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defend </a:t>
            </a:r>
            <a:r>
              <a:rPr dirty="0" sz="1050" spc="-60">
                <a:latin typeface="Palatino Linotype"/>
                <a:cs typeface="Palatino Linotype"/>
              </a:rPr>
              <a:t>yourself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against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armed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pineapple.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40" b="1">
                <a:latin typeface="Trebuchet MS"/>
                <a:cs typeface="Trebuchet MS"/>
              </a:rPr>
              <a:t>String</a:t>
            </a:r>
            <a:r>
              <a:rPr dirty="0" sz="1900" spc="-23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Methods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1600"/>
              </a:lnSpc>
              <a:spcBef>
                <a:spcPts val="520"/>
              </a:spcBef>
            </a:pPr>
            <a:r>
              <a:rPr dirty="0" sz="1050" spc="-45">
                <a:latin typeface="Palatino Linotype"/>
                <a:cs typeface="Palatino Linotype"/>
              </a:rPr>
              <a:t>Strings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variety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45">
                <a:latin typeface="Palatino Linotype"/>
                <a:cs typeface="Palatino Linotype"/>
              </a:rPr>
              <a:t>similar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function—it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value—but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tax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dif‐ </a:t>
            </a:r>
            <a:r>
              <a:rPr dirty="0" sz="1050" spc="-40">
                <a:latin typeface="Palatino Linotype"/>
                <a:cs typeface="Palatino Linotype"/>
              </a:rPr>
              <a:t>fere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upper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 </a:t>
            </a:r>
            <a:r>
              <a:rPr dirty="0" sz="1050" spc="-60">
                <a:latin typeface="Palatino Linotype"/>
                <a:cs typeface="Palatino Linotype"/>
              </a:rPr>
              <a:t>uppercase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505500" y="7731125"/>
            <a:ext cx="9937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0" b="1">
                <a:latin typeface="Trebuchet MS"/>
                <a:cs typeface="Trebuchet MS"/>
              </a:rPr>
              <a:t>String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5" b="1">
                <a:latin typeface="Trebuchet MS"/>
                <a:cs typeface="Trebuchet MS"/>
              </a:rPr>
              <a:t>Methods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40" b="1">
                <a:latin typeface="Trebuchet MS"/>
                <a:cs typeface="Trebuchet MS"/>
              </a:rPr>
              <a:t>109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505459"/>
            <a:chOff x="914400" y="929554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223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890307"/>
            <a:ext cx="4572000" cy="289560"/>
            <a:chOff x="914400" y="389030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89030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89189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5567171"/>
            <a:ext cx="4572000" cy="397510"/>
            <a:chOff x="914400" y="5567171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56717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5687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6460616"/>
            <a:ext cx="4572000" cy="505459"/>
            <a:chOff x="914400" y="6460616"/>
            <a:chExt cx="4572000" cy="505459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460616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4622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736136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625" y="657564"/>
            <a:ext cx="4598035" cy="6610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latin typeface="Palatino Linotype"/>
                <a:cs typeface="Palatino Linotype"/>
              </a:rPr>
              <a:t>Instead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syntax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upper(word)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syntax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word.upper()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new_word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upper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new_word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'BANANA'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upper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apply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method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empty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parentheses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indicate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invocation</a:t>
            </a:r>
            <a:r>
              <a:rPr dirty="0" sz="1050" spc="-45">
                <a:latin typeface="Palatino Linotype"/>
                <a:cs typeface="Palatino Linotype"/>
              </a:rPr>
              <a:t>;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case,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say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invoking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upper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Writing</a:t>
            </a:r>
            <a:r>
              <a:rPr dirty="0" sz="1900" spc="-23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Files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reading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Dracula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60">
                <a:latin typeface="Palatino Linotype"/>
                <a:cs typeface="Palatino Linotype"/>
              </a:rPr>
              <a:t>novel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Stoker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available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Project</a:t>
            </a:r>
            <a:r>
              <a:rPr dirty="0" sz="1050" spc="17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Gutenberg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I’ve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downloaded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book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plain-</a:t>
            </a:r>
            <a:r>
              <a:rPr dirty="0" sz="1050">
                <a:latin typeface="Palatino Linotype"/>
                <a:cs typeface="Palatino Linotype"/>
              </a:rPr>
              <a:t>text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 </a:t>
            </a:r>
            <a:r>
              <a:rPr dirty="0" sz="1050" spc="-35" i="1">
                <a:latin typeface="Palatino Linotype"/>
                <a:cs typeface="Palatino Linotype"/>
              </a:rPr>
              <a:t>pg345.txt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open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reader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'pg345.txt'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16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addition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book,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section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 </a:t>
            </a:r>
            <a:r>
              <a:rPr dirty="0" sz="1050" spc="-25">
                <a:latin typeface="Palatino Linotype"/>
                <a:cs typeface="Palatino Linotype"/>
              </a:rPr>
              <a:t>information</a:t>
            </a:r>
            <a:r>
              <a:rPr dirty="0" sz="1050" spc="-10">
                <a:latin typeface="Palatino Linotype"/>
                <a:cs typeface="Palatino Linotype"/>
              </a:rPr>
              <a:t> 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information</a:t>
            </a:r>
            <a:r>
              <a:rPr dirty="0" sz="1050" spc="-10">
                <a:latin typeface="Palatino Linotype"/>
                <a:cs typeface="Palatino Linotype"/>
              </a:rPr>
              <a:t> 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license. </a:t>
            </a:r>
            <a:r>
              <a:rPr dirty="0" sz="1050" spc="-30">
                <a:latin typeface="Palatino Linotype"/>
                <a:cs typeface="Palatino Linotype"/>
              </a:rPr>
              <a:t>Before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process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text,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50">
                <a:latin typeface="Palatino Linotype"/>
                <a:cs typeface="Palatino Linotype"/>
              </a:rPr>
              <a:t>remove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extra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material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begin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'***'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lines.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startswith</a:t>
            </a:r>
            <a:r>
              <a:rPr dirty="0" sz="1000" spc="-2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given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is_special_line(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startswith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'***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lines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spe‐ </a:t>
            </a:r>
            <a:r>
              <a:rPr dirty="0" sz="1050" spc="-45">
                <a:latin typeface="Palatino Linotype"/>
                <a:cs typeface="Palatino Linotype"/>
              </a:rPr>
              <a:t>cial</a:t>
            </a:r>
            <a:r>
              <a:rPr dirty="0" sz="1050" spc="-10">
                <a:latin typeface="Palatino Linotype"/>
                <a:cs typeface="Palatino Linotype"/>
              </a:rPr>
              <a:t> lines: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reader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9845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is_special_line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*** START OF THE PROJECT GUTENBERG EBOOK DRACULA </a:t>
            </a:r>
            <a:r>
              <a:rPr dirty="0" sz="850" spc="-25">
                <a:latin typeface="SimSun"/>
                <a:cs typeface="SimSun"/>
              </a:rPr>
              <a:t>***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*** END OF THE PROJECT GUTENBERG EBOOK DRACULA </a:t>
            </a:r>
            <a:r>
              <a:rPr dirty="0" sz="850" spc="-25">
                <a:latin typeface="SimSun"/>
                <a:cs typeface="SimSun"/>
              </a:rPr>
              <a:t>***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737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110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2060"/>
            <a:ext cx="4572000" cy="397510"/>
            <a:chOff x="914400" y="124206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206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36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539279"/>
            <a:ext cx="4572000" cy="505459"/>
            <a:chOff x="914400" y="2539279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53927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5408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791963"/>
            <a:ext cx="4572000" cy="289560"/>
            <a:chOff x="914400" y="3791963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79196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7935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43688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5406681"/>
            <a:ext cx="4572000" cy="613410"/>
            <a:chOff x="914400" y="5406681"/>
            <a:chExt cx="4572000" cy="6134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406681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4082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14400" y="6363541"/>
            <a:ext cx="4572000" cy="289560"/>
            <a:chOff x="914400" y="6363541"/>
            <a:chExt cx="4572000" cy="28956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636354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63651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914400" y="694043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901644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25">
                <a:latin typeface="Palatino Linotype"/>
                <a:cs typeface="Palatino Linotype"/>
              </a:rPr>
              <a:t>Now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let’s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pg345_cleaned.txt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book. </a:t>
            </a: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again,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again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open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writing: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reader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'pg345.txt'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'w'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>
                <a:latin typeface="SimSun"/>
                <a:cs typeface="SimSun"/>
              </a:rPr>
              <a:t>open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optional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parameter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specifies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“mode”—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'w' </a:t>
            </a: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we’re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opening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45">
                <a:latin typeface="Palatino Linotype"/>
                <a:cs typeface="Palatino Linotype"/>
              </a:rPr>
              <a:t>writing.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doesn’t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exist,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cre‐ </a:t>
            </a:r>
            <a:r>
              <a:rPr dirty="0" sz="1050" spc="-65">
                <a:latin typeface="Palatino Linotype"/>
                <a:cs typeface="Palatino Linotype"/>
              </a:rPr>
              <a:t>ated;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replaced.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step,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until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reader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is_special_line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break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0000"/>
              </a:lnSpc>
              <a:spcBef>
                <a:spcPts val="5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break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statement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“breaks”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loop—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causes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loop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end </a:t>
            </a:r>
            <a:r>
              <a:rPr dirty="0" sz="1050" spc="-70">
                <a:latin typeface="Palatino Linotype"/>
                <a:cs typeface="Palatino Linotype"/>
              </a:rPr>
              <a:t>immedi</a:t>
            </a:r>
            <a:r>
              <a:rPr dirty="0" sz="1050" spc="-70">
                <a:latin typeface="Palatino Linotype"/>
                <a:cs typeface="Palatino Linotype"/>
              </a:rPr>
              <a:t>ately,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made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true: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'*** START OF THE PROJECT GUTENBERG EBOOK DRACULA </a:t>
            </a:r>
            <a:r>
              <a:rPr dirty="0" sz="850" spc="-10">
                <a:latin typeface="SimSun"/>
                <a:cs typeface="SimSun"/>
              </a:rPr>
              <a:t>***\n'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5">
                <a:latin typeface="Palatino Linotype"/>
                <a:cs typeface="Palatino Linotype"/>
              </a:rPr>
              <a:t>B</a:t>
            </a:r>
            <a:r>
              <a:rPr dirty="0" sz="1050" spc="-50">
                <a:latin typeface="Palatino Linotype"/>
                <a:cs typeface="Palatino Linotype"/>
              </a:rPr>
              <a:t>ec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reader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track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pick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left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off.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spe‐ </a:t>
            </a:r>
            <a:r>
              <a:rPr dirty="0" sz="1050" spc="-40">
                <a:latin typeface="Palatino Linotype"/>
                <a:cs typeface="Palatino Linotype"/>
              </a:rPr>
              <a:t>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breaks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</a:t>
            </a:r>
            <a:r>
              <a:rPr dirty="0" sz="1050" spc="-95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65">
                <a:latin typeface="Palatino Linotype"/>
                <a:cs typeface="Palatino Linotype"/>
              </a:rPr>
              <a:t>wise,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writes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output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reader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is_special_line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break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'*** END OF THE PROJECT GUTENBERG EBOOK DRACULA </a:t>
            </a:r>
            <a:r>
              <a:rPr dirty="0" sz="850" spc="-10">
                <a:latin typeface="SimSun"/>
                <a:cs typeface="SimSun"/>
              </a:rPr>
              <a:t>***\n'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5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reader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writer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could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keep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reading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reader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writing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writer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indicate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we’re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done,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80">
                <a:latin typeface="Palatino Linotype"/>
                <a:cs typeface="Palatino Linotype"/>
              </a:rPr>
              <a:t>we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close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close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900" spc="-125" b="1">
                <a:latin typeface="Trebuchet MS"/>
                <a:cs typeface="Trebuchet MS"/>
              </a:rPr>
              <a:t>Writing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70" b="1">
                <a:latin typeface="Trebuchet MS"/>
                <a:cs typeface="Trebuchet MS"/>
              </a:rPr>
              <a:t>Files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111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397510"/>
            <a:chOff x="914400" y="68580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579244"/>
            <a:ext cx="4572000" cy="829310"/>
            <a:chOff x="914400" y="1579244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57924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58083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91179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752173"/>
            <a:ext cx="4572000" cy="721360"/>
            <a:chOff x="914400" y="4752173"/>
            <a:chExt cx="4572000" cy="7213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75217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7537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7608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6242432"/>
            <a:ext cx="4572000" cy="829310"/>
            <a:chOff x="914400" y="6242432"/>
            <a:chExt cx="4572000" cy="8293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242432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2440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735908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43" y="728091"/>
            <a:ext cx="4598035" cy="6537959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39370" marR="3794125">
              <a:lnSpc>
                <a:spcPts val="850"/>
              </a:lnSpc>
              <a:spcBef>
                <a:spcPts val="27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close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close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successful,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few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created: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4987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4711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endswith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'Stoker'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break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ts val="935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DRACULA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20">
                <a:latin typeface="SimSun"/>
                <a:cs typeface="SimSun"/>
              </a:rPr>
              <a:t>_by_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Bram </a:t>
            </a:r>
            <a:r>
              <a:rPr dirty="0" sz="850" spc="-10">
                <a:latin typeface="SimSun"/>
                <a:cs typeface="SimSun"/>
              </a:rPr>
              <a:t>Stoker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endswith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method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checks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whether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string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ends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with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given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sequence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characters.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Find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Replace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2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Icelandic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translation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Dracula</a:t>
            </a:r>
            <a:r>
              <a:rPr dirty="0" sz="1050" spc="-25" i="1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1901,</a:t>
            </a:r>
            <a:r>
              <a:rPr dirty="0" sz="1050" spc="-20">
                <a:latin typeface="Palatino Linotype"/>
                <a:cs typeface="Palatino Linotype"/>
              </a:rPr>
              <a:t> the </a:t>
            </a:r>
            <a:r>
              <a:rPr dirty="0" sz="1050" spc="-50">
                <a:latin typeface="Palatino Linotype"/>
                <a:cs typeface="Palatino Linotype"/>
              </a:rPr>
              <a:t>name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the </a:t>
            </a:r>
            <a:r>
              <a:rPr dirty="0" sz="1050" spc="-35">
                <a:latin typeface="Palatino Linotype"/>
                <a:cs typeface="Palatino Linotype"/>
              </a:rPr>
              <a:t>characters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from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“Jonathan”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“Thomas.”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40">
                <a:latin typeface="Palatino Linotype"/>
                <a:cs typeface="Palatino Linotype"/>
              </a:rPr>
              <a:t>English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ver‐ </a:t>
            </a:r>
            <a:r>
              <a:rPr dirty="0" sz="1050" spc="-10">
                <a:latin typeface="Palatino Linotype"/>
                <a:cs typeface="Palatino Linotype"/>
              </a:rPr>
              <a:t>sion,</a:t>
            </a:r>
            <a:r>
              <a:rPr dirty="0" sz="1050" spc="-60">
                <a:latin typeface="Palatino Linotype"/>
                <a:cs typeface="Palatino Linotype"/>
              </a:rPr>
              <a:t> 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loop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book,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replace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replace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name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another,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file.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cleaned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255270" marR="24987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total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15499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“Jonathan,”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SimSun"/>
                <a:cs typeface="SimSun"/>
              </a:rPr>
              <a:t>in</a:t>
            </a:r>
            <a:r>
              <a:rPr dirty="0" sz="1000" spc="-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checks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anywhere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31464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'Jonathan'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total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199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1663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112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9614"/>
            <a:ext cx="4572000" cy="721360"/>
            <a:chOff x="914400" y="140961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961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112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4183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739853"/>
            <a:ext cx="4572000" cy="721360"/>
            <a:chOff x="914400" y="2739853"/>
            <a:chExt cx="4572000" cy="7213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73985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7414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5643542"/>
            <a:ext cx="4572000" cy="289560"/>
            <a:chOff x="914400" y="5643542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64354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6451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6269017"/>
            <a:ext cx="4572000" cy="289560"/>
            <a:chOff x="914400" y="6269017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26901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2706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01637" y="650030"/>
            <a:ext cx="4598035" cy="581660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01600"/>
              </a:lnSpc>
              <a:spcBef>
                <a:spcPts val="80"/>
              </a:spcBef>
            </a:pPr>
            <a:r>
              <a:rPr dirty="0" sz="1050" spc="-10">
                <a:latin typeface="Palatino Linotype"/>
                <a:cs typeface="Palatino Linotype"/>
              </a:rPr>
              <a:t>There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199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name,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that’s</a:t>
            </a:r>
            <a:r>
              <a:rPr dirty="0" sz="1050">
                <a:latin typeface="Palatino Linotype"/>
                <a:cs typeface="Palatino Linotype"/>
              </a:rPr>
              <a:t> 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quite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total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-25">
                <a:latin typeface="Palatino Linotype"/>
                <a:cs typeface="Palatino Linotype"/>
              </a:rPr>
              <a:t> of </a:t>
            </a:r>
            <a:r>
              <a:rPr dirty="0" sz="1050" spc="-45">
                <a:latin typeface="Palatino Linotype"/>
                <a:cs typeface="Palatino Linotype"/>
              </a:rPr>
              <a:t>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line.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total,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count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471170" marR="22828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'Jonathan'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total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5">
                <a:latin typeface="SimSun"/>
                <a:cs typeface="SimSun"/>
              </a:rPr>
              <a:t>200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'Jonathan'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'Thomas'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'pg345_replaced.txt'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'w'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1209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replace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'Jonathan'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'Thomas'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pg345_replaced.txt</a:t>
            </a:r>
            <a:r>
              <a:rPr dirty="0" sz="1050" spc="20" i="1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Dracula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Jonathan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Harker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Thomas.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0" b="1">
                <a:latin typeface="Trebuchet MS"/>
                <a:cs typeface="Trebuchet MS"/>
              </a:rPr>
              <a:t>Regular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Expressions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know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exactly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sequence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we’re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looking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in </a:t>
            </a:r>
            <a:r>
              <a:rPr dirty="0" sz="1050" spc="-35">
                <a:latin typeface="Palatino Linotype"/>
                <a:cs typeface="Palatino Linotype"/>
              </a:rPr>
              <a:t>operator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SimSun"/>
                <a:cs typeface="SimSun"/>
              </a:rPr>
              <a:t>replace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replace</a:t>
            </a:r>
            <a:r>
              <a:rPr dirty="0" sz="1050">
                <a:latin typeface="Palatino Linotype"/>
                <a:cs typeface="Palatino Linotype"/>
              </a:rPr>
              <a:t> it. But </a:t>
            </a: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is </a:t>
            </a:r>
            <a:r>
              <a:rPr dirty="0" sz="1050" spc="-3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tool,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regular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expression</a:t>
            </a:r>
            <a:r>
              <a:rPr dirty="0" sz="1050" spc="-5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operations—and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more.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I’ll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simple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way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Suppose, </a:t>
            </a:r>
            <a:r>
              <a:rPr dirty="0" sz="1050" spc="-45">
                <a:latin typeface="Palatino Linotype"/>
                <a:cs typeface="Palatino Linotype"/>
              </a:rPr>
              <a:t>again,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find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lines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particular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change,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let’s </a:t>
            </a:r>
            <a:r>
              <a:rPr dirty="0" sz="1050" spc="-20">
                <a:latin typeface="Palatino Linotype"/>
                <a:cs typeface="Palatino Linotype"/>
              </a:rPr>
              <a:t>look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references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titular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character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book,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Count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Dracula.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mentions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him: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text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"I am Dracula; and I bid you welcome, Mr. Harker, to my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house."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pattern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search: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'Dracula'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333933" y="7731125"/>
            <a:ext cx="11652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Expressions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113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57128"/>
            <a:ext cx="4572000" cy="613410"/>
            <a:chOff x="914400" y="1257128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5712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587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1578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806992"/>
            <a:ext cx="4572000" cy="289560"/>
            <a:chOff x="914400" y="2806992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80699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8085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38388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865451"/>
            <a:ext cx="4572000" cy="289560"/>
            <a:chOff x="914400" y="3865451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86545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86703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4423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923910"/>
            <a:ext cx="4572000" cy="289560"/>
            <a:chOff x="914400" y="4923910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92391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92549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50080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822349"/>
            <a:ext cx="4572000" cy="397510"/>
            <a:chOff x="914400" y="5822349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82234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82393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5071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43" y="657564"/>
            <a:ext cx="4598035" cy="624522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rel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regular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0">
                <a:latin typeface="Palatino Linotype"/>
                <a:cs typeface="Palatino Linotype"/>
              </a:rPr>
              <a:t>port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search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text: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5" b="1">
                <a:latin typeface="Courier New"/>
                <a:cs typeface="Courier New"/>
              </a:rPr>
              <a:t>re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ourier New"/>
              <a:cs typeface="Courier New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search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text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&lt;re.Match object; span=(5, 12), </a:t>
            </a:r>
            <a:r>
              <a:rPr dirty="0" sz="850" spc="-10">
                <a:latin typeface="SimSun"/>
                <a:cs typeface="SimSun"/>
              </a:rPr>
              <a:t>match='Dracula'&gt;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pattern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appears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text,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search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returns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Match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results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search.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Among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information,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string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searched: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'I am Dracula; and I bid you welcome, Mr. Harker, to my </a:t>
            </a:r>
            <a:r>
              <a:rPr dirty="0" sz="850" spc="-10">
                <a:latin typeface="SimSun"/>
                <a:cs typeface="SimSun"/>
              </a:rPr>
              <a:t>house.'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group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text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matched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pattern:</a:t>
            </a:r>
            <a:endParaRPr sz="1050">
              <a:latin typeface="Palatino Linotype"/>
              <a:cs typeface="Palatino Linotype"/>
            </a:endParaRPr>
          </a:p>
          <a:p>
            <a:pPr marL="39370" marR="37941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group</a:t>
            </a:r>
            <a:r>
              <a:rPr dirty="0" sz="850" spc="-10">
                <a:latin typeface="SimSun"/>
                <a:cs typeface="SimSun"/>
              </a:rPr>
              <a:t>() 'Dracula'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span</a:t>
            </a:r>
            <a:r>
              <a:rPr dirty="0" sz="1000" spc="-14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index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text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ends:</a:t>
            </a:r>
            <a:endParaRPr sz="1050">
              <a:latin typeface="Palatino Linotype"/>
              <a:cs typeface="Palatino Linotype"/>
            </a:endParaRPr>
          </a:p>
          <a:p>
            <a:pPr marL="39370" marR="38481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span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latin typeface="SimSun"/>
                <a:cs typeface="SimSun"/>
              </a:rPr>
              <a:t>(5, </a:t>
            </a:r>
            <a:r>
              <a:rPr dirty="0" sz="850" spc="-25">
                <a:latin typeface="SimSun"/>
                <a:cs typeface="SimSun"/>
              </a:rPr>
              <a:t>12)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search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None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search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'Count'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text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None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So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successful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None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749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114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744259"/>
            <a:ext cx="4572000" cy="721360"/>
            <a:chOff x="914400" y="1744259"/>
            <a:chExt cx="4572000" cy="7213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74425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7458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2801534"/>
            <a:ext cx="4572000" cy="397510"/>
            <a:chOff x="914400" y="2801534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80153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8031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48638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859312"/>
            <a:ext cx="4572000" cy="505459"/>
            <a:chOff x="914400" y="4859312"/>
            <a:chExt cx="4572000" cy="505459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85931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86089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65210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286157"/>
            <a:ext cx="4572000" cy="937260"/>
            <a:chOff x="914400" y="6286157"/>
            <a:chExt cx="4572000" cy="9372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286157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2877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38" y="728091"/>
            <a:ext cx="4598035" cy="6403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30">
                <a:latin typeface="Palatino Linotype"/>
                <a:cs typeface="Palatino Linotype"/>
              </a:rPr>
              <a:t>Putting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 spc="-40">
                <a:latin typeface="Palatino Linotype"/>
                <a:cs typeface="Palatino Linotype"/>
              </a:rPr>
              <a:t>together,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 spc="-30">
                <a:latin typeface="Palatino Linotype"/>
                <a:cs typeface="Palatino Linotype"/>
              </a:rPr>
              <a:t>loops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book </a:t>
            </a:r>
            <a:r>
              <a:rPr dirty="0" sz="1050" spc="-55">
                <a:latin typeface="Palatino Linotype"/>
                <a:cs typeface="Palatino Linotype"/>
              </a:rPr>
              <a:t>until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matches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Match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find_first(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2828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search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902969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!=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8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80">
                <a:latin typeface="SimSun"/>
                <a:cs typeface="SimSun"/>
              </a:rPr>
              <a:t>: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mention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character: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8450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find_first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'Harker'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'CHAPTER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I.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Jonathan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60">
                <a:latin typeface="SimSun"/>
                <a:cs typeface="SimSun"/>
              </a:rPr>
              <a:t>Harker’s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Journal\n'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didn’t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regular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expressions—we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thing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easily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in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things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cannot.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vertical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character,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'|'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match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either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sequence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left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sequence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right.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Suppose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first </a:t>
            </a:r>
            <a:r>
              <a:rPr dirty="0" sz="1050" spc="-45">
                <a:latin typeface="Palatino Linotype"/>
                <a:cs typeface="Palatino Linotype"/>
              </a:rPr>
              <a:t>mention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Murray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book,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we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referred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matches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384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r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'Mina|Murray'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find_first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'CHAPTER</a:t>
            </a:r>
            <a:r>
              <a:rPr dirty="0" sz="850" spc="-15"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V.</a:t>
            </a:r>
            <a:r>
              <a:rPr dirty="0" sz="850" spc="-10">
                <a:latin typeface="SimSun"/>
                <a:cs typeface="SimSun"/>
              </a:rPr>
              <a:t> </a:t>
            </a:r>
            <a:r>
              <a:rPr dirty="0" sz="850" spc="-45">
                <a:latin typeface="SimSun"/>
                <a:cs typeface="SimSun"/>
              </a:rPr>
              <a:t>Letters—</a:t>
            </a:r>
            <a:r>
              <a:rPr dirty="0" sz="850" spc="-10">
                <a:latin typeface="SimSun"/>
                <a:cs typeface="SimSun"/>
              </a:rPr>
              <a:t>Lucy </a:t>
            </a:r>
            <a:r>
              <a:rPr dirty="0" sz="850">
                <a:latin typeface="SimSun"/>
                <a:cs typeface="SimSun"/>
              </a:rPr>
              <a:t>and</a:t>
            </a:r>
            <a:r>
              <a:rPr dirty="0" sz="850" spc="-10">
                <a:latin typeface="SimSun"/>
                <a:cs typeface="SimSun"/>
              </a:rPr>
              <a:t> Mina\n'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tioned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lines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0924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count_matches(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471170" marR="22828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'pg345_cleaned.txt'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search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!=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333892" y="7731125"/>
            <a:ext cx="11652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Expressions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115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80479"/>
            <a:ext cx="4572000" cy="397510"/>
            <a:chOff x="914400" y="1980479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8047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820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6653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146888"/>
            <a:ext cx="4572000" cy="397510"/>
            <a:chOff x="914400" y="3146888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14688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1484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317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024589"/>
            <a:ext cx="4572000" cy="289560"/>
            <a:chOff x="914400" y="5024589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0245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0261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914400" y="5985172"/>
            <a:ext cx="4572000" cy="397510"/>
            <a:chOff x="914400" y="5985172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98517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9867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67001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581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mentioned:</a:t>
            </a:r>
            <a:endParaRPr sz="1050">
              <a:latin typeface="Palatino Linotype"/>
              <a:cs typeface="Palatino Linotype"/>
            </a:endParaRPr>
          </a:p>
          <a:p>
            <a:pPr marL="39370" marR="30384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count_matches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'Mina|Murray'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229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'^'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tches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45">
                <a:latin typeface="Palatino Linotype"/>
                <a:cs typeface="Palatino Linotype"/>
              </a:rPr>
              <a:t>starts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ttern: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find_first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'^Dracula'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'Dracula, jumping to his feet, said:--</a:t>
            </a:r>
            <a:r>
              <a:rPr dirty="0" sz="850" spc="-25">
                <a:latin typeface="SimSun"/>
                <a:cs typeface="SimSun"/>
              </a:rPr>
              <a:t>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'$'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matches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45">
                <a:latin typeface="Palatino Linotype"/>
                <a:cs typeface="Palatino Linotype"/>
              </a:rPr>
              <a:t> end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70">
                <a:latin typeface="Palatino Linotype"/>
                <a:cs typeface="Palatino Linotype"/>
              </a:rPr>
              <a:t>ends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(ignoring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end):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305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find_first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'Harker$'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"by five o'clock, we must start off; for it won't do to leave Mrs. </a:t>
            </a:r>
            <a:r>
              <a:rPr dirty="0" sz="850" spc="-10">
                <a:latin typeface="SimSun"/>
                <a:cs typeface="SimSun"/>
              </a:rPr>
              <a:t>Harker\n"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40" b="1">
                <a:latin typeface="Trebuchet MS"/>
                <a:cs typeface="Trebuchet MS"/>
              </a:rPr>
              <a:t>String</a:t>
            </a:r>
            <a:r>
              <a:rPr dirty="0" sz="1900" spc="-235" b="1">
                <a:latin typeface="Trebuchet MS"/>
                <a:cs typeface="Trebuchet MS"/>
              </a:rPr>
              <a:t> </a:t>
            </a:r>
            <a:r>
              <a:rPr dirty="0" sz="1900" spc="-270" b="1">
                <a:latin typeface="Trebuchet MS"/>
                <a:cs typeface="Trebuchet MS"/>
              </a:rPr>
              <a:t>Substitution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5">
                <a:latin typeface="Palatino Linotype"/>
                <a:cs typeface="Palatino Linotype"/>
              </a:rPr>
              <a:t>Bram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Stoker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born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Ireland,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Dracula </a:t>
            </a:r>
            <a:r>
              <a:rPr dirty="0" sz="1050" spc="-90">
                <a:latin typeface="Palatino Linotype"/>
                <a:cs typeface="Palatino Linotype"/>
              </a:rPr>
              <a:t>was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published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1897,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was </a:t>
            </a:r>
            <a:r>
              <a:rPr dirty="0" sz="1050" spc="-50">
                <a:latin typeface="Palatino Linotype"/>
                <a:cs typeface="Palatino Linotype"/>
              </a:rPr>
              <a:t>living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England.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him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British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spelling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65">
                <a:latin typeface="Palatino Linotype"/>
                <a:cs typeface="Palatino Linotype"/>
              </a:rPr>
              <a:t>“centre”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“colour.”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check,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pattern,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matches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“centre”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American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spelling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“center.”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'cent(er|re)'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pattern,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parentheses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enclose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</a:t>
            </a:r>
            <a:r>
              <a:rPr dirty="0" sz="1050" spc="-10">
                <a:latin typeface="Palatino Linotype"/>
                <a:cs typeface="Palatino Linotype"/>
              </a:rPr>
              <a:t> of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pattern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vertical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applies </a:t>
            </a:r>
            <a:r>
              <a:rPr dirty="0" sz="1050">
                <a:latin typeface="Palatino Linotype"/>
                <a:cs typeface="Palatino Linotype"/>
              </a:rPr>
              <a:t>to.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pattern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matches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'cent'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either </a:t>
            </a:r>
            <a:r>
              <a:rPr dirty="0" sz="1000" spc="-10">
                <a:latin typeface="SimSun"/>
                <a:cs typeface="SimSun"/>
              </a:rPr>
              <a:t>'er'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're'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384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find_first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'horseshoe of the Carpathians, as if it were the centre of some sort </a:t>
            </a:r>
            <a:r>
              <a:rPr dirty="0" sz="850" spc="-10">
                <a:latin typeface="SimSun"/>
                <a:cs typeface="SimSun"/>
              </a:rPr>
              <a:t>of\n'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British</a:t>
            </a:r>
            <a:r>
              <a:rPr dirty="0" sz="1050" spc="-10">
                <a:latin typeface="Palatino Linotype"/>
                <a:cs typeface="Palatino Linotype"/>
              </a:rPr>
              <a:t> spelling.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British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“colour.”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following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pat‐ </a:t>
            </a:r>
            <a:r>
              <a:rPr dirty="0" sz="1050">
                <a:latin typeface="Palatino Linotype"/>
                <a:cs typeface="Palatino Linotype"/>
              </a:rPr>
              <a:t>tern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special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character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'?'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which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means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previous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character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10">
                <a:latin typeface="Palatino Linotype"/>
                <a:cs typeface="Palatino Linotype"/>
              </a:rPr>
              <a:t>optional: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7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116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50" b="1">
                <a:latin typeface="Trebuchet MS"/>
                <a:cs typeface="Trebuchet MS"/>
              </a:rPr>
              <a:t>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318809"/>
            <a:ext cx="4572000" cy="505459"/>
            <a:chOff x="914400" y="1318809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31880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3203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1116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2829388"/>
            <a:ext cx="4572000" cy="289560"/>
            <a:chOff x="914400" y="282938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82938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8309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4062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002912"/>
            <a:ext cx="4572000" cy="289560"/>
            <a:chOff x="914400" y="5002912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00291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0045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5803475"/>
            <a:ext cx="4572000" cy="289560"/>
            <a:chOff x="914400" y="5803475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58034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580506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901643" y="728091"/>
            <a:ext cx="4598035" cy="65062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'colou?r'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matches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“colour”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'u'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“color”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384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find_first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'undergarment with long double apron, front, and back, of coloured </a:t>
            </a:r>
            <a:r>
              <a:rPr dirty="0" sz="850" spc="-10">
                <a:latin typeface="SimSun"/>
                <a:cs typeface="SimSun"/>
              </a:rPr>
              <a:t>stuff\n'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Again,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British</a:t>
            </a:r>
            <a:r>
              <a:rPr dirty="0" sz="1050" spc="-10">
                <a:latin typeface="Palatino Linotype"/>
                <a:cs typeface="Palatino Linotype"/>
              </a:rPr>
              <a:t> spelling.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40"/>
              </a:spcBef>
            </a:pPr>
            <a:r>
              <a:rPr dirty="0" sz="1050" spc="-145">
                <a:latin typeface="Palatino Linotype"/>
                <a:cs typeface="Palatino Linotype"/>
              </a:rPr>
              <a:t>Now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suppose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85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produce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edition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American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spellings.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sub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string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substitution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sub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pattern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'color'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'undergarment with long double apron, front, and back, of colored </a:t>
            </a:r>
            <a:r>
              <a:rPr dirty="0" sz="850" spc="-10">
                <a:latin typeface="SimSun"/>
                <a:cs typeface="SimSun"/>
              </a:rPr>
              <a:t>stuff\n'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pattern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replace,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</a:t>
            </a:r>
            <a:r>
              <a:rPr dirty="0" sz="1050" spc="-10">
                <a:latin typeface="Palatino Linotype"/>
                <a:cs typeface="Palatino Linotype"/>
              </a:rPr>
              <a:t> it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third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we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search.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“colour”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“color.”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505"/>
              </a:spcBef>
            </a:pPr>
            <a:r>
              <a:rPr dirty="0" sz="1050" spc="-40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files,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tricky.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working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Jupyter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notebook,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shell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commands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display 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command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!head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!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head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pg345_cleaned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txt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initial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exclamation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!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shell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command,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!tail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!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tail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pg345_cleaned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txt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 </a:t>
            </a:r>
            <a:r>
              <a:rPr dirty="0" sz="1050" spc="-40">
                <a:latin typeface="Palatino Linotype"/>
                <a:cs typeface="Palatino Linotype"/>
              </a:rPr>
              <a:t>working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with </a:t>
            </a:r>
            <a:r>
              <a:rPr dirty="0" sz="1050" spc="-10">
                <a:latin typeface="Palatino Linotype"/>
                <a:cs typeface="Palatino Linotype"/>
              </a:rPr>
              <a:t>large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files, </a:t>
            </a:r>
            <a:r>
              <a:rPr dirty="0" sz="1050" spc="-50">
                <a:latin typeface="Palatino Linotype"/>
                <a:cs typeface="Palatino Linotype"/>
              </a:rPr>
              <a:t>debugging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 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difficult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 </a:t>
            </a:r>
            <a:r>
              <a:rPr dirty="0" sz="1050" spc="-35">
                <a:latin typeface="Palatino Linotype"/>
                <a:cs typeface="Palatino Linotype"/>
              </a:rPr>
              <a:t>might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much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output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check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by </a:t>
            </a:r>
            <a:r>
              <a:rPr dirty="0" sz="1050" spc="-30">
                <a:latin typeface="Palatino Linotype"/>
                <a:cs typeface="Palatino Linotype"/>
              </a:rPr>
              <a:t>hand.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good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strategy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start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larger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!head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again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redirect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&gt;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ther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yed: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66116" y="7731125"/>
            <a:ext cx="833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117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478829"/>
            <a:ext cx="4572000" cy="289560"/>
            <a:chOff x="914400" y="147882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47882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4804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6" y="728091"/>
            <a:ext cx="4598035" cy="6306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!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head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pg345_cleaned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txt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pg345_cleaned_10_lines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txt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default,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!head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</a:t>
            </a:r>
            <a:r>
              <a:rPr dirty="0" sz="1050" spc="-35">
                <a:latin typeface="Palatino Linotype"/>
                <a:cs typeface="Palatino Linotype"/>
              </a:rPr>
              <a:t> lines,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indi‐ </a:t>
            </a:r>
            <a:r>
              <a:rPr dirty="0" sz="1050" spc="-60">
                <a:latin typeface="Palatino Linotype"/>
                <a:cs typeface="Palatino Linotype"/>
              </a:rPr>
              <a:t>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read: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!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head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100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pg345_cleaned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txt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pg345_cleaned_100_lines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txt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command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100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pg345_cleaned.txt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pg345_cleaned_100_lines.txt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65">
                <a:latin typeface="Palatino Linotype"/>
                <a:cs typeface="Palatino Linotype"/>
              </a:rPr>
              <a:t>Note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shell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commands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!head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!tail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available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sys‐ </a:t>
            </a:r>
            <a:r>
              <a:rPr dirty="0" sz="1050" spc="-25">
                <a:latin typeface="Palatino Linotype"/>
                <a:cs typeface="Palatino Linotype"/>
              </a:rPr>
              <a:t>tems.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similar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Python.</a:t>
            </a:r>
            <a:r>
              <a:rPr dirty="0" sz="1050" spc="-10">
                <a:latin typeface="Palatino Linotype"/>
                <a:cs typeface="Palatino Linotype"/>
              </a:rPr>
              <a:t> 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suggestions.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55" b="1">
                <a:latin typeface="Palatino Linotype"/>
                <a:cs typeface="Palatino Linotype"/>
              </a:rPr>
              <a:t>sequence: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collection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identified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integer </a:t>
            </a:r>
            <a:r>
              <a:rPr dirty="0" sz="1050" spc="-10">
                <a:latin typeface="Palatino Linotype"/>
                <a:cs typeface="Palatino Linotype"/>
              </a:rPr>
              <a:t>index.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character: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symbols.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35" b="1">
                <a:latin typeface="Palatino Linotype"/>
                <a:cs typeface="Palatino Linotype"/>
              </a:rPr>
              <a:t>index: </a:t>
            </a:r>
            <a:r>
              <a:rPr dirty="0" sz="1050" spc="-4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integer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select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string.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slice: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specified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indices.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75" b="1">
                <a:latin typeface="Palatino Linotype"/>
                <a:cs typeface="Palatino Linotype"/>
              </a:rPr>
              <a:t>empty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string: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89535">
              <a:lnSpc>
                <a:spcPct val="147600"/>
              </a:lnSpc>
            </a:pPr>
            <a:r>
              <a:rPr dirty="0" sz="1050" spc="-40" b="1">
                <a:latin typeface="Palatino Linotype"/>
                <a:cs typeface="Palatino Linotype"/>
              </a:rPr>
              <a:t>object: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value. </a:t>
            </a:r>
            <a:r>
              <a:rPr dirty="0" sz="1050" spc="-50" b="1">
                <a:latin typeface="Palatino Linotype"/>
                <a:cs typeface="Palatino Linotype"/>
              </a:rPr>
              <a:t>immutable: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cannot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changed,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immutable. </a:t>
            </a:r>
            <a:r>
              <a:rPr dirty="0" sz="1050" spc="-45" b="1">
                <a:latin typeface="Palatino Linotype"/>
                <a:cs typeface="Palatino Linotype"/>
              </a:rPr>
              <a:t>invocation: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expression—</a:t>
            </a:r>
            <a:r>
              <a:rPr dirty="0" sz="1050" spc="-50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expression—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regular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expression: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pattern.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pattern: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specifies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requirements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meet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constitute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match.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string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substitution: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Replacement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5" b="1">
                <a:latin typeface="Palatino Linotype"/>
                <a:cs typeface="Palatino Linotype"/>
              </a:rPr>
              <a:t>shell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command: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interact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system.</a:t>
            </a:r>
            <a:endParaRPr sz="1050">
              <a:latin typeface="Palatino Linotype"/>
              <a:cs typeface="Palatino Linotype"/>
            </a:endParaRPr>
          </a:p>
          <a:p>
            <a:pPr marL="12700" marR="5715">
              <a:lnSpc>
                <a:spcPct val="100000"/>
              </a:lnSpc>
              <a:spcBef>
                <a:spcPts val="660"/>
              </a:spcBef>
            </a:pPr>
            <a:r>
              <a:rPr dirty="0" sz="1050" spc="-65" b="1">
                <a:latin typeface="Palatino Linotype"/>
                <a:cs typeface="Palatino Linotype"/>
              </a:rPr>
              <a:t>raw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string: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preceded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indicates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back‐ </a:t>
            </a:r>
            <a:r>
              <a:rPr dirty="0" sz="1050" spc="-60">
                <a:latin typeface="Palatino Linotype"/>
                <a:cs typeface="Palatino Linotype"/>
              </a:rPr>
              <a:t>slashes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considered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sequence.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1693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118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7321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5"/>
              <a:t>Exercises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42" y="909185"/>
            <a:ext cx="4598035" cy="514540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scratched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surface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regular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>
                <a:latin typeface="Palatino Linotype"/>
                <a:cs typeface="Palatino Linotype"/>
              </a:rPr>
              <a:t>get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idea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what’s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possible,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assistant,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“What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common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expressions?”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pattern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matches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particular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kinds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 try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asking: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“Write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matches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10-</a:t>
            </a:r>
            <a:r>
              <a:rPr dirty="0" sz="1050" spc="-20">
                <a:latin typeface="Palatino Linotype"/>
                <a:cs typeface="Palatino Linotype"/>
              </a:rPr>
              <a:t>digit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phone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 </a:t>
            </a:r>
            <a:r>
              <a:rPr dirty="0" sz="1050" spc="-10">
                <a:latin typeface="Palatino Linotype"/>
                <a:cs typeface="Palatino Linotype"/>
              </a:rPr>
              <a:t>hyphens.”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4700"/>
              </a:lnSpc>
              <a:spcBef>
                <a:spcPts val="340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“Write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regular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matches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street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address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street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AVE</a:t>
            </a:r>
            <a:r>
              <a:rPr dirty="0" sz="1050" spc="-10">
                <a:latin typeface="Palatino Linotype"/>
                <a:cs typeface="Palatino Linotype"/>
              </a:rPr>
              <a:t>.”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2400"/>
              </a:lnSpc>
              <a:spcBef>
                <a:spcPts val="37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“Write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matches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0">
                <a:latin typeface="Palatino Linotype"/>
                <a:cs typeface="Palatino Linotype"/>
              </a:rPr>
              <a:t>full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common </a:t>
            </a:r>
            <a:r>
              <a:rPr dirty="0" sz="1050" spc="-25">
                <a:latin typeface="Palatino Linotype"/>
                <a:cs typeface="Palatino Linotype"/>
              </a:rPr>
              <a:t>title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SimSun"/>
                <a:cs typeface="SimSun"/>
              </a:rPr>
              <a:t>Mr</a:t>
            </a:r>
            <a:r>
              <a:rPr dirty="0" sz="1000" spc="-2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Mrs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capital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let‐ </a:t>
            </a:r>
            <a:r>
              <a:rPr dirty="0" sz="1050" spc="-40">
                <a:latin typeface="Palatino Linotype"/>
                <a:cs typeface="Palatino Linotype"/>
              </a:rPr>
              <a:t>ters,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possibly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hyphens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names.”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complicated,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expres‐ </a:t>
            </a:r>
            <a:r>
              <a:rPr dirty="0" sz="1050" spc="-50">
                <a:latin typeface="Palatino Linotype"/>
                <a:cs typeface="Palatino Linotype"/>
              </a:rPr>
              <a:t>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matches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legal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URL.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regular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quot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mark,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tes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100" b="1">
                <a:latin typeface="Palatino Linotype"/>
                <a:cs typeface="Palatino Linotype"/>
              </a:rPr>
              <a:t>aw</a:t>
            </a:r>
            <a:r>
              <a:rPr dirty="0" sz="1050" spc="55" b="1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s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20" b="1">
                <a:latin typeface="Palatino Linotype"/>
                <a:cs typeface="Palatino Linotype"/>
              </a:rPr>
              <a:t>ri</a:t>
            </a:r>
            <a:r>
              <a:rPr dirty="0" sz="1050" spc="-45" b="1">
                <a:latin typeface="Palatino Linotype"/>
                <a:cs typeface="Palatino Linotype"/>
              </a:rPr>
              <a:t>n</a:t>
            </a:r>
            <a:r>
              <a:rPr dirty="0" sz="1050" spc="-70" b="1">
                <a:latin typeface="Palatino Linotype"/>
                <a:cs typeface="Palatino Linotype"/>
              </a:rPr>
              <a:t>g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w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-30">
                <a:latin typeface="Palatino Linotype"/>
                <a:cs typeface="Palatino Linotype"/>
              </a:rPr>
              <a:t>?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00"/>
              </a:spcBef>
            </a:pP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command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!head</a:t>
            </a:r>
            <a:r>
              <a:rPr dirty="0" sz="1050" spc="-10">
                <a:latin typeface="Palatino Linotype"/>
                <a:cs typeface="Palatino Linotype"/>
              </a:rPr>
              <a:t>.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read,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lines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read,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write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parameter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None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Consider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asking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virtual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help,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do,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with</a:t>
            </a: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try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744981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119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530706"/>
            <a:ext cx="4598035" cy="595312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59"/>
              </a:spcBef>
            </a:pPr>
            <a:r>
              <a:rPr dirty="0" sz="1050" spc="-95">
                <a:latin typeface="Palatino Linotype"/>
                <a:cs typeface="Palatino Linotype"/>
              </a:rPr>
              <a:t>“Wordle”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35">
                <a:latin typeface="Palatino Linotype"/>
                <a:cs typeface="Palatino Linotype"/>
              </a:rPr>
              <a:t> online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75">
                <a:latin typeface="Palatino Linotype"/>
                <a:cs typeface="Palatino Linotype"/>
              </a:rPr>
              <a:t>guess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five-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>
                <a:latin typeface="Palatino Linotype"/>
                <a:cs typeface="Palatino Linotype"/>
              </a:rPr>
              <a:t>six 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fewer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attempts.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Each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attempt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recognized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 </a:t>
            </a:r>
            <a:r>
              <a:rPr dirty="0" sz="1050" spc="-40">
                <a:latin typeface="Palatino Linotype"/>
                <a:cs typeface="Palatino Linotype"/>
              </a:rPr>
              <a:t>including </a:t>
            </a:r>
            <a:r>
              <a:rPr dirty="0" sz="1050" spc="-60">
                <a:latin typeface="Palatino Linotype"/>
                <a:cs typeface="Palatino Linotype"/>
              </a:rPr>
              <a:t>proper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nouns.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attempt,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 </a:t>
            </a:r>
            <a:r>
              <a:rPr dirty="0" sz="1050" spc="-70">
                <a:latin typeface="Palatino Linotype"/>
                <a:cs typeface="Palatino Linotype"/>
              </a:rPr>
              <a:t>guessed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target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-10">
                <a:latin typeface="Palatino Linotype"/>
                <a:cs typeface="Palatino Linotype"/>
              </a:rPr>
              <a:t> position.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target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MOWER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guess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TRIED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position,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 </a:t>
            </a:r>
            <a:r>
              <a:rPr dirty="0" sz="1050" spc="-40">
                <a:latin typeface="Palatino Linotype"/>
                <a:cs typeface="Palatino Linotype"/>
              </a:rPr>
              <a:t>position,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guessed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SPADE</a:t>
            </a:r>
            <a:r>
              <a:rPr dirty="0" sz="1000" spc="-15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CLERK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95">
                <a:latin typeface="Palatino Linotype"/>
                <a:cs typeface="Palatino Linotype"/>
              </a:rPr>
              <a:t>’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E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positions,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target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word?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check_word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five-letter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tar‐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uses_any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65"/>
              </a:spcBef>
            </a:pPr>
            <a:r>
              <a:rPr dirty="0" sz="1050" spc="-45">
                <a:latin typeface="Palatino Linotype"/>
                <a:cs typeface="Palatino Linotype"/>
              </a:rPr>
              <a:t>Continuing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guess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TOTEM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learn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 i="1">
                <a:latin typeface="Palatino Linotype"/>
                <a:cs typeface="Palatino Linotype"/>
              </a:rPr>
              <a:t>still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place,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left?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 spc="-25" i="1">
                <a:latin typeface="Palatino Linotype"/>
                <a:cs typeface="Palatino Linotype"/>
              </a:rPr>
              <a:t>The</a:t>
            </a:r>
            <a:r>
              <a:rPr dirty="0" sz="1050" spc="-25" i="1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C</a:t>
            </a:r>
            <a:r>
              <a:rPr dirty="0" sz="1050" spc="10" i="1">
                <a:latin typeface="Palatino Linotype"/>
                <a:cs typeface="Palatino Linotype"/>
              </a:rPr>
              <a:t>o</a:t>
            </a:r>
            <a:r>
              <a:rPr dirty="0" sz="1050" spc="-40" i="1">
                <a:latin typeface="Palatino Linotype"/>
                <a:cs typeface="Palatino Linotype"/>
              </a:rPr>
              <a:t>u</a:t>
            </a:r>
            <a:r>
              <a:rPr dirty="0" sz="1050" spc="-55" i="1">
                <a:latin typeface="Palatino Linotype"/>
                <a:cs typeface="Palatino Linotype"/>
              </a:rPr>
              <a:t>n</a:t>
            </a:r>
            <a:r>
              <a:rPr dirty="0" sz="1050" spc="-30" i="1">
                <a:latin typeface="Palatino Linotype"/>
                <a:cs typeface="Palatino Linotype"/>
              </a:rPr>
              <a:t>t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10" i="1">
                <a:latin typeface="Palatino Linotype"/>
                <a:cs typeface="Palatino Linotype"/>
              </a:rPr>
              <a:t>o</a:t>
            </a:r>
            <a:r>
              <a:rPr dirty="0" sz="1050" spc="-10" i="1">
                <a:latin typeface="Palatino Linotype"/>
                <a:cs typeface="Palatino Linotype"/>
              </a:rPr>
              <a:t>f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110" i="1">
                <a:latin typeface="Palatino Linotype"/>
                <a:cs typeface="Palatino Linotype"/>
              </a:rPr>
              <a:t>M</a:t>
            </a:r>
            <a:r>
              <a:rPr dirty="0" sz="1050" spc="10" i="1">
                <a:latin typeface="Palatino Linotype"/>
                <a:cs typeface="Palatino Linotype"/>
              </a:rPr>
              <a:t>o</a:t>
            </a:r>
            <a:r>
              <a:rPr dirty="0" sz="1050" spc="-55" i="1">
                <a:latin typeface="Palatino Linotype"/>
                <a:cs typeface="Palatino Linotype"/>
              </a:rPr>
              <a:t>n</a:t>
            </a:r>
            <a:r>
              <a:rPr dirty="0" sz="1050" spc="-45" i="1">
                <a:latin typeface="Palatino Linotype"/>
                <a:cs typeface="Palatino Linotype"/>
              </a:rPr>
              <a:t>t</a:t>
            </a:r>
            <a:r>
              <a:rPr dirty="0" sz="1050" spc="10" i="1">
                <a:latin typeface="Palatino Linotype"/>
                <a:cs typeface="Palatino Linotype"/>
              </a:rPr>
              <a:t>e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50" i="1">
                <a:latin typeface="Palatino Linotype"/>
                <a:cs typeface="Palatino Linotype"/>
              </a:rPr>
              <a:t>C</a:t>
            </a:r>
            <a:r>
              <a:rPr dirty="0" sz="1050" spc="-20" i="1">
                <a:latin typeface="Palatino Linotype"/>
                <a:cs typeface="Palatino Linotype"/>
              </a:rPr>
              <a:t>r</a:t>
            </a:r>
            <a:r>
              <a:rPr dirty="0" sz="1050" spc="-10" i="1">
                <a:latin typeface="Palatino Linotype"/>
                <a:cs typeface="Palatino Linotype"/>
              </a:rPr>
              <a:t>i</a:t>
            </a:r>
            <a:r>
              <a:rPr dirty="0" sz="1050" spc="-70" i="1">
                <a:latin typeface="Palatino Linotype"/>
                <a:cs typeface="Palatino Linotype"/>
              </a:rPr>
              <a:t>s</a:t>
            </a:r>
            <a:r>
              <a:rPr dirty="0" sz="1050" spc="-45" i="1">
                <a:latin typeface="Palatino Linotype"/>
                <a:cs typeface="Palatino Linotype"/>
              </a:rPr>
              <a:t>t</a:t>
            </a:r>
            <a:r>
              <a:rPr dirty="0" sz="1050" spc="25" i="1">
                <a:latin typeface="Palatino Linotype"/>
                <a:cs typeface="Palatino Linotype"/>
              </a:rPr>
              <a:t>o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novel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Alexandre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Dumas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considered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classic. </a:t>
            </a: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evertheless,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troduction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English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transl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writer </a:t>
            </a:r>
            <a:r>
              <a:rPr dirty="0" sz="1050" spc="-95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mberto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Eco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confesses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found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badly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 </a:t>
            </a:r>
            <a:r>
              <a:rPr dirty="0" sz="1050" spc="-60">
                <a:latin typeface="Palatino Linotype"/>
                <a:cs typeface="Palatino Linotype"/>
              </a:rPr>
              <a:t>novels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particular,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says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“shameless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repetition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adjective,”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men‐ </a:t>
            </a:r>
            <a:r>
              <a:rPr dirty="0" sz="1050" spc="-45">
                <a:latin typeface="Palatino Linotype"/>
                <a:cs typeface="Palatino Linotype"/>
              </a:rPr>
              <a:t>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particular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shudder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pale.”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620"/>
              </a:spcBef>
            </a:pP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valid,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count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pale </a:t>
            </a:r>
            <a:r>
              <a:rPr dirty="0" sz="1050" spc="-40">
                <a:latin typeface="Palatino Linotype"/>
                <a:cs typeface="Palatino Linotype"/>
              </a:rPr>
              <a:t>appears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form,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including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pale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pales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paled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paleness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well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related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pallor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single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regular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matches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714" y="7731125"/>
            <a:ext cx="20129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120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Strings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Regular</a:t>
            </a:r>
            <a:r>
              <a:rPr dirty="0" sz="900" spc="-130" b="1">
                <a:latin typeface="Trebuchet MS"/>
                <a:cs typeface="Trebuchet MS"/>
              </a:rPr>
              <a:t> Expressions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231913"/>
            <a:ext cx="4572000" cy="289560"/>
            <a:chOff x="914400" y="5231913"/>
            <a:chExt cx="4572000" cy="28956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2319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2335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914400" y="5857388"/>
            <a:ext cx="4572000" cy="289560"/>
            <a:chOff x="914400" y="585738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85738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8589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6642883"/>
            <a:ext cx="4572000" cy="289560"/>
            <a:chOff x="914400" y="6642883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64288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6444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4722399" y="939348"/>
            <a:ext cx="7772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40" b="1">
                <a:latin typeface="Trebuchet MS"/>
                <a:cs typeface="Trebuchet MS"/>
              </a:rPr>
              <a:t>9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5002527" y="1212513"/>
            <a:ext cx="49657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30"/>
              <a:t>Lists</a:t>
            </a:r>
          </a:p>
        </p:txBody>
      </p:sp>
      <p:sp>
        <p:nvSpPr>
          <p:cNvPr id="14" name="object 14" descr=""/>
          <p:cNvSpPr txBox="1"/>
          <p:nvPr/>
        </p:nvSpPr>
        <p:spPr>
          <a:xfrm>
            <a:off x="901642" y="3044843"/>
            <a:ext cx="4598035" cy="41370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chapter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Python’s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types,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also </a:t>
            </a:r>
            <a:r>
              <a:rPr dirty="0" sz="1050" spc="-30">
                <a:latin typeface="Palatino Linotype"/>
                <a:cs typeface="Palatino Linotype"/>
              </a:rPr>
              <a:t>learn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happen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multiple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refer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chapter,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search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anagrams.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65" b="1">
                <a:latin typeface="Trebuchet MS"/>
                <a:cs typeface="Trebuchet MS"/>
              </a:rPr>
              <a:t>A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54" b="1">
                <a:latin typeface="Trebuchet MS"/>
                <a:cs typeface="Trebuchet MS"/>
              </a:rPr>
              <a:t>List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175" b="1">
                <a:latin typeface="Trebuchet MS"/>
                <a:cs typeface="Trebuchet MS"/>
              </a:rPr>
              <a:t>Is</a:t>
            </a:r>
            <a:r>
              <a:rPr dirty="0" sz="1900" spc="-265" b="1">
                <a:latin typeface="Trebuchet MS"/>
                <a:cs typeface="Trebuchet MS"/>
              </a:rPr>
              <a:t> 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Sequence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list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characters;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several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create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new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list;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simplest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enclose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0">
                <a:latin typeface="Palatino Linotype"/>
                <a:cs typeface="Palatino Linotype"/>
              </a:rPr>
              <a:t>square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brackets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</a:t>
            </a:r>
            <a:r>
              <a:rPr dirty="0" sz="1000">
                <a:latin typeface="SimSun"/>
                <a:cs typeface="SimSun"/>
              </a:rPr>
              <a:t>[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]</a:t>
            </a:r>
            <a:r>
              <a:rPr dirty="0" sz="1050">
                <a:latin typeface="Palatino Linotype"/>
                <a:cs typeface="Palatino Linotype"/>
              </a:rPr>
              <a:t>).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integers: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123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cheeses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'Cheddar'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'Edam'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'Gouda'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type.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float,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2.0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 spc="-20">
                <a:latin typeface="SimSun"/>
                <a:cs typeface="SimSun"/>
              </a:rPr>
              <a:t>]]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nested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333842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121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722583"/>
            <a:ext cx="4572000" cy="289560"/>
            <a:chOff x="914400" y="1722583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72258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7241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29948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406143"/>
            <a:ext cx="4572000" cy="289560"/>
            <a:chOff x="914400" y="5406143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40614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4077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98304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6457068"/>
            <a:ext cx="4572000" cy="397510"/>
            <a:chOff x="914400" y="6457068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45706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4586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71419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77" y="650030"/>
            <a:ext cx="4597400" cy="212852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list;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empty </a:t>
            </a:r>
            <a:r>
              <a:rPr dirty="0" sz="1050" spc="-50">
                <a:latin typeface="Palatino Linotype"/>
                <a:cs typeface="Palatino Linotype"/>
              </a:rPr>
              <a:t>brackets,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[]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empty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cheeses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figure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cheeses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numbers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empty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955950"/>
            <a:ext cx="2941676" cy="1112849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901665" y="4171574"/>
            <a:ext cx="4598035" cy="320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Lists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boxes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“list”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outside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ele‐ </a:t>
            </a:r>
            <a:r>
              <a:rPr dirty="0" sz="1050" spc="-55">
                <a:latin typeface="Palatino Linotype"/>
                <a:cs typeface="Palatino Linotype"/>
              </a:rPr>
              <a:t>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inside.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Lists </a:t>
            </a:r>
            <a:r>
              <a:rPr dirty="0" sz="1900" spc="-345" b="1">
                <a:latin typeface="Trebuchet MS"/>
                <a:cs typeface="Trebuchet MS"/>
              </a:rPr>
              <a:t>Are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Mutable</a:t>
            </a:r>
            <a:endParaRPr sz="1900">
              <a:latin typeface="Trebuchet MS"/>
              <a:cs typeface="Trebuchet MS"/>
            </a:endParaRPr>
          </a:p>
          <a:p>
            <a:pPr marL="12700" marR="5080" indent="-635">
              <a:lnSpc>
                <a:spcPct val="104700"/>
              </a:lnSpc>
              <a:spcBef>
                <a:spcPts val="480"/>
              </a:spcBef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read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35">
                <a:latin typeface="Palatino Linotype"/>
                <a:cs typeface="Palatino Linotype"/>
              </a:rPr>
              <a:t>bracket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 first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cheeses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] 'Cheddar'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 marR="5715">
              <a:lnSpc>
                <a:spcPct val="100000"/>
              </a:lnSpc>
              <a:spcBef>
                <a:spcPts val="5"/>
              </a:spcBef>
            </a:pPr>
            <a:r>
              <a:rPr dirty="0" sz="1050" spc="-55">
                <a:latin typeface="Palatino Linotype"/>
                <a:cs typeface="Palatino Linotype"/>
              </a:rPr>
              <a:t>Unlike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mutable.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left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identifies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assigned: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401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17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[42, </a:t>
            </a:r>
            <a:r>
              <a:rPr dirty="0" sz="850" spc="-25">
                <a:latin typeface="SimSun"/>
                <a:cs typeface="SimSun"/>
              </a:rPr>
              <a:t>17]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numbers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123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17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1743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122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092788"/>
            <a:ext cx="4572000" cy="289560"/>
            <a:chOff x="914400" y="209278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09278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0943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6696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747473"/>
            <a:ext cx="4572000" cy="289560"/>
            <a:chOff x="914400" y="274747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74747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7490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32437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798398"/>
            <a:ext cx="4572000" cy="397510"/>
            <a:chOff x="914400" y="3798398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79839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7999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48324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972341"/>
            <a:ext cx="4572000" cy="289560"/>
            <a:chOff x="914400" y="4972341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97234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9739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54923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422051"/>
            <a:ext cx="4572000" cy="397510"/>
            <a:chOff x="914400" y="6422051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42205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4236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710689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46" y="650030"/>
            <a:ext cx="4598035" cy="6363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indices: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95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index.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IndexError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negative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1055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lists—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given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anywhere</a:t>
            </a:r>
            <a:r>
              <a:rPr dirty="0" sz="1050" spc="-30">
                <a:latin typeface="Palatino Linotype"/>
                <a:cs typeface="Palatino Linotype"/>
              </a:rPr>
              <a:t> 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'Edam'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cheeses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 marL="39370" marR="3254375">
              <a:lnSpc>
                <a:spcPct val="220800"/>
              </a:lnSpc>
              <a:spcBef>
                <a:spcPts val="37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'Wensleydale'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cheeses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Although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nested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single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element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0">
                <a:latin typeface="Palatino Linotype"/>
                <a:cs typeface="Palatino Linotype"/>
              </a:rPr>
              <a:t>—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four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2.0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 spc="-20">
                <a:latin typeface="SimSun"/>
                <a:cs typeface="SimSun"/>
              </a:rPr>
              <a:t>]]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 indent="-635">
              <a:lnSpc>
                <a:spcPct val="104700"/>
              </a:lnSpc>
            </a:pP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10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45">
                <a:latin typeface="Palatino Linotype"/>
                <a:cs typeface="Palatino Linotype"/>
              </a:rPr>
              <a:t> considered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 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SimSun"/>
                <a:cs typeface="SimSun"/>
              </a:rPr>
              <a:t>t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 </a:t>
            </a:r>
            <a:r>
              <a:rPr dirty="0" sz="1050" spc="-45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5">
                <a:latin typeface="Palatino Linotype"/>
                <a:cs typeface="Palatino Linotype"/>
              </a:rPr>
              <a:t>nested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900" spc="-254" b="1">
                <a:latin typeface="Trebuchet MS"/>
                <a:cs typeface="Trebuchet MS"/>
              </a:rPr>
              <a:t>List</a:t>
            </a:r>
            <a:r>
              <a:rPr dirty="0" sz="1900" spc="-245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Slices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slice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same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strings.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third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305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'd'</a:t>
            </a:r>
            <a:r>
              <a:rPr dirty="0" sz="850" spc="-2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['b', </a:t>
            </a:r>
            <a:r>
              <a:rPr dirty="0" sz="850" spc="-20">
                <a:latin typeface="SimSun"/>
                <a:cs typeface="SimSun"/>
              </a:rPr>
              <a:t>'c']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723475" y="7731125"/>
            <a:ext cx="775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List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75" b="1">
                <a:latin typeface="Trebuchet MS"/>
                <a:cs typeface="Trebuchet MS"/>
              </a:rPr>
              <a:t>Slices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123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12925"/>
            <a:ext cx="4572000" cy="289560"/>
            <a:chOff x="914400" y="181292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129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145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3898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703830"/>
            <a:ext cx="4572000" cy="289560"/>
            <a:chOff x="914400" y="2703830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70383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7054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28072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3602269"/>
            <a:ext cx="4572000" cy="289560"/>
            <a:chOff x="914400" y="3602269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360226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36038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1791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303267"/>
            <a:ext cx="4572000" cy="505459"/>
            <a:chOff x="914400" y="5303267"/>
            <a:chExt cx="4572000" cy="505459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30326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3048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09606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417606"/>
            <a:ext cx="4572000" cy="289560"/>
            <a:chOff x="914400" y="6417606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41760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41919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699450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43" y="650030"/>
            <a:ext cx="4597400" cy="6250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omit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index,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beginning: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latin typeface="SimSun"/>
                <a:cs typeface="SimSun"/>
              </a:rPr>
              <a:t>['a', </a:t>
            </a:r>
            <a:r>
              <a:rPr dirty="0" sz="850" spc="-20">
                <a:latin typeface="SimSun"/>
                <a:cs typeface="SimSun"/>
              </a:rPr>
              <a:t>'b']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omit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second,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:] </a:t>
            </a:r>
            <a:r>
              <a:rPr dirty="0" sz="850">
                <a:latin typeface="SimSun"/>
                <a:cs typeface="SimSun"/>
              </a:rPr>
              <a:t>['c', </a:t>
            </a:r>
            <a:r>
              <a:rPr dirty="0" sz="850" spc="-20">
                <a:latin typeface="SimSun"/>
                <a:cs typeface="SimSun"/>
              </a:rPr>
              <a:t>'d']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omit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both,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[:]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['a', 'b', 'c', </a:t>
            </a:r>
            <a:r>
              <a:rPr dirty="0" sz="850" spc="-20">
                <a:latin typeface="SimSun"/>
                <a:cs typeface="SimSun"/>
              </a:rPr>
              <a:t>'d']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list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['a', 'b', 'c', </a:t>
            </a:r>
            <a:r>
              <a:rPr dirty="0" sz="850" spc="-20">
                <a:latin typeface="SimSun"/>
                <a:cs typeface="SimSun"/>
              </a:rPr>
              <a:t>'d']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list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avoid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vari‐ </a:t>
            </a:r>
            <a:r>
              <a:rPr dirty="0" sz="1050" spc="-60">
                <a:latin typeface="Palatino Linotype"/>
                <a:cs typeface="Palatino Linotype"/>
              </a:rPr>
              <a:t>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List</a:t>
            </a:r>
            <a:r>
              <a:rPr dirty="0" sz="1900" spc="-24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Operations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+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concatenates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[1, 2, 3, </a:t>
            </a:r>
            <a:r>
              <a:rPr dirty="0" sz="850" spc="-25">
                <a:latin typeface="SimSun"/>
                <a:cs typeface="SimSun"/>
              </a:rPr>
              <a:t>4]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*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repeats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['spam', 'spam', 'spam', </a:t>
            </a:r>
            <a:r>
              <a:rPr dirty="0" sz="850" spc="-10">
                <a:latin typeface="SimSun"/>
                <a:cs typeface="SimSun"/>
              </a:rPr>
              <a:t>'spam']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1670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124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664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88013"/>
            <a:ext cx="4572000" cy="289560"/>
            <a:chOff x="914400" y="198801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880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896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5649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642698"/>
            <a:ext cx="4572000" cy="289560"/>
            <a:chOff x="914400" y="264269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64269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6442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2195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099942"/>
            <a:ext cx="4572000" cy="397510"/>
            <a:chOff x="914400" y="4099942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09994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1015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78479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106331"/>
            <a:ext cx="4572000" cy="397510"/>
            <a:chOff x="914400" y="5106331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10633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10791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79117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272740"/>
            <a:ext cx="4572000" cy="397510"/>
            <a:chOff x="914400" y="6272740"/>
            <a:chExt cx="4572000" cy="39751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27274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2743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69575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49" y="657564"/>
            <a:ext cx="4598035" cy="62064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No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mathematical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sum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adds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elements: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max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largest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elements:</a:t>
            </a:r>
            <a:endParaRPr sz="1050">
              <a:latin typeface="Palatino Linotype"/>
              <a:cs typeface="Palatino Linotype"/>
            </a:endParaRPr>
          </a:p>
          <a:p>
            <a:pPr marL="39370" marR="417195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min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 marR="4171950">
              <a:lnSpc>
                <a:spcPct val="220800"/>
              </a:lnSpc>
              <a:spcBef>
                <a:spcPts val="37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max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54" b="1">
                <a:latin typeface="Trebuchet MS"/>
                <a:cs typeface="Trebuchet MS"/>
              </a:rPr>
              <a:t>List</a:t>
            </a:r>
            <a:r>
              <a:rPr dirty="0" sz="1900" spc="-24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Methods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append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ele‐ </a:t>
            </a:r>
            <a:r>
              <a:rPr dirty="0" sz="1050" spc="-60">
                <a:latin typeface="Palatino Linotype"/>
                <a:cs typeface="Palatino Linotype"/>
              </a:rPr>
              <a:t>me</a:t>
            </a:r>
            <a:r>
              <a:rPr dirty="0" sz="1050" spc="-60">
                <a:latin typeface="Palatino Linotype"/>
                <a:cs typeface="Palatino Linotype"/>
              </a:rPr>
              <a:t>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list: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24250">
              <a:lnSpc>
                <a:spcPts val="850"/>
              </a:lnSpc>
              <a:spcBef>
                <a:spcPts val="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'e'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['a', 'b', 'c', 'd', </a:t>
            </a:r>
            <a:r>
              <a:rPr dirty="0" sz="850" spc="-20">
                <a:latin typeface="SimSun"/>
                <a:cs typeface="SimSun"/>
              </a:rPr>
              <a:t>'e']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extend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extend</a:t>
            </a:r>
            <a:r>
              <a:rPr dirty="0" sz="850">
                <a:latin typeface="SimSun"/>
                <a:cs typeface="SimSun"/>
              </a:rPr>
              <a:t>([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'g'</a:t>
            </a:r>
            <a:r>
              <a:rPr dirty="0" sz="850" spc="-10">
                <a:latin typeface="SimSun"/>
                <a:cs typeface="SimSun"/>
              </a:rPr>
              <a:t>])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['a', 'b', 'c', 'd', 'e', 'f', </a:t>
            </a:r>
            <a:r>
              <a:rPr dirty="0" sz="850" spc="-20">
                <a:latin typeface="SimSun"/>
                <a:cs typeface="SimSun"/>
              </a:rPr>
              <a:t>'g']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marL="12700" marR="5080" indent="-635">
              <a:lnSpc>
                <a:spcPct val="104700"/>
              </a:lnSpc>
            </a:pP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pop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'b'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01309" y="7731125"/>
            <a:ext cx="8978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List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5" b="1">
                <a:latin typeface="Trebuchet MS"/>
                <a:cs typeface="Trebuchet MS"/>
              </a:rPr>
              <a:t>Methods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125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289560"/>
            <a:chOff x="914400" y="108203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589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80479"/>
            <a:ext cx="4572000" cy="397510"/>
            <a:chOff x="914400" y="1980479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8047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820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2881458"/>
            <a:ext cx="4572000" cy="289560"/>
            <a:chOff x="914400" y="288145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88145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8830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4583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3779897"/>
            <a:ext cx="4572000" cy="289560"/>
            <a:chOff x="914400" y="377989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377989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37814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3567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397162"/>
            <a:ext cx="4572000" cy="505459"/>
            <a:chOff x="914400" y="5397162"/>
            <a:chExt cx="4572000" cy="505459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39716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39874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18995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6679055"/>
            <a:ext cx="4572000" cy="505459"/>
            <a:chOff x="914400" y="6679055"/>
            <a:chExt cx="4572000" cy="505459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679055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68064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747185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901641" y="650030"/>
            <a:ext cx="4598035" cy="6728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element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removed.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30">
                <a:latin typeface="Palatino Linotype"/>
                <a:cs typeface="Palatino Linotype"/>
              </a:rPr>
              <a:t>confirm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modified: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['a', </a:t>
            </a:r>
            <a:r>
              <a:rPr dirty="0" sz="850" spc="-20">
                <a:latin typeface="SimSun"/>
                <a:cs typeface="SimSun"/>
              </a:rPr>
              <a:t>'c']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index),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remove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remove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None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confirm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been </a:t>
            </a:r>
            <a:r>
              <a:rPr dirty="0" sz="1050" spc="-10">
                <a:latin typeface="Palatino Linotype"/>
                <a:cs typeface="Palatino Linotype"/>
              </a:rPr>
              <a:t>modified: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['a', </a:t>
            </a:r>
            <a:r>
              <a:rPr dirty="0" sz="850" spc="-20">
                <a:latin typeface="SimSun"/>
                <a:cs typeface="SimSun"/>
              </a:rPr>
              <a:t>'c']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that’s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ValueError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ValueError: list.remove(x): x not in </a:t>
            </a:r>
            <a:r>
              <a:rPr dirty="0" sz="850" spc="-20">
                <a:latin typeface="SimSun"/>
                <a:cs typeface="SimSun"/>
              </a:rPr>
              <a:t>list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54" b="1">
                <a:latin typeface="Trebuchet MS"/>
                <a:cs typeface="Trebuchet MS"/>
              </a:rPr>
              <a:t>Lists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100" b="1">
                <a:latin typeface="Trebuchet MS"/>
                <a:cs typeface="Trebuchet MS"/>
              </a:rPr>
              <a:t>Strings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509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char‐ </a:t>
            </a:r>
            <a:r>
              <a:rPr dirty="0" sz="1050" spc="-45">
                <a:latin typeface="Palatino Linotype"/>
                <a:cs typeface="Palatino Linotype"/>
              </a:rPr>
              <a:t>acters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vert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list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9560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'spam'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['s', 'p', 'a', </a:t>
            </a:r>
            <a:r>
              <a:rPr dirty="0" sz="850" spc="-20">
                <a:latin typeface="SimSun"/>
                <a:cs typeface="SimSun"/>
              </a:rPr>
              <a:t>'m']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list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breaks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individual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break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split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924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'pining for the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fjords'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['pining', 'for', 'the', </a:t>
            </a:r>
            <a:r>
              <a:rPr dirty="0" sz="850" spc="-10">
                <a:latin typeface="SimSun"/>
                <a:cs typeface="SimSun"/>
              </a:rPr>
              <a:t>'fjords']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1699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126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505459"/>
            <a:chOff x="914400" y="108203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748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523953"/>
            <a:ext cx="4572000" cy="613410"/>
            <a:chOff x="914400" y="2523953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523953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5255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4247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556336"/>
            <a:ext cx="4572000" cy="397510"/>
            <a:chOff x="914400" y="4556336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55633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5579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45708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938645"/>
            <a:ext cx="4572000" cy="613410"/>
            <a:chOff x="914400" y="5938645"/>
            <a:chExt cx="4572000" cy="6134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938645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94023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716324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01597" y="650030"/>
            <a:ext cx="4598035" cy="6419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optional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delimiter</a:t>
            </a:r>
            <a:r>
              <a:rPr dirty="0" sz="1050" spc="2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specifies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characters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 </a:t>
            </a:r>
            <a:r>
              <a:rPr dirty="0" sz="1050" spc="-55">
                <a:latin typeface="Palatino Linotype"/>
                <a:cs typeface="Palatino Linotype"/>
              </a:rPr>
              <a:t>boundaries.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hyphen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delimiter: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861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'ex-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parrot'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'-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['ex', </a:t>
            </a:r>
            <a:r>
              <a:rPr dirty="0" sz="850" spc="-10">
                <a:latin typeface="SimSun"/>
                <a:cs typeface="SimSun"/>
              </a:rPr>
              <a:t>'parrot']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strings,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concatenate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single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join</a:t>
            </a:r>
            <a:r>
              <a:rPr dirty="0" sz="1050" spc="-10">
                <a:latin typeface="Palatino Linotype"/>
                <a:cs typeface="Palatino Linotype"/>
              </a:rPr>
              <a:t>. </a:t>
            </a:r>
            <a:r>
              <a:rPr dirty="0" sz="1000" spc="-45">
                <a:latin typeface="SimSun"/>
                <a:cs typeface="SimSun"/>
              </a:rPr>
              <a:t>join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method,</a:t>
            </a:r>
            <a:r>
              <a:rPr dirty="0" sz="1050" spc="-20">
                <a:latin typeface="Palatino Linotype"/>
                <a:cs typeface="Palatino Linotype"/>
              </a:rPr>
              <a:t> so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invoke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delimiter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delimiter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 marL="39370" marR="24987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'pining'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'for'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'the'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'fjords'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delimiter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'pining for the </a:t>
            </a:r>
            <a:r>
              <a:rPr dirty="0" sz="850" spc="-10">
                <a:latin typeface="SimSun"/>
                <a:cs typeface="SimSun"/>
              </a:rPr>
              <a:t>fjords'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case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delimiter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join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30">
                <a:latin typeface="Palatino Linotype"/>
                <a:cs typeface="Palatino Linotype"/>
              </a:rPr>
              <a:t>o </a:t>
            </a:r>
            <a:r>
              <a:rPr dirty="0" sz="1050" spc="-20">
                <a:latin typeface="Palatino Linotype"/>
                <a:cs typeface="Palatino Linotype"/>
              </a:rPr>
              <a:t>join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spaces,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pty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''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delimite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Looping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Through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0" b="1">
                <a:latin typeface="Trebuchet MS"/>
                <a:cs typeface="Trebuchet MS"/>
              </a:rPr>
              <a:t>List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cheese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cheeses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cheese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4171950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Cheddar </a:t>
            </a:r>
            <a:r>
              <a:rPr dirty="0" sz="850" spc="-20">
                <a:latin typeface="SimSun"/>
                <a:cs typeface="SimSun"/>
              </a:rPr>
              <a:t>Edam </a:t>
            </a:r>
            <a:r>
              <a:rPr dirty="0" sz="850" spc="-10">
                <a:latin typeface="SimSun"/>
                <a:cs typeface="SimSun"/>
              </a:rPr>
              <a:t>Gouda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after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using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split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make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words,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loop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'pining for the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fjords'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33623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4225925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pining </a:t>
            </a:r>
            <a:r>
              <a:rPr dirty="0" sz="850" spc="-25">
                <a:latin typeface="SimSun"/>
                <a:cs typeface="SimSun"/>
              </a:rPr>
              <a:t>for the </a:t>
            </a:r>
            <a:r>
              <a:rPr dirty="0" sz="850" spc="-10">
                <a:latin typeface="SimSun"/>
                <a:cs typeface="SimSun"/>
              </a:rPr>
              <a:t>fjords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25538" y="7731125"/>
            <a:ext cx="12738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Looping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Through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45" b="1">
                <a:latin typeface="Trebuchet MS"/>
                <a:cs typeface="Trebuchet MS"/>
              </a:rPr>
              <a:t>List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127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45486"/>
            <a:ext cx="4572000" cy="397510"/>
            <a:chOff x="914400" y="2045486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4548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0470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73033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044341"/>
            <a:ext cx="4572000" cy="289560"/>
            <a:chOff x="914400" y="3044341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04434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0459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62123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102800"/>
            <a:ext cx="4572000" cy="289560"/>
            <a:chOff x="914400" y="4102800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102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104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679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001239"/>
            <a:ext cx="4572000" cy="289560"/>
            <a:chOff x="914400" y="5001239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0012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0028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557813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37" y="657564"/>
            <a:ext cx="4598035" cy="530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over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never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indented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latin typeface="SimSun"/>
                <a:cs typeface="SimSun"/>
              </a:rPr>
              <a:t>[]: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'This never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happens.'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900" spc="-254" b="1">
                <a:latin typeface="Trebuchet MS"/>
                <a:cs typeface="Trebuchet MS"/>
              </a:rPr>
              <a:t>Sorting</a:t>
            </a:r>
            <a:r>
              <a:rPr dirty="0" sz="1900" spc="-245" b="1">
                <a:latin typeface="Trebuchet MS"/>
                <a:cs typeface="Trebuchet MS"/>
              </a:rPr>
              <a:t> </a:t>
            </a:r>
            <a:r>
              <a:rPr dirty="0" sz="1900" spc="-50" b="1">
                <a:latin typeface="Trebuchet MS"/>
                <a:cs typeface="Trebuchet MS"/>
              </a:rPr>
              <a:t>Lists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sorted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scramble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 spc="-2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scramble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['a', 'b', </a:t>
            </a:r>
            <a:r>
              <a:rPr dirty="0" sz="850" spc="-20">
                <a:latin typeface="SimSun"/>
                <a:cs typeface="SimSun"/>
              </a:rPr>
              <a:t>'c']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original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unchanged: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scramble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['c', 'a', </a:t>
            </a:r>
            <a:r>
              <a:rPr dirty="0" sz="850" spc="-20">
                <a:latin typeface="SimSun"/>
                <a:cs typeface="SimSun"/>
              </a:rPr>
              <a:t>'b']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00" spc="-10">
                <a:latin typeface="SimSun"/>
                <a:cs typeface="SimSun"/>
              </a:rPr>
              <a:t>sorted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just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'letters'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['e', 'e', 'l', 'r', 's', 't', </a:t>
            </a:r>
            <a:r>
              <a:rPr dirty="0" sz="850" spc="-20">
                <a:latin typeface="SimSun"/>
                <a:cs typeface="SimSun"/>
              </a:rPr>
              <a:t>'t']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join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1464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'letters'</a:t>
            </a:r>
            <a:r>
              <a:rPr dirty="0" sz="850" spc="-10">
                <a:latin typeface="SimSun"/>
                <a:cs typeface="SimSun"/>
              </a:rPr>
              <a:t>)) 'eelrstt'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delimiter,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joined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nothing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10">
                <a:latin typeface="Palatino Linotype"/>
                <a:cs typeface="Palatino Linotype"/>
              </a:rPr>
              <a:t> them.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663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128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3569"/>
            <a:ext cx="4572000" cy="397510"/>
            <a:chOff x="914400" y="140356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356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05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388543"/>
            <a:ext cx="4572000" cy="505459"/>
            <a:chOff x="914400" y="3388543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38854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3901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18134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662902"/>
            <a:ext cx="4572000" cy="505459"/>
            <a:chOff x="914400" y="4662902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66290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6644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45569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50177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20"/>
              <a:t>Objects</a:t>
            </a:r>
            <a:r>
              <a:rPr dirty="0" sz="1900" spc="-270"/>
              <a:t> </a:t>
            </a:r>
            <a:r>
              <a:rPr dirty="0" sz="1900" spc="-295"/>
              <a:t>and</a:t>
            </a:r>
            <a:r>
              <a:rPr dirty="0" sz="1900" spc="-265"/>
              <a:t> </a:t>
            </a:r>
            <a:r>
              <a:rPr dirty="0" sz="1900" spc="-290"/>
              <a:t>Values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49" y="971559"/>
            <a:ext cx="4598035" cy="10788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 spc="-35">
                <a:latin typeface="Palatino Linotype"/>
                <a:cs typeface="Palatino Linotype"/>
              </a:rPr>
              <a:t> these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know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both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refer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string,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same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9020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possible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shown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figure: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228167"/>
            <a:ext cx="2290055" cy="450502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38" y="2788978"/>
            <a:ext cx="4598035" cy="289433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left,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b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same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39370" marR="39020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b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algn="just"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5860880"/>
            <a:ext cx="892960" cy="450502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901634" y="6414157"/>
            <a:ext cx="459803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would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say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two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lists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equivalent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because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 </a:t>
            </a:r>
            <a:r>
              <a:rPr dirty="0" sz="1050" spc="-45">
                <a:latin typeface="Palatino Linotype"/>
                <a:cs typeface="Palatino Linotype"/>
              </a:rPr>
              <a:t>eleme</a:t>
            </a:r>
            <a:r>
              <a:rPr dirty="0" sz="1050" spc="-45">
                <a:latin typeface="Palatino Linotype"/>
                <a:cs typeface="Palatino Linotype"/>
              </a:rPr>
              <a:t>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identical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identical,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equivalent,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equivalent,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necessar‐ </a:t>
            </a:r>
            <a:r>
              <a:rPr dirty="0" sz="1050" spc="-65">
                <a:latin typeface="Palatino Linotype"/>
                <a:cs typeface="Palatino Linotype"/>
              </a:rPr>
              <a:t>ily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identical.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78982" y="7731125"/>
            <a:ext cx="11207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0" b="1">
                <a:latin typeface="Trebuchet MS"/>
                <a:cs typeface="Trebuchet MS"/>
              </a:rPr>
              <a:t>Objects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Values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129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3569"/>
            <a:ext cx="4572000" cy="505459"/>
            <a:chOff x="914400" y="140356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356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05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1963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320864"/>
            <a:ext cx="4572000" cy="397510"/>
            <a:chOff x="914400" y="4320864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32086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32245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50057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6051067"/>
            <a:ext cx="4572000" cy="397510"/>
            <a:chOff x="914400" y="6051067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605106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60526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65786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29"/>
              <a:t>Aliasing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36" y="971559"/>
            <a:ext cx="4598035" cy="1452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</a:t>
            </a:r>
            <a:r>
              <a:rPr dirty="0" sz="1000" spc="-1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refers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assign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b =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both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refer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 marR="42259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601547"/>
            <a:ext cx="892960" cy="453184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42" y="3157506"/>
            <a:ext cx="4598035" cy="3199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association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reference</a:t>
            </a:r>
            <a:r>
              <a:rPr dirty="0" sz="1050" spc="-35">
                <a:latin typeface="Palatino Linotype"/>
                <a:cs typeface="Palatino Linotype"/>
              </a:rPr>
              <a:t>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example,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references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ali</a:t>
            </a:r>
            <a:r>
              <a:rPr dirty="0" sz="1050" spc="-55" b="1">
                <a:latin typeface="Palatino Linotype"/>
                <a:cs typeface="Palatino Linotype"/>
              </a:rPr>
              <a:t>a</a:t>
            </a:r>
            <a:r>
              <a:rPr dirty="0" sz="1050" spc="-45" b="1">
                <a:latin typeface="Palatino Linotype"/>
                <a:cs typeface="Palatino Linotype"/>
              </a:rPr>
              <a:t>s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aliased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utable,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affect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b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[5, 2, </a:t>
            </a:r>
            <a:r>
              <a:rPr dirty="0" sz="850" spc="-25">
                <a:latin typeface="SimSun"/>
                <a:cs typeface="SimSun"/>
              </a:rPr>
              <a:t>3]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would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“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100">
                <a:latin typeface="Palatino Linotype"/>
                <a:cs typeface="Palatino Linotype"/>
              </a:rPr>
              <a:t>s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change.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Although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vior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useful,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prone.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safer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void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aliasing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35">
                <a:latin typeface="Palatino Linotype"/>
                <a:cs typeface="Palatino Linotype"/>
              </a:rPr>
              <a:t>uta‐ </a:t>
            </a:r>
            <a:r>
              <a:rPr dirty="0" sz="1050" spc="-50">
                <a:latin typeface="Palatino Linotype"/>
                <a:cs typeface="Palatino Linotype"/>
              </a:rPr>
              <a:t>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utable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aliasing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exam‐ 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almost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b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9020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708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130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71123"/>
            <a:ext cx="4572000" cy="397510"/>
            <a:chOff x="914400" y="1571123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7112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727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04548"/>
            <a:ext cx="4572000" cy="397510"/>
            <a:chOff x="914400" y="2304548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0454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061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9893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463423"/>
            <a:ext cx="4572000" cy="289560"/>
            <a:chOff x="914400" y="3463423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46342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4650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0403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21983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54"/>
              <a:t>List</a:t>
            </a:r>
            <a:r>
              <a:rPr dirty="0" sz="1900" spc="-245"/>
              <a:t> </a:t>
            </a:r>
            <a:r>
              <a:rPr dirty="0" sz="1900" spc="-310"/>
              <a:t>Arguments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35" y="964024"/>
            <a:ext cx="4598035" cy="347154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change.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pop_first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pop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pop_first(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lst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160395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lst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ctr"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 spc="-2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pop_first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'a'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removed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list—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modified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 </a:t>
            </a:r>
            <a:r>
              <a:rPr dirty="0" sz="850">
                <a:latin typeface="SimSun"/>
                <a:cs typeface="SimSun"/>
              </a:rPr>
              <a:t>['b', </a:t>
            </a:r>
            <a:r>
              <a:rPr dirty="0" sz="850" spc="-20">
                <a:latin typeface="SimSun"/>
                <a:cs typeface="SimSun"/>
              </a:rPr>
              <a:t>'c']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lst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letters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aliases</a:t>
            </a:r>
            <a:r>
              <a:rPr dirty="0" sz="1050" spc="-10">
                <a:latin typeface="Palatino Linotype"/>
                <a:cs typeface="Palatino Linotype"/>
              </a:rPr>
              <a:t> 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same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4613055"/>
            <a:ext cx="1641117" cy="836648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47" y="5631046"/>
            <a:ext cx="4598035" cy="16281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Passing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reference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an</a:t>
            </a:r>
            <a:r>
              <a:rPr dirty="0" sz="1050" spc="-25">
                <a:latin typeface="Palatino Linotype"/>
                <a:cs typeface="Palatino Linotype"/>
              </a:rPr>
              <a:t> object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an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alias‐ </a:t>
            </a:r>
            <a:r>
              <a:rPr dirty="0" sz="1050">
                <a:latin typeface="Palatino Linotype"/>
                <a:cs typeface="Palatino Linotype"/>
              </a:rPr>
              <a:t>ing.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modifies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changes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persist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after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10">
                <a:latin typeface="Palatino Linotype"/>
                <a:cs typeface="Palatino Linotype"/>
              </a:rPr>
              <a:t>done.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0" b="1">
                <a:latin typeface="Trebuchet MS"/>
                <a:cs typeface="Trebuchet MS"/>
              </a:rPr>
              <a:t>Making</a:t>
            </a:r>
            <a:r>
              <a:rPr dirty="0" sz="1900" spc="-265" b="1">
                <a:latin typeface="Trebuchet MS"/>
                <a:cs typeface="Trebuchet MS"/>
              </a:rPr>
              <a:t> 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40" b="1">
                <a:latin typeface="Trebuchet MS"/>
                <a:cs typeface="Trebuchet MS"/>
              </a:rPr>
              <a:t>Word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0" b="1">
                <a:latin typeface="Trebuchet MS"/>
                <a:cs typeface="Trebuchet MS"/>
              </a:rPr>
              <a:t>List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2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previous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85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read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words.txt</a:t>
            </a:r>
            <a:r>
              <a:rPr dirty="0" sz="1050" spc="15" i="1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searched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certain </a:t>
            </a:r>
            <a:r>
              <a:rPr dirty="0" sz="1050" spc="-45">
                <a:latin typeface="Palatino Linotype"/>
                <a:cs typeface="Palatino Linotype"/>
              </a:rPr>
              <a:t>properties,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read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entire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</a:t>
            </a:r>
            <a:r>
              <a:rPr dirty="0" sz="1050" spc="-30">
                <a:latin typeface="Palatino Linotype"/>
                <a:cs typeface="Palatino Linotype"/>
              </a:rPr>
              <a:t>efficie</a:t>
            </a:r>
            <a:r>
              <a:rPr dirty="0" sz="1050" spc="-30">
                <a:latin typeface="Palatino Linotype"/>
                <a:cs typeface="Palatino Linotype"/>
              </a:rPr>
              <a:t>nt.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better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following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how: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363966" y="7731125"/>
            <a:ext cx="1135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Making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160" b="1">
                <a:latin typeface="Trebuchet MS"/>
                <a:cs typeface="Trebuchet MS"/>
              </a:rPr>
              <a:t>Word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45" b="1">
                <a:latin typeface="Trebuchet MS"/>
                <a:cs typeface="Trebuchet MS"/>
              </a:rPr>
              <a:t>List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131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937260"/>
            <a:chOff x="914400" y="685800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103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803268"/>
            <a:ext cx="4572000" cy="397510"/>
            <a:chOff x="914400" y="2803268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80326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8048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4881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969677"/>
            <a:ext cx="4572000" cy="397510"/>
            <a:chOff x="914400" y="3969677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96967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9712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6545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143620"/>
            <a:ext cx="4572000" cy="289560"/>
            <a:chOff x="914400" y="5143620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14362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1452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7205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042059"/>
            <a:ext cx="4572000" cy="289560"/>
            <a:chOff x="914400" y="6042059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0420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0436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6189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37" y="728091"/>
            <a:ext cx="4598035" cy="611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113783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20">
                <a:latin typeface="Palatino Linotype"/>
                <a:cs typeface="Palatino Linotype"/>
              </a:rPr>
              <a:t>Before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loop,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word_list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40">
                <a:latin typeface="Palatino Linotype"/>
                <a:cs typeface="Palatino Linotype"/>
              </a:rPr>
              <a:t>initialized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empty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loop,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append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adds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word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end.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done,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113,000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read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entire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string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1016511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million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split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split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464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113783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95">
                <a:latin typeface="Palatino Linotype"/>
                <a:cs typeface="Palatino Linotype"/>
              </a:rPr>
              <a:t>Now,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check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whether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SimSun"/>
                <a:cs typeface="SimSun"/>
              </a:rPr>
              <a:t>in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'demotic'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list:</a:t>
            </a:r>
            <a:endParaRPr sz="1050">
              <a:latin typeface="Palatino Linotype"/>
              <a:cs typeface="Palatino Linotype"/>
            </a:endParaRPr>
          </a:p>
          <a:p>
            <a:pPr marL="39370" marR="33623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'demotic'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39370" indent="-27305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'contrafibularities'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not:</a:t>
            </a:r>
            <a:endParaRPr sz="1050">
              <a:latin typeface="Palatino Linotype"/>
              <a:cs typeface="Palatino Linotype"/>
            </a:endParaRPr>
          </a:p>
          <a:p>
            <a:pPr marL="39370" marR="27686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'contrafibularities'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say,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I’m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anaspeptic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752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132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639789"/>
            <a:ext cx="4572000" cy="505459"/>
            <a:chOff x="914400" y="163978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63978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6413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4325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746594"/>
            <a:ext cx="4572000" cy="397510"/>
            <a:chOff x="914400" y="2746594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74659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748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647573"/>
            <a:ext cx="4572000" cy="289560"/>
            <a:chOff x="914400" y="3647573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64757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6491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22447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978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65"/>
              <a:t>Debugging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35" y="971559"/>
            <a:ext cx="4598035" cy="6431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latin typeface="Palatino Linotype"/>
                <a:cs typeface="Palatino Linotype"/>
              </a:rPr>
              <a:t>Note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None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oppo‐ </a:t>
            </a:r>
            <a:r>
              <a:rPr dirty="0" sz="1050" spc="-50">
                <a:latin typeface="Palatino Linotype"/>
                <a:cs typeface="Palatino Linotype"/>
              </a:rPr>
              <a:t>site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original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alone.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'plumage!'</a:t>
            </a:r>
            <a:endParaRPr sz="850">
              <a:latin typeface="SimSun"/>
              <a:cs typeface="SimSun"/>
            </a:endParaRPr>
          </a:p>
          <a:p>
            <a:pPr marL="39370" marR="33623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'!'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'plumage'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tempting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tabLst>
                <a:tab pos="1442720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WRONG!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80"/>
              </a:spcBef>
            </a:pPr>
            <a:r>
              <a:rPr dirty="0" sz="1000" spc="-5">
                <a:latin typeface="SimSun"/>
                <a:cs typeface="SimSun"/>
              </a:rPr>
              <a:t>remove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None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next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likely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fail: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AttributeError: 'NoneType' object has no attribute </a:t>
            </a:r>
            <a:r>
              <a:rPr dirty="0" sz="850" spc="-10">
                <a:latin typeface="SimSun"/>
                <a:cs typeface="SimSun"/>
              </a:rPr>
              <a:t>'remove'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explaining.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a</a:t>
            </a:r>
            <a:r>
              <a:rPr dirty="0" sz="1050" spc="-35" b="1">
                <a:latin typeface="Palatino Linotype"/>
                <a:cs typeface="Palatino Linotype"/>
              </a:rPr>
              <a:t>t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15" b="1">
                <a:latin typeface="Palatino Linotype"/>
                <a:cs typeface="Palatino Linotype"/>
              </a:rPr>
              <a:t>r</a:t>
            </a:r>
            <a:r>
              <a:rPr dirty="0" sz="1050" spc="-20" b="1">
                <a:latin typeface="Palatino Linotype"/>
                <a:cs typeface="Palatino Linotype"/>
              </a:rPr>
              <a:t>i</a:t>
            </a:r>
            <a:r>
              <a:rPr dirty="0" sz="1050" spc="-95" b="1">
                <a:latin typeface="Palatino Linotype"/>
                <a:cs typeface="Palatino Linotype"/>
              </a:rPr>
              <a:t>b</a:t>
            </a:r>
            <a:r>
              <a:rPr dirty="0" sz="1050" spc="-70" b="1">
                <a:latin typeface="Palatino Linotype"/>
                <a:cs typeface="Palatino Linotype"/>
              </a:rPr>
              <a:t>u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6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associ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case,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00" spc="-1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None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NoneType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remove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00" spc="-5">
                <a:latin typeface="SimSun"/>
                <a:cs typeface="SimSun"/>
              </a:rPr>
              <a:t>AttributeError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message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through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incorrectly.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1714500">
              <a:lnSpc>
                <a:spcPts val="1860"/>
              </a:lnSpc>
              <a:spcBef>
                <a:spcPts val="1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list: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values. </a:t>
            </a:r>
            <a:r>
              <a:rPr dirty="0" sz="1050" spc="-50" b="1">
                <a:latin typeface="Palatino Linotype"/>
                <a:cs typeface="Palatino Linotype"/>
              </a:rPr>
              <a:t>element: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sequence. </a:t>
            </a:r>
            <a:r>
              <a:rPr dirty="0" sz="1050" spc="-55" b="1">
                <a:latin typeface="Palatino Linotype"/>
                <a:cs typeface="Palatino Linotype"/>
              </a:rPr>
              <a:t>nested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list: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list.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</a:pPr>
            <a:r>
              <a:rPr dirty="0" sz="1050" spc="-45" b="1">
                <a:latin typeface="Palatino Linotype"/>
                <a:cs typeface="Palatino Linotype"/>
              </a:rPr>
              <a:t>delimiter: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split.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equivalent: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identical: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(which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implies</a:t>
            </a:r>
            <a:r>
              <a:rPr dirty="0" sz="1050" spc="-10">
                <a:latin typeface="Palatino Linotype"/>
                <a:cs typeface="Palatino Linotype"/>
              </a:rPr>
              <a:t> equivalence).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reference: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association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69097" y="7731125"/>
            <a:ext cx="7302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133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1" y="573829"/>
            <a:ext cx="4598035" cy="596455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aliased: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aliased.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attribute: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used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“contrafibularities”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“anaspeptic,”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</a:t>
            </a:r>
            <a:r>
              <a:rPr dirty="0" sz="1050" spc="-65">
                <a:latin typeface="Palatino Linotype"/>
                <a:cs typeface="Palatino Linotype"/>
              </a:rPr>
              <a:t>actually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English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British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television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show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Black </a:t>
            </a:r>
            <a:r>
              <a:rPr dirty="0" sz="1050" spc="-20" i="1">
                <a:latin typeface="Palatino Linotype"/>
                <a:cs typeface="Palatino Linotype"/>
              </a:rPr>
              <a:t>Adder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Sea‐ </a:t>
            </a:r>
            <a:r>
              <a:rPr dirty="0" sz="1050" spc="-55">
                <a:latin typeface="Palatino Linotype"/>
                <a:cs typeface="Palatino Linotype"/>
              </a:rPr>
              <a:t>son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Episode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“Ink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Incapability.”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However,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asked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ChatGPT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3.5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(August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3,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2023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version)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where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those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words </a:t>
            </a:r>
            <a:r>
              <a:rPr dirty="0" sz="1050" spc="-25">
                <a:latin typeface="Palatino Linotype"/>
                <a:cs typeface="Palatino Linotype"/>
              </a:rPr>
              <a:t>come</a:t>
            </a:r>
            <a:r>
              <a:rPr dirty="0" sz="1050" spc="-20">
                <a:latin typeface="Palatino Linotype"/>
                <a:cs typeface="Palatino Linotype"/>
              </a:rPr>
              <a:t> from,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initially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claimed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Monty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later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claimed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they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Stoppard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Rosencrantz</a:t>
            </a:r>
            <a:r>
              <a:rPr dirty="0" sz="1050" i="1">
                <a:latin typeface="Palatino Linotype"/>
                <a:cs typeface="Palatino Linotype"/>
              </a:rPr>
              <a:t> and </a:t>
            </a:r>
            <a:r>
              <a:rPr dirty="0" sz="1050" spc="-30" i="1">
                <a:latin typeface="Palatino Linotype"/>
                <a:cs typeface="Palatino Linotype"/>
              </a:rPr>
              <a:t>Guildenstern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40" i="1">
                <a:latin typeface="Palatino Linotype"/>
                <a:cs typeface="Palatino Linotype"/>
              </a:rPr>
              <a:t>Are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Dead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now,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reminder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60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always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accurate,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correct.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experience,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sense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assis‐ </a:t>
            </a:r>
            <a:r>
              <a:rPr dirty="0" sz="1050" spc="-10">
                <a:latin typeface="Palatino Linotype"/>
                <a:cs typeface="Palatino Linotype"/>
              </a:rPr>
              <a:t>tants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answer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reliably.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conventional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web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search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quickly </a:t>
            </a:r>
            <a:r>
              <a:rPr dirty="0" sz="1050" spc="-55">
                <a:latin typeface="Palatino Linotype"/>
                <a:cs typeface="Palatino Linotype"/>
              </a:rPr>
              <a:t>identify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source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stuck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assis‐ </a:t>
            </a:r>
            <a:r>
              <a:rPr dirty="0" sz="1050" spc="-40">
                <a:latin typeface="Palatino Linotype"/>
                <a:cs typeface="Palatino Linotype"/>
              </a:rPr>
              <a:t>ta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</a:t>
            </a:r>
            <a:r>
              <a:rPr dirty="0" sz="1050" spc="-110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tures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ve</a:t>
            </a:r>
            <a:r>
              <a:rPr dirty="0" sz="1050" spc="-16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learned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yet,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V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40">
                <a:latin typeface="Palatino Linotype"/>
                <a:cs typeface="Palatino Linotype"/>
              </a:rPr>
              <a:t>role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question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“Role: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Basic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Programming </a:t>
            </a:r>
            <a:r>
              <a:rPr dirty="0" sz="1050" spc="-60">
                <a:latin typeface="Palatino Linotype"/>
                <a:cs typeface="Palatino Linotype"/>
              </a:rPr>
              <a:t>Instructor.”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Then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responses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basic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features.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see </a:t>
            </a:r>
            <a:r>
              <a:rPr dirty="0" sz="1050" spc="-50">
                <a:latin typeface="Palatino Linotype"/>
                <a:cs typeface="Palatino Linotype"/>
              </a:rPr>
              <a:t>features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learned,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only </a:t>
            </a:r>
            <a:r>
              <a:rPr dirty="0" sz="1050" spc="-55">
                <a:latin typeface="Palatino Linotype"/>
                <a:cs typeface="Palatino Linotype"/>
              </a:rPr>
              <a:t>basic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features?”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445"/>
              </a:spcBef>
            </a:pP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rearrange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spell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other. </a:t>
            </a:r>
            <a:r>
              <a:rPr dirty="0" sz="1050" spc="-10">
                <a:latin typeface="Palatino Linotype"/>
                <a:cs typeface="Palatino Linotype"/>
              </a:rPr>
              <a:t>F</a:t>
            </a:r>
            <a:r>
              <a:rPr dirty="0" sz="1050" spc="-10">
                <a:latin typeface="Palatino Linotype"/>
                <a:cs typeface="Palatino Linotype"/>
              </a:rPr>
              <a:t>or</a:t>
            </a:r>
            <a:r>
              <a:rPr dirty="0" sz="1050" spc="-60">
                <a:latin typeface="Palatino Linotype"/>
                <a:cs typeface="Palatino Linotype"/>
              </a:rPr>
              <a:t> 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tops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anagram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stop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70">
                <a:latin typeface="Palatino Linotype"/>
                <a:cs typeface="Palatino Linotype"/>
              </a:rPr>
              <a:t>anagrams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both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sorted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same,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anagrams.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is_anagram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 </a:t>
            </a:r>
            <a:r>
              <a:rPr dirty="0" sz="1050" spc="-60">
                <a:latin typeface="Palatino Linotype"/>
                <a:cs typeface="Palatino Linotype"/>
              </a:rPr>
              <a:t>anagrams.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U</a:t>
            </a:r>
            <a:r>
              <a:rPr dirty="0" sz="1050" spc="-55">
                <a:latin typeface="Palatino Linotype"/>
                <a:cs typeface="Palatino Linotype"/>
              </a:rPr>
              <a:t>sing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anagrams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takes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725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134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23593"/>
            <a:ext cx="4572000" cy="289560"/>
            <a:chOff x="914400" y="1523593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235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25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1004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22032"/>
            <a:ext cx="4572000" cy="289560"/>
            <a:chOff x="914400" y="2422032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2203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236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9989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320472"/>
            <a:ext cx="4572000" cy="289560"/>
            <a:chOff x="914400" y="3320472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32047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3220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9736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211377"/>
            <a:ext cx="4572000" cy="397510"/>
            <a:chOff x="914400" y="4211377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21137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2129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914400" y="5676150"/>
            <a:ext cx="4572000" cy="505459"/>
            <a:chOff x="914400" y="5676150"/>
            <a:chExt cx="4572000" cy="505459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67615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67773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35" y="519390"/>
            <a:ext cx="4598035" cy="557022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5"/>
              </a:spcBef>
            </a:pPr>
            <a:r>
              <a:rPr dirty="0" sz="1050" spc="-20">
                <a:latin typeface="Palatino Linotype"/>
                <a:cs typeface="Palatino Linotype"/>
              </a:rPr>
              <a:t>Python</a:t>
            </a:r>
            <a:r>
              <a:rPr dirty="0" sz="1050" spc="-40">
                <a:latin typeface="Palatino Linotype"/>
                <a:cs typeface="Palatino Linotype"/>
              </a:rPr>
              <a:t> provides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called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reversed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argument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elements—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string—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reversed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reverse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'parrot'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&lt;reversed at </a:t>
            </a:r>
            <a:r>
              <a:rPr dirty="0" sz="850" spc="-10">
                <a:latin typeface="SimSun"/>
                <a:cs typeface="SimSun"/>
              </a:rPr>
              <a:t>0x7fe3de636b60&gt;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reversed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list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'parrot'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['t', 'o', 'r', 'r', 'a', </a:t>
            </a:r>
            <a:r>
              <a:rPr dirty="0" sz="850" spc="-20">
                <a:latin typeface="SimSun"/>
                <a:cs typeface="SimSun"/>
              </a:rPr>
              <a:t>'p']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join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 marR="30924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'parrot'</a:t>
            </a:r>
            <a:r>
              <a:rPr dirty="0" sz="850" spc="-10">
                <a:latin typeface="SimSun"/>
                <a:cs typeface="SimSun"/>
              </a:rPr>
              <a:t>)) 'torrap'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reverses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reverse_word(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ward,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40">
                <a:latin typeface="Palatino Linotype"/>
                <a:cs typeface="Palatino Linotype"/>
              </a:rPr>
              <a:t>noo</a:t>
            </a:r>
            <a:r>
              <a:rPr dirty="0" sz="1050" spc="-130">
                <a:latin typeface="Palatino Linotype"/>
                <a:cs typeface="Palatino Linotype"/>
              </a:rPr>
              <a:t>n</a:t>
            </a:r>
            <a:r>
              <a:rPr dirty="0" sz="1050" spc="-80">
                <a:latin typeface="Palatino Linotype"/>
                <a:cs typeface="Palatino Linotype"/>
              </a:rPr>
              <a:t>”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40">
                <a:latin typeface="Palatino Linotype"/>
                <a:cs typeface="Palatino Linotype"/>
              </a:rPr>
              <a:t>rot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is_palindrome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True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False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65">
                <a:latin typeface="Palatino Linotype"/>
                <a:cs typeface="Palatino Linotype"/>
              </a:rPr>
              <a:t>wise.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palindromes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at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0669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 spc="10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is_palindrome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745087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135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519390"/>
            <a:ext cx="4598035" cy="222567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050" spc="-20">
                <a:latin typeface="Palatino Linotype"/>
                <a:cs typeface="Palatino Linotype"/>
              </a:rPr>
              <a:t>Write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reverse_sentence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any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separated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spaces.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30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reverse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order.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“Reverse 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sentence,”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“Sentence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reverse.”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20">
                <a:latin typeface="Palatino Linotype"/>
                <a:cs typeface="Palatino Linotype"/>
              </a:rPr>
              <a:t>Hint: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capitalize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capitalize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 </a:t>
            </a:r>
            <a:r>
              <a:rPr dirty="0" sz="1050" spc="-6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convert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lowercase.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65"/>
              </a:spcBef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total_length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strings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total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total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length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word_list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902,728.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734" y="7731125"/>
            <a:ext cx="9899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136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9: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Lists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4988159"/>
            <a:ext cx="4572000" cy="289560"/>
            <a:chOff x="914400" y="4988159"/>
            <a:chExt cx="4572000" cy="28956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49881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49897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914400" y="5613634"/>
            <a:ext cx="4572000" cy="289560"/>
            <a:chOff x="914400" y="5613634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61363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6152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619053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6832113"/>
            <a:ext cx="4572000" cy="397510"/>
            <a:chOff x="914400" y="6832113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683211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68337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751696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10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4224854" y="1212513"/>
            <a:ext cx="1274445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60"/>
              <a:t>Dictionaries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901637" y="3044843"/>
            <a:ext cx="4598035" cy="484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of </a:t>
            </a:r>
            <a:r>
              <a:rPr dirty="0" sz="1050" spc="-85">
                <a:latin typeface="Palatino Linotype"/>
                <a:cs typeface="Palatino Linotype"/>
              </a:rPr>
              <a:t>Python’s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fea‐ </a:t>
            </a:r>
            <a:r>
              <a:rPr dirty="0" sz="1050" spc="-65">
                <a:latin typeface="Palatino Linotype"/>
                <a:cs typeface="Palatino Linotype"/>
              </a:rPr>
              <a:t>tures—and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building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block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efficient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elegant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algorithms.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compute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unique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we’ll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solve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puzzles.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65" b="1">
                <a:latin typeface="Trebuchet MS"/>
                <a:cs typeface="Trebuchet MS"/>
              </a:rPr>
              <a:t>A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Dictionary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175" b="1">
                <a:latin typeface="Trebuchet MS"/>
                <a:cs typeface="Trebuchet MS"/>
              </a:rPr>
              <a:t>Is</a:t>
            </a:r>
            <a:r>
              <a:rPr dirty="0" sz="1900" spc="-265" b="1">
                <a:latin typeface="Trebuchet MS"/>
                <a:cs typeface="Trebuchet MS"/>
              </a:rPr>
              <a:t> a </a:t>
            </a:r>
            <a:r>
              <a:rPr dirty="0" sz="1900" spc="-110" b="1">
                <a:latin typeface="Trebuchet MS"/>
                <a:cs typeface="Trebuchet MS"/>
              </a:rPr>
              <a:t>Mapping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dictionary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list,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general.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list,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integers;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(almost)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any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suppose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'zero'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'one'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'two'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-10">
                <a:latin typeface="Palatino Linotype"/>
                <a:cs typeface="Palatino Linotype"/>
              </a:rPr>
              <a:t> word: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lst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'one'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30">
                <a:latin typeface="Palatino Linotype"/>
                <a:cs typeface="Palatino Linotype"/>
              </a:rPr>
              <a:t>But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up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cor‐ </a:t>
            </a:r>
            <a:r>
              <a:rPr dirty="0" sz="1050" spc="-50">
                <a:latin typeface="Palatino Linotype"/>
                <a:cs typeface="Palatino Linotype"/>
              </a:rPr>
              <a:t>responding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integer.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We’ll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numbers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9020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algn="r" marR="5080">
              <a:lnSpc>
                <a:spcPct val="100000"/>
              </a:lnSpc>
              <a:spcBef>
                <a:spcPts val="575"/>
              </a:spcBef>
            </a:pPr>
            <a:r>
              <a:rPr dirty="0" sz="900" spc="-25" b="1">
                <a:latin typeface="Trebuchet MS"/>
                <a:cs typeface="Trebuchet MS"/>
              </a:rPr>
              <a:t>137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210177"/>
            <a:ext cx="4572000" cy="289560"/>
            <a:chOff x="914400" y="2210177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21017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21176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78707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101082"/>
            <a:ext cx="4572000" cy="505459"/>
            <a:chOff x="914400" y="3101082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10108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10267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89388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444107"/>
            <a:ext cx="4572000" cy="289560"/>
            <a:chOff x="914400" y="444410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44410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44569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021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342546"/>
            <a:ext cx="4572000" cy="289560"/>
            <a:chOff x="914400" y="5342546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34254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3441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591944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6240985"/>
            <a:ext cx="4572000" cy="289560"/>
            <a:chOff x="914400" y="6240985"/>
            <a:chExt cx="4572000" cy="28956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2409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2425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681788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901645" y="657564"/>
            <a:ext cx="4598035" cy="6708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curly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braces,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{}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empty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dictionary,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square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brackets: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'zero'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i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50" b="1">
                <a:latin typeface="Palatino Linotype"/>
                <a:cs typeface="Palatino Linotype"/>
              </a:rPr>
              <a:t>m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associ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95" b="1">
                <a:latin typeface="Palatino Linotype"/>
                <a:cs typeface="Palatino Linotype"/>
              </a:rPr>
              <a:t>k</a:t>
            </a:r>
            <a:r>
              <a:rPr dirty="0" sz="1050" spc="-65" b="1">
                <a:latin typeface="Palatino Linotype"/>
                <a:cs typeface="Palatino Linotype"/>
              </a:rPr>
              <a:t>e</a:t>
            </a:r>
            <a:r>
              <a:rPr dirty="0" sz="1050" spc="-100" b="1">
                <a:latin typeface="Palatino Linotype"/>
                <a:cs typeface="Palatino Linotype"/>
              </a:rPr>
              <a:t>y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 b="1">
                <a:latin typeface="Palatino Linotype"/>
                <a:cs typeface="Palatino Linotype"/>
              </a:rPr>
              <a:t>va</a:t>
            </a:r>
            <a:r>
              <a:rPr dirty="0" sz="1050" spc="-60" b="1">
                <a:latin typeface="Palatino Linotype"/>
                <a:cs typeface="Palatino Linotype"/>
              </a:rPr>
              <a:t>l</a:t>
            </a:r>
            <a:r>
              <a:rPr dirty="0" sz="1050" spc="-55" b="1">
                <a:latin typeface="Palatino Linotype"/>
                <a:cs typeface="Palatino Linotype"/>
              </a:rPr>
              <a:t>u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'zero'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20">
                <a:latin typeface="Palatino Linotype"/>
                <a:cs typeface="Palatino Linotype"/>
              </a:rPr>
              <a:t>te‐ </a:t>
            </a:r>
            <a:r>
              <a:rPr dirty="0" sz="1050" spc="-60">
                <a:latin typeface="Palatino Linotype"/>
                <a:cs typeface="Palatino Linotype"/>
              </a:rPr>
              <a:t>ger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item,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separ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{'zero': </a:t>
            </a:r>
            <a:r>
              <a:rPr dirty="0" sz="850" spc="-25">
                <a:latin typeface="SimSun"/>
                <a:cs typeface="SimSun"/>
              </a:rPr>
              <a:t>0}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'one'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 marR="35782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'two'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{'zero': 0, 'one': 1, 'two':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items.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 marL="39370" marR="37941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'two'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isn’t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KeyError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'three'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latin typeface="SimSun"/>
                <a:cs typeface="SimSun"/>
              </a:rPr>
              <a:t>KeyError: </a:t>
            </a:r>
            <a:r>
              <a:rPr dirty="0" sz="850" spc="-10">
                <a:latin typeface="SimSun"/>
                <a:cs typeface="SimSun"/>
              </a:rPr>
              <a:t>'three'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dictionaries;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items: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mathematical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mapping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say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“maps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to”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word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85">
                <a:latin typeface="Palatino Linotype"/>
                <a:cs typeface="Palatino Linotype"/>
              </a:rPr>
              <a:t>aps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integer.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1663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138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514759"/>
            <a:ext cx="4572000" cy="289560"/>
            <a:chOff x="914400" y="351475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5147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5163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4704028"/>
            <a:ext cx="4572000" cy="397510"/>
            <a:chOff x="914400" y="4704028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470402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47056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53888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702883"/>
            <a:ext cx="4572000" cy="397510"/>
            <a:chOff x="914400" y="5702883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70288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7044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638773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700" y="657564"/>
            <a:ext cx="311277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figure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numbers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020727"/>
            <a:ext cx="1466815" cy="836648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901649" y="1967684"/>
            <a:ext cx="4598035" cy="4807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dict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outside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items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inside.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item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arrow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quot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 </a:t>
            </a:r>
            <a:r>
              <a:rPr dirty="0" sz="1050" spc="-60">
                <a:latin typeface="Palatino Linotype"/>
                <a:cs typeface="Palatino Linotype"/>
              </a:rPr>
              <a:t>marks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Creating</a:t>
            </a:r>
            <a:r>
              <a:rPr dirty="0" sz="1900" spc="-240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Dictionaries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pty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items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Instead,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once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'zero'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'one'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'two'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item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consists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separated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colon.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items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separated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commas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enclosed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curly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braces.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25">
                <a:latin typeface="Palatino Linotype"/>
                <a:cs typeface="Palatino Linotype"/>
              </a:rPr>
              <a:t>Another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create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dict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make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empty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empty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384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numbers_copy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numbers_copy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{'zero': 0, 'one': 1, 'two':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often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useful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make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copy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before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performing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operations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modify </a:t>
            </a:r>
            <a:r>
              <a:rPr dirty="0" sz="1050" spc="-10">
                <a:latin typeface="Palatino Linotype"/>
                <a:cs typeface="Palatino Linotype"/>
              </a:rPr>
              <a:t>dictionaries.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297624" y="7731125"/>
            <a:ext cx="12020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Creating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Dictionaries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45" b="1">
                <a:latin typeface="Trebuchet MS"/>
                <a:cs typeface="Trebuchet MS"/>
              </a:rPr>
              <a:t>139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03569"/>
            <a:ext cx="4572000" cy="289560"/>
            <a:chOff x="914400" y="140356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0356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05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804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02008"/>
            <a:ext cx="4572000" cy="289560"/>
            <a:chOff x="914400" y="230200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020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035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8789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360467"/>
            <a:ext cx="4572000" cy="289560"/>
            <a:chOff x="914400" y="3360467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36046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3620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93736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302761"/>
            <a:ext cx="4572000" cy="397510"/>
            <a:chOff x="914400" y="5302761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30276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30434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98760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309150"/>
            <a:ext cx="4572000" cy="397510"/>
            <a:chOff x="914400" y="6309150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30915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31073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24650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75"/>
              <a:t>The</a:t>
            </a:r>
            <a:r>
              <a:rPr dirty="0" sz="1900" spc="-270"/>
              <a:t> </a:t>
            </a:r>
            <a:r>
              <a:rPr dirty="0" sz="1900" spc="-250"/>
              <a:t>in</a:t>
            </a:r>
            <a:r>
              <a:rPr dirty="0" sz="1900" spc="-265"/>
              <a:t> </a:t>
            </a:r>
            <a:r>
              <a:rPr dirty="0" sz="1900" spc="-320"/>
              <a:t>Operator</a:t>
            </a:r>
            <a:endParaRPr sz="1900"/>
          </a:p>
        </p:txBody>
      </p:sp>
      <p:sp>
        <p:nvSpPr>
          <p:cNvPr id="22" name="object 22" descr=""/>
          <p:cNvSpPr txBox="1"/>
          <p:nvPr/>
        </p:nvSpPr>
        <p:spPr>
          <a:xfrm>
            <a:off x="901637" y="971559"/>
            <a:ext cx="4598035" cy="5643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tells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key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 marL="39370" marR="36861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'one'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not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a </a:t>
            </a:r>
            <a:r>
              <a:rPr dirty="0" sz="1050" spc="-50">
                <a:latin typeface="Palatino Linotype"/>
                <a:cs typeface="Palatino Linotype"/>
              </a:rPr>
              <a:t>dictionary,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values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 marL="39370" marR="34163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values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16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items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 b="1">
                <a:latin typeface="Palatino Linotype"/>
                <a:cs typeface="Palatino Linotype"/>
              </a:rPr>
              <a:t>hash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table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way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organ‐ izing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data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remarkable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property: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operator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about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same </a:t>
            </a:r>
            <a:r>
              <a:rPr dirty="0" sz="1050" spc="-65">
                <a:latin typeface="Palatino Linotype"/>
                <a:cs typeface="Palatino Linotype"/>
              </a:rPr>
              <a:t>amount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many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items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makes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possi‐ </a:t>
            </a:r>
            <a:r>
              <a:rPr dirty="0" sz="1050" spc="-55">
                <a:latin typeface="Palatino Linotype"/>
                <a:cs typeface="Palatino Linotype"/>
              </a:rPr>
              <a:t>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remarkably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efficient</a:t>
            </a:r>
            <a:r>
              <a:rPr dirty="0" sz="1050" spc="-10">
                <a:latin typeface="Palatino Linotype"/>
                <a:cs typeface="Palatino Linotype"/>
              </a:rPr>
              <a:t> algorithms.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 spc="-105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we’ll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algorithms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finding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pairs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reverse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another—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stressed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desserts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1748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113783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reverse_word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chapter: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reverse_word(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708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140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829310"/>
            <a:chOff x="914400" y="1082039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458673"/>
            <a:ext cx="4572000" cy="289560"/>
            <a:chOff x="914400" y="3458673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45867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4602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0355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509599"/>
            <a:ext cx="4572000" cy="505459"/>
            <a:chOff x="914400" y="4509599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50959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5111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5929836"/>
            <a:ext cx="4572000" cy="829310"/>
            <a:chOff x="914400" y="5929836"/>
            <a:chExt cx="4572000" cy="8293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929836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9314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01650" y="650030"/>
            <a:ext cx="4598035" cy="65189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through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the list.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one,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reverses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reversed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7401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too_slow():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2288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reverse_word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-35">
                <a:latin typeface="Palatino Linotype"/>
                <a:cs typeface="Palatino Linotype"/>
              </a:rPr>
              <a:t> than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minute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SimSun"/>
                <a:cs typeface="SimSun"/>
              </a:rPr>
              <a:t>in</a:t>
            </a:r>
            <a:r>
              <a:rPr dirty="0" sz="1000" spc="-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 </a:t>
            </a:r>
            <a:r>
              <a:rPr dirty="0" sz="1050" spc="-35">
                <a:latin typeface="Palatino Linotype"/>
                <a:cs typeface="Palatino Linotype"/>
              </a:rPr>
              <a:t>checks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 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for—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happens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search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way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35">
                <a:latin typeface="Palatino Linotype"/>
                <a:cs typeface="Palatino Linotype"/>
              </a:rPr>
              <a:t>The </a:t>
            </a:r>
            <a:r>
              <a:rPr dirty="0" sz="1000" spc="-140">
                <a:latin typeface="SimSun"/>
                <a:cs typeface="SimSun"/>
              </a:rPr>
              <a:t>in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once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Since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 </a:t>
            </a:r>
            <a:r>
              <a:rPr dirty="0" sz="1050" spc="-40">
                <a:latin typeface="Palatino Linotype"/>
                <a:cs typeface="Palatino Linotype"/>
              </a:rPr>
              <a:t>than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100,000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45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100,000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words,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total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comparisons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squared—roughly—which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almost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13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billion: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 </a:t>
            </a:r>
            <a:r>
              <a:rPr dirty="0" sz="850" spc="-10">
                <a:latin typeface="SimSun"/>
                <a:cs typeface="SimSun"/>
              </a:rPr>
              <a:t>12946571089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much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faster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creates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keys: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word_dict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471170" marR="30924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word_dict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word_dict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anything,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won’t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ever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up—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exists.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Now</a:t>
            </a:r>
            <a:r>
              <a:rPr dirty="0" sz="1050" spc="2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here’s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version</a:t>
            </a:r>
            <a:r>
              <a:rPr dirty="0" sz="1050" spc="2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previous</a:t>
            </a:r>
            <a:r>
              <a:rPr dirty="0" sz="1050" spc="2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replaces</a:t>
            </a:r>
            <a:r>
              <a:rPr dirty="0" sz="1050" spc="2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word_list</a:t>
            </a:r>
            <a:r>
              <a:rPr dirty="0" sz="1000" spc="1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word_dict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5782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much_faster():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word_dict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2288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reverse_word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word_dict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hundredth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second,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10,000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times </a:t>
            </a:r>
            <a:r>
              <a:rPr dirty="0" sz="1050" spc="-50">
                <a:latin typeface="Palatino Linotype"/>
                <a:cs typeface="Palatino Linotype"/>
              </a:rPr>
              <a:t>faster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version.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00417" y="7731125"/>
            <a:ext cx="9988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85" b="1">
                <a:latin typeface="Trebuchet MS"/>
                <a:cs typeface="Trebuchet MS"/>
              </a:rPr>
              <a:t>The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Operator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141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2060"/>
            <a:ext cx="4572000" cy="505459"/>
            <a:chOff x="914400" y="1242060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206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36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348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907670"/>
            <a:ext cx="4572000" cy="289560"/>
            <a:chOff x="914400" y="2907670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90767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90925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700699"/>
            <a:ext cx="4572000" cy="289560"/>
            <a:chOff x="914400" y="3700699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70069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7022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4493728"/>
            <a:ext cx="4572000" cy="289560"/>
            <a:chOff x="914400" y="4493728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49372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4953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14400" y="5126737"/>
            <a:ext cx="4572000" cy="289560"/>
            <a:chOff x="914400" y="5126737"/>
            <a:chExt cx="4572000" cy="28956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512673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51283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914400" y="57036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914400" y="6177662"/>
            <a:ext cx="4572000" cy="1045210"/>
            <a:chOff x="914400" y="6177662"/>
            <a:chExt cx="4572000" cy="1045210"/>
          </a:xfrm>
        </p:grpSpPr>
        <p:sp>
          <p:nvSpPr>
            <p:cNvPr id="20" name="object 20" descr=""/>
            <p:cNvSpPr/>
            <p:nvPr/>
          </p:nvSpPr>
          <p:spPr>
            <a:xfrm>
              <a:off x="914400" y="6177662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09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914400" y="61792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901662" y="650030"/>
            <a:ext cx="4598035" cy="6480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proportional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almost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consta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t—regardless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items: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{'a': 3, 'b':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0"/>
              </a:spcBef>
            </a:pPr>
            <a:r>
              <a:rPr dirty="0" sz="1900" spc="-365" b="1">
                <a:latin typeface="Trebuchet MS"/>
                <a:cs typeface="Trebuchet MS"/>
              </a:rPr>
              <a:t>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Collection</a:t>
            </a:r>
            <a:r>
              <a:rPr dirty="0" sz="1900" spc="-260" b="1">
                <a:latin typeface="Trebuchet MS"/>
                <a:cs typeface="Trebuchet MS"/>
              </a:rPr>
              <a:t> of </a:t>
            </a:r>
            <a:r>
              <a:rPr dirty="0" sz="1900" spc="-320" b="1">
                <a:latin typeface="Trebuchet MS"/>
                <a:cs typeface="Trebuchet MS"/>
              </a:rPr>
              <a:t>Counters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55">
                <a:latin typeface="Palatino Linotype"/>
                <a:cs typeface="Palatino Linotype"/>
              </a:rPr>
              <a:t>Suppose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given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count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tool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job.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suppose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SimSun"/>
                <a:cs typeface="SimSun"/>
              </a:rPr>
              <a:t>'a'</a:t>
            </a:r>
            <a:r>
              <a:rPr dirty="0" sz="1000" spc="-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 </a:t>
            </a:r>
            <a:r>
              <a:rPr dirty="0" sz="1050" spc="-50">
                <a:latin typeface="Palatino Linotype"/>
                <a:cs typeface="Palatino Linotype"/>
              </a:rPr>
              <a:t>time.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once.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 </a:t>
            </a:r>
            <a:r>
              <a:rPr dirty="0" sz="1050" spc="-55">
                <a:latin typeface="Palatino Linotype"/>
                <a:cs typeface="Palatino Linotype"/>
              </a:rPr>
              <a:t>again,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increme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'a'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2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twice: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features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letter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2004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value_counts(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1657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142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64662"/>
            <a:ext cx="4572000" cy="397510"/>
            <a:chOff x="914400" y="1264662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6466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662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4951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241165"/>
            <a:ext cx="4572000" cy="397510"/>
            <a:chOff x="914400" y="324116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24116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24275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92601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240020"/>
            <a:ext cx="4572000" cy="397510"/>
            <a:chOff x="914400" y="4240020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24002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24160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1407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462309"/>
            <a:ext cx="4572000" cy="397510"/>
            <a:chOff x="914400" y="5462309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46230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46389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63630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01640" y="657564"/>
            <a:ext cx="4598035" cy="609346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through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loop,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letter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new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item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letter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letter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already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increment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letter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987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'brontosaurus'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{'b': 1, 'r': 2, 'o': 2, 'n': 1, 't': 1, 's': 2, 'a': 1, 'u':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8255" indent="-635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counter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'b'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once,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'r'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twice,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Looping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Dictionaries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for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traverses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keys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demonstrate,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'banana'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225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{'b': 1, 'a': 3, 'n':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letters: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52425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39370" marR="4495800">
              <a:lnSpc>
                <a:spcPts val="850"/>
              </a:lnSpc>
            </a:pPr>
            <a:r>
              <a:rPr dirty="0" sz="850" spc="-50">
                <a:latin typeface="SimSun"/>
                <a:cs typeface="SimSun"/>
              </a:rPr>
              <a:t>b a n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values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values</a:t>
            </a:r>
            <a:r>
              <a:rPr dirty="0" sz="850" spc="-10">
                <a:latin typeface="SimSun"/>
                <a:cs typeface="SimSun"/>
              </a:rPr>
              <a:t>():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keys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keys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corre‐ </a:t>
            </a:r>
            <a:r>
              <a:rPr dirty="0" sz="1050" spc="-65">
                <a:latin typeface="Palatino Linotype"/>
                <a:cs typeface="Palatino Linotype"/>
              </a:rPr>
              <a:t>sponding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150409" y="7731125"/>
            <a:ext cx="13487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Looping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Dictionaries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40" b="1">
                <a:latin typeface="Trebuchet MS"/>
                <a:cs typeface="Trebuchet MS"/>
              </a:rPr>
              <a:t>143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505459"/>
            <a:chOff x="914400" y="685800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944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811064"/>
            <a:ext cx="4572000" cy="397510"/>
            <a:chOff x="914400" y="2811064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81106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8126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4959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809919"/>
            <a:ext cx="4572000" cy="397510"/>
            <a:chOff x="914400" y="3809919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8099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8115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4947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633" y="728091"/>
            <a:ext cx="4598035" cy="662559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255270" marR="3254375" indent="-215900">
              <a:lnSpc>
                <a:spcPts val="850"/>
              </a:lnSpc>
              <a:spcBef>
                <a:spcPts val="27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b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a 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n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11</a:t>
            </a:r>
            <a:r>
              <a:rPr dirty="0" sz="1050" spc="-2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thing.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Lists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Dictionaries</a:t>
            </a:r>
            <a:endParaRPr sz="1900">
              <a:latin typeface="Trebuchet MS"/>
              <a:cs typeface="Trebuchet MS"/>
            </a:endParaRPr>
          </a:p>
          <a:p>
            <a:pPr algn="just" marL="12700" marR="7620">
              <a:lnSpc>
                <a:spcPct val="104700"/>
              </a:lnSpc>
              <a:spcBef>
                <a:spcPts val="480"/>
              </a:spcBef>
            </a:pP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ps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4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: 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'r'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'u'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's'</a:t>
            </a:r>
            <a:r>
              <a:rPr dirty="0" sz="850" spc="-10">
                <a:latin typeface="SimSun"/>
                <a:cs typeface="SimSun"/>
              </a:rPr>
              <a:t>]}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{4: ['r', 'o', 'u', </a:t>
            </a:r>
            <a:r>
              <a:rPr dirty="0" sz="850" spc="-10">
                <a:latin typeface="SimSun"/>
                <a:cs typeface="SimSun"/>
              </a:rPr>
              <a:t>'s']}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key.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try: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623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'abcd'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unhashable type: </a:t>
            </a:r>
            <a:r>
              <a:rPr dirty="0" sz="850" spc="-10">
                <a:latin typeface="SimSun"/>
                <a:cs typeface="SimSun"/>
              </a:rPr>
              <a:t>'list'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mentioned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earlier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 spc="-35">
                <a:latin typeface="Palatino Linotype"/>
                <a:cs typeface="Palatino Linotype"/>
              </a:rPr>
              <a:t>dictionaries</a:t>
            </a:r>
            <a:r>
              <a:rPr dirty="0" sz="1050" spc="-10">
                <a:latin typeface="Palatino Linotype"/>
                <a:cs typeface="Palatino Linotype"/>
              </a:rPr>
              <a:t> use </a:t>
            </a:r>
            <a:r>
              <a:rPr dirty="0" sz="1050" spc="-20">
                <a:latin typeface="Palatino Linotype"/>
                <a:cs typeface="Palatino Linotype"/>
              </a:rPr>
              <a:t>hash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tables,</a:t>
            </a:r>
            <a:r>
              <a:rPr dirty="0" sz="1050" spc="-10">
                <a:latin typeface="Palatino Linotype"/>
                <a:cs typeface="Palatino Linotype"/>
              </a:rPr>
              <a:t> and that </a:t>
            </a:r>
            <a:r>
              <a:rPr dirty="0" sz="1050" spc="-30">
                <a:latin typeface="Palatino Linotype"/>
                <a:cs typeface="Palatino Linotype"/>
              </a:rPr>
              <a:t>means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keys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hashable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ha</a:t>
            </a:r>
            <a:r>
              <a:rPr dirty="0" sz="1050" spc="-55" b="1">
                <a:latin typeface="Palatino Linotype"/>
                <a:cs typeface="Palatino Linotype"/>
              </a:rPr>
              <a:t>s</a:t>
            </a:r>
            <a:r>
              <a:rPr dirty="0" sz="1050" spc="-65" b="1">
                <a:latin typeface="Palatino Linotype"/>
                <a:cs typeface="Palatino Linotype"/>
              </a:rPr>
              <a:t>h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(of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kind)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Dictionar‐ </a:t>
            </a:r>
            <a:r>
              <a:rPr dirty="0" sz="1050" spc="-50">
                <a:latin typeface="Palatino Linotype"/>
                <a:cs typeface="Palatino Linotype"/>
              </a:rPr>
              <a:t>ies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tegers,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utable,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alw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same.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utable,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hash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change,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would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work. 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 spc="-5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</a:t>
            </a:r>
            <a:r>
              <a:rPr dirty="0" sz="1050" spc="-110">
                <a:latin typeface="Palatino Linotype"/>
                <a:cs typeface="Palatino Linotype"/>
              </a:rPr>
              <a:t>h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hashable,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</a:t>
            </a:r>
            <a:r>
              <a:rPr dirty="0" sz="1050" spc="-110">
                <a:latin typeface="Palatino Linotype"/>
                <a:cs typeface="Palatino Linotype"/>
              </a:rPr>
              <a:t>h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utable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Since</a:t>
            </a:r>
            <a:r>
              <a:rPr dirty="0" sz="1050" spc="-40">
                <a:latin typeface="Palatino Linotype"/>
                <a:cs typeface="Palatino Linotype"/>
              </a:rPr>
              <a:t> dictionaries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mutable,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either.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can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used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90" b="1">
                <a:latin typeface="Trebuchet MS"/>
                <a:cs typeface="Trebuchet MS"/>
              </a:rPr>
              <a:t>Accumulating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20" b="1">
                <a:latin typeface="Trebuchet MS"/>
                <a:cs typeface="Trebuchet MS"/>
              </a:rPr>
              <a:t>List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1600"/>
              </a:lnSpc>
              <a:spcBef>
                <a:spcPts val="515"/>
              </a:spcBef>
            </a:pPr>
            <a:r>
              <a:rPr dirty="0" sz="1050" spc="-35">
                <a:latin typeface="Palatino Linotype"/>
                <a:cs typeface="Palatino Linotype"/>
              </a:rPr>
              <a:t>For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tasks,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useful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or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while </a:t>
            </a:r>
            <a:r>
              <a:rPr dirty="0" sz="1050" spc="-35">
                <a:latin typeface="Palatino Linotype"/>
                <a:cs typeface="Palatino Linotype"/>
              </a:rPr>
              <a:t>building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another.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loop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through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word_dict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30">
                <a:latin typeface="Palatino Linotype"/>
                <a:cs typeface="Palatino Linotype"/>
              </a:rPr>
              <a:t>make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palindromes—</a:t>
            </a:r>
            <a:r>
              <a:rPr dirty="0" sz="1050" spc="-10">
                <a:latin typeface="Palatino Linotype"/>
                <a:cs typeface="Palatino Linotype"/>
              </a:rPr>
              <a:t>that </a:t>
            </a:r>
            <a:r>
              <a:rPr dirty="0" sz="1050">
                <a:latin typeface="Palatino Linotype"/>
                <a:cs typeface="Palatino Linotype"/>
              </a:rPr>
              <a:t>is,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backward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0">
                <a:latin typeface="Palatino Linotype"/>
                <a:cs typeface="Palatino Linotype"/>
              </a:rPr>
              <a:t>forward,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“noon”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“rotator.”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1656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144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505459"/>
            <a:chOff x="914400" y="1089574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98503"/>
            <a:ext cx="4572000" cy="937260"/>
            <a:chOff x="914400" y="2098503"/>
            <a:chExt cx="4572000" cy="9372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98503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1000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3231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655391"/>
            <a:ext cx="4572000" cy="937260"/>
            <a:chOff x="914400" y="4655391"/>
            <a:chExt cx="4572000" cy="9372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655391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6569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87998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50" y="650030"/>
            <a:ext cx="4598035" cy="664337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checks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reverse_word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is_palindrome(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if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palindrome."""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reverse_word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word_dict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palindromes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word_dict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30924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is_palindrome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 spc="-25">
                <a:solidFill>
                  <a:srgbClr val="52268E"/>
                </a:solidFill>
                <a:latin typeface="SimSun"/>
                <a:cs typeface="SimSun"/>
              </a:rPr>
              <a:t>+=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91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now,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familiar.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60"/>
              </a:spcBef>
              <a:buChar char="•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Before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initialized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increment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total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palindromes.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similar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pattern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palindromes: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palindromes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word_dict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82257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is_palindrome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palindromes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palindromes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['aa', 'aba', 'aga', 'aha', 'ala', 'alula', 'ama', 'ana', 'anna', </a:t>
            </a:r>
            <a:r>
              <a:rPr dirty="0" sz="850" spc="-10">
                <a:latin typeface="SimSun"/>
                <a:cs typeface="SimSun"/>
              </a:rPr>
              <a:t>'ava']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10">
                <a:latin typeface="Palatino Linotype"/>
                <a:cs typeface="Palatino Linotype"/>
              </a:rPr>
              <a:t>works: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60"/>
              </a:spcBef>
              <a:buChar char="•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Before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palindromes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initialized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append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palindromes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5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palindromes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palindromes.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10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palindromes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accumulator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collects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accumulates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computation.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48036" y="7731125"/>
            <a:ext cx="11512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Accumulating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45" b="1">
                <a:latin typeface="Trebuchet MS"/>
                <a:cs typeface="Trebuchet MS"/>
              </a:rPr>
              <a:t>List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25" b="1">
                <a:latin typeface="Trebuchet MS"/>
                <a:cs typeface="Trebuchet MS"/>
              </a:rPr>
              <a:t>145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937260"/>
            <a:chOff x="914400" y="1089574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3141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590759"/>
            <a:ext cx="4572000" cy="1045210"/>
            <a:chOff x="914400" y="3590759"/>
            <a:chExt cx="4572000" cy="10452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590759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5923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901662" y="650030"/>
            <a:ext cx="4598035" cy="440309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select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palindromes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palindromes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palindromes: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long_palindromes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palindromes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5527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long_palindromes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long_palindromes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['deified', 'halalah', 'reifier', 'repaper', 'reviver', 'rotator', </a:t>
            </a:r>
            <a:r>
              <a:rPr dirty="0" sz="850" spc="-10">
                <a:latin typeface="SimSun"/>
                <a:cs typeface="SimSun"/>
              </a:rPr>
              <a:t>'sememes']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Looping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omitting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called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" b="1">
                <a:latin typeface="Palatino Linotype"/>
                <a:cs typeface="Palatino Linotype"/>
              </a:rPr>
              <a:t>filtering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5" b="1">
                <a:latin typeface="Trebuchet MS"/>
                <a:cs typeface="Trebuchet MS"/>
              </a:rPr>
              <a:t>Memos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fibonacci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“Fibonacci”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84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maybe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noticed </a:t>
            </a:r>
            <a:r>
              <a:rPr dirty="0" sz="1050" spc="-55">
                <a:latin typeface="Palatino Linotype"/>
                <a:cs typeface="Palatino Linotype"/>
              </a:rPr>
              <a:t>th</a:t>
            </a:r>
            <a:r>
              <a:rPr dirty="0" sz="1050" spc="-55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bigger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run:</a:t>
            </a:r>
            <a:endParaRPr sz="1050">
              <a:latin typeface="Palatino Linotype"/>
              <a:cs typeface="Palatino Linotype"/>
            </a:endParaRPr>
          </a:p>
          <a:p>
            <a:pPr algn="ctr" marR="3592829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fibonacci(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854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algn="ctr" marR="3538854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ct val="100000"/>
              </a:lnSpc>
              <a:spcBef>
                <a:spcPts val="680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50">
                <a:latin typeface="Palatino Linotype"/>
                <a:cs typeface="Palatino Linotype"/>
              </a:rPr>
              <a:t>Furthermore,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increases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quickly.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understand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why,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follow‐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figure,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call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graph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fibonacci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n=3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400" y="5230611"/>
            <a:ext cx="3974078" cy="1576759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901731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146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392251"/>
            <a:ext cx="4572000" cy="1153160"/>
            <a:chOff x="914400" y="2392251"/>
            <a:chExt cx="4572000" cy="11531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392251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3938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901639" y="650030"/>
            <a:ext cx="4598035" cy="655828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graph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shows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frames,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lines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connecting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frames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functions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calls.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top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graph,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fibonacci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n=4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calls </a:t>
            </a:r>
            <a:r>
              <a:rPr dirty="0" sz="1000" spc="-20">
                <a:latin typeface="SimSun"/>
                <a:cs typeface="SimSun"/>
              </a:rPr>
              <a:t>fibonacci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n=3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n=2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turn,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fibonacci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n=3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fibonacci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n=2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n=1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55">
                <a:latin typeface="Palatino Linotype"/>
                <a:cs typeface="Palatino Linotype"/>
              </a:rPr>
              <a:t>Count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fibonacci(0)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fibonacci(1)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ineffi‐ </a:t>
            </a:r>
            <a:r>
              <a:rPr dirty="0" sz="1050" spc="-40">
                <a:latin typeface="Palatino Linotype"/>
                <a:cs typeface="Palatino Linotype"/>
              </a:rPr>
              <a:t>cient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bigger.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track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been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puted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storing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45" b="1">
                <a:latin typeface="Palatino Linotype"/>
                <a:cs typeface="Palatino Linotype"/>
              </a:rPr>
              <a:t>mo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50">
                <a:latin typeface="Palatino Linotype"/>
                <a:cs typeface="Palatino Linotype"/>
              </a:rPr>
              <a:t>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60">
                <a:latin typeface="Palatino Linotype"/>
                <a:cs typeface="Palatino Linotype"/>
              </a:rPr>
              <a:t>memoize</a:t>
            </a:r>
            <a:r>
              <a:rPr dirty="0" sz="1050" spc="-95">
                <a:latin typeface="Palatino Linotype"/>
                <a:cs typeface="Palatino Linotype"/>
              </a:rPr>
              <a:t>d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fibonacci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known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: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0">
                <a:latin typeface="SimSun"/>
                <a:cs typeface="SimSun"/>
              </a:rPr>
              <a:t>: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0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 algn="ctr" marR="3322954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fibonacci_memo(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322954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known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algn="ctr" marR="283718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known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17970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fibonacci_memo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fibonacci_memo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known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00" spc="-25">
                <a:latin typeface="SimSun"/>
                <a:cs typeface="SimSun"/>
              </a:rPr>
              <a:t>known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keeps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track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Fibonacci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know.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items: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0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0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1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55">
                <a:latin typeface="Palatino Linotype"/>
                <a:cs typeface="Palatino Linotype"/>
              </a:rPr>
              <a:t>Whenever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fibonacci_memo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checks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known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immediately.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Otherwise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65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add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dic‐ </a:t>
            </a:r>
            <a:r>
              <a:rPr dirty="0" sz="1050" spc="-55">
                <a:latin typeface="Palatino Linotype"/>
                <a:cs typeface="Palatino Linotype"/>
              </a:rPr>
              <a:t>tionary,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20">
                <a:latin typeface="Palatino Linotype"/>
                <a:cs typeface="Palatino Linotype"/>
              </a:rPr>
              <a:t>Comparing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two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functions,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fibonacci(40)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takes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about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30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seconds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run. </a:t>
            </a:r>
            <a:r>
              <a:rPr dirty="0" sz="1000" spc="-10">
                <a:latin typeface="SimSun"/>
                <a:cs typeface="SimSun"/>
              </a:rPr>
              <a:t>fibonacci_memo(40)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takes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30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microseconds,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it’s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million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faster.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notebook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measurements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bigger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datasets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become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unwieldy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printing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0">
                <a:latin typeface="Palatino Linotype"/>
                <a:cs typeface="Palatino Linotype"/>
              </a:rPr>
              <a:t>checking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output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suggestions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large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datasets: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25" i="1">
                <a:latin typeface="Palatino Linotype"/>
                <a:cs typeface="Palatino Linotype"/>
              </a:rPr>
              <a:t>Scale</a:t>
            </a:r>
            <a:r>
              <a:rPr dirty="0" sz="1050" spc="-3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down</a:t>
            </a:r>
            <a:r>
              <a:rPr dirty="0" sz="1050" spc="-3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the</a:t>
            </a:r>
            <a:r>
              <a:rPr dirty="0" sz="1050" spc="-3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input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reduce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size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taset.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just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10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lines,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smallest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find.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edit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(better)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endParaRPr sz="1050">
              <a:latin typeface="Palatino Linotype"/>
              <a:cs typeface="Palatino Linotype"/>
            </a:endParaRPr>
          </a:p>
          <a:p>
            <a:pPr algn="just" marL="241300">
              <a:lnSpc>
                <a:spcPct val="100000"/>
              </a:lnSpc>
              <a:spcBef>
                <a:spcPts val="60"/>
              </a:spcBef>
            </a:pP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lines.</a:t>
            </a:r>
            <a:endParaRPr sz="1050">
              <a:latin typeface="Palatino Linotype"/>
              <a:cs typeface="Palatino Linotype"/>
            </a:endParaRPr>
          </a:p>
          <a:p>
            <a:pPr algn="just" marL="240665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reduce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occurs.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increase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graduall</a:t>
            </a:r>
            <a:r>
              <a:rPr dirty="0" sz="1050" spc="-16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666165" y="7731125"/>
            <a:ext cx="833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147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9" y="650030"/>
            <a:ext cx="4598035" cy="6736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Check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summaries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20" i="1">
                <a:latin typeface="Palatino Linotype"/>
                <a:cs typeface="Palatino Linotype"/>
              </a:rPr>
              <a:t> types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Instead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tire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taset,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summaries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ta—for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items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total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umbers.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common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runtime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value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right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type.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error,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30" i="1">
                <a:latin typeface="Palatino Linotype"/>
                <a:cs typeface="Palatino Linotype"/>
              </a:rPr>
              <a:t>Write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self-</a:t>
            </a:r>
            <a:r>
              <a:rPr dirty="0" sz="1050" spc="-10" i="1">
                <a:latin typeface="Palatino Linotype"/>
                <a:cs typeface="Palatino Linotype"/>
              </a:rPr>
              <a:t>checks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Sometimes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automatically.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computing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average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greater</a:t>
            </a:r>
            <a:r>
              <a:rPr dirty="0" sz="1050" spc="-25">
                <a:latin typeface="Palatino Linotype"/>
                <a:cs typeface="Palatino Linotype"/>
              </a:rPr>
              <a:t> than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largest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less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smallest.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“sanity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check”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detects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“insane.”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check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compares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results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computations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see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consistent.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“consistency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check.”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Format</a:t>
            </a:r>
            <a:r>
              <a:rPr dirty="0" sz="1050" spc="-5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the</a:t>
            </a:r>
            <a:r>
              <a:rPr dirty="0" sz="1050" spc="-5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output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635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Formatting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output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make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easier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spot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55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“Debugging”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85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tool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might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useful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635">
              <a:lnSpc>
                <a:spcPct val="104700"/>
              </a:lnSpc>
            </a:pPr>
            <a:r>
              <a:rPr dirty="0" sz="1000" spc="-10">
                <a:latin typeface="SimSun"/>
                <a:cs typeface="SimSun"/>
              </a:rPr>
              <a:t>pprint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module,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pprint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displays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human-</a:t>
            </a:r>
            <a:r>
              <a:rPr dirty="0" sz="1050" spc="-50">
                <a:latin typeface="Palatino Linotype"/>
                <a:cs typeface="Palatino Linotype"/>
              </a:rPr>
              <a:t>readable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SimSun"/>
                <a:cs typeface="SimSun"/>
              </a:rPr>
              <a:t>pprint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stands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“pretty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print”).</a:t>
            </a:r>
            <a:endParaRPr sz="1050">
              <a:latin typeface="Palatino Linotype"/>
              <a:cs typeface="Palatino Linotype"/>
            </a:endParaRPr>
          </a:p>
          <a:p>
            <a:pPr marL="2413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Again,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spend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building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scaffolding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reduce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spend </a:t>
            </a:r>
            <a:r>
              <a:rPr dirty="0" sz="1050" spc="-10">
                <a:latin typeface="Palatino Linotype"/>
                <a:cs typeface="Palatino Linotype"/>
              </a:rPr>
              <a:t>debugging.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35" b="1">
                <a:latin typeface="Palatino Linotype"/>
                <a:cs typeface="Palatino Linotype"/>
              </a:rPr>
              <a:t>dictionary: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items.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item: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pair.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5" b="1">
                <a:latin typeface="Palatino Linotype"/>
                <a:cs typeface="Palatino Linotype"/>
              </a:rPr>
              <a:t>key: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pair.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value: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</a:t>
            </a:r>
            <a:r>
              <a:rPr dirty="0" sz="1050" spc="-45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pair.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specific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“value.”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mapping: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relationship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element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70" b="1">
                <a:latin typeface="Palatino Linotype"/>
                <a:cs typeface="Palatino Linotype"/>
              </a:rPr>
              <a:t>hash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table: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collection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pairs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organized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efficiently.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hashable:</a:t>
            </a:r>
            <a:r>
              <a:rPr dirty="0" sz="1050" spc="6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Immutable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types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integers,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floats,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hashable.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Mutable </a:t>
            </a:r>
            <a:r>
              <a:rPr dirty="0" sz="1050" spc="-75">
                <a:latin typeface="Palatino Linotype"/>
                <a:cs typeface="Palatino Linotype"/>
              </a:rPr>
              <a:t>types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hash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function: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used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locate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table.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678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148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5039886"/>
            <a:ext cx="4572000" cy="289560"/>
            <a:chOff x="914400" y="5039886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503988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50414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832915"/>
            <a:ext cx="4572000" cy="289560"/>
            <a:chOff x="914400" y="5832915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83291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83450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640981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6731354"/>
            <a:ext cx="4572000" cy="289560"/>
            <a:chOff x="914400" y="6731354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7313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7329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73082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12" y="573829"/>
            <a:ext cx="4598035" cy="664083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accumulator: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accumulate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filtering: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selecting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omitting</a:t>
            </a:r>
            <a:r>
              <a:rPr dirty="0" sz="1050" spc="-10">
                <a:latin typeface="Palatino Linotype"/>
                <a:cs typeface="Palatino Linotype"/>
              </a:rPr>
              <a:t> elements.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call</a:t>
            </a:r>
            <a:r>
              <a:rPr dirty="0" sz="1050" spc="-4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graph: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diagram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shows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during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execution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pro‐ </a:t>
            </a:r>
            <a:r>
              <a:rPr dirty="0" sz="1050" spc="-60">
                <a:latin typeface="Palatino Linotype"/>
                <a:cs typeface="Palatino Linotype"/>
              </a:rPr>
              <a:t>gram,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arrow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memo: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computed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avoid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unnecessary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future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computation.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hashable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85">
                <a:latin typeface="Palatino Linotype"/>
                <a:cs typeface="Palatino Linotype"/>
              </a:rPr>
              <a:t>gave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short </a:t>
            </a:r>
            <a:r>
              <a:rPr dirty="0" sz="1050" spc="-45">
                <a:latin typeface="Palatino Linotype"/>
                <a:cs typeface="Palatino Linotype"/>
              </a:rPr>
              <a:t>explanation.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details,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hashable?”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</a:t>
            </a:r>
            <a:r>
              <a:rPr dirty="0" sz="1050" spc="-3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The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3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in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Oper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a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tor”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efficie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</a:t>
            </a:r>
            <a:r>
              <a:rPr dirty="0" sz="1000" spc="-11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done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set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built-in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type.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 </a:t>
            </a:r>
            <a:r>
              <a:rPr dirty="0" sz="1050" spc="-70">
                <a:latin typeface="Palatino Linotype"/>
                <a:cs typeface="Palatino Linotype"/>
              </a:rPr>
              <a:t>“</a:t>
            </a:r>
            <a:r>
              <a:rPr dirty="0" sz="1050" spc="-145">
                <a:latin typeface="Palatino Linotype"/>
                <a:cs typeface="Palatino Linotype"/>
              </a:rPr>
              <a:t>H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set</a:t>
            </a:r>
            <a:r>
              <a:rPr dirty="0" sz="1050" spc="-40">
                <a:latin typeface="Palatino Linotype"/>
                <a:cs typeface="Palatino Linotype"/>
              </a:rPr>
              <a:t>?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05"/>
              </a:spcBef>
            </a:pPr>
            <a:r>
              <a:rPr dirty="0" sz="1050" spc="-35">
                <a:latin typeface="Palatino Linotype"/>
                <a:cs typeface="Palatino Linotype"/>
              </a:rPr>
              <a:t>Dictionaries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get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default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key </a:t>
            </a:r>
            <a:r>
              <a:rPr dirty="0" sz="1050" spc="-55">
                <a:latin typeface="Palatino Linotype"/>
                <a:cs typeface="Palatino Linotype"/>
              </a:rPr>
              <a:t>appears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get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corresponding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value;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otherwise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default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value.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here’s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maps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letters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appear: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'brontosaurus'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look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get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10">
                <a:latin typeface="Palatino Linotype"/>
                <a:cs typeface="Palatino Linotype"/>
              </a:rPr>
              <a:t>appears: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44990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149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492043"/>
            <a:ext cx="4572000" cy="1045210"/>
            <a:chOff x="914400" y="3492043"/>
            <a:chExt cx="4572000" cy="10452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492043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4936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357384"/>
            <a:ext cx="4572000" cy="397510"/>
            <a:chOff x="914400" y="5357384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35738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3589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5" y="657564"/>
            <a:ext cx="4598035" cy="623062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105">
                <a:latin typeface="Palatino Linotype"/>
                <a:cs typeface="Palatino Linotype"/>
              </a:rPr>
              <a:t>U</a:t>
            </a:r>
            <a:r>
              <a:rPr dirty="0" sz="1050" spc="-60">
                <a:latin typeface="Palatino Linotype"/>
                <a:cs typeface="Palatino Linotype"/>
              </a:rPr>
              <a:t>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get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value_counts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elim‐ </a:t>
            </a:r>
            <a:r>
              <a:rPr dirty="0" sz="1050" spc="-4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if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05"/>
              </a:spcBef>
            </a:pPr>
            <a:r>
              <a:rPr dirty="0" sz="1050" spc="-45">
                <a:latin typeface="Palatino Linotype"/>
                <a:cs typeface="Palatino Linotype"/>
              </a:rPr>
              <a:t>What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once?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Let’s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unpredictably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63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has_duplicates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sequence—like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string—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True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once.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3099"/>
              </a:lnSpc>
              <a:spcBef>
                <a:spcPts val="48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find_repeats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value_counts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y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 </a:t>
            </a:r>
            <a:r>
              <a:rPr dirty="0" sz="1050" spc="-45">
                <a:latin typeface="Palatino Linotype"/>
                <a:cs typeface="Palatino Linotype"/>
              </a:rPr>
              <a:t>outline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find_repeats(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"""Makes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list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keys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with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values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greater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than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1.</a:t>
            </a:r>
            <a:endParaRPr sz="850">
              <a:latin typeface="Courier New"/>
              <a:cs typeface="Courier New"/>
            </a:endParaRPr>
          </a:p>
          <a:p>
            <a:pPr marL="255270" marR="1689100">
              <a:lnSpc>
                <a:spcPct val="16670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counter: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dictionary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that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maps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from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keys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0" i="1">
                <a:solidFill>
                  <a:srgbClr val="7F2604"/>
                </a:solidFill>
                <a:latin typeface="Courier New"/>
                <a:cs typeface="Courier New"/>
              </a:rPr>
              <a:t>counts</a:t>
            </a:r>
            <a:r>
              <a:rPr dirty="0" sz="850" spc="-8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returns: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list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keys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value_counts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two </a:t>
            </a:r>
            <a:r>
              <a:rPr dirty="0" sz="1050" spc="-10">
                <a:latin typeface="Palatino Linotype"/>
                <a:cs typeface="Palatino Linotype"/>
              </a:rPr>
              <a:t>dictionaries: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447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'brontosaurus'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'apatosaurus'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1600"/>
              </a:lnSpc>
            </a:pP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ppea</a:t>
            </a:r>
            <a:r>
              <a:rPr dirty="0" sz="1050" spc="-12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add_counters</a:t>
            </a:r>
            <a:r>
              <a:rPr dirty="0" sz="1000" spc="-19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dictionaries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new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total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ways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solve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solution,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60">
                <a:latin typeface="Palatino Linotype"/>
                <a:cs typeface="Palatino Linotype"/>
              </a:rPr>
              <a:t>sider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solutions.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1674" y="7731125"/>
            <a:ext cx="1314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150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10: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Dictionaries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803668"/>
            <a:ext cx="4572000" cy="505459"/>
            <a:chOff x="914400" y="2803668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80366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8052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59646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238047"/>
            <a:ext cx="4572000" cy="397510"/>
            <a:chOff x="914400" y="4238047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23804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2396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92289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35" y="530706"/>
            <a:ext cx="4598035" cy="479488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59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terlockin</a:t>
            </a:r>
            <a:r>
              <a:rPr dirty="0" sz="1050" spc="-75">
                <a:latin typeface="Palatino Linotype"/>
                <a:cs typeface="Palatino Linotype"/>
              </a:rPr>
              <a:t>g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split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“</a:t>
            </a:r>
            <a:r>
              <a:rPr dirty="0" sz="1050" spc="-50">
                <a:latin typeface="Palatino Linotype"/>
                <a:cs typeface="Palatino Linotype"/>
              </a:rPr>
              <a:t>schoole</a:t>
            </a:r>
            <a:r>
              <a:rPr dirty="0" sz="1050" spc="-95">
                <a:latin typeface="Palatino Linotype"/>
                <a:cs typeface="Palatino Linotype"/>
              </a:rPr>
              <a:t>d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terlocking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split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“</a:t>
            </a:r>
            <a:r>
              <a:rPr dirty="0" sz="1050" spc="-55">
                <a:latin typeface="Palatino Linotype"/>
                <a:cs typeface="Palatino Linotype"/>
              </a:rPr>
              <a:t>sho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80">
                <a:latin typeface="Palatino Linotype"/>
                <a:cs typeface="Palatino Linotype"/>
              </a:rPr>
              <a:t>”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50">
                <a:latin typeface="Palatino Linotype"/>
                <a:cs typeface="Palatino Linotype"/>
              </a:rPr>
              <a:t>cold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select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slice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com‐ </a:t>
            </a:r>
            <a:r>
              <a:rPr dirty="0" sz="1050" spc="-50">
                <a:latin typeface="Palatino Linotype"/>
                <a:cs typeface="Palatino Linotype"/>
              </a:rPr>
              <a:t>pone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</a:t>
            </a:r>
            <a:r>
              <a:rPr dirty="0" sz="1050" spc="-100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“</a:t>
            </a:r>
            <a:r>
              <a:rPr dirty="0" sz="1050" spc="-55">
                <a:latin typeface="Palatino Linotype"/>
                <a:cs typeface="Palatino Linotype"/>
              </a:rPr>
              <a:t>step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siz</a:t>
            </a:r>
            <a:r>
              <a:rPr dirty="0" sz="1050" spc="-130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62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slice,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first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component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0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first </a:t>
            </a:r>
            <a:r>
              <a:rPr dirty="0" sz="1050" spc="-35">
                <a:latin typeface="Palatino Linotype"/>
                <a:cs typeface="Palatino Linotype"/>
              </a:rPr>
              <a:t>letter.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component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None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way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string.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third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component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2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steps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between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we </a:t>
            </a:r>
            <a:r>
              <a:rPr dirty="0" sz="1050" spc="-10">
                <a:latin typeface="Palatino Linotype"/>
                <a:cs typeface="Palatino Linotype"/>
              </a:rPr>
              <a:t>select: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623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'schooled'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35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35">
                <a:latin typeface="SimSun"/>
                <a:cs typeface="SimSun"/>
              </a:rPr>
              <a:t>[</a:t>
            </a:r>
            <a:r>
              <a:rPr dirty="0" sz="850" spc="-3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35">
                <a:latin typeface="SimSun"/>
                <a:cs typeface="SimSun"/>
              </a:rPr>
              <a:t>:</a:t>
            </a:r>
            <a:r>
              <a:rPr dirty="0" sz="850" spc="-35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35">
                <a:latin typeface="SimSun"/>
                <a:cs typeface="SimSun"/>
              </a:rPr>
              <a:t>:</a:t>
            </a:r>
            <a:r>
              <a:rPr dirty="0" sz="850" spc="-3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35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'shoe'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Instead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None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component,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can </a:t>
            </a:r>
            <a:r>
              <a:rPr dirty="0" sz="1050" spc="-1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 </a:t>
            </a:r>
            <a:r>
              <a:rPr dirty="0" sz="1050" spc="-50">
                <a:latin typeface="Palatino Linotype"/>
                <a:cs typeface="Palatino Linotype"/>
              </a:rPr>
              <a:t>leaving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altogether.</a:t>
            </a:r>
            <a:r>
              <a:rPr dirty="0" sz="1050">
                <a:latin typeface="Palatino Linotype"/>
                <a:cs typeface="Palatino Linotype"/>
              </a:rPr>
              <a:t> 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slice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selects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alternating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letters, </a:t>
            </a:r>
            <a:r>
              <a:rPr dirty="0" sz="1050" spc="-45">
                <a:latin typeface="Palatino Linotype"/>
                <a:cs typeface="Palatino Linotype"/>
              </a:rPr>
              <a:t>starting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letter: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242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::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'cold'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Write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is_interlocking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word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argument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split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interlocking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45046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151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940659"/>
            <a:ext cx="4572000" cy="397510"/>
            <a:chOff x="914400" y="5940659"/>
            <a:chExt cx="4572000" cy="3975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94065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9422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914400" y="66255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11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4787931" y="1212513"/>
            <a:ext cx="71120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400"/>
              <a:t>Tuples</a:t>
            </a:r>
          </a:p>
        </p:txBody>
      </p:sp>
      <p:sp>
        <p:nvSpPr>
          <p:cNvPr id="9" name="object 9" descr=""/>
          <p:cNvSpPr txBox="1"/>
          <p:nvPr/>
        </p:nvSpPr>
        <p:spPr>
          <a:xfrm>
            <a:off x="901643" y="3044843"/>
            <a:ext cx="4598035" cy="3487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introduces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type,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lists, </a:t>
            </a:r>
            <a:r>
              <a:rPr dirty="0" sz="1050" spc="-40">
                <a:latin typeface="Palatino Linotype"/>
                <a:cs typeface="Palatino Linotype"/>
              </a:rPr>
              <a:t>dictionaries,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tuples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together.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useful </a:t>
            </a:r>
            <a:r>
              <a:rPr dirty="0" sz="1050" spc="-55">
                <a:latin typeface="Palatino Linotype"/>
                <a:cs typeface="Palatino Linotype"/>
              </a:rPr>
              <a:t>feature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variable-</a:t>
            </a:r>
            <a:r>
              <a:rPr dirty="0" sz="1050" spc="-40">
                <a:latin typeface="Palatino Linotype"/>
                <a:cs typeface="Palatino Linotype"/>
              </a:rPr>
              <a:t>length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lists: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packing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unpacking </a:t>
            </a:r>
            <a:r>
              <a:rPr dirty="0" sz="1050" spc="-10">
                <a:latin typeface="Palatino Linotype"/>
                <a:cs typeface="Palatino Linotype"/>
              </a:rPr>
              <a:t>operators.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along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dictionaries,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65">
                <a:latin typeface="Palatino Linotype"/>
                <a:cs typeface="Palatino Linotype"/>
              </a:rPr>
              <a:t>solve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 </a:t>
            </a:r>
            <a:r>
              <a:rPr dirty="0" sz="1050" spc="-75">
                <a:latin typeface="Palatino Linotype"/>
                <a:cs typeface="Palatino Linotype"/>
              </a:rPr>
              <a:t>puzzles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implement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efficient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algorithms.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-30">
                <a:latin typeface="Palatino Linotype"/>
                <a:cs typeface="Palatino Linotype"/>
              </a:rPr>
              <a:t> note: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ways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pronounce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“tuple.”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people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say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“tuh-</a:t>
            </a:r>
            <a:r>
              <a:rPr dirty="0" sz="1050" spc="-85">
                <a:latin typeface="Palatino Linotype"/>
                <a:cs typeface="Palatino Linotype"/>
              </a:rPr>
              <a:t>ple,”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 </a:t>
            </a:r>
            <a:r>
              <a:rPr dirty="0" sz="1050" spc="-70">
                <a:latin typeface="Palatino Linotype"/>
                <a:cs typeface="Palatino Linotype"/>
              </a:rPr>
              <a:t>rhymes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“supple.”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people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say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“too-</a:t>
            </a:r>
            <a:r>
              <a:rPr dirty="0" sz="1050" spc="-45">
                <a:latin typeface="Palatino Linotype"/>
                <a:cs typeface="Palatino Linotype"/>
              </a:rPr>
              <a:t>ple,”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rhymes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“quadruple.”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Tuples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Are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Like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55" b="1">
                <a:latin typeface="Trebuchet MS"/>
                <a:cs typeface="Trebuchet MS"/>
              </a:rPr>
              <a:t>Lists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tuple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 </a:t>
            </a:r>
            <a:r>
              <a:rPr dirty="0" sz="1050" spc="-75">
                <a:latin typeface="Palatino Linotype"/>
                <a:cs typeface="Palatino Linotype"/>
              </a:rPr>
              <a:t>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 </a:t>
            </a:r>
            <a:r>
              <a:rPr dirty="0" sz="1050" spc="-30">
                <a:latin typeface="Palatino Linotype"/>
                <a:cs typeface="Palatino Linotype"/>
              </a:rPr>
              <a:t>integers,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tuples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lists.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important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difference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tuples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10">
                <a:latin typeface="Palatino Linotype"/>
                <a:cs typeface="Palatino Linotype"/>
              </a:rPr>
              <a:t>immutable.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comma-</a:t>
            </a:r>
            <a:r>
              <a:rPr dirty="0" sz="1050" spc="-55">
                <a:latin typeface="Palatino Linotype"/>
                <a:cs typeface="Palatino Linotype"/>
              </a:rPr>
              <a:t>separated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'l'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'u'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'n'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tuple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333791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153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397510"/>
            <a:chOff x="914400" y="92201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068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20875"/>
            <a:ext cx="4572000" cy="397510"/>
            <a:chOff x="914400" y="192087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2087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224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6057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919729"/>
            <a:ext cx="4572000" cy="397510"/>
            <a:chOff x="914400" y="2919729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91972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9213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60457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086138"/>
            <a:ext cx="4572000" cy="397510"/>
            <a:chOff x="914400" y="4086138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08613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0877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770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245013"/>
            <a:ext cx="4572000" cy="397510"/>
            <a:chOff x="914400" y="5245013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24501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2466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92986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807663"/>
            <a:ext cx="4572000" cy="289560"/>
            <a:chOff x="914400" y="6807663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80766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8092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73845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51" y="650030"/>
            <a:ext cx="4598035" cy="6641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latin typeface="Palatino Linotype"/>
                <a:cs typeface="Palatino Linotype"/>
              </a:rPr>
              <a:t>Although</a:t>
            </a:r>
            <a:r>
              <a:rPr dirty="0" sz="1050" spc="-20">
                <a:latin typeface="Palatino Linotype"/>
                <a:cs typeface="Palatino Linotype"/>
              </a:rPr>
              <a:t> 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necessary,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enclose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parentheses: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'l'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'u'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'n'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tuple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comma: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'p'</a:t>
            </a:r>
            <a:r>
              <a:rPr dirty="0" sz="850" spc="-20">
                <a:latin typeface="SimSun"/>
                <a:cs typeface="SimSun"/>
              </a:rPr>
              <a:t>,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tuple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parentheses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str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create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tuple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9560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(string,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list,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tuple),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ele‐ </a:t>
            </a:r>
            <a:r>
              <a:rPr dirty="0" sz="1050" spc="-55">
                <a:latin typeface="Palatino Linotype"/>
                <a:cs typeface="Palatino Linotype"/>
              </a:rPr>
              <a:t>ments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sequence: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'lupin'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('l', 'u', 'p', 'i', </a:t>
            </a:r>
            <a:r>
              <a:rPr dirty="0" sz="850" spc="-20">
                <a:latin typeface="SimSun"/>
                <a:cs typeface="SimSun"/>
              </a:rPr>
              <a:t>'n')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tuple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avoid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vari‐ </a:t>
            </a:r>
            <a:r>
              <a:rPr dirty="0" sz="1050" spc="-60">
                <a:latin typeface="Palatino Linotype"/>
                <a:cs typeface="Palatino Linotype"/>
              </a:rPr>
              <a:t>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Most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tuples.</a:t>
            </a:r>
            <a:r>
              <a:rPr dirty="0" sz="1050" spc="-10">
                <a:latin typeface="Palatino Linotype"/>
                <a:cs typeface="Palatino Linotype"/>
              </a:rPr>
              <a:t> For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bracket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indexes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20">
                <a:latin typeface="SimSun"/>
                <a:cs typeface="SimSun"/>
              </a:rPr>
              <a:t>[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'l'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1754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154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20459"/>
            <a:ext cx="4572000" cy="289560"/>
            <a:chOff x="914400" y="1820459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204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220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3973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718898"/>
            <a:ext cx="4572000" cy="289560"/>
            <a:chOff x="914400" y="271889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71889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7204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2957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3617337"/>
            <a:ext cx="4572000" cy="289560"/>
            <a:chOff x="914400" y="3617337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361733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36189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1942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4515776"/>
            <a:ext cx="4572000" cy="289560"/>
            <a:chOff x="914400" y="4515776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451577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45173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09267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5414215"/>
            <a:ext cx="4572000" cy="289560"/>
            <a:chOff x="914400" y="5414215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541421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541580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599111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" name="object 26" descr=""/>
          <p:cNvGrpSpPr/>
          <p:nvPr/>
        </p:nvGrpSpPr>
        <p:grpSpPr>
          <a:xfrm>
            <a:off x="914400" y="6947659"/>
            <a:ext cx="4572000" cy="289560"/>
            <a:chOff x="914400" y="6947659"/>
            <a:chExt cx="4572000" cy="289560"/>
          </a:xfrm>
        </p:grpSpPr>
        <p:sp>
          <p:nvSpPr>
            <p:cNvPr id="27" name="object 27" descr=""/>
            <p:cNvSpPr/>
            <p:nvPr/>
          </p:nvSpPr>
          <p:spPr>
            <a:xfrm>
              <a:off x="914400" y="69476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914400" y="69492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/>
          <p:nvPr/>
        </p:nvSpPr>
        <p:spPr>
          <a:xfrm>
            <a:off x="914400" y="75245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901643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latin typeface="SimSun"/>
                <a:cs typeface="SimSun"/>
              </a:rPr>
              <a:t>('u', </a:t>
            </a:r>
            <a:r>
              <a:rPr dirty="0" sz="850" spc="-20">
                <a:latin typeface="SimSun"/>
                <a:cs typeface="SimSun"/>
              </a:rPr>
              <a:t>'p')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+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concatenates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tuples:</a:t>
            </a:r>
            <a:endParaRPr sz="1050">
              <a:latin typeface="Palatino Linotype"/>
              <a:cs typeface="Palatino Linotype"/>
            </a:endParaRPr>
          </a:p>
          <a:p>
            <a:pPr marL="39370" marR="3200400">
              <a:lnSpc>
                <a:spcPts val="2250"/>
              </a:lnSpc>
              <a:spcBef>
                <a:spcPts val="26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'lup'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'n'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('l', 'u', 'p', 'i', </a:t>
            </a:r>
            <a:r>
              <a:rPr dirty="0" sz="850" spc="-20">
                <a:latin typeface="SimSun"/>
                <a:cs typeface="SimSun"/>
              </a:rPr>
              <a:t>'n')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*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'spam'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('s', 'p', 'a', 'm', 's', 'p', 'a', </a:t>
            </a:r>
            <a:r>
              <a:rPr dirty="0" sz="850" spc="-20">
                <a:latin typeface="SimSun"/>
                <a:cs typeface="SimSun"/>
              </a:rPr>
              <a:t>'m')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sorted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tuples—</a:t>
            </a:r>
            <a:r>
              <a:rPr dirty="0" sz="1050" spc="-6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['i', 'l', 'n', 'p', </a:t>
            </a:r>
            <a:r>
              <a:rPr dirty="0" sz="850" spc="-20">
                <a:latin typeface="SimSun"/>
                <a:cs typeface="SimSun"/>
              </a:rPr>
              <a:t>'u']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reversed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&lt;reversed at </a:t>
            </a:r>
            <a:r>
              <a:rPr dirty="0" sz="850" spc="-10">
                <a:latin typeface="SimSun"/>
                <a:cs typeface="SimSun"/>
              </a:rPr>
              <a:t>0x7f56c0072110&gt;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reversed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reversed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('n', 'i', 'p', 'u', </a:t>
            </a:r>
            <a:r>
              <a:rPr dirty="0" sz="850" spc="-20">
                <a:latin typeface="SimSun"/>
                <a:cs typeface="SimSun"/>
              </a:rPr>
              <a:t>'l')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Based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far,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seem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5" b="1">
                <a:latin typeface="Trebuchet MS"/>
                <a:cs typeface="Trebuchet MS"/>
              </a:rPr>
              <a:t>But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Tuples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Are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Immutable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modify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operator,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'L'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'tuple' object does not support item </a:t>
            </a:r>
            <a:r>
              <a:rPr dirty="0" sz="850" spc="-10">
                <a:latin typeface="SimSun"/>
                <a:cs typeface="SimSun"/>
              </a:rPr>
              <a:t>assignment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algn="r" marR="5080">
              <a:lnSpc>
                <a:spcPct val="100000"/>
              </a:lnSpc>
              <a:spcBef>
                <a:spcPts val="515"/>
              </a:spcBef>
            </a:pPr>
            <a:r>
              <a:rPr dirty="0" sz="900" spc="-135" b="1">
                <a:latin typeface="Trebuchet MS"/>
                <a:cs typeface="Trebuchet MS"/>
              </a:rPr>
              <a:t>But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50" b="1">
                <a:latin typeface="Trebuchet MS"/>
                <a:cs typeface="Trebuchet MS"/>
              </a:rPr>
              <a:t>Tuples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5" b="1">
                <a:latin typeface="Trebuchet MS"/>
                <a:cs typeface="Trebuchet MS"/>
              </a:rPr>
              <a:t>Are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Immutable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25" b="1">
                <a:latin typeface="Trebuchet MS"/>
                <a:cs typeface="Trebuchet MS"/>
              </a:rPr>
              <a:t>155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544273"/>
            <a:ext cx="4572000" cy="505459"/>
            <a:chOff x="914400" y="2544273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54427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5458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385648"/>
            <a:ext cx="4572000" cy="289560"/>
            <a:chOff x="914400" y="338564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38564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3872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96254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276553"/>
            <a:ext cx="4572000" cy="397510"/>
            <a:chOff x="914400" y="4276553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27655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2781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96140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275408"/>
            <a:ext cx="4572000" cy="613410"/>
            <a:chOff x="914400" y="5275408"/>
            <a:chExt cx="4572000" cy="6134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27540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27699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1761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7048968"/>
            <a:ext cx="4572000" cy="289560"/>
            <a:chOff x="914400" y="7048968"/>
            <a:chExt cx="4572000" cy="28956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704896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70505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901663" y="657564"/>
            <a:ext cx="4598035" cy="65887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append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remove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'l'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AttributeError: 'tuple' object has no attribute </a:t>
            </a:r>
            <a:r>
              <a:rPr dirty="0" sz="850" spc="-10">
                <a:latin typeface="SimSun"/>
                <a:cs typeface="SimSun"/>
              </a:rPr>
              <a:t>'remove'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50">
                <a:latin typeface="Palatino Linotype"/>
                <a:cs typeface="Palatino Linotype"/>
              </a:rPr>
              <a:t>Recall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80">
                <a:latin typeface="Palatino Linotype"/>
                <a:cs typeface="Palatino Linotype"/>
              </a:rPr>
              <a:t>“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</a:t>
            </a:r>
            <a:r>
              <a:rPr dirty="0" sz="1050" spc="-110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associ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object—this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remove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">
                <a:latin typeface="Palatino Linotype"/>
                <a:cs typeface="Palatino Linotype"/>
              </a:rPr>
              <a:t>B</a:t>
            </a:r>
            <a:r>
              <a:rPr dirty="0" sz="1050" spc="-50">
                <a:latin typeface="Palatino Linotype"/>
                <a:cs typeface="Palatino Linotype"/>
              </a:rPr>
              <a:t>ec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utable,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hashable,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keys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tegers: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key: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20">
                <a:latin typeface="SimSun"/>
                <a:cs typeface="SimSun"/>
              </a:rPr>
              <a:t>[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7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5">
                <a:latin typeface="Palatino Linotype"/>
                <a:cs typeface="Palatino Linotype"/>
              </a:rPr>
              <a:t>Tuples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dictionary: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861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 marR="40100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25">
                <a:latin typeface="SimSun"/>
                <a:cs typeface="SimSun"/>
              </a:rPr>
              <a:t>}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{('a', 'b', 'c'): [1, 2, </a:t>
            </a:r>
            <a:r>
              <a:rPr dirty="0" sz="850" spc="-25">
                <a:latin typeface="SimSun"/>
                <a:cs typeface="SimSun"/>
              </a:rPr>
              <a:t>3]}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325" b="1">
                <a:latin typeface="Trebuchet MS"/>
                <a:cs typeface="Trebuchet MS"/>
              </a:rPr>
              <a:t>Tuple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Assignment</a:t>
            </a:r>
            <a:endParaRPr sz="1900">
              <a:latin typeface="Trebuchet MS"/>
              <a:cs typeface="Trebuchet MS"/>
            </a:endParaRPr>
          </a:p>
          <a:p>
            <a:pPr algn="just" marL="12700" marR="5715">
              <a:lnSpc>
                <a:spcPct val="100000"/>
              </a:lnSpc>
              <a:spcBef>
                <a:spcPts val="540"/>
              </a:spcBef>
            </a:pP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left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1738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156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08053"/>
            <a:ext cx="4572000" cy="397510"/>
            <a:chOff x="914400" y="2308053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0805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096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216567"/>
            <a:ext cx="4572000" cy="289560"/>
            <a:chOff x="914400" y="3216567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21656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2181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79346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275025"/>
            <a:ext cx="4572000" cy="289560"/>
            <a:chOff x="914400" y="4275025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27502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27661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85192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325950"/>
            <a:ext cx="4572000" cy="505459"/>
            <a:chOff x="914400" y="5325950"/>
            <a:chExt cx="4572000" cy="505459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32595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3275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914400" y="6327345"/>
            <a:ext cx="4572000" cy="289560"/>
            <a:chOff x="914400" y="6327345"/>
            <a:chExt cx="4572000" cy="28956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632734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63289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901633" y="657564"/>
            <a:ext cx="4598035" cy="636905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8890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left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right—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25">
                <a:latin typeface="Palatino Linotype"/>
                <a:cs typeface="Palatino Linotype"/>
              </a:rPr>
              <a:t> the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2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 marR="42259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left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right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any </a:t>
            </a:r>
            <a:r>
              <a:rPr dirty="0" sz="1050" spc="-40">
                <a:latin typeface="Palatino Linotype"/>
                <a:cs typeface="Palatino Linotype"/>
              </a:rPr>
              <a:t>kind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sequence—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tuple.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split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email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address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0">
                <a:latin typeface="Palatino Linotype"/>
                <a:cs typeface="Palatino Linotype"/>
              </a:rPr>
              <a:t>username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domain,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write: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6606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email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'monty@python.org'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username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domain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email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'@'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split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elements—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assigned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username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domain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3083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username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domain </a:t>
            </a:r>
            <a:r>
              <a:rPr dirty="0" sz="850">
                <a:latin typeface="SimSun"/>
                <a:cs typeface="SimSun"/>
              </a:rPr>
              <a:t>('monty', </a:t>
            </a:r>
            <a:r>
              <a:rPr dirty="0" sz="850" spc="-10">
                <a:latin typeface="SimSun"/>
                <a:cs typeface="SimSun"/>
              </a:rPr>
              <a:t>'python.org')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SimSun"/>
              <a:cs typeface="SimSun"/>
            </a:endParaRPr>
          </a:p>
          <a:p>
            <a:pPr marL="12700" marR="5080" indent="-635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10">
                <a:latin typeface="Palatino Linotype"/>
                <a:cs typeface="Palatino Linotype"/>
              </a:rPr>
              <a:t> 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left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same—</a:t>
            </a:r>
            <a:r>
              <a:rPr dirty="0" sz="1050" spc="-55">
                <a:latin typeface="Palatino Linotype"/>
                <a:cs typeface="Palatino Linotype"/>
              </a:rPr>
              <a:t>otherwise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ValueError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ValueError: too many values to unpack (expected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Tuple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110">
                <a:latin typeface="Palatino Linotype"/>
                <a:cs typeface="Palatino Linotype"/>
              </a:rPr>
              <a:t>swap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55">
                <a:latin typeface="Palatino Linotype"/>
                <a:cs typeface="Palatino Linotype"/>
              </a:rPr>
              <a:t>ventional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temporary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1179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temp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temp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 spc="-5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pora</a:t>
            </a:r>
            <a:r>
              <a:rPr dirty="0" sz="1050" spc="-10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y </a:t>
            </a:r>
            <a:r>
              <a:rPr dirty="0" sz="1050" spc="-55">
                <a:latin typeface="Palatino Linotype"/>
                <a:cs typeface="Palatino Linotype"/>
              </a:rPr>
              <a:t>variable: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because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right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evaluated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before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any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assignments.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08376" y="7731125"/>
            <a:ext cx="10909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5" b="1">
                <a:latin typeface="Trebuchet MS"/>
                <a:cs typeface="Trebuchet MS"/>
              </a:rPr>
              <a:t>Tuple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Assignment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157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721360"/>
            <a:chOff x="914400" y="1097108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2137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931537"/>
            <a:ext cx="4572000" cy="397510"/>
            <a:chOff x="914400" y="2931537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93153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9331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7243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739804"/>
            <a:ext cx="4572000" cy="289560"/>
            <a:chOff x="914400" y="5739804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73980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7413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63167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6630709"/>
            <a:ext cx="4572000" cy="397510"/>
            <a:chOff x="914400" y="6630709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663070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66322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73155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01641" y="657564"/>
            <a:ext cx="4598035" cy="65646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-40">
                <a:latin typeface="Palatino Linotype"/>
                <a:cs typeface="Palatino Linotype"/>
              </a:rPr>
              <a:t> 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assignment</a:t>
            </a:r>
            <a:r>
              <a:rPr dirty="0" sz="1050">
                <a:latin typeface="Palatino Linotype"/>
                <a:cs typeface="Palatino Linotype"/>
              </a:rPr>
              <a:t> in a </a:t>
            </a:r>
            <a:r>
              <a:rPr dirty="0" sz="1000" spc="-35">
                <a:latin typeface="SimSun"/>
                <a:cs typeface="SimSun"/>
              </a:rPr>
              <a:t>for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statement.</a:t>
            </a:r>
            <a:r>
              <a:rPr dirty="0" sz="1050">
                <a:latin typeface="Palatino Linotype"/>
                <a:cs typeface="Palatino Linotype"/>
              </a:rPr>
              <a:t> For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25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through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items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'one'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'two'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33623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item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'-&gt;'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one -&gt;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two -&gt;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item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cor‐ </a:t>
            </a:r>
            <a:r>
              <a:rPr dirty="0" sz="1050" spc="-60">
                <a:latin typeface="Palatino Linotype"/>
                <a:cs typeface="Palatino Linotype"/>
              </a:rPr>
              <a:t>responding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concisely,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038475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():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'-&gt;'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one -&gt;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two -&gt;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40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loop,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corresponding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directly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key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Tuples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60" b="1">
                <a:latin typeface="Trebuchet MS"/>
                <a:cs typeface="Trebuchet MS"/>
              </a:rPr>
              <a:t>as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Return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Values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3099"/>
              </a:lnSpc>
              <a:spcBef>
                <a:spcPts val="500"/>
              </a:spcBef>
            </a:pPr>
            <a:r>
              <a:rPr dirty="0" sz="1050" spc="-40">
                <a:latin typeface="Palatino Linotype"/>
                <a:cs typeface="Palatino Linotype"/>
              </a:rPr>
              <a:t>Strictly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speaking,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effect</a:t>
            </a:r>
            <a:r>
              <a:rPr dirty="0" sz="1050" spc="-30">
                <a:latin typeface="Palatino Linotype"/>
                <a:cs typeface="Palatino Linotype"/>
              </a:rPr>
              <a:t> 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multiple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divide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two </a:t>
            </a:r>
            <a:r>
              <a:rPr dirty="0" sz="1050" spc="-40">
                <a:latin typeface="Palatino Linotype"/>
                <a:cs typeface="Palatino Linotype"/>
              </a:rPr>
              <a:t>i</a:t>
            </a:r>
            <a:r>
              <a:rPr dirty="0" sz="1050" spc="-40">
                <a:latin typeface="Palatino Linotype"/>
                <a:cs typeface="Palatino Linotype"/>
              </a:rPr>
              <a:t>ntegers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quotient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remainder,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30">
                <a:latin typeface="Palatino Linotype"/>
                <a:cs typeface="Palatino Linotype"/>
              </a:rPr>
              <a:t>inefficient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x//y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x%y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better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time.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divmod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5">
                <a:latin typeface="Palatino Linotype"/>
                <a:cs typeface="Palatino Linotype"/>
              </a:rPr>
              <a:t>tuple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values, 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quotient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remainder: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1)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variables: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146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quotient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remainder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quotient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724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158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576705"/>
            <a:ext cx="4572000" cy="397510"/>
            <a:chOff x="914400" y="157670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57670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5782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2485218"/>
            <a:ext cx="4572000" cy="289560"/>
            <a:chOff x="914400" y="248521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48521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4868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0621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3376123"/>
            <a:ext cx="4572000" cy="397510"/>
            <a:chOff x="914400" y="3376123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337612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33777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06097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261357"/>
            <a:ext cx="4572000" cy="397510"/>
            <a:chOff x="914400" y="5261357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26135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2629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914400" y="6162336"/>
            <a:ext cx="4572000" cy="289560"/>
            <a:chOff x="914400" y="6162336"/>
            <a:chExt cx="4572000" cy="28956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616233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616392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914400" y="673923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901635" y="728091"/>
            <a:ext cx="4598035" cy="65665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remainder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min_max(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min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latin typeface="SimSun"/>
                <a:cs typeface="SimSun"/>
              </a:rPr>
              <a:t>),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max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00">
                <a:latin typeface="SimSun"/>
                <a:cs typeface="SimSun"/>
              </a:rPr>
              <a:t>max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min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largest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smallest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elements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sequence.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min_max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min_max</a:t>
            </a:r>
            <a:r>
              <a:rPr dirty="0" sz="850">
                <a:latin typeface="SimSun"/>
                <a:cs typeface="SimSun"/>
              </a:rPr>
              <a:t>([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4)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low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high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min_max</a:t>
            </a:r>
            <a:r>
              <a:rPr dirty="0" sz="850">
                <a:latin typeface="SimSun"/>
                <a:cs typeface="SimSun"/>
              </a:rPr>
              <a:t>([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low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high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4)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305" b="1">
                <a:latin typeface="Trebuchet MS"/>
                <a:cs typeface="Trebuchet MS"/>
              </a:rPr>
              <a:t>Argument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Packing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1600"/>
              </a:lnSpc>
              <a:spcBef>
                <a:spcPts val="520"/>
              </a:spcBef>
            </a:pPr>
            <a:r>
              <a:rPr dirty="0" sz="1050" spc="-55">
                <a:latin typeface="Palatino Linotype"/>
                <a:cs typeface="Palatino Linotype"/>
              </a:rPr>
              <a:t>F</a:t>
            </a:r>
            <a:r>
              <a:rPr dirty="0" sz="1050" spc="-40">
                <a:latin typeface="Palatino Linotype"/>
                <a:cs typeface="Palatino Linotype"/>
              </a:rPr>
              <a:t>unctions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begins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*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p</a:t>
            </a:r>
            <a:r>
              <a:rPr dirty="0" sz="1050" spc="-60" b="1">
                <a:latin typeface="Palatino Linotype"/>
                <a:cs typeface="Palatino Linotype"/>
              </a:rPr>
              <a:t>acks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tuple.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putes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mean—th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their </a:t>
            </a:r>
            <a:r>
              <a:rPr dirty="0" sz="1050" spc="-70">
                <a:latin typeface="Palatino Linotype"/>
                <a:cs typeface="Palatino Linotype"/>
              </a:rPr>
              <a:t>sum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divided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mean(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args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conventional.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2.0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multiple </a:t>
            </a:r>
            <a:r>
              <a:rPr dirty="0" sz="1050" spc="-40">
                <a:latin typeface="Palatino Linotype"/>
                <a:cs typeface="Palatino Linotype"/>
              </a:rPr>
              <a:t>argume</a:t>
            </a:r>
            <a:r>
              <a:rPr dirty="0" sz="1050" spc="-40">
                <a:latin typeface="Palatino Linotype"/>
                <a:cs typeface="Palatino Linotype"/>
              </a:rPr>
              <a:t>nts,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*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unpack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tuple.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divmod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exactly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arguments—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parameter,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385252" y="7731125"/>
            <a:ext cx="11144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Argument</a:t>
            </a:r>
            <a:r>
              <a:rPr dirty="0" sz="900" spc="-14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Packing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159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397510"/>
            <a:chOff x="914400" y="68580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37064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44675"/>
            <a:ext cx="4572000" cy="289560"/>
            <a:chOff x="914400" y="184467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446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462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42157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055620"/>
            <a:ext cx="4572000" cy="829310"/>
            <a:chOff x="914400" y="3055620"/>
            <a:chExt cx="4572000" cy="8293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055620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0572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4799707"/>
            <a:ext cx="4572000" cy="289560"/>
            <a:chOff x="914400" y="479970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79970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8012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37660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454392"/>
            <a:ext cx="4572000" cy="289560"/>
            <a:chOff x="914400" y="5454392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45439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4559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03128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34" y="728091"/>
            <a:ext cx="4598035" cy="5850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divmod expected 2 arguments, got </a:t>
            </a:r>
            <a:r>
              <a:rPr dirty="0" sz="850" spc="-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Even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counts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single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argument.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unpack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treated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arguments: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1)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Packing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unpacking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adapt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behavior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existing </a:t>
            </a:r>
            <a:r>
              <a:rPr dirty="0" sz="1050" spc="-20">
                <a:latin typeface="Palatino Linotype"/>
                <a:cs typeface="Palatino Linotype"/>
              </a:rPr>
              <a:t>function.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number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removes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lowest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highest,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trimmed_mean(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9845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low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high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min_max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trimmed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trimmed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trimmed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remove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high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trimmed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First,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min_max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lowest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highest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converts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args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can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remove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Finally,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unpacks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list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40">
                <a:latin typeface="Palatino Linotype"/>
                <a:cs typeface="Palatino Linotype"/>
              </a:rPr>
              <a:t>elements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passed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mean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separate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4.0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trimmed_mean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2.5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kind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“trimmed”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mean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sports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subjective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judging—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70">
                <a:latin typeface="Palatino Linotype"/>
                <a:cs typeface="Palatino Linotype"/>
              </a:rPr>
              <a:t>diving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gymnastics—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reduce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judge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whose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deviates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others.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711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160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56054"/>
            <a:ext cx="4572000" cy="397510"/>
            <a:chOff x="914400" y="15560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560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5764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617054"/>
            <a:ext cx="4572000" cy="289560"/>
            <a:chOff x="914400" y="2617054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6170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6186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1939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507959"/>
            <a:ext cx="4572000" cy="397510"/>
            <a:chOff x="914400" y="3507959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50795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5095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8405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322068"/>
            <a:ext cx="4572000" cy="829310"/>
            <a:chOff x="914400" y="5322068"/>
            <a:chExt cx="4572000" cy="8293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32206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3236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4387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34" y="483298"/>
            <a:ext cx="4598035" cy="6182995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900" spc="-310" b="1">
                <a:latin typeface="Trebuchet MS"/>
                <a:cs typeface="Trebuchet MS"/>
              </a:rPr>
              <a:t>Zip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75">
                <a:latin typeface="Palatino Linotype"/>
                <a:cs typeface="Palatino Linotype"/>
              </a:rPr>
              <a:t>Tuples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performing </a:t>
            </a:r>
            <a:r>
              <a:rPr dirty="0" sz="1050" spc="-45">
                <a:latin typeface="Palatino Linotype"/>
                <a:cs typeface="Palatino Linotype"/>
              </a:rPr>
              <a:t>oper</a:t>
            </a:r>
            <a:r>
              <a:rPr dirty="0" sz="1050" spc="-45">
                <a:latin typeface="Palatino Linotype"/>
                <a:cs typeface="Palatino Linotype"/>
              </a:rPr>
              <a:t>ations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teams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play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series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games,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scores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team: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scores1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scores2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games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zip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is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25">
                <a:latin typeface="Palatino Linotype"/>
                <a:cs typeface="Palatino Linotype"/>
              </a:rPr>
              <a:t>function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zip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object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so-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pairs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sequences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teeth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zipper: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scores1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scores2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&lt;zip at </a:t>
            </a:r>
            <a:r>
              <a:rPr dirty="0" sz="850" spc="-10">
                <a:latin typeface="SimSun"/>
                <a:cs typeface="SimSun"/>
              </a:rPr>
              <a:t>0x7f3e9c74f0c0&gt;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zip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sequences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pairwise: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7146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scores1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scores2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5)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5)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(4,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(5,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5)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(5,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3)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</a:t>
            </a:r>
            <a:r>
              <a:rPr dirty="0" sz="1050" spc="-95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pair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scores.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scores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victories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team,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team1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team2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scores1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scores2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34163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team1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team2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wins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80">
                <a:latin typeface="Palatino Linotype"/>
                <a:cs typeface="Palatino Linotype"/>
              </a:rPr>
              <a:t>Sadly,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team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games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series.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66428" y="7731125"/>
            <a:ext cx="5327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35" b="1">
                <a:latin typeface="Trebuchet MS"/>
                <a:cs typeface="Trebuchet MS"/>
              </a:rPr>
              <a:t>Zip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161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144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28409"/>
            <a:ext cx="4572000" cy="289560"/>
            <a:chOff x="914400" y="1928409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2840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299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5053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146888"/>
            <a:ext cx="4572000" cy="505459"/>
            <a:chOff x="914400" y="3146888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14688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1484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3988263"/>
            <a:ext cx="4572000" cy="289560"/>
            <a:chOff x="914400" y="3988263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398826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39898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5651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290476"/>
            <a:ext cx="4572000" cy="289560"/>
            <a:chOff x="914400" y="5290476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29047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2920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586737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6341401"/>
            <a:ext cx="4572000" cy="397510"/>
            <a:chOff x="914400" y="6341401"/>
            <a:chExt cx="4572000" cy="39751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34140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3429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72421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901643" y="657564"/>
            <a:ext cx="4598035" cy="6491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zip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scores1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scores2</a:t>
            </a:r>
            <a:r>
              <a:rPr dirty="0" sz="850" spc="-10">
                <a:latin typeface="SimSun"/>
                <a:cs typeface="SimSun"/>
              </a:rPr>
              <a:t>))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[(1, 5), (2, 5), (4, 2), (5, 2), (1, 5), (5, 2), (2, </a:t>
            </a:r>
            <a:r>
              <a:rPr dirty="0" sz="850" spc="-25">
                <a:latin typeface="SimSun"/>
                <a:cs typeface="SimSun"/>
              </a:rPr>
              <a:t>3)]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game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3)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keys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zip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dict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dictiona</a:t>
            </a:r>
            <a:r>
              <a:rPr dirty="0" sz="1050" spc="-45">
                <a:latin typeface="Palatino Linotype"/>
                <a:cs typeface="Palatino Linotype"/>
              </a:rPr>
              <a:t>ry.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 </a:t>
            </a:r>
            <a:r>
              <a:rPr dirty="0" sz="1050" spc="-3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each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alphabet: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987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'abcdefghijklmnopqrstuvwxyz'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letter_map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alphabet:</a:t>
            </a:r>
            <a:endParaRPr sz="1050">
              <a:latin typeface="Palatino Linotype"/>
              <a:cs typeface="Palatino Linotype"/>
            </a:endParaRPr>
          </a:p>
          <a:p>
            <a:pPr marL="39370" marR="28225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letter_map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>
                <a:latin typeface="SimSun"/>
                <a:cs typeface="SimSun"/>
              </a:rPr>
              <a:t>],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'z'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latin typeface="SimSun"/>
                <a:cs typeface="SimSun"/>
              </a:rPr>
              <a:t>(0, </a:t>
            </a:r>
            <a:r>
              <a:rPr dirty="0" sz="850" spc="-25">
                <a:latin typeface="SimSun"/>
                <a:cs typeface="SimSun"/>
              </a:rPr>
              <a:t>25)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mapping,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'a'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0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'z'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25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built-in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enumerate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enumerate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&lt;enumerate at </a:t>
            </a:r>
            <a:r>
              <a:rPr dirty="0" sz="850" spc="-10">
                <a:latin typeface="SimSun"/>
                <a:cs typeface="SimSun"/>
              </a:rPr>
              <a:t>0x7f3e9c620cc0&gt;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-65" b="1">
                <a:latin typeface="Palatino Linotype"/>
                <a:cs typeface="Palatino Linotype"/>
              </a:rPr>
              <a:t>um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20" b="1">
                <a:latin typeface="Palatino Linotype"/>
                <a:cs typeface="Palatino Linotype"/>
              </a:rPr>
              <a:t>a</a:t>
            </a:r>
            <a:r>
              <a:rPr dirty="0" sz="1050" spc="-30" b="1">
                <a:latin typeface="Palatino Linotype"/>
                <a:cs typeface="Palatino Linotype"/>
              </a:rPr>
              <a:t>t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95" b="1">
                <a:latin typeface="Palatino Linotype"/>
                <a:cs typeface="Palatino Linotype"/>
              </a:rPr>
              <a:t>b</a:t>
            </a:r>
            <a:r>
              <a:rPr dirty="0" sz="1050" spc="-50" b="1">
                <a:latin typeface="Palatino Linotype"/>
                <a:cs typeface="Palatino Linotype"/>
              </a:rPr>
              <a:t>j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20" b="1">
                <a:latin typeface="Palatino Linotype"/>
                <a:cs typeface="Palatino Linotype"/>
              </a:rPr>
              <a:t>c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2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each </a:t>
            </a:r>
            <a:r>
              <a:rPr dirty="0" sz="1050" spc="-50">
                <a:latin typeface="Palatino Linotype"/>
                <a:cs typeface="Palatino Linotype"/>
              </a:rPr>
              <a:t>pair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index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(starting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">
                <a:latin typeface="Palatino Linotype"/>
                <a:cs typeface="Palatino Linotype"/>
              </a:rPr>
              <a:t>0)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4447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index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element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enumerate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index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element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147320" indent="-108585">
              <a:lnSpc>
                <a:spcPts val="935"/>
              </a:lnSpc>
              <a:buAutoNum type="arabicPlain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a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b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935"/>
              </a:lnSpc>
              <a:buAutoNum type="arabicPlain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c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1661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162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723609"/>
            <a:ext cx="4572000" cy="289560"/>
            <a:chOff x="914400" y="172360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72360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7251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3005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614514"/>
            <a:ext cx="4572000" cy="289560"/>
            <a:chOff x="914400" y="2614514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61451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6161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1914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993013"/>
            <a:ext cx="4572000" cy="1045210"/>
            <a:chOff x="914400" y="3993013"/>
            <a:chExt cx="4572000" cy="10452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993013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9946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5381672"/>
            <a:ext cx="4572000" cy="397510"/>
            <a:chOff x="914400" y="5381672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38167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3832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0665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715635"/>
            <a:ext cx="4572000" cy="397510"/>
            <a:chOff x="914400" y="6715635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71563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7172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740048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84912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95"/>
              <a:t>Comparing</a:t>
            </a:r>
            <a:r>
              <a:rPr dirty="0" sz="1900" spc="-265"/>
              <a:t> </a:t>
            </a:r>
            <a:r>
              <a:rPr dirty="0" sz="1900" spc="-295"/>
              <a:t>and</a:t>
            </a:r>
            <a:r>
              <a:rPr dirty="0" sz="1900" spc="-265"/>
              <a:t> Sorting</a:t>
            </a:r>
            <a:endParaRPr sz="1900"/>
          </a:p>
        </p:txBody>
      </p:sp>
      <p:sp>
        <p:nvSpPr>
          <p:cNvPr id="22" name="object 22" descr=""/>
          <p:cNvSpPr txBox="1"/>
          <p:nvPr/>
        </p:nvSpPr>
        <p:spPr>
          <a:xfrm>
            <a:off x="901648" y="964024"/>
            <a:ext cx="4598035" cy="634301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 indent="-635">
              <a:lnSpc>
                <a:spcPct val="101600"/>
              </a:lnSpc>
              <a:spcBef>
                <a:spcPts val="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relational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&lt;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tuples,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20">
                <a:latin typeface="Palatino Linotype"/>
                <a:cs typeface="Palatino Linotype"/>
              </a:rPr>
              <a:t>starts</a:t>
            </a:r>
            <a:r>
              <a:rPr dirty="0" sz="1050">
                <a:latin typeface="Palatino Linotype"/>
                <a:cs typeface="Palatino Linotype"/>
              </a:rPr>
              <a:t> 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comparing</a:t>
            </a:r>
            <a:r>
              <a:rPr dirty="0" sz="1050">
                <a:latin typeface="Palatino Linotype"/>
                <a:cs typeface="Palatino Linotype"/>
              </a:rPr>
              <a:t> the first </a:t>
            </a:r>
            <a:r>
              <a:rPr dirty="0" sz="1050" spc="-30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 </a:t>
            </a:r>
            <a:r>
              <a:rPr dirty="0" sz="1050" spc="-20">
                <a:latin typeface="Palatino Linotype"/>
                <a:cs typeface="Palatino Linotype"/>
              </a:rPr>
              <a:t>each </a:t>
            </a:r>
            <a:r>
              <a:rPr dirty="0" sz="1050" spc="-50">
                <a:latin typeface="Palatino Linotype"/>
                <a:cs typeface="Palatino Linotype"/>
              </a:rPr>
              <a:t>sequence.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equal,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next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until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finds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differ: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Subsequent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considered—even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really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big: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2000000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1600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paring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sorting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mini‐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75">
                <a:latin typeface="Palatino Linotype"/>
                <a:cs typeface="Palatino Linotype"/>
              </a:rPr>
              <a:t>um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maxi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um.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common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5">
                <a:latin typeface="Palatino Linotype"/>
                <a:cs typeface="Palatino Linotype"/>
              </a:rPr>
              <a:t>In </a:t>
            </a:r>
            <a:r>
              <a:rPr dirty="0" sz="1050" spc="-6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a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pter</a:t>
            </a:r>
            <a:r>
              <a:rPr dirty="0" sz="1050" spc="1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10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wrote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value_counts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y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ppears: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2004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value_counts(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string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'banana'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225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{'b': 1, 'a': 3, 'n':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"/>
              </a:spcBef>
            </a:pPr>
            <a:r>
              <a:rPr dirty="0" sz="1050" spc="-10">
                <a:latin typeface="Palatino Linotype"/>
                <a:cs typeface="Palatino Linotype"/>
              </a:rPr>
              <a:t>With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only</a:t>
            </a:r>
            <a:r>
              <a:rPr dirty="0" sz="1050" spc="-20">
                <a:latin typeface="Palatino Linotype"/>
                <a:cs typeface="Palatino Linotype"/>
              </a:rPr>
              <a:t> three </a:t>
            </a:r>
            <a:r>
              <a:rPr dirty="0" sz="1050" spc="-30">
                <a:latin typeface="Palatino Linotype"/>
                <a:cs typeface="Palatino Linotype"/>
              </a:rPr>
              <a:t>items,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easily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 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frequent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'a'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 </a:t>
            </a:r>
            <a:r>
              <a:rPr dirty="0" sz="1050" spc="-50">
                <a:latin typeface="Palatino Linotype"/>
                <a:cs typeface="Palatino Linotype"/>
              </a:rPr>
              <a:t>appears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three </a:t>
            </a:r>
            <a:r>
              <a:rPr dirty="0" sz="1050" spc="-25">
                <a:latin typeface="Palatino Linotype"/>
                <a:cs typeface="Palatino Linotype"/>
              </a:rPr>
              <a:t>times.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 </a:t>
            </a:r>
            <a:r>
              <a:rPr dirty="0" sz="1050" spc="-50">
                <a:latin typeface="Palatino Linotype"/>
                <a:cs typeface="Palatino Linotype"/>
              </a:rPr>
              <a:t>were</a:t>
            </a:r>
            <a:r>
              <a:rPr dirty="0" sz="1050" spc="-10">
                <a:latin typeface="Palatino Linotype"/>
                <a:cs typeface="Palatino Linotype"/>
              </a:rPr>
              <a:t> 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items,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would</a:t>
            </a:r>
            <a:r>
              <a:rPr dirty="0" sz="1050">
                <a:latin typeface="Palatino Linotype"/>
                <a:cs typeface="Palatino Linotype"/>
              </a:rPr>
              <a:t> 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utomatically.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counter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dict_items([('b', 1), ('a', 3), ('n', </a:t>
            </a:r>
            <a:r>
              <a:rPr dirty="0" sz="850" spc="-20">
                <a:latin typeface="SimSun"/>
                <a:cs typeface="SimSun"/>
              </a:rPr>
              <a:t>2)])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213772" y="7731125"/>
            <a:ext cx="12858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Comparing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75" b="1">
                <a:latin typeface="Trebuchet MS"/>
                <a:cs typeface="Trebuchet MS"/>
              </a:rPr>
              <a:t>Sorting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30" b="1">
                <a:latin typeface="Trebuchet MS"/>
                <a:cs typeface="Trebuchet MS"/>
              </a:rPr>
              <a:t>163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664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696759"/>
            <a:ext cx="4572000" cy="397510"/>
            <a:chOff x="914400" y="2696759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69675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6983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597738"/>
            <a:ext cx="4572000" cy="397510"/>
            <a:chOff x="914400" y="3597738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59773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5993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2825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916634"/>
            <a:ext cx="4572000" cy="289560"/>
            <a:chOff x="914400" y="4916634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91663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9182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49353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982627"/>
            <a:ext cx="4572000" cy="289560"/>
            <a:chOff x="914400" y="5982627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98262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9842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5595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37" y="657564"/>
            <a:ext cx="4598035" cy="6137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dict_items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behaves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tuples,</a:t>
            </a:r>
            <a:r>
              <a:rPr dirty="0" sz="1050">
                <a:latin typeface="Palatino Linotype"/>
                <a:cs typeface="Palatino Linotype"/>
              </a:rPr>
              <a:t> 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[('a', 3), ('b', 1), ('n', </a:t>
            </a:r>
            <a:r>
              <a:rPr dirty="0" sz="850" spc="-25">
                <a:latin typeface="SimSun"/>
                <a:cs typeface="SimSun"/>
              </a:rPr>
              <a:t>2)]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762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behavior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sort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break</a:t>
            </a:r>
            <a:r>
              <a:rPr dirty="0" sz="1050" spc="-10">
                <a:latin typeface="Palatino Linotype"/>
                <a:cs typeface="Palatino Linotype"/>
              </a:rPr>
              <a:t> ties.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However,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highest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counts,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ele‐ </a:t>
            </a:r>
            <a:r>
              <a:rPr dirty="0" sz="1050" spc="-10">
                <a:latin typeface="Palatino Linotype"/>
                <a:cs typeface="Palatino Linotype"/>
              </a:rPr>
              <a:t>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element: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second_element(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20">
                <a:latin typeface="SimSun"/>
                <a:cs typeface="SimSun"/>
              </a:rPr>
              <a:t>[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Then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sorted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key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which </a:t>
            </a:r>
            <a:r>
              <a:rPr dirty="0" sz="1050" spc="-55">
                <a:latin typeface="Palatino Linotype"/>
                <a:cs typeface="Palatino Linotype"/>
              </a:rPr>
              <a:t>indic</a:t>
            </a:r>
            <a:r>
              <a:rPr dirty="0" sz="1050" spc="-55">
                <a:latin typeface="Palatino Linotype"/>
                <a:cs typeface="Palatino Linotype"/>
              </a:rPr>
              <a:t>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sort </a:t>
            </a:r>
            <a:r>
              <a:rPr dirty="0" sz="1050" spc="-95" b="1">
                <a:latin typeface="Palatino Linotype"/>
                <a:cs typeface="Palatino Linotype"/>
              </a:rPr>
              <a:t>key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item: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19589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sorted_items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second_element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sorted_items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[('b', 1), ('n', 2), ('a', </a:t>
            </a:r>
            <a:r>
              <a:rPr dirty="0" sz="850" spc="-25">
                <a:latin typeface="SimSun"/>
                <a:cs typeface="SimSun"/>
              </a:rPr>
              <a:t>3)]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sort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determines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order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items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letter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lowest </a:t>
            </a:r>
            <a:r>
              <a:rPr dirty="0" sz="1050" spc="-35">
                <a:latin typeface="Palatino Linotype"/>
                <a:cs typeface="Palatino Linotype"/>
              </a:rPr>
              <a:t>count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highest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count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last.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 marR="36861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sorted_items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] </a:t>
            </a:r>
            <a:r>
              <a:rPr dirty="0" sz="850">
                <a:latin typeface="SimSun"/>
                <a:cs typeface="SimSun"/>
              </a:rPr>
              <a:t>('a', </a:t>
            </a:r>
            <a:r>
              <a:rPr dirty="0" sz="850" spc="-25">
                <a:latin typeface="SimSun"/>
                <a:cs typeface="SimSun"/>
              </a:rPr>
              <a:t>3)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maximum,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20">
                <a:latin typeface="Palatino Linotype"/>
                <a:cs typeface="Palatino Linotype"/>
              </a:rPr>
              <a:t>sort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max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25">
                <a:latin typeface="Palatino Linotype"/>
                <a:cs typeface="Palatino Linotype"/>
              </a:rPr>
              <a:t>which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key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 marL="39370" marR="29305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max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second_element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('a', </a:t>
            </a:r>
            <a:r>
              <a:rPr dirty="0" sz="850" spc="-25">
                <a:latin typeface="SimSun"/>
                <a:cs typeface="SimSun"/>
              </a:rPr>
              <a:t>3)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lowest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way.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741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164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676109"/>
            <a:ext cx="4572000" cy="397510"/>
            <a:chOff x="914400" y="267610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67610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677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3609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253826"/>
            <a:ext cx="4572000" cy="1045210"/>
            <a:chOff x="914400" y="4253826"/>
            <a:chExt cx="4572000" cy="10452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253826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2554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6198746"/>
            <a:ext cx="4572000" cy="289560"/>
            <a:chOff x="914400" y="6198746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19874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2003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677564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73799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54"/>
              <a:t>Inverting</a:t>
            </a:r>
            <a:r>
              <a:rPr dirty="0" sz="1900" spc="-240"/>
              <a:t> </a:t>
            </a:r>
            <a:r>
              <a:rPr dirty="0" sz="1900" spc="-265"/>
              <a:t>a</a:t>
            </a:r>
            <a:r>
              <a:rPr dirty="0" sz="1900" spc="-240"/>
              <a:t> </a:t>
            </a:r>
            <a:r>
              <a:rPr dirty="0" sz="1900" spc="-295"/>
              <a:t>Dictionary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35" y="964024"/>
            <a:ext cx="4598035" cy="64357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vert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corre‐ </a:t>
            </a:r>
            <a:r>
              <a:rPr dirty="0" sz="1050" spc="-60">
                <a:latin typeface="Palatino Linotype"/>
                <a:cs typeface="Palatino Linotype"/>
              </a:rPr>
              <a:t>sponding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</a:t>
            </a:r>
            <a:r>
              <a:rPr dirty="0" sz="1050" spc="-16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ppears,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tegers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there’s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problem—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keys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unique,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values </a:t>
            </a:r>
            <a:r>
              <a:rPr dirty="0" sz="1050" spc="-40">
                <a:latin typeface="Palatino Linotype"/>
                <a:cs typeface="Palatino Linotype"/>
              </a:rPr>
              <a:t>do</a:t>
            </a:r>
            <a:r>
              <a:rPr dirty="0" sz="1050" spc="-40">
                <a:latin typeface="Palatino Linotype"/>
                <a:cs typeface="Palatino Linotype"/>
              </a:rPr>
              <a:t>n’t.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counter,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 </a:t>
            </a:r>
            <a:r>
              <a:rPr dirty="0" sz="1050" spc="-10">
                <a:latin typeface="Palatino Linotype"/>
                <a:cs typeface="Palatino Linotype"/>
              </a:rPr>
              <a:t>count.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invert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original.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parrot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924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42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value_counts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'parrot'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{'p': 1, 'a': 1, 'r': 2, 'o': 1, 't': </a:t>
            </a:r>
            <a:r>
              <a:rPr dirty="0" sz="850" spc="-25">
                <a:latin typeface="SimSun"/>
                <a:cs typeface="SimSun"/>
              </a:rPr>
              <a:t>1}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invert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result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should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{1: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['p',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'a',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'o',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't'],</a:t>
            </a:r>
            <a:r>
              <a:rPr dirty="0" sz="1000" spc="15">
                <a:latin typeface="SimSun"/>
                <a:cs typeface="SimSun"/>
              </a:rPr>
              <a:t> </a:t>
            </a:r>
            <a:r>
              <a:rPr dirty="0" sz="1000" spc="-25">
                <a:latin typeface="SimSun"/>
                <a:cs typeface="SimSun"/>
              </a:rPr>
              <a:t>2: </a:t>
            </a:r>
            <a:r>
              <a:rPr dirty="0" sz="1000">
                <a:latin typeface="SimSun"/>
                <a:cs typeface="SimSun"/>
              </a:rPr>
              <a:t>['r']}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'p'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00">
                <a:latin typeface="SimSun"/>
                <a:cs typeface="SimSun"/>
              </a:rPr>
              <a:t>'a'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00">
                <a:latin typeface="SimSun"/>
                <a:cs typeface="SimSun"/>
              </a:rPr>
              <a:t>'o'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't'</a:t>
            </a:r>
            <a:r>
              <a:rPr dirty="0" sz="1050" spc="-20">
                <a:latin typeface="Palatino Linotype"/>
                <a:cs typeface="Palatino Linotype"/>
              </a:rPr>
              <a:t>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'r'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inverse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5242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invert_dict(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new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687070" marR="29305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new</a:t>
            </a:r>
            <a:r>
              <a:rPr dirty="0" sz="850" spc="-2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new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>
                <a:latin typeface="SimSun"/>
                <a:cs typeface="SimSun"/>
              </a:rPr>
              <a:t>]</a:t>
            </a:r>
            <a:r>
              <a:rPr dirty="0" sz="850" spc="-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latin typeface="SimSun"/>
                <a:cs typeface="SimSun"/>
              </a:rPr>
              <a:t>[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new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new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for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already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associated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single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ele‐ </a:t>
            </a:r>
            <a:r>
              <a:rPr dirty="0" sz="1050" spc="-55">
                <a:latin typeface="Palatino Linotype"/>
                <a:cs typeface="Palatino Linotype"/>
              </a:rPr>
              <a:t>ment.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Otherwise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appended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existing</a:t>
            </a:r>
            <a:r>
              <a:rPr dirty="0" sz="1050" spc="-10">
                <a:latin typeface="Palatino Linotype"/>
                <a:cs typeface="Palatino Linotype"/>
              </a:rPr>
              <a:t> list.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invert_dict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{1: ['p', 'a', 'o', 't'], 2: </a:t>
            </a:r>
            <a:r>
              <a:rPr dirty="0" sz="850" spc="-10">
                <a:latin typeface="SimSun"/>
                <a:cs typeface="SimSun"/>
              </a:rPr>
              <a:t>['r']}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expected.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first </a:t>
            </a:r>
            <a:r>
              <a:rPr dirty="0" sz="1050" spc="-60">
                <a:latin typeface="Palatino Linotype"/>
                <a:cs typeface="Palatino Linotype"/>
              </a:rPr>
              <a:t>example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we’ve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more!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266798" y="7731125"/>
            <a:ext cx="1232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Inverting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105" b="1">
                <a:latin typeface="Trebuchet MS"/>
                <a:cs typeface="Trebuchet MS"/>
              </a:rPr>
              <a:t>Dictionary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165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003683"/>
            <a:ext cx="4572000" cy="289560"/>
            <a:chOff x="914400" y="3003683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00368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0052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629158"/>
            <a:ext cx="4572000" cy="397510"/>
            <a:chOff x="914400" y="3629158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62915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6307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3140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628013"/>
            <a:ext cx="4572000" cy="397510"/>
            <a:chOff x="914400" y="4628013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62801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6296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3128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634402"/>
            <a:ext cx="4572000" cy="397510"/>
            <a:chOff x="914400" y="5634402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63440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6359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31924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978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65"/>
              <a:t>Debugging</a:t>
            </a:r>
            <a:endParaRPr sz="1900"/>
          </a:p>
        </p:txBody>
      </p:sp>
      <p:sp>
        <p:nvSpPr>
          <p:cNvPr id="18" name="object 18" descr=""/>
          <p:cNvSpPr txBox="1"/>
          <p:nvPr/>
        </p:nvSpPr>
        <p:spPr>
          <a:xfrm>
            <a:off x="901636" y="964024"/>
            <a:ext cx="4598035" cy="5262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Lists,</a:t>
            </a:r>
            <a:r>
              <a:rPr dirty="0" sz="1050" spc="-35">
                <a:latin typeface="Palatino Linotype"/>
                <a:cs typeface="Palatino Linotype"/>
              </a:rPr>
              <a:t> dictionaries,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 </a:t>
            </a:r>
            <a:r>
              <a:rPr dirty="0" sz="1050" spc="-10" b="1">
                <a:latin typeface="Palatino Linotype"/>
                <a:cs typeface="Palatino Linotype"/>
              </a:rPr>
              <a:t>data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structures</a:t>
            </a:r>
            <a:r>
              <a:rPr dirty="0" sz="1050" spc="-3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 </a:t>
            </a:r>
            <a:r>
              <a:rPr dirty="0" sz="1050" spc="-35">
                <a:latin typeface="Palatino Linotype"/>
                <a:cs typeface="Palatino Linotype"/>
              </a:rPr>
              <a:t>chapter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 </a:t>
            </a:r>
            <a:r>
              <a:rPr dirty="0" sz="1050" spc="-35">
                <a:latin typeface="Palatino Linotype"/>
                <a:cs typeface="Palatino Linotype"/>
              </a:rPr>
              <a:t>starting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30">
                <a:latin typeface="Palatino Linotype"/>
                <a:cs typeface="Palatino Linotype"/>
              </a:rPr>
              <a:t>see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compound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data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structures,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tuples,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tuples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keys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lists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Compound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data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structures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prone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errors </a:t>
            </a:r>
            <a:r>
              <a:rPr dirty="0" sz="1050" spc="-70">
                <a:latin typeface="Palatino Linotype"/>
                <a:cs typeface="Palatino Linotype"/>
              </a:rPr>
              <a:t>caused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data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size,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exam‐ </a:t>
            </a:r>
            <a:r>
              <a:rPr dirty="0" sz="1050" spc="-4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expects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list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plain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integer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list),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probably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640"/>
              </a:spcBef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50">
                <a:latin typeface="Palatino Linotype"/>
                <a:cs typeface="Palatino Linotype"/>
              </a:rPr>
              <a:t> help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kinds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wrote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structshape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pro‐ </a:t>
            </a:r>
            <a:r>
              <a:rPr dirty="0" sz="1050" spc="-65">
                <a:latin typeface="Palatino Linotype"/>
                <a:cs typeface="Palatino Linotype"/>
              </a:rPr>
              <a:t>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structshape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kind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structure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4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summarizes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 </a:t>
            </a:r>
            <a:r>
              <a:rPr dirty="0" sz="1050" spc="-35">
                <a:latin typeface="Palatino Linotype"/>
                <a:cs typeface="Palatino Linotype"/>
              </a:rPr>
              <a:t>structure.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download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https://raw.githubusercontent.com/AllenDowney/ThinkPython/v3/structshape.py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structshape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'list of 3 </a:t>
            </a:r>
            <a:r>
              <a:rPr dirty="0" sz="850" spc="-20">
                <a:latin typeface="SimSun"/>
                <a:cs typeface="SimSun"/>
              </a:rPr>
              <a:t>int'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lists: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], 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], 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10">
                <a:latin typeface="SimSun"/>
                <a:cs typeface="SimSun"/>
              </a:rPr>
              <a:t>,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10">
                <a:latin typeface="SimSun"/>
                <a:cs typeface="SimSun"/>
              </a:rPr>
              <a:t>]]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'list of 3 list of 2 </a:t>
            </a:r>
            <a:r>
              <a:rPr dirty="0" sz="850" spc="-20">
                <a:latin typeface="SimSun"/>
                <a:cs typeface="SimSun"/>
              </a:rPr>
              <a:t>int'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structshape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groups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type: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t3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4.0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'5'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'6'</a:t>
            </a:r>
            <a:r>
              <a:rPr dirty="0" sz="850">
                <a:latin typeface="SimSun"/>
                <a:cs typeface="SimSun"/>
              </a:rPr>
              <a:t>, 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7</a:t>
            </a:r>
            <a:r>
              <a:rPr dirty="0" sz="850">
                <a:latin typeface="SimSun"/>
                <a:cs typeface="SimSun"/>
              </a:rPr>
              <a:t>], 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8</a:t>
            </a:r>
            <a:r>
              <a:rPr dirty="0" sz="850">
                <a:latin typeface="SimSun"/>
                <a:cs typeface="SimSun"/>
              </a:rPr>
              <a:t>],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'list of (3 int, float, 2 str, 2 list of int, </a:t>
            </a:r>
            <a:r>
              <a:rPr dirty="0" sz="850" spc="-10">
                <a:latin typeface="SimSun"/>
                <a:cs typeface="SimSun"/>
              </a:rPr>
              <a:t>int)'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51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166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505459"/>
            <a:chOff x="914400" y="92201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148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028825"/>
            <a:ext cx="4572000" cy="397510"/>
            <a:chOff x="914400" y="202882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02882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0304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1367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51" y="650030"/>
            <a:ext cx="4598035" cy="6612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tuples: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'abc'</a:t>
            </a:r>
            <a:endParaRPr sz="850">
              <a:latin typeface="SimSun"/>
              <a:cs typeface="SimSun"/>
            </a:endParaRPr>
          </a:p>
          <a:p>
            <a:pPr marL="39370" marR="34702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25">
                <a:latin typeface="SimSun"/>
                <a:cs typeface="SimSun"/>
              </a:rPr>
              <a:t>))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'list of 3 tuple of (int, </a:t>
            </a:r>
            <a:r>
              <a:rPr dirty="0" sz="850" spc="-10">
                <a:latin typeface="SimSun"/>
                <a:cs typeface="SimSun"/>
              </a:rPr>
              <a:t>str)'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map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'dict of 3 int-</a:t>
            </a:r>
            <a:r>
              <a:rPr dirty="0" sz="850" spc="-10">
                <a:latin typeface="SimSun"/>
                <a:cs typeface="SimSun"/>
              </a:rPr>
              <a:t>&gt;str'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trouble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structures,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structshape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help.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0" b="1">
                <a:latin typeface="Palatino Linotype"/>
                <a:cs typeface="Palatino Linotype"/>
              </a:rPr>
              <a:t>tuple: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immutable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values.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pack: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Collect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multiple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unpack: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Treat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(or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sequence)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multiple</a:t>
            </a:r>
            <a:r>
              <a:rPr dirty="0" sz="1050" spc="-10">
                <a:latin typeface="Palatino Linotype"/>
                <a:cs typeface="Palatino Linotype"/>
              </a:rPr>
              <a:t> arguments.</a:t>
            </a:r>
            <a:endParaRPr sz="1050">
              <a:latin typeface="Palatino Linotype"/>
              <a:cs typeface="Palatino Linotype"/>
            </a:endParaRPr>
          </a:p>
          <a:p>
            <a:pPr marL="12700" marR="9525">
              <a:lnSpc>
                <a:spcPct val="100000"/>
              </a:lnSpc>
              <a:spcBef>
                <a:spcPts val="660"/>
              </a:spcBef>
            </a:pPr>
            <a:r>
              <a:rPr dirty="0" sz="1050" spc="-70" b="1">
                <a:latin typeface="Palatino Linotype"/>
                <a:cs typeface="Palatino Linotype"/>
              </a:rPr>
              <a:t>zip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object: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zip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through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45" b="1">
                <a:latin typeface="Palatino Linotype"/>
                <a:cs typeface="Palatino Linotype"/>
              </a:rPr>
              <a:t>enumerate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object: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enumerate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 be</a:t>
            </a:r>
            <a:r>
              <a:rPr dirty="0" sz="1050" spc="-25">
                <a:latin typeface="Palatino Linotype"/>
                <a:cs typeface="Palatino Linotype"/>
              </a:rPr>
              <a:t> used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latin typeface="Palatino Linotype"/>
                <a:cs typeface="Palatino Linotype"/>
              </a:rPr>
              <a:t>sort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key: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sort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collection.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latin typeface="Palatino Linotype"/>
                <a:cs typeface="Palatino Linotype"/>
              </a:rPr>
              <a:t>data</a:t>
            </a:r>
            <a:r>
              <a:rPr dirty="0" sz="1050" spc="14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structure:</a:t>
            </a:r>
            <a:r>
              <a:rPr dirty="0" sz="1050" spc="14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collection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values,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organized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perform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certain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operations </a:t>
            </a:r>
            <a:r>
              <a:rPr dirty="0" sz="1050" spc="-10">
                <a:latin typeface="Palatino Linotype"/>
                <a:cs typeface="Palatino Linotype"/>
              </a:rPr>
              <a:t>efficiently.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difficult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p‐ </a:t>
            </a:r>
            <a:r>
              <a:rPr dirty="0" sz="1050" spc="-40">
                <a:latin typeface="Palatino Linotype"/>
                <a:cs typeface="Palatino Linotype"/>
              </a:rPr>
              <a:t>ters,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encourage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dif‐ </a:t>
            </a:r>
            <a:r>
              <a:rPr dirty="0" sz="1050" spc="-40">
                <a:latin typeface="Palatino Linotype"/>
                <a:cs typeface="Palatino Linotype"/>
              </a:rPr>
              <a:t>ficult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questions,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answers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tte</a:t>
            </a:r>
            <a:r>
              <a:rPr dirty="0" sz="1050" spc="-95">
                <a:latin typeface="Palatino Linotype"/>
                <a:cs typeface="Palatino Linotype"/>
              </a:rPr>
              <a:t>m</a:t>
            </a:r>
            <a:r>
              <a:rPr dirty="0" sz="1050" spc="-40">
                <a:latin typeface="Palatino Linotype"/>
                <a:cs typeface="Palatino Linotype"/>
              </a:rPr>
              <a:t>pt,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practice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crafting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 </a:t>
            </a:r>
            <a:r>
              <a:rPr dirty="0" sz="1050" spc="-45">
                <a:latin typeface="Palatino Linotype"/>
                <a:cs typeface="Palatino Linotype"/>
              </a:rPr>
              <a:t>refineme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45023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167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251314"/>
            <a:ext cx="4572000" cy="721360"/>
            <a:chOff x="914400" y="325131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25131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25290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42600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749107"/>
            <a:ext cx="4572000" cy="397510"/>
            <a:chOff x="914400" y="4749107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74910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7506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543395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6895985"/>
            <a:ext cx="4572000" cy="505459"/>
            <a:chOff x="914400" y="6895985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6895985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68975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901630" y="650030"/>
            <a:ext cx="4598035" cy="665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strategy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consider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break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big </a:t>
            </a:r>
            <a:r>
              <a:rPr dirty="0" sz="1050" spc="-40">
                <a:latin typeface="Palatino Linotype"/>
                <a:cs typeface="Palatino Linotype"/>
              </a:rPr>
              <a:t>problem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pieces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 </a:t>
            </a:r>
            <a:r>
              <a:rPr dirty="0" sz="1050" spc="-70">
                <a:latin typeface="Palatino Linotype"/>
                <a:cs typeface="Palatino Linotype"/>
              </a:rPr>
              <a:t>solved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test </a:t>
            </a:r>
            <a:r>
              <a:rPr dirty="0" sz="1050" spc="-55">
                <a:latin typeface="Palatino Linotype"/>
                <a:cs typeface="Palatino Linotype"/>
              </a:rPr>
              <a:t>them.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original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problem.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suggestions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structures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algorithms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You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suggestions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useful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problems,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prompts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said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keys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45">
                <a:latin typeface="Palatino Linotype"/>
                <a:cs typeface="Palatino Linotype"/>
              </a:rPr>
              <a:t>hashable,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hashable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immutable.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always </a:t>
            </a:r>
            <a:r>
              <a:rPr dirty="0" sz="1050" spc="-10">
                <a:latin typeface="Palatino Linotype"/>
                <a:cs typeface="Palatino Linotype"/>
              </a:rPr>
              <a:t>true.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mutable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value,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dictionary,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no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longer </a:t>
            </a:r>
            <a:r>
              <a:rPr dirty="0" sz="1050" spc="-50">
                <a:latin typeface="Palatino Linotype"/>
                <a:cs typeface="Palatino Linotype"/>
              </a:rPr>
              <a:t>hashable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 </a:t>
            </a:r>
            <a:r>
              <a:rPr dirty="0" sz="1050" spc="-45">
                <a:latin typeface="Palatino Linotype"/>
                <a:cs typeface="Palatino Linotype"/>
              </a:rPr>
              <a:t>hashable.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integers: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list0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list1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578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list0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list1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([1, 2, 3], [4, </a:t>
            </a:r>
            <a:r>
              <a:rPr dirty="0" sz="850" spc="-25">
                <a:latin typeface="SimSun"/>
                <a:cs typeface="SimSun"/>
              </a:rPr>
              <a:t>5])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ppends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([1,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2,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3],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[4,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5,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6])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  <a:spcBef>
                <a:spcPts val="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([1, 2, 3], [4, 5, </a:t>
            </a:r>
            <a:r>
              <a:rPr dirty="0" sz="850" spc="-25">
                <a:latin typeface="SimSun"/>
                <a:cs typeface="SimSun"/>
              </a:rPr>
              <a:t>6])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Try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maps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</a:t>
            </a:r>
            <a:r>
              <a:rPr dirty="0" sz="1000" spc="-15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confirm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TypeError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topic,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“Are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always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hashable?”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chapter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made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alphabet: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987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'abcdefghijklmnopqrstuvwxyz'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numbers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letter_map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zip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numbers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649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168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88013"/>
            <a:ext cx="4572000" cy="289560"/>
            <a:chOff x="914400" y="198801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880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896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5649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34" y="657564"/>
            <a:ext cx="4598035" cy="7236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index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'a'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50"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indexing.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index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1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'b'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letters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25">
                <a:latin typeface="SimSun"/>
                <a:cs typeface="SimSun"/>
              </a:rPr>
              <a:t>'b'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We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letter_map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letters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encode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decode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words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Caesar </a:t>
            </a:r>
            <a:r>
              <a:rPr dirty="0" sz="1050" spc="-10">
                <a:latin typeface="Palatino Linotype"/>
                <a:cs typeface="Palatino Linotype"/>
              </a:rPr>
              <a:t>cipher.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Caesar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cipher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weak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form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encryption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5">
                <a:latin typeface="Palatino Linotype"/>
                <a:cs typeface="Palatino Linotype"/>
              </a:rPr>
              <a:t>involves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shifting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by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fixed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places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alphabet,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wrapping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around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neces‐ </a:t>
            </a:r>
            <a:r>
              <a:rPr dirty="0" sz="1050" spc="-75">
                <a:latin typeface="Palatino Linotype"/>
                <a:cs typeface="Palatino Linotype"/>
              </a:rPr>
              <a:t>sary.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'a'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shifted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'c'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'z'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shifted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'a'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shift_word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integer,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shifted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given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places.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confirm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“cheer”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shifted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7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95">
                <a:latin typeface="Palatino Linotype"/>
                <a:cs typeface="Palatino Linotype"/>
              </a:rPr>
              <a:t>“jolly,”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“melon”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shifted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16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“cubed.”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630"/>
              </a:spcBef>
            </a:pPr>
            <a:r>
              <a:rPr dirty="0" sz="1050" spc="-35">
                <a:latin typeface="Palatino Linotype"/>
                <a:cs typeface="Palatino Linotype"/>
              </a:rPr>
              <a:t>Hint: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wrap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around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'z'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'a'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through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word,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shift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one,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result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list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letters.</a:t>
            </a:r>
            <a:r>
              <a:rPr dirty="0" sz="1050" spc="-20">
                <a:latin typeface="Palatino Linotype"/>
                <a:cs typeface="Palatino Linotype"/>
              </a:rPr>
              <a:t> Then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join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concatenate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most_frequent_letters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let‐ </a:t>
            </a:r>
            <a:r>
              <a:rPr dirty="0" sz="1050" spc="-45">
                <a:latin typeface="Palatino Linotype"/>
                <a:cs typeface="Palatino Linotype"/>
              </a:rPr>
              <a:t>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decreasing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order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frequenc</a:t>
            </a:r>
            <a:r>
              <a:rPr dirty="0" sz="1050" spc="-14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889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items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decreasing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order,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reversed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along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sorted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reverse=True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sorted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6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previous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tested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anagrams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by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sorting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let‐ </a:t>
            </a:r>
            <a:r>
              <a:rPr dirty="0" sz="1050">
                <a:latin typeface="Palatino Linotype"/>
                <a:cs typeface="Palatino Linotype"/>
              </a:rPr>
              <a:t>ters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checking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sorted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same.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let’s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problem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little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challenging.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2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 </a:t>
            </a:r>
            <a:r>
              <a:rPr dirty="0" sz="1050" spc="-60">
                <a:latin typeface="Palatino Linotype"/>
                <a:cs typeface="Palatino Linotype"/>
              </a:rPr>
              <a:t>anagrams.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50">
                <a:latin typeface="Palatino Linotype"/>
                <a:cs typeface="Palatino Linotype"/>
              </a:rPr>
              <a:t>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output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169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1" y="665543"/>
            <a:ext cx="4598035" cy="3456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8600" marR="112268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['deltas', 'desalt', 'lasted', 'salted', 'slated', </a:t>
            </a:r>
            <a:r>
              <a:rPr dirty="0" sz="850" spc="-10">
                <a:latin typeface="SimSun"/>
                <a:cs typeface="SimSun"/>
              </a:rPr>
              <a:t>'staled'] </a:t>
            </a:r>
            <a:r>
              <a:rPr dirty="0" sz="850">
                <a:latin typeface="SimSun"/>
                <a:cs typeface="SimSun"/>
              </a:rPr>
              <a:t>['retainers', </a:t>
            </a:r>
            <a:r>
              <a:rPr dirty="0" sz="850" spc="-10">
                <a:latin typeface="SimSun"/>
                <a:cs typeface="SimSun"/>
              </a:rPr>
              <a:t>'ternaries']</a:t>
            </a:r>
            <a:endParaRPr sz="850">
              <a:latin typeface="SimSun"/>
              <a:cs typeface="SimSun"/>
            </a:endParaRPr>
          </a:p>
          <a:p>
            <a:pPr marL="228600" marR="241808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['generating', </a:t>
            </a:r>
            <a:r>
              <a:rPr dirty="0" sz="850" spc="-10">
                <a:latin typeface="SimSun"/>
                <a:cs typeface="SimSun"/>
              </a:rPr>
              <a:t>'greatening'] </a:t>
            </a:r>
            <a:r>
              <a:rPr dirty="0" sz="850">
                <a:latin typeface="SimSun"/>
                <a:cs typeface="SimSun"/>
              </a:rPr>
              <a:t>['resmelts', 'smelters', </a:t>
            </a:r>
            <a:r>
              <a:rPr dirty="0" sz="850" spc="-10">
                <a:latin typeface="SimSun"/>
                <a:cs typeface="SimSun"/>
              </a:rPr>
              <a:t>'termless']</a:t>
            </a:r>
            <a:endParaRPr sz="8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475"/>
              </a:spcBef>
            </a:pPr>
            <a:r>
              <a:rPr dirty="0" sz="1050" spc="-35">
                <a:latin typeface="Palatino Linotype"/>
                <a:cs typeface="Palatino Linotype"/>
              </a:rPr>
              <a:t>Hint: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join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back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string.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sorted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ana‐ </a:t>
            </a:r>
            <a:r>
              <a:rPr dirty="0" sz="1050" spc="-65">
                <a:latin typeface="Palatino Linotype"/>
                <a:cs typeface="Palatino Linotype"/>
              </a:rPr>
              <a:t>grams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715">
              <a:lnSpc>
                <a:spcPct val="100000"/>
              </a:lnSpc>
              <a:spcBef>
                <a:spcPts val="52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word_distance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places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Hint: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zip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05"/>
              </a:spcBef>
            </a:pPr>
            <a:r>
              <a:rPr dirty="0" sz="1050" spc="-70">
                <a:latin typeface="Palatino Linotype"/>
                <a:cs typeface="Palatino Linotype"/>
              </a:rPr>
              <a:t>“Metathesis”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transposition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30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“metathesis </a:t>
            </a:r>
            <a:r>
              <a:rPr dirty="0" sz="1050" spc="-60">
                <a:latin typeface="Palatino Linotype"/>
                <a:cs typeface="Palatino Linotype"/>
              </a:rPr>
              <a:t>pair”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transform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swapping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converse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conserve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metathesis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pairs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923290">
              <a:lnSpc>
                <a:spcPct val="147600"/>
              </a:lnSpc>
            </a:pPr>
            <a:r>
              <a:rPr dirty="0" sz="1050" spc="-45">
                <a:latin typeface="Palatino Linotype"/>
                <a:cs typeface="Palatino Linotype"/>
              </a:rPr>
              <a:t>Hi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t: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thesis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ust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anagrams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 </a:t>
            </a:r>
            <a:r>
              <a:rPr dirty="0" sz="1050" spc="-45">
                <a:latin typeface="Palatino Linotype"/>
                <a:cs typeface="Palatino Linotype"/>
              </a:rPr>
              <a:t>Credit: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inspired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h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ttp://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p</a:t>
            </a:r>
            <a:r>
              <a:rPr dirty="0" sz="1050" spc="-3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uzz</a:t>
            </a:r>
            <a:r>
              <a:rPr dirty="0" sz="1050" spc="-2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l</a:t>
            </a:r>
            <a:r>
              <a:rPr dirty="0" sz="1050" spc="-10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e</a:t>
            </a:r>
            <a:r>
              <a:rPr dirty="0" sz="1050" spc="-1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r</a:t>
            </a:r>
            <a:r>
              <a:rPr dirty="0" sz="1050" spc="-1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s.</a:t>
            </a:r>
            <a:r>
              <a:rPr dirty="0" sz="1050" spc="-3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o</a:t>
            </a:r>
            <a:r>
              <a:rPr dirty="0" sz="1050" spc="-3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r</a:t>
            </a:r>
            <a:r>
              <a:rPr dirty="0" sz="1050" spc="-85" i="1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g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662" y="7731125"/>
            <a:ext cx="11131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170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11: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Tuples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6573119"/>
            <a:ext cx="4572000" cy="289560"/>
            <a:chOff x="914400" y="6573119"/>
            <a:chExt cx="4572000" cy="28956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65731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65747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12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425763" y="1212513"/>
            <a:ext cx="307340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445"/>
              <a:t>Text</a:t>
            </a:r>
            <a:r>
              <a:rPr dirty="0" spc="-345"/>
              <a:t> </a:t>
            </a:r>
            <a:r>
              <a:rPr dirty="0" spc="-330"/>
              <a:t>Analysis</a:t>
            </a:r>
            <a:r>
              <a:rPr dirty="0" spc="-340"/>
              <a:t> </a:t>
            </a:r>
            <a:r>
              <a:rPr dirty="0" spc="-370"/>
              <a:t>and</a:t>
            </a:r>
            <a:r>
              <a:rPr dirty="0" spc="-345"/>
              <a:t> </a:t>
            </a:r>
            <a:r>
              <a:rPr dirty="0" spc="-390"/>
              <a:t>Generation</a:t>
            </a:r>
          </a:p>
        </p:txBody>
      </p:sp>
      <p:sp>
        <p:nvSpPr>
          <p:cNvPr id="8" name="object 8" descr=""/>
          <p:cNvSpPr txBox="1"/>
          <p:nvPr/>
        </p:nvSpPr>
        <p:spPr>
          <a:xfrm>
            <a:off x="901637" y="3044843"/>
            <a:ext cx="4598035" cy="484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point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covered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Python’s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data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structures—</a:t>
            </a:r>
            <a:r>
              <a:rPr dirty="0" sz="1050" spc="-20">
                <a:latin typeface="Palatino Linotype"/>
                <a:cs typeface="Palatino Linotype"/>
              </a:rPr>
              <a:t>lists,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dictionaries,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 </a:t>
            </a:r>
            <a:r>
              <a:rPr dirty="0" sz="1050" spc="-70">
                <a:latin typeface="Palatino Linotype"/>
                <a:cs typeface="Palatino Linotype"/>
              </a:rPr>
              <a:t>tuples—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algorithms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30">
                <a:latin typeface="Palatino Linotype"/>
                <a:cs typeface="Palatino Linotype"/>
              </a:rPr>
              <a:t>explore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analysis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Markov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generation: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analysis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describe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statistical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relationships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words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document,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probability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another.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Markov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text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phrases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similar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original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text.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35">
                <a:latin typeface="Palatino Linotype"/>
                <a:cs typeface="Palatino Linotype"/>
              </a:rPr>
              <a:t>These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algorithms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similar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large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language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model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(LLM),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component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chatbot.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2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pairs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2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arkov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chance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Unique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330" b="1">
                <a:latin typeface="Trebuchet MS"/>
                <a:cs typeface="Trebuchet MS"/>
              </a:rPr>
              <a:t>Words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step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toward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analysis,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read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book—</a:t>
            </a:r>
            <a:r>
              <a:rPr dirty="0" sz="1050" i="1">
                <a:latin typeface="Palatino Linotype"/>
                <a:cs typeface="Palatino Linotype"/>
              </a:rPr>
              <a:t>The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Strange</a:t>
            </a:r>
            <a:r>
              <a:rPr dirty="0" sz="1050" i="1">
                <a:latin typeface="Palatino Linotype"/>
                <a:cs typeface="Palatino Linotype"/>
              </a:rPr>
              <a:t> Case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of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Dr.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Jekyll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45" i="1">
                <a:latin typeface="Palatino Linotype"/>
                <a:cs typeface="Palatino Linotype"/>
              </a:rPr>
              <a:t>Mr.</a:t>
            </a:r>
            <a:r>
              <a:rPr dirty="0" sz="1050" spc="-10" i="1">
                <a:latin typeface="Palatino Linotype"/>
                <a:cs typeface="Palatino Linotype"/>
              </a:rPr>
              <a:t> Hyde </a:t>
            </a:r>
            <a:r>
              <a:rPr dirty="0" sz="1050" spc="-2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Robert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Louis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Stevenson—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unique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words. </a:t>
            </a:r>
            <a:r>
              <a:rPr dirty="0" sz="1050" spc="-40">
                <a:latin typeface="Palatino Linotype"/>
                <a:cs typeface="Palatino Linotype"/>
              </a:rPr>
              <a:t>Instructions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downloading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notebook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chapter: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filename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'dr_jekyll.txt'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We’ll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read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split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divide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 </a:t>
            </a:r>
            <a:r>
              <a:rPr dirty="0" sz="1050" spc="-40">
                <a:latin typeface="Palatino Linotype"/>
                <a:cs typeface="Palatino Linotype"/>
              </a:rPr>
              <a:t>words.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Then,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keep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track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unique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each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key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8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25" b="1">
                <a:latin typeface="Trebuchet MS"/>
                <a:cs typeface="Trebuchet MS"/>
              </a:rPr>
              <a:t>171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937260"/>
            <a:chOff x="914400" y="685800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103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963288"/>
            <a:ext cx="4572000" cy="289560"/>
            <a:chOff x="914400" y="296328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96328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9648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9719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61" y="728091"/>
            <a:ext cx="4598035" cy="6346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unique_words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471170" marR="28765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seq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687070" marR="27146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seq</a:t>
            </a:r>
            <a:r>
              <a:rPr dirty="0" sz="850" spc="-2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unique_words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unique_words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6040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length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unique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words—</a:t>
            </a:r>
            <a:r>
              <a:rPr dirty="0" sz="1050" spc="-60">
                <a:latin typeface="Palatino Linotype"/>
                <a:cs typeface="Palatino Linotype"/>
              </a:rPr>
              <a:t>about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6000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way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counting.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inspect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longest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unique_words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sorted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sort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len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sor‐ 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length: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unique_words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)[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:]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93345" marR="3254375" indent="-5397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['chocolate-</a:t>
            </a:r>
            <a:r>
              <a:rPr dirty="0" sz="850" spc="-10">
                <a:latin typeface="SimSun"/>
                <a:cs typeface="SimSun"/>
              </a:rPr>
              <a:t>coloured', </a:t>
            </a:r>
            <a:r>
              <a:rPr dirty="0" sz="850" spc="-50">
                <a:latin typeface="SimSun"/>
                <a:cs typeface="SimSun"/>
              </a:rPr>
              <a:t>'superiors—</a:t>
            </a:r>
            <a:r>
              <a:rPr dirty="0" sz="850" spc="-10">
                <a:latin typeface="SimSun"/>
                <a:cs typeface="SimSun"/>
              </a:rPr>
              <a:t>behold!”', </a:t>
            </a:r>
            <a:r>
              <a:rPr dirty="0" sz="850" spc="-30">
                <a:latin typeface="SimSun"/>
                <a:cs typeface="SimSun"/>
              </a:rPr>
              <a:t>'coolness—</a:t>
            </a:r>
            <a:r>
              <a:rPr dirty="0" sz="850" spc="-10">
                <a:latin typeface="SimSun"/>
                <a:cs typeface="SimSun"/>
              </a:rPr>
              <a:t>frightened', </a:t>
            </a:r>
            <a:r>
              <a:rPr dirty="0" sz="850" spc="-30">
                <a:latin typeface="SimSun"/>
                <a:cs typeface="SimSun"/>
              </a:rPr>
              <a:t>'gentleman—</a:t>
            </a:r>
            <a:r>
              <a:rPr dirty="0" sz="850" spc="-10">
                <a:latin typeface="SimSun"/>
                <a:cs typeface="SimSun"/>
              </a:rPr>
              <a:t>something', </a:t>
            </a:r>
            <a:r>
              <a:rPr dirty="0" sz="850">
                <a:latin typeface="SimSun"/>
                <a:cs typeface="SimSun"/>
              </a:rPr>
              <a:t>'pocket-</a:t>
            </a:r>
            <a:r>
              <a:rPr dirty="0" sz="850" spc="-10">
                <a:latin typeface="SimSun"/>
                <a:cs typeface="SimSun"/>
              </a:rPr>
              <a:t>handkerchief.']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slice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index,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[-</a:t>
            </a:r>
            <a:r>
              <a:rPr dirty="0" sz="1000">
                <a:latin typeface="SimSun"/>
                <a:cs typeface="SimSun"/>
              </a:rPr>
              <a:t>5:]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selects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5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elements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sorted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longest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includes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some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legitimately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words,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“circumscription,”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some </a:t>
            </a:r>
            <a:r>
              <a:rPr dirty="0" sz="1050" spc="-55">
                <a:latin typeface="Palatino Linotype"/>
                <a:cs typeface="Palatino Linotype"/>
              </a:rPr>
              <a:t>hyphenated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“chocolate-</a:t>
            </a:r>
            <a:r>
              <a:rPr dirty="0" sz="1050" spc="-50">
                <a:latin typeface="Palatino Linotype"/>
                <a:cs typeface="Palatino Linotype"/>
              </a:rPr>
              <a:t>coloured.”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longest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“words”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40">
                <a:latin typeface="Palatino Linotype"/>
                <a:cs typeface="Palatino Linotype"/>
              </a:rPr>
              <a:t>actually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separated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dash.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include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punctuation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55">
                <a:latin typeface="Palatino Linotype"/>
                <a:cs typeface="Palatino Linotype"/>
              </a:rPr>
              <a:t>periods,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exclamation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quotation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marks.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So,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dashes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punctuation.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95" b="1">
                <a:latin typeface="Trebuchet MS"/>
                <a:cs typeface="Trebuchet MS"/>
              </a:rPr>
              <a:t>Punctuation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35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identify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issues: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4700"/>
              </a:lnSpc>
              <a:spcBef>
                <a:spcPts val="940"/>
              </a:spcBef>
              <a:buChar char="•"/>
              <a:tabLst>
                <a:tab pos="241300" algn="l"/>
              </a:tabLst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dash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line,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replace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space—</a:t>
            </a:r>
            <a:r>
              <a:rPr dirty="0" sz="1050" spc="-50">
                <a:latin typeface="Palatino Linotype"/>
                <a:cs typeface="Palatino Linotype"/>
              </a:rPr>
              <a:t>then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split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separated.</a:t>
            </a:r>
            <a:endParaRPr sz="1050">
              <a:latin typeface="Palatino Linotype"/>
              <a:cs typeface="Palatino Linotype"/>
            </a:endParaRPr>
          </a:p>
          <a:p>
            <a:pPr marL="241300" indent="-118745">
              <a:lnSpc>
                <a:spcPct val="100000"/>
              </a:lnSpc>
              <a:spcBef>
                <a:spcPts val="459"/>
              </a:spcBef>
              <a:buChar char="•"/>
              <a:tabLst>
                <a:tab pos="241300" algn="l"/>
              </a:tabLst>
            </a:pPr>
            <a:r>
              <a:rPr dirty="0" sz="1050" spc="-50">
                <a:latin typeface="Palatino Linotype"/>
                <a:cs typeface="Palatino Linotype"/>
              </a:rPr>
              <a:t>After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splitting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strip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punctuation.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handle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first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issue,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following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string, </a:t>
            </a:r>
            <a:r>
              <a:rPr dirty="0" sz="1050" spc="-55">
                <a:latin typeface="Palatino Linotype"/>
                <a:cs typeface="Palatino Linotype"/>
              </a:rPr>
              <a:t>replaces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dashes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splits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resulting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661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172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397510"/>
            <a:chOff x="914400" y="68580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662979"/>
            <a:ext cx="4572000" cy="289560"/>
            <a:chOff x="914400" y="166297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66297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6645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2398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605273"/>
            <a:ext cx="4572000" cy="505459"/>
            <a:chOff x="914400" y="3605273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60527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6068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39807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283406"/>
            <a:ext cx="4572000" cy="289560"/>
            <a:chOff x="914400" y="5283406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28340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2849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86030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501885"/>
            <a:ext cx="4572000" cy="829310"/>
            <a:chOff x="914400" y="6501885"/>
            <a:chExt cx="4572000" cy="8293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501885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5034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42" y="728091"/>
            <a:ext cx="4598035" cy="6511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935"/>
              </a:lnSpc>
              <a:spcBef>
                <a:spcPts val="10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split_line(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3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3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30">
                <a:solidFill>
                  <a:srgbClr val="074487"/>
                </a:solidFill>
                <a:latin typeface="SimSun"/>
                <a:cs typeface="SimSun"/>
              </a:rPr>
              <a:t>replace</a:t>
            </a:r>
            <a:r>
              <a:rPr dirty="0" sz="850" spc="-30">
                <a:latin typeface="SimSun"/>
                <a:cs typeface="SimSun"/>
              </a:rPr>
              <a:t>(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'—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1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650">
              <a:latin typeface="SimSun"/>
              <a:cs typeface="SimSun"/>
            </a:endParaRPr>
          </a:p>
          <a:p>
            <a:pPr marL="12700" marR="1457325">
              <a:lnSpc>
                <a:spcPct val="147600"/>
              </a:lnSpc>
            </a:pPr>
            <a:r>
              <a:rPr dirty="0" sz="1050" spc="-60">
                <a:latin typeface="Palatino Linotype"/>
                <a:cs typeface="Palatino Linotype"/>
              </a:rPr>
              <a:t>Notice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split_line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dashes,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hyphens.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 marL="39370" marR="2768600">
              <a:lnSpc>
                <a:spcPts val="2250"/>
              </a:lnSpc>
              <a:spcBef>
                <a:spcPts val="265"/>
              </a:spcBef>
            </a:pP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split_line</a:t>
            </a:r>
            <a:r>
              <a:rPr dirty="0" sz="850" spc="-20">
                <a:latin typeface="SimSun"/>
                <a:cs typeface="SimSun"/>
              </a:rPr>
              <a:t>(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'coolness—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frightened'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['coolness', </a:t>
            </a:r>
            <a:r>
              <a:rPr dirty="0" sz="850" spc="-10">
                <a:latin typeface="SimSun"/>
                <a:cs typeface="SimSun"/>
              </a:rPr>
              <a:t>'frightened']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0">
                <a:latin typeface="Palatino Linotype"/>
                <a:cs typeface="Palatino Linotype"/>
              </a:rPr>
              <a:t>Now,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remove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punctuation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strip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considered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punctuation.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200"/>
              </a:lnSpc>
              <a:spcBef>
                <a:spcPts val="585"/>
              </a:spcBef>
            </a:pP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Unicode,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international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used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represent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nearly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alphabet,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numbers,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symbols,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punctuation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marks,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more.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unicodedata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category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tell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punctuation.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Given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category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unicodedata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unicodedata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category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'Lu'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762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tego</a:t>
            </a:r>
            <a:r>
              <a:rPr dirty="0" sz="1050" spc="-1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'A'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'Lu'</a:t>
            </a:r>
            <a:r>
              <a:rPr dirty="0" sz="1050" spc="-55">
                <a:latin typeface="Palatino Linotype"/>
                <a:cs typeface="Palatino Linotype"/>
              </a:rPr>
              <a:t>—the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'L'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'u'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uppercase.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category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SimSun"/>
                <a:cs typeface="SimSun"/>
              </a:rPr>
              <a:t>'.'</a:t>
            </a:r>
            <a:r>
              <a:rPr dirty="0" sz="1000" spc="-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'Po'</a:t>
            </a:r>
            <a:r>
              <a:rPr dirty="0" sz="1050" spc="-30">
                <a:latin typeface="Palatino Linotype"/>
                <a:cs typeface="Palatino Linotype"/>
              </a:rPr>
              <a:t>—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SimSun"/>
                <a:cs typeface="SimSun"/>
              </a:rPr>
              <a:t>'P'</a:t>
            </a:r>
            <a:r>
              <a:rPr dirty="0" sz="1000" spc="-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means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punctuation,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SimSun"/>
                <a:cs typeface="SimSun"/>
              </a:rPr>
              <a:t>'o'</a:t>
            </a:r>
            <a:r>
              <a:rPr dirty="0" sz="1000" spc="-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means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its </a:t>
            </a:r>
            <a:r>
              <a:rPr dirty="0" sz="1050" spc="-60">
                <a:latin typeface="Palatino Linotype"/>
                <a:cs typeface="Palatino Linotype"/>
              </a:rPr>
              <a:t>subcategory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“other”:</a:t>
            </a:r>
            <a:endParaRPr sz="1050">
              <a:latin typeface="Palatino Linotype"/>
              <a:cs typeface="Palatino Linotype"/>
            </a:endParaRPr>
          </a:p>
          <a:p>
            <a:pPr marL="39370" marR="32004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unicodedata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category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'.'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'Po'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0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punctuation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marks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cate‐ </a:t>
            </a:r>
            <a:r>
              <a:rPr dirty="0" sz="1050" spc="-40">
                <a:latin typeface="Palatino Linotype"/>
                <a:cs typeface="Palatino Linotype"/>
              </a:rPr>
              <a:t>gories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begin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'P'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stores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unique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punctuation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marks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punc_marks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char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category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unicodedata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category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char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687070" marR="260667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category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startswith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punc_marks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char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618204" y="7731125"/>
            <a:ext cx="881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Punctuation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173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397510"/>
            <a:chOff x="914400" y="108203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668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00935"/>
            <a:ext cx="4572000" cy="397510"/>
            <a:chOff x="914400" y="240093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0093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0252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134360"/>
            <a:ext cx="4572000" cy="289560"/>
            <a:chOff x="914400" y="3134360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13436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1359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7112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192819"/>
            <a:ext cx="4572000" cy="289560"/>
            <a:chOff x="914400" y="4192819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1928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1944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76971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251278"/>
            <a:ext cx="4572000" cy="937260"/>
            <a:chOff x="914400" y="5251278"/>
            <a:chExt cx="4572000" cy="9372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251278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25286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47587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62" y="650030"/>
            <a:ext cx="4598035" cy="5732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punctuation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marks,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join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keys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punctuation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punc_marks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punctuation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35">
                <a:latin typeface="SimSun"/>
                <a:cs typeface="SimSun"/>
              </a:rPr>
              <a:t>.’;,-</a:t>
            </a:r>
            <a:r>
              <a:rPr dirty="0" sz="850" spc="-170">
                <a:latin typeface="SimSun"/>
                <a:cs typeface="SimSun"/>
              </a:rPr>
              <a:t>“”:?—</a:t>
            </a:r>
            <a:r>
              <a:rPr dirty="0" sz="850" spc="-10">
                <a:latin typeface="SimSun"/>
                <a:cs typeface="SimSun"/>
              </a:rPr>
              <a:t>‘!()_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characters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punctuation,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punctuation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65">
                <a:latin typeface="Palatino Linotype"/>
                <a:cs typeface="Palatino Linotype"/>
              </a:rPr>
              <a:t>verts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lowercase: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clean_word(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punctuation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 marL="39370" marR="3308350">
              <a:lnSpc>
                <a:spcPts val="2250"/>
              </a:lnSpc>
              <a:spcBef>
                <a:spcPts val="265"/>
              </a:spcBef>
            </a:pPr>
            <a:r>
              <a:rPr dirty="0" sz="850" spc="-45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45">
                <a:latin typeface="SimSun"/>
                <a:cs typeface="SimSun"/>
              </a:rPr>
              <a:t>(</a:t>
            </a:r>
            <a:r>
              <a:rPr dirty="0" sz="850" spc="-45">
                <a:solidFill>
                  <a:srgbClr val="7E0610"/>
                </a:solidFill>
                <a:latin typeface="SimSun"/>
                <a:cs typeface="SimSun"/>
              </a:rPr>
              <a:t>'“Behold!”'</a:t>
            </a:r>
            <a:r>
              <a:rPr dirty="0" sz="850" spc="-45">
                <a:latin typeface="SimSun"/>
                <a:cs typeface="SimSun"/>
              </a:rPr>
              <a:t>) </a:t>
            </a:r>
            <a:r>
              <a:rPr dirty="0" sz="850" spc="-10">
                <a:latin typeface="SimSun"/>
                <a:cs typeface="SimSun"/>
              </a:rPr>
              <a:t>'behold'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strip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removes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from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end,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leaves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hyphenated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alone:</a:t>
            </a:r>
            <a:endParaRPr sz="1050">
              <a:latin typeface="Palatino Linotype"/>
              <a:cs typeface="Palatino Linotype"/>
            </a:endParaRPr>
          </a:p>
          <a:p>
            <a:pPr marL="39370" marR="27686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'pocket-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handkerchief'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'pocket-</a:t>
            </a:r>
            <a:r>
              <a:rPr dirty="0" sz="850" spc="-10">
                <a:latin typeface="SimSun"/>
                <a:cs typeface="SimSun"/>
              </a:rPr>
              <a:t>handkerchief'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split_line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clean_word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</a:t>
            </a:r>
            <a:r>
              <a:rPr dirty="0" sz="1050" spc="-15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unique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unique_words2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unique_words2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unique_words2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4005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728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174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289560"/>
            <a:chOff x="914400" y="108203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907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039750"/>
            <a:ext cx="4572000" cy="1045210"/>
            <a:chOff x="914400" y="3039750"/>
            <a:chExt cx="4572000" cy="10452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039750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04133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5159757"/>
            <a:ext cx="4572000" cy="397510"/>
            <a:chOff x="914400" y="5159757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15975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1613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6733665"/>
            <a:ext cx="4572000" cy="289560"/>
            <a:chOff x="914400" y="6733665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73366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73525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01640" y="650030"/>
            <a:ext cx="4598035" cy="6281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stricter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is,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thousand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unique </a:t>
            </a:r>
            <a:r>
              <a:rPr dirty="0" sz="1050" spc="-70">
                <a:latin typeface="Palatino Linotype"/>
                <a:cs typeface="Palatino Linotype"/>
              </a:rPr>
              <a:t>words.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cleaned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up: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unique_words2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)[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:]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93345" marR="3308350" indent="-53975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['circumscription', 'unimpressionable', </a:t>
            </a:r>
            <a:r>
              <a:rPr dirty="0" sz="850">
                <a:latin typeface="SimSun"/>
                <a:cs typeface="SimSun"/>
              </a:rPr>
              <a:t>'fellow-</a:t>
            </a:r>
            <a:r>
              <a:rPr dirty="0" sz="850" spc="-10">
                <a:latin typeface="SimSun"/>
                <a:cs typeface="SimSun"/>
              </a:rPr>
              <a:t>creatures', </a:t>
            </a:r>
            <a:r>
              <a:rPr dirty="0" sz="850">
                <a:latin typeface="SimSun"/>
                <a:cs typeface="SimSun"/>
              </a:rPr>
              <a:t>'chocolate-</a:t>
            </a:r>
            <a:r>
              <a:rPr dirty="0" sz="850" spc="-10">
                <a:latin typeface="SimSun"/>
                <a:cs typeface="SimSun"/>
              </a:rPr>
              <a:t>coloured', </a:t>
            </a:r>
            <a:r>
              <a:rPr dirty="0" sz="850">
                <a:latin typeface="SimSun"/>
                <a:cs typeface="SimSun"/>
              </a:rPr>
              <a:t>'pocket-</a:t>
            </a:r>
            <a:r>
              <a:rPr dirty="0" sz="850" spc="-10">
                <a:latin typeface="SimSun"/>
                <a:cs typeface="SimSun"/>
              </a:rPr>
              <a:t>handkerchief']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40" b="1">
                <a:latin typeface="Trebuchet MS"/>
                <a:cs typeface="Trebuchet MS"/>
              </a:rPr>
              <a:t>Word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30" b="1">
                <a:latin typeface="Trebuchet MS"/>
                <a:cs typeface="Trebuchet MS"/>
              </a:rPr>
              <a:t>Frequencies</a:t>
            </a:r>
            <a:endParaRPr sz="19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frequency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unique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687070" marR="26066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initialize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frequency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</a:t>
            </a:r>
            <a:r>
              <a:rPr dirty="0" sz="1050">
                <a:latin typeface="Palatino Linotype"/>
                <a:cs typeface="Palatino Linotype"/>
              </a:rPr>
              <a:t>. If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 </a:t>
            </a:r>
            <a:r>
              <a:rPr dirty="0" sz="1050" spc="-70">
                <a:latin typeface="Palatino Linotype"/>
                <a:cs typeface="Palatino Linotype"/>
              </a:rPr>
              <a:t>again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later,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increment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frequency.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often,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items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70">
                <a:latin typeface="Palatino Linotype"/>
                <a:cs typeface="Palatino Linotype"/>
              </a:rPr>
              <a:t>key-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pairs </a:t>
            </a:r>
            <a:r>
              <a:rPr dirty="0" sz="1050" spc="-10">
                <a:latin typeface="Palatino Linotype"/>
                <a:cs typeface="Palatino Linotype"/>
              </a:rPr>
              <a:t>from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word_counter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sort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second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element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pair,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frequency.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selects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element: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second_element(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20">
                <a:latin typeface="SimSun"/>
                <a:cs typeface="SimSun"/>
              </a:rPr>
              <a:t>[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sorted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-10">
                <a:latin typeface="Palatino Linotype"/>
                <a:cs typeface="Palatino Linotype"/>
              </a:rPr>
              <a:t> arguments: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0">
                <a:latin typeface="SimSun"/>
                <a:cs typeface="SimSun"/>
              </a:rPr>
              <a:t>key=second_element</a:t>
            </a:r>
            <a:endParaRPr sz="1000">
              <a:latin typeface="SimSun"/>
              <a:cs typeface="SimSun"/>
            </a:endParaRPr>
          </a:p>
          <a:p>
            <a:pPr marL="241300">
              <a:lnSpc>
                <a:spcPct val="100000"/>
              </a:lnSpc>
              <a:spcBef>
                <a:spcPts val="1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sorted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according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frequencies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0">
                <a:latin typeface="SimSun"/>
                <a:cs typeface="SimSun"/>
              </a:rPr>
              <a:t>reverse=True</a:t>
            </a:r>
            <a:endParaRPr sz="1000">
              <a:latin typeface="SimSun"/>
              <a:cs typeface="SimSun"/>
            </a:endParaRPr>
          </a:p>
          <a:p>
            <a:pPr marL="240665">
              <a:lnSpc>
                <a:spcPct val="100000"/>
              </a:lnSpc>
              <a:spcBef>
                <a:spcPts val="1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sorted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reverse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first.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>
                <a:latin typeface="SimSun"/>
                <a:cs typeface="SimSun"/>
              </a:rPr>
              <a:t>(),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second_element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reverse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09869" y="7731125"/>
            <a:ext cx="10896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0" b="1">
                <a:latin typeface="Trebuchet MS"/>
                <a:cs typeface="Trebuchet MS"/>
              </a:rPr>
              <a:t>Word</a:t>
            </a:r>
            <a:r>
              <a:rPr dirty="0" sz="900" spc="-130" b="1">
                <a:latin typeface="Trebuchet MS"/>
                <a:cs typeface="Trebuchet MS"/>
              </a:rPr>
              <a:t> Frequencies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175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397510"/>
            <a:chOff x="914400" y="92201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386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482808"/>
            <a:ext cx="4572000" cy="289560"/>
            <a:chOff x="914400" y="3482808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4828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4843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05970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708822"/>
            <a:ext cx="4572000" cy="721360"/>
            <a:chOff x="914400" y="4708822"/>
            <a:chExt cx="4572000" cy="7213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708822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71040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6169871"/>
            <a:ext cx="4572000" cy="289560"/>
            <a:chOff x="914400" y="6169871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16987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1714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717856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700" y="650030"/>
            <a:ext cx="4584700" cy="577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8638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freq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10">
                <a:latin typeface="SimSun"/>
                <a:cs typeface="SimSun"/>
              </a:rPr>
              <a:t>]: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freq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30">
                <a:solidFill>
                  <a:srgbClr val="074487"/>
                </a:solidFill>
                <a:latin typeface="SimSun"/>
                <a:cs typeface="SimSun"/>
              </a:rPr>
              <a:t>sep</a:t>
            </a:r>
            <a:r>
              <a:rPr dirty="0" sz="850" spc="-3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30" b="1">
                <a:solidFill>
                  <a:srgbClr val="CC3300"/>
                </a:solidFill>
                <a:latin typeface="Courier New"/>
                <a:cs typeface="Courier New"/>
              </a:rPr>
              <a:t>\t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3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graphicFrame>
        <p:nvGraphicFramePr>
          <p:cNvPr id="18" name="object 18" descr=""/>
          <p:cNvGraphicFramePr>
            <a:graphicFrameLocks noGrp="1"/>
          </p:cNvGraphicFramePr>
          <p:nvPr/>
        </p:nvGraphicFramePr>
        <p:xfrm>
          <a:off x="909682" y="1389380"/>
          <a:ext cx="657225" cy="5391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5600"/>
                <a:gridCol w="301625"/>
              </a:tblGrid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1614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the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972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and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941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of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640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to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314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640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>
                          <a:latin typeface="SimSun"/>
                          <a:cs typeface="SimSun"/>
                        </a:rPr>
                        <a:t>i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9" name="object 19" descr=""/>
          <p:cNvSpPr txBox="1"/>
          <p:nvPr/>
        </p:nvSpPr>
        <p:spPr>
          <a:xfrm>
            <a:off x="901594" y="2080685"/>
            <a:ext cx="4598035" cy="4286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next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section,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encapsulate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loop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function.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demonstrate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feature—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5" b="1">
                <a:latin typeface="Trebuchet MS"/>
                <a:cs typeface="Trebuchet MS"/>
              </a:rPr>
              <a:t>Optional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Parameters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 spc="-120">
                <a:latin typeface="Palatino Linotype"/>
                <a:cs typeface="Palatino Linotype"/>
              </a:rPr>
              <a:t>We’ve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round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takes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optional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ndigits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indicates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decimal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places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10">
                <a:latin typeface="Palatino Linotype"/>
                <a:cs typeface="Palatino Linotype"/>
              </a:rPr>
              <a:t>keep:</a:t>
            </a:r>
            <a:endParaRPr sz="1050">
              <a:latin typeface="Palatino Linotype"/>
              <a:cs typeface="Palatino Linotype"/>
            </a:endParaRPr>
          </a:p>
          <a:p>
            <a:pPr marL="39370" marR="2660650">
              <a:lnSpc>
                <a:spcPts val="2250"/>
              </a:lnSpc>
              <a:spcBef>
                <a:spcPts val="26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3.141592653589793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ndigits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 3.142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it’s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just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functions—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parameters, </a:t>
            </a:r>
            <a:r>
              <a:rPr dirty="0" sz="1050">
                <a:latin typeface="Palatino Linotype"/>
                <a:cs typeface="Palatino Linotype"/>
              </a:rPr>
              <a:t>too.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following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word_counter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SimSun"/>
                <a:cs typeface="SimSun"/>
              </a:rPr>
              <a:t>num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print_most_common(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>
                <a:latin typeface="SimSun"/>
                <a:cs typeface="SimSun"/>
              </a:rPr>
              <a:t>(),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second_element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reverse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66065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freq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</a:t>
            </a:r>
            <a:r>
              <a:rPr dirty="0" sz="850" spc="-10">
                <a:latin typeface="SimSun"/>
                <a:cs typeface="SimSun"/>
              </a:rPr>
              <a:t>]: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freq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30">
                <a:solidFill>
                  <a:srgbClr val="074487"/>
                </a:solidFill>
                <a:latin typeface="SimSun"/>
                <a:cs typeface="SimSun"/>
              </a:rPr>
              <a:t>sep</a:t>
            </a:r>
            <a:r>
              <a:rPr dirty="0" sz="850" spc="-3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30" b="1">
                <a:solidFill>
                  <a:srgbClr val="CC3300"/>
                </a:solidFill>
                <a:latin typeface="Courier New"/>
                <a:cs typeface="Courier New"/>
              </a:rPr>
              <a:t>\t</a:t>
            </a:r>
            <a:r>
              <a:rPr dirty="0" sz="850" spc="-3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3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second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looks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assignment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statement,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it’s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not—</a:t>
            </a:r>
            <a:r>
              <a:rPr dirty="0" sz="1050" spc="-35">
                <a:latin typeface="Palatino Linotype"/>
                <a:cs typeface="Palatino Linotype"/>
              </a:rPr>
              <a:t>it’s</a:t>
            </a:r>
            <a:r>
              <a:rPr dirty="0" sz="1050" spc="1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parameter.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num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default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value</a:t>
            </a:r>
            <a:r>
              <a:rPr dirty="0" sz="1050" spc="-6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5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print_most_common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graphicFrame>
        <p:nvGraphicFramePr>
          <p:cNvPr id="20" name="object 20" descr=""/>
          <p:cNvGraphicFramePr>
            <a:graphicFrameLocks noGrp="1"/>
          </p:cNvGraphicFramePr>
          <p:nvPr/>
        </p:nvGraphicFramePr>
        <p:xfrm>
          <a:off x="909644" y="6529281"/>
          <a:ext cx="657225" cy="5397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5600"/>
                <a:gridCol w="301625"/>
              </a:tblGrid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1614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the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972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and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941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of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640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to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640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>
                          <a:latin typeface="SimSun"/>
                          <a:cs typeface="SimSun"/>
                        </a:rPr>
                        <a:t>i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1" name="object 21" descr=""/>
          <p:cNvSpPr txBox="1"/>
          <p:nvPr/>
        </p:nvSpPr>
        <p:spPr>
          <a:xfrm>
            <a:off x="901694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176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823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660185"/>
            <a:ext cx="4572000" cy="289560"/>
            <a:chOff x="914400" y="46601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6601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6617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5453214"/>
            <a:ext cx="4572000" cy="505459"/>
            <a:chOff x="914400" y="5453214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45321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4548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6629697"/>
            <a:ext cx="4572000" cy="829310"/>
            <a:chOff x="914400" y="6629697"/>
            <a:chExt cx="4572000" cy="8293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629697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6312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01700" y="650030"/>
            <a:ext cx="4597400" cy="636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num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instead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print_most_common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909679" y="1448984"/>
          <a:ext cx="657225" cy="323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5600"/>
                <a:gridCol w="301625"/>
              </a:tblGrid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0">
                          <a:latin typeface="SimSun"/>
                          <a:cs typeface="SimSun"/>
                        </a:rPr>
                        <a:t>1614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the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972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and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  <a:tr h="107950"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941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750"/>
                        </a:lnSpc>
                      </a:pPr>
                      <a:r>
                        <a:rPr dirty="0" sz="850" spc="-25">
                          <a:latin typeface="SimSun"/>
                          <a:cs typeface="SimSun"/>
                        </a:rPr>
                        <a:t>of</a:t>
                      </a:r>
                      <a:endParaRPr sz="850">
                        <a:latin typeface="SimSun"/>
                        <a:cs typeface="SimSu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7" name="object 17" descr=""/>
          <p:cNvSpPr txBox="1"/>
          <p:nvPr/>
        </p:nvSpPr>
        <p:spPr>
          <a:xfrm>
            <a:off x="901635" y="1848190"/>
            <a:ext cx="4598035" cy="551878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overrides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 spc="-10">
                <a:latin typeface="Palatino Linotype"/>
                <a:cs typeface="Palatino Linotype"/>
              </a:rPr>
              <a:t> value.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parame‐ </a:t>
            </a:r>
            <a:r>
              <a:rPr dirty="0" sz="1050" spc="-50">
                <a:latin typeface="Palatino Linotype"/>
                <a:cs typeface="Palatino Linotype"/>
              </a:rPr>
              <a:t>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Dictionary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Subtraction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spellcheck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book—th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mis‐ </a:t>
            </a:r>
            <a:r>
              <a:rPr dirty="0" sz="1050" spc="-60">
                <a:latin typeface="Palatino Linotype"/>
                <a:cs typeface="Palatino Linotype"/>
              </a:rPr>
              <a:t>spelled.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65">
                <a:latin typeface="Palatino Linotype"/>
                <a:cs typeface="Palatino Linotype"/>
              </a:rPr>
              <a:t>valid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pters,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95">
                <a:latin typeface="Palatino Linotype"/>
                <a:cs typeface="Palatino Linotype"/>
              </a:rPr>
              <a:t>’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considered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valid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games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Scrabble.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spellcheck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Robert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Louis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Steven‐ </a:t>
            </a:r>
            <a:r>
              <a:rPr dirty="0" sz="1050" spc="-45">
                <a:latin typeface="Palatino Linotype"/>
                <a:cs typeface="Palatino Linotype"/>
              </a:rPr>
              <a:t>so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problem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subtraction—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80">
                <a:latin typeface="Palatino Linotype"/>
                <a:cs typeface="Palatino Linotype"/>
              </a:rPr>
              <a:t>we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words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book)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list).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before,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words.txt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split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strings: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we’ll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store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words</a:t>
            </a:r>
            <a:r>
              <a:rPr dirty="0" sz="1050">
                <a:latin typeface="Palatino Linotype"/>
                <a:cs typeface="Palatino Linotype"/>
              </a:rPr>
              <a:t> as</a:t>
            </a:r>
            <a:r>
              <a:rPr dirty="0" sz="1050" spc="-55">
                <a:latin typeface="Palatino Linotype"/>
                <a:cs typeface="Palatino Linotype"/>
              </a:rPr>
              <a:t> keys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in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quickly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valid: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valid_words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 marR="32004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valid_words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125">
                <a:latin typeface="Palatino Linotype"/>
                <a:cs typeface="Palatino Linotype"/>
              </a:rPr>
              <a:t>Now,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identify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sub </a:t>
            </a:r>
            <a:r>
              <a:rPr dirty="0" sz="1000">
                <a:latin typeface="SimSun"/>
                <a:cs typeface="SimSun"/>
              </a:rPr>
              <a:t>tract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other: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subtract(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d1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9305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d2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d1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40553" y="7731125"/>
            <a:ext cx="12592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Dictionary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0" b="1">
                <a:latin typeface="Trebuchet MS"/>
                <a:cs typeface="Trebuchet MS"/>
              </a:rPr>
              <a:t>Subtraction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30" b="1">
                <a:latin typeface="Trebuchet MS"/>
                <a:cs typeface="Trebuchet MS"/>
              </a:rPr>
              <a:t>177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715049"/>
            <a:ext cx="4572000" cy="289560"/>
            <a:chOff x="914400" y="171504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71504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7166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7237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761569"/>
            <a:ext cx="4572000" cy="613410"/>
            <a:chOff x="914400" y="3761569"/>
            <a:chExt cx="4572000" cy="6134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76156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7631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4710894"/>
            <a:ext cx="4572000" cy="289560"/>
            <a:chOff x="914400" y="4710894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71089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7124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52877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700" y="650030"/>
            <a:ext cx="4598035" cy="1262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diff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subtract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valid_words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sample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misspelled,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common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diff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print_most_common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diff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28738" y="2043407"/>
            <a:ext cx="18732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35"/>
              </a:lnSpc>
              <a:spcBef>
                <a:spcPts val="100"/>
              </a:spcBef>
            </a:pPr>
            <a:r>
              <a:rPr dirty="0" sz="850" spc="-25">
                <a:latin typeface="SimSun"/>
                <a:cs typeface="SimSun"/>
              </a:rPr>
              <a:t>640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5">
                <a:latin typeface="SimSun"/>
                <a:cs typeface="SimSun"/>
              </a:rPr>
              <a:t>628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5">
                <a:latin typeface="SimSun"/>
                <a:cs typeface="SimSun"/>
              </a:rPr>
              <a:t>128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5">
                <a:latin typeface="SimSun"/>
                <a:cs typeface="SimSun"/>
              </a:rPr>
              <a:t>124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935"/>
              </a:lnSpc>
            </a:pPr>
            <a:r>
              <a:rPr dirty="0" sz="850" spc="-25">
                <a:latin typeface="SimSun"/>
                <a:cs typeface="SimSun"/>
              </a:rPr>
              <a:t>98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0538" y="2043407"/>
            <a:ext cx="457200" cy="58674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700" marR="382905">
              <a:lnSpc>
                <a:spcPts val="850"/>
              </a:lnSpc>
              <a:spcBef>
                <a:spcPts val="270"/>
              </a:spcBef>
            </a:pPr>
            <a:r>
              <a:rPr dirty="0" sz="850" spc="-50">
                <a:latin typeface="SimSun"/>
                <a:cs typeface="SimSun"/>
              </a:rPr>
              <a:t>i a</a:t>
            </a:r>
            <a:endParaRPr sz="850">
              <a:latin typeface="SimSun"/>
              <a:cs typeface="SimSun"/>
            </a:endParaRPr>
          </a:p>
          <a:p>
            <a:pPr marL="12700" marR="5080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utterson </a:t>
            </a:r>
            <a:r>
              <a:rPr dirty="0" sz="850" spc="-25">
                <a:latin typeface="SimSun"/>
                <a:cs typeface="SimSun"/>
              </a:rPr>
              <a:t>mr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0">
                <a:latin typeface="SimSun"/>
                <a:cs typeface="SimSun"/>
              </a:rPr>
              <a:t>hyde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43" y="2765764"/>
            <a:ext cx="4598035" cy="4603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common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“misspelled”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words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mostly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single-</a:t>
            </a:r>
            <a:r>
              <a:rPr dirty="0" sz="1050" spc="-10">
                <a:latin typeface="Palatino Linotype"/>
                <a:cs typeface="Palatino Linotype"/>
              </a:rPr>
              <a:t>letter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(Mr.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Utterson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Jekyll’s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friend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lawyer).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select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once,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likely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 </a:t>
            </a:r>
            <a:r>
              <a:rPr dirty="0" sz="1050" spc="-45">
                <a:latin typeface="Palatino Linotype"/>
                <a:cs typeface="Palatino Linotype"/>
              </a:rPr>
              <a:t>actual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misspell‐ </a:t>
            </a:r>
            <a:r>
              <a:rPr dirty="0" sz="1050" spc="-40">
                <a:latin typeface="Palatino Linotype"/>
                <a:cs typeface="Palatino Linotype"/>
              </a:rPr>
              <a:t>ings.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0">
                <a:latin typeface="Palatino Linotype"/>
                <a:cs typeface="Palatino Linotype"/>
              </a:rPr>
              <a:t>frequency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1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singletons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freq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diff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items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freq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singletons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singletons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:]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['gesticulated', 'abjection', 'circumscription', 'reindue', </a:t>
            </a:r>
            <a:r>
              <a:rPr dirty="0" sz="850" spc="-10">
                <a:latin typeface="SimSun"/>
                <a:cs typeface="SimSun"/>
              </a:rPr>
              <a:t>'fearstruck']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'reindue'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misspelling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'reinduce'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found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legitimate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0" b="1">
                <a:latin typeface="Trebuchet MS"/>
                <a:cs typeface="Trebuchet MS"/>
              </a:rPr>
              <a:t>Random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340" b="1">
                <a:latin typeface="Trebuchet MS"/>
                <a:cs typeface="Trebuchet MS"/>
              </a:rPr>
              <a:t>Numbers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480"/>
              </a:spcBef>
            </a:pP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step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toward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Markov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generation,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choose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random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word_counter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talk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randomness.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Given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inputs,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computer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deterministic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means </a:t>
            </a:r>
            <a:r>
              <a:rPr dirty="0" sz="1050" spc="-1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generate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outputs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time.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Determinism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usually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good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thing, </a:t>
            </a:r>
            <a:r>
              <a:rPr dirty="0" sz="1050" spc="-25">
                <a:latin typeface="Palatino Linotype"/>
                <a:cs typeface="Palatino Linotype"/>
              </a:rPr>
              <a:t>since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expect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calculation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yield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applications </a:t>
            </a:r>
            <a:r>
              <a:rPr dirty="0" sz="1050" spc="-55">
                <a:latin typeface="Palatino Linotype"/>
                <a:cs typeface="Palatino Linotype"/>
              </a:rPr>
              <a:t>though,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85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computer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unpredictable.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Games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more.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1706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178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965874"/>
            <a:ext cx="4572000" cy="289560"/>
            <a:chOff x="914400" y="19658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9658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9674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758903"/>
            <a:ext cx="4572000" cy="397510"/>
            <a:chOff x="914400" y="2758903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75890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7604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4437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917778"/>
            <a:ext cx="4572000" cy="289560"/>
            <a:chOff x="914400" y="391777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91777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9193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4946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052437"/>
            <a:ext cx="4572000" cy="289560"/>
            <a:chOff x="914400" y="505243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05243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0540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6293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950876"/>
            <a:ext cx="4572000" cy="397510"/>
            <a:chOff x="914400" y="5950876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95087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9524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6357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44" y="650030"/>
            <a:ext cx="4598035" cy="5892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aking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nondeterministic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difficult,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ys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fake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algorithms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p</a:t>
            </a:r>
            <a:r>
              <a:rPr dirty="0" sz="1050" spc="-55" b="1">
                <a:latin typeface="Palatino Linotype"/>
                <a:cs typeface="Palatino Linotype"/>
              </a:rPr>
              <a:t>s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55" b="1">
                <a:latin typeface="Palatino Linotype"/>
                <a:cs typeface="Palatino Linotype"/>
              </a:rPr>
              <a:t>u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50" b="1">
                <a:latin typeface="Palatino Linotype"/>
                <a:cs typeface="Palatino Linotype"/>
              </a:rPr>
              <a:t>an</a:t>
            </a:r>
            <a:r>
              <a:rPr dirty="0" sz="1050" spc="-50" b="1">
                <a:latin typeface="Palatino Linotype"/>
                <a:cs typeface="Palatino Linotype"/>
              </a:rPr>
              <a:t>d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50" b="1">
                <a:latin typeface="Palatino Linotype"/>
                <a:cs typeface="Palatino Linotype"/>
              </a:rPr>
              <a:t>m</a:t>
            </a:r>
            <a:r>
              <a:rPr dirty="0" sz="1050" spc="70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umbers.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</a:t>
            </a:r>
            <a:r>
              <a:rPr dirty="0" sz="1050" spc="-50">
                <a:latin typeface="Palatino Linotype"/>
                <a:cs typeface="Palatino Linotype"/>
              </a:rPr>
              <a:t>seudo‐ </a:t>
            </a:r>
            <a:r>
              <a:rPr dirty="0" sz="1050" spc="-55">
                <a:latin typeface="Palatino Linotype"/>
                <a:cs typeface="Palatino Linotype"/>
              </a:rPr>
              <a:t>random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random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deterministic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put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possible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distinguish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random.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00">
                <a:latin typeface="SimSun"/>
                <a:cs typeface="SimSun"/>
              </a:rPr>
              <a:t>random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module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provides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generate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pseudorandom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numbers—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simply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“random”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random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6985" indent="-635">
              <a:lnSpc>
                <a:spcPct val="100000"/>
              </a:lnSpc>
              <a:spcBef>
                <a:spcPts val="58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random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choice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chooses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random,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ving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probability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chosen: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call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again,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again,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 </a:t>
            </a:r>
            <a:r>
              <a:rPr dirty="0" sz="1050" spc="-20">
                <a:latin typeface="Palatino Linotype"/>
                <a:cs typeface="Palatino Linotype"/>
              </a:rPr>
              <a:t>one:</a:t>
            </a:r>
            <a:endParaRPr sz="1050">
              <a:latin typeface="Palatino Linotype"/>
              <a:cs typeface="Palatino Linotype"/>
            </a:endParaRPr>
          </a:p>
          <a:p>
            <a:pPr marL="39370" marR="36861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50">
                <a:latin typeface="SimSun"/>
                <a:cs typeface="SimSun"/>
              </a:rPr>
              <a:t>2</a:t>
            </a:r>
            <a:endParaRPr sz="850">
              <a:latin typeface="SimSun"/>
              <a:cs typeface="SimSun"/>
            </a:endParaRPr>
          </a:p>
          <a:p>
            <a:pPr algn="just" marL="12700" marR="300355">
              <a:lnSpc>
                <a:spcPct val="152300"/>
              </a:lnSpc>
              <a:spcBef>
                <a:spcPts val="334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85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expect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get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every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about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times.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choice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KeyError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09245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KeyError: </a:t>
            </a:r>
            <a:r>
              <a:rPr dirty="0" sz="850" spc="-25">
                <a:latin typeface="SimSun"/>
                <a:cs typeface="SimSun"/>
              </a:rPr>
              <a:t>422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key,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choice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'posture'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07613" y="7731125"/>
            <a:ext cx="10915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0" b="1">
                <a:latin typeface="Trebuchet MS"/>
                <a:cs typeface="Trebuchet MS"/>
              </a:rPr>
              <a:t>Random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Numbers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179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505459"/>
            <a:chOff x="914400" y="92201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148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752639"/>
            <a:ext cx="4572000" cy="289560"/>
            <a:chOff x="914400" y="2752639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75263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7542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545668"/>
            <a:ext cx="4572000" cy="289560"/>
            <a:chOff x="914400" y="354566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54566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5472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1225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604127"/>
            <a:ext cx="4572000" cy="397510"/>
            <a:chOff x="914400" y="4604127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60412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6057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28897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763002"/>
            <a:ext cx="4572000" cy="289560"/>
            <a:chOff x="914400" y="5763002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76300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7645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33990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36" y="650030"/>
            <a:ext cx="4598035" cy="6557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much</a:t>
            </a:r>
            <a:r>
              <a:rPr dirty="0" sz="1050" spc="-10">
                <a:latin typeface="Palatino Linotype"/>
                <a:cs typeface="Palatino Linotype"/>
              </a:rPr>
              <a:t> sense: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8765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ill-contained written apocryphal nor busy </a:t>
            </a:r>
            <a:r>
              <a:rPr dirty="0" sz="850" spc="-10">
                <a:latin typeface="SimSun"/>
                <a:cs typeface="SimSun"/>
              </a:rPr>
              <a:t>spoke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Part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problem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not </a:t>
            </a:r>
            <a:r>
              <a:rPr dirty="0" sz="1050" spc="-55">
                <a:latin typeface="Palatino Linotype"/>
                <a:cs typeface="Palatino Linotype"/>
              </a:rPr>
              <a:t>taking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account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 common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others.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results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better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choose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 </a:t>
            </a:r>
            <a:r>
              <a:rPr dirty="0" sz="1050" spc="-95">
                <a:latin typeface="Palatino Linotype"/>
                <a:cs typeface="Palatino Linotype"/>
              </a:rPr>
              <a:t>“weig</a:t>
            </a:r>
            <a:r>
              <a:rPr dirty="0" sz="1050" spc="-95">
                <a:latin typeface="Palatino Linotype"/>
                <a:cs typeface="Palatino Linotype"/>
              </a:rPr>
              <a:t>hts,”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chosen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715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word_counter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weig</a:t>
            </a:r>
            <a:r>
              <a:rPr dirty="0" sz="1050" spc="-105">
                <a:latin typeface="Palatino Linotype"/>
                <a:cs typeface="Palatino Linotype"/>
              </a:rPr>
              <a:t>h</a:t>
            </a:r>
            <a:r>
              <a:rPr dirty="0" sz="1050" spc="-35">
                <a:latin typeface="Palatino Linotype"/>
                <a:cs typeface="Palatino Linotype"/>
              </a:rPr>
              <a:t>ts,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chosen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proba‐ </a:t>
            </a:r>
            <a:r>
              <a:rPr dirty="0" sz="1050" spc="-45">
                <a:latin typeface="Palatino Linotype"/>
                <a:cs typeface="Palatino Linotype"/>
              </a:rPr>
              <a:t>bility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depends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frequenc</a:t>
            </a:r>
            <a:r>
              <a:rPr dirty="0" sz="1050" spc="-3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weights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random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choices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weights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 marL="39370" marR="24987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choices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weights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weights</a:t>
            </a:r>
            <a:r>
              <a:rPr dirty="0" sz="850" spc="-10">
                <a:latin typeface="SimSun"/>
                <a:cs typeface="SimSun"/>
              </a:rPr>
              <a:t>) ['than']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optional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k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specifies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number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10">
                <a:latin typeface="Palatino Linotype"/>
                <a:cs typeface="Palatino Linotype"/>
              </a:rPr>
              <a:t>select: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1419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random_words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choices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weights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weights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k</a:t>
            </a:r>
            <a:r>
              <a:rPr dirty="0" sz="850" spc="-2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random_words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['reach', 'streets', 'edward', 'a', 'said', </a:t>
            </a:r>
            <a:r>
              <a:rPr dirty="0" sz="850" spc="-10">
                <a:latin typeface="SimSun"/>
                <a:cs typeface="SimSun"/>
              </a:rPr>
              <a:t>'to']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strings</a:t>
            </a:r>
            <a:r>
              <a:rPr dirty="0" sz="1050" spc="-20">
                <a:latin typeface="Palatino Linotype"/>
                <a:cs typeface="Palatino Linotype"/>
              </a:rPr>
              <a:t> 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join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something</a:t>
            </a:r>
            <a:r>
              <a:rPr dirty="0" sz="1050" spc="-20">
                <a:latin typeface="Palatino Linotype"/>
                <a:cs typeface="Palatino Linotype"/>
              </a:rPr>
              <a:t> 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looks</a:t>
            </a:r>
            <a:r>
              <a:rPr dirty="0" sz="1050" spc="-20">
                <a:latin typeface="Palatino Linotype"/>
                <a:cs typeface="Palatino Linotype"/>
              </a:rPr>
              <a:t> 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sentence: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random_words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'reach streets edward a said </a:t>
            </a:r>
            <a:r>
              <a:rPr dirty="0" sz="850" spc="-25">
                <a:latin typeface="SimSun"/>
                <a:cs typeface="SimSun"/>
              </a:rPr>
              <a:t>to'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choose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random,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sense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vocabulary,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series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random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words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seldom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makes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sense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because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there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relationship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successive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words.</a:t>
            </a:r>
            <a:r>
              <a:rPr dirty="0" sz="1050">
                <a:latin typeface="Palatino Linotype"/>
                <a:cs typeface="Palatino Linotype"/>
              </a:rPr>
              <a:t> 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sentence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article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100">
                <a:latin typeface="Palatino Linotype"/>
                <a:cs typeface="Palatino Linotype"/>
              </a:rPr>
              <a:t>“the”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adjective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noun,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probably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verb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adverb.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step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relationships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694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180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744689"/>
            <a:ext cx="4572000" cy="289560"/>
            <a:chOff x="914400" y="274468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7446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7462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697738"/>
            <a:ext cx="4572000" cy="829310"/>
            <a:chOff x="914400" y="3697738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69773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6993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5754331"/>
            <a:ext cx="4572000" cy="289560"/>
            <a:chOff x="914400" y="5754331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575433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575591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6379806"/>
            <a:ext cx="4572000" cy="829310"/>
            <a:chOff x="914400" y="6379806"/>
            <a:chExt cx="4572000" cy="8293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6379806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1"/>
                  </a:moveTo>
                  <a:lnTo>
                    <a:pt x="0" y="828991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1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638139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67754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70"/>
              <a:t>Bigrams</a:t>
            </a:r>
            <a:endParaRPr sz="1900"/>
          </a:p>
        </p:txBody>
      </p:sp>
      <p:sp>
        <p:nvSpPr>
          <p:cNvPr id="15" name="object 15" descr=""/>
          <p:cNvSpPr txBox="1"/>
          <p:nvPr/>
        </p:nvSpPr>
        <p:spPr>
          <a:xfrm>
            <a:off x="901640" y="964024"/>
            <a:ext cx="4598035" cy="6153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Instead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looking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we’ll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words, </a:t>
            </a:r>
            <a:r>
              <a:rPr dirty="0" sz="1050" spc="-20">
                <a:latin typeface="Palatino Linotype"/>
                <a:cs typeface="Palatino Linotype"/>
              </a:rPr>
              <a:t>which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bigrams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sequence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three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b="1">
                <a:latin typeface="Palatino Linotype"/>
                <a:cs typeface="Palatino Linotype"/>
              </a:rPr>
              <a:t>trigram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unspecified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n-</a:t>
            </a:r>
            <a:r>
              <a:rPr dirty="0" sz="1050" spc="-10" b="1">
                <a:latin typeface="Palatino Linotype"/>
                <a:cs typeface="Palatino Linotype"/>
              </a:rPr>
              <a:t>gram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bigrams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where: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tuples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integers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frequencies.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1060"/>
              </a:spcBef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bigram_counter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bigram_counter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00" spc="-5">
                <a:latin typeface="SimSun"/>
                <a:cs typeface="SimSun"/>
              </a:rPr>
              <a:t>bigram_counter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increme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frequency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20040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count_bigram(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tuple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bigram_counter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bigram_counter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bigram_counter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book,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track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consecutive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words. </a:t>
            </a:r>
            <a:r>
              <a:rPr dirty="0" sz="1050" spc="-30">
                <a:latin typeface="Palatino Linotype"/>
                <a:cs typeface="Palatino Linotype"/>
              </a:rPr>
              <a:t>So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“man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one,”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would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add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bigrams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“man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is,” </a:t>
            </a:r>
            <a:r>
              <a:rPr dirty="0" sz="1050" spc="-85">
                <a:latin typeface="Palatino Linotype"/>
                <a:cs typeface="Palatino Linotype"/>
              </a:rPr>
              <a:t>“is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not,”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truly,”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keep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track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bigrams,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window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win‐ </a:t>
            </a:r>
            <a:r>
              <a:rPr dirty="0" sz="1050" spc="-70">
                <a:latin typeface="Palatino Linotype"/>
                <a:cs typeface="Palatino Linotype"/>
              </a:rPr>
              <a:t>dow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slides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over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book,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Ini‐ </a:t>
            </a:r>
            <a:r>
              <a:rPr dirty="0" sz="1050" spc="-60">
                <a:latin typeface="Palatino Linotype"/>
                <a:cs typeface="Palatino Linotype"/>
              </a:rPr>
              <a:t>tially,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window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empty: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time: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3083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process_word(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0384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count_bigram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71148" y="7731125"/>
            <a:ext cx="7283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5" b="1">
                <a:latin typeface="Trebuchet MS"/>
                <a:cs typeface="Trebuchet MS"/>
              </a:rPr>
              <a:t>Bigrams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181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217162"/>
            <a:ext cx="4572000" cy="613410"/>
            <a:chOff x="914400" y="2217162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217162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2187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334042"/>
            <a:ext cx="4572000" cy="289560"/>
            <a:chOff x="914400" y="3334042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33404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3356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34273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816767"/>
            <a:ext cx="4572000" cy="505459"/>
            <a:chOff x="914400" y="4816767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81676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8183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6229470"/>
            <a:ext cx="4572000" cy="397510"/>
            <a:chOff x="914400" y="6229470"/>
            <a:chExt cx="4572000" cy="3975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22947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2310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691431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663" y="657564"/>
            <a:ext cx="4598035" cy="2874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appends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word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 </a:t>
            </a:r>
            <a:r>
              <a:rPr dirty="0" sz="1000">
                <a:latin typeface="SimSun"/>
                <a:cs typeface="SimSun"/>
              </a:rPr>
              <a:t>window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window,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bigram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yet,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ends.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3099"/>
              </a:lnSpc>
              <a:spcBef>
                <a:spcPts val="56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called—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thereafter—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appends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00">
                <a:latin typeface="SimSun"/>
                <a:cs typeface="SimSun"/>
              </a:rPr>
              <a:t>window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window,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count_bigram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keep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track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bigram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appears.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uses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pop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remove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word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window.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through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processes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process_word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result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maps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bigram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number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print_most_common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bigrams: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print_most_common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bigram_counter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28731" y="3662400"/>
            <a:ext cx="18732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35"/>
              </a:lnSpc>
              <a:spcBef>
                <a:spcPts val="100"/>
              </a:spcBef>
            </a:pPr>
            <a:r>
              <a:rPr dirty="0" sz="850" spc="-25">
                <a:latin typeface="SimSun"/>
                <a:cs typeface="SimSun"/>
              </a:rPr>
              <a:t>178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5">
                <a:latin typeface="SimSun"/>
                <a:cs typeface="SimSun"/>
              </a:rPr>
              <a:t>139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5">
                <a:latin typeface="SimSun"/>
                <a:cs typeface="SimSun"/>
              </a:rPr>
              <a:t>94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 spc="-25">
                <a:latin typeface="SimSun"/>
                <a:cs typeface="SimSun"/>
              </a:rPr>
              <a:t>80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935"/>
              </a:lnSpc>
            </a:pPr>
            <a:r>
              <a:rPr dirty="0" sz="850" spc="-25">
                <a:latin typeface="SimSun"/>
                <a:cs typeface="SimSun"/>
              </a:rPr>
              <a:t>73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0531" y="3662400"/>
            <a:ext cx="781050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35"/>
              </a:lnSpc>
              <a:spcBef>
                <a:spcPts val="100"/>
              </a:spcBef>
            </a:pPr>
            <a:r>
              <a:rPr dirty="0" sz="850">
                <a:latin typeface="SimSun"/>
                <a:cs typeface="SimSun"/>
              </a:rPr>
              <a:t>('of', </a:t>
            </a:r>
            <a:r>
              <a:rPr dirty="0" sz="850" spc="-10">
                <a:latin typeface="SimSun"/>
                <a:cs typeface="SimSun"/>
              </a:rPr>
              <a:t>'the')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('in', </a:t>
            </a:r>
            <a:r>
              <a:rPr dirty="0" sz="850" spc="-10">
                <a:latin typeface="SimSun"/>
                <a:cs typeface="SimSun"/>
              </a:rPr>
              <a:t>'the')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('it', </a:t>
            </a:r>
            <a:r>
              <a:rPr dirty="0" sz="850" spc="-10">
                <a:latin typeface="SimSun"/>
                <a:cs typeface="SimSun"/>
              </a:rPr>
              <a:t>'was')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('and', </a:t>
            </a:r>
            <a:r>
              <a:rPr dirty="0" sz="850" spc="-10">
                <a:latin typeface="SimSun"/>
                <a:cs typeface="SimSun"/>
              </a:rPr>
              <a:t>'the')</a:t>
            </a:r>
            <a:endParaRPr sz="850">
              <a:latin typeface="SimSun"/>
              <a:cs typeface="SimSun"/>
            </a:endParaRPr>
          </a:p>
          <a:p>
            <a:pPr marL="1270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('to', </a:t>
            </a:r>
            <a:r>
              <a:rPr dirty="0" sz="850" spc="-10">
                <a:latin typeface="SimSun"/>
                <a:cs typeface="SimSun"/>
              </a:rPr>
              <a:t>'the')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35" y="4384757"/>
            <a:ext cx="4598035" cy="2917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Looking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sense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pairs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likely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together.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bigrams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bigram_counter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weights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bigram_counter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random_bigrams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choices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bigrams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weights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weights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k</a:t>
            </a:r>
            <a:r>
              <a:rPr dirty="0" sz="850" spc="-2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00" spc="-5">
                <a:latin typeface="SimSun"/>
                <a:cs typeface="SimSun"/>
              </a:rPr>
              <a:t>bigrams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weights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fre‐ </a:t>
            </a:r>
            <a:r>
              <a:rPr dirty="0" sz="1050" spc="-50">
                <a:latin typeface="Palatino Linotype"/>
                <a:cs typeface="Palatino Linotype"/>
              </a:rPr>
              <a:t>quencies,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random_bigrams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sa</a:t>
            </a:r>
            <a:r>
              <a:rPr dirty="0" sz="1050" spc="-114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probability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selected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45">
                <a:latin typeface="Palatino Linotype"/>
                <a:cs typeface="Palatino Linotype"/>
              </a:rPr>
              <a:t>proportional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frequenc</a:t>
            </a:r>
            <a:r>
              <a:rPr dirty="0" sz="1050" spc="-14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7146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random_bigrams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'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>
                <a:latin typeface="SimSun"/>
                <a:cs typeface="SimSun"/>
              </a:rPr>
              <a:t>),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to suggest this preface to detain fact is above all the </a:t>
            </a:r>
            <a:r>
              <a:rPr dirty="0" sz="850" spc="-10">
                <a:latin typeface="SimSun"/>
                <a:cs typeface="SimSun"/>
              </a:rPr>
              <a:t>laboratory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text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better </a:t>
            </a:r>
            <a:r>
              <a:rPr dirty="0" sz="1050" spc="-10">
                <a:latin typeface="Palatino Linotype"/>
                <a:cs typeface="Palatino Linotype"/>
              </a:rPr>
              <a:t>than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choosing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random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still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doesn’t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sense.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1723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182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56054"/>
            <a:ext cx="4572000" cy="829310"/>
            <a:chOff x="914400" y="1556054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5605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5764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881300"/>
            <a:ext cx="4572000" cy="289560"/>
            <a:chOff x="914400" y="2881300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8813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8828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506775"/>
            <a:ext cx="4572000" cy="397510"/>
            <a:chOff x="914400" y="3506775"/>
            <a:chExt cx="4572000" cy="3975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50677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5083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4407754"/>
            <a:ext cx="4572000" cy="397510"/>
            <a:chOff x="914400" y="4407754"/>
            <a:chExt cx="4572000" cy="3975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44077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44093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914400" y="50926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914400" y="5566629"/>
            <a:ext cx="4572000" cy="721360"/>
            <a:chOff x="914400" y="5566629"/>
            <a:chExt cx="4572000" cy="72136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556662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55682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914400" y="65753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914400" y="6889333"/>
            <a:ext cx="4572000" cy="640080"/>
            <a:chOff x="914400" y="6889333"/>
            <a:chExt cx="4572000" cy="640080"/>
          </a:xfrm>
        </p:grpSpPr>
        <p:sp>
          <p:nvSpPr>
            <p:cNvPr id="20" name="object 20" descr=""/>
            <p:cNvSpPr/>
            <p:nvPr/>
          </p:nvSpPr>
          <p:spPr>
            <a:xfrm>
              <a:off x="914400" y="6889333"/>
              <a:ext cx="4572000" cy="640080"/>
            </a:xfrm>
            <a:custGeom>
              <a:avLst/>
              <a:gdLst/>
              <a:ahLst/>
              <a:cxnLst/>
              <a:rect l="l" t="t" r="r" b="b"/>
              <a:pathLst>
                <a:path w="4572000" h="640079">
                  <a:moveTo>
                    <a:pt x="4572000" y="639860"/>
                  </a:moveTo>
                  <a:lnTo>
                    <a:pt x="0" y="639860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3986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914400" y="68909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29794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90"/>
              <a:t>Markov</a:t>
            </a:r>
            <a:r>
              <a:rPr dirty="0" sz="1900" spc="-254"/>
              <a:t> </a:t>
            </a:r>
            <a:r>
              <a:rPr dirty="0" sz="1900" spc="-270"/>
              <a:t>Analysis</a:t>
            </a:r>
            <a:endParaRPr sz="1900"/>
          </a:p>
        </p:txBody>
      </p:sp>
      <p:sp>
        <p:nvSpPr>
          <p:cNvPr id="23" name="object 23" descr=""/>
          <p:cNvSpPr txBox="1"/>
          <p:nvPr/>
        </p:nvSpPr>
        <p:spPr>
          <a:xfrm>
            <a:off x="901635" y="964024"/>
            <a:ext cx="4598035" cy="6929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better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Markov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analysis,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text,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next.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analyze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lyrics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Monty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“Eric,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Half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Bee”: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song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"""</a:t>
            </a:r>
            <a:endParaRPr sz="850">
              <a:latin typeface="SimSun"/>
              <a:cs typeface="SimSun"/>
            </a:endParaRPr>
          </a:p>
          <a:p>
            <a:pPr marL="39370" marR="27686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Half a bee,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philosophically,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Must, ipso facto, half not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be.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But half the bee has got to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be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Vis a vis, its entity. D'you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see?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"""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store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that </a:t>
            </a:r>
            <a:r>
              <a:rPr dirty="0" sz="1050" spc="-50">
                <a:latin typeface="Palatino Linotype"/>
                <a:cs typeface="Palatino Linotype"/>
              </a:rPr>
              <a:t>maps</a:t>
            </a:r>
            <a:r>
              <a:rPr dirty="0" sz="1050" spc="-10">
                <a:latin typeface="Palatino Linotype"/>
                <a:cs typeface="Palatino Linotype"/>
              </a:rPr>
              <a:t> from each </a:t>
            </a:r>
            <a:r>
              <a:rPr dirty="0" sz="1050" spc="-55">
                <a:latin typeface="Palatino Linotype"/>
                <a:cs typeface="Palatino Linotype"/>
              </a:rPr>
              <a:t>word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'half'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00" spc="-10">
                <a:latin typeface="SimSun"/>
                <a:cs typeface="SimSun"/>
              </a:rPr>
              <a:t>successor_map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maps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containing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{'half': </a:t>
            </a:r>
            <a:r>
              <a:rPr dirty="0" sz="850" spc="-10">
                <a:latin typeface="SimSun"/>
                <a:cs typeface="SimSun"/>
              </a:rPr>
              <a:t>['a']}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already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105">
                <a:latin typeface="Palatino Linotype"/>
                <a:cs typeface="Palatino Linotype"/>
              </a:rPr>
              <a:t>up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succes‐ </a:t>
            </a:r>
            <a:r>
              <a:rPr dirty="0" sz="1050" spc="-55">
                <a:latin typeface="Palatino Linotype"/>
                <a:cs typeface="Palatino Linotype"/>
              </a:rPr>
              <a:t>sors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far,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append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'half'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'not'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26606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{'half': ['a', </a:t>
            </a:r>
            <a:r>
              <a:rPr dirty="0" sz="850" spc="-10">
                <a:latin typeface="SimSun"/>
                <a:cs typeface="SimSun"/>
              </a:rPr>
              <a:t>'not']}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encapsulates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steps: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add_bigram(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24447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45" b="1">
                <a:latin typeface="Trebuchet MS"/>
                <a:cs typeface="Trebuchet MS"/>
              </a:rPr>
              <a:t>Markov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Analysis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25" b="1">
                <a:latin typeface="Trebuchet MS"/>
                <a:cs typeface="Trebuchet MS"/>
              </a:rPr>
              <a:t>183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237251"/>
            <a:ext cx="4572000" cy="829310"/>
            <a:chOff x="914400" y="2237251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237251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2388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402476"/>
            <a:ext cx="4572000" cy="829310"/>
            <a:chOff x="914400" y="3402476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402476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40406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4567701"/>
            <a:ext cx="4572000" cy="289560"/>
            <a:chOff x="914400" y="4567701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456770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456928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69797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914400" y="685800"/>
            <a:ext cx="4572000" cy="323850"/>
          </a:xfrm>
          <a:prstGeom prst="rect">
            <a:avLst/>
          </a:prstGeom>
          <a:solidFill>
            <a:srgbClr val="D9D9D9"/>
          </a:solidFill>
        </p:spPr>
        <p:txBody>
          <a:bodyPr wrap="square" lIns="0" tIns="0" rIns="0" bIns="0" rtlCol="0" vert="horz">
            <a:spAutoFit/>
          </a:bodyPr>
          <a:lstStyle/>
          <a:p>
            <a:pPr marL="242570">
              <a:lnSpc>
                <a:spcPts val="79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584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1635" y="1073892"/>
            <a:ext cx="4598035" cy="581279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once,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added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 </a:t>
            </a:r>
            <a:r>
              <a:rPr dirty="0" sz="1050" spc="-50">
                <a:latin typeface="Palatino Linotype"/>
                <a:cs typeface="Palatino Linotype"/>
              </a:rPr>
              <a:t>than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once.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way,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successor_map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keeps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track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many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each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successor </a:t>
            </a:r>
            <a:r>
              <a:rPr dirty="0" sz="1050" spc="-10">
                <a:latin typeface="Palatino Linotype"/>
                <a:cs typeface="Palatino Linotype"/>
              </a:rPr>
              <a:t>appears.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55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section,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window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pairs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45">
                <a:latin typeface="Palatino Linotype"/>
                <a:cs typeface="Palatino Linotype"/>
              </a:rPr>
              <a:t>secutive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process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time: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30525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process_word_bigram(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add_bigram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song: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255270" marR="29845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song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process_word_bigram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{'half': ['a', 'not', </a:t>
            </a:r>
            <a:r>
              <a:rPr dirty="0" sz="850" spc="-10">
                <a:latin typeface="SimSun"/>
                <a:cs typeface="SimSun"/>
              </a:rPr>
              <a:t>'the'],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'a': ['bee', </a:t>
            </a:r>
            <a:r>
              <a:rPr dirty="0" sz="850" spc="-10">
                <a:latin typeface="SimSun"/>
                <a:cs typeface="SimSun"/>
              </a:rPr>
              <a:t>'vis'],</a:t>
            </a:r>
            <a:endParaRPr sz="850">
              <a:latin typeface="SimSun"/>
              <a:cs typeface="SimSun"/>
            </a:endParaRPr>
          </a:p>
          <a:p>
            <a:pPr marL="93345" marR="2660650">
              <a:lnSpc>
                <a:spcPts val="850"/>
              </a:lnSpc>
              <a:spcBef>
                <a:spcPts val="85"/>
              </a:spcBef>
            </a:pPr>
            <a:r>
              <a:rPr dirty="0" sz="850">
                <a:latin typeface="SimSun"/>
                <a:cs typeface="SimSun"/>
              </a:rPr>
              <a:t>'bee': ['philosophically', </a:t>
            </a:r>
            <a:r>
              <a:rPr dirty="0" sz="850" spc="-10">
                <a:latin typeface="SimSun"/>
                <a:cs typeface="SimSun"/>
              </a:rPr>
              <a:t>'has'], </a:t>
            </a:r>
            <a:r>
              <a:rPr dirty="0" sz="850">
                <a:latin typeface="SimSun"/>
                <a:cs typeface="SimSun"/>
              </a:rPr>
              <a:t>'philosophically': </a:t>
            </a:r>
            <a:r>
              <a:rPr dirty="0" sz="850" spc="-10">
                <a:latin typeface="SimSun"/>
                <a:cs typeface="SimSun"/>
              </a:rPr>
              <a:t>['must'], </a:t>
            </a:r>
            <a:r>
              <a:rPr dirty="0" sz="850">
                <a:latin typeface="SimSun"/>
                <a:cs typeface="SimSun"/>
              </a:rPr>
              <a:t>'must': </a:t>
            </a:r>
            <a:r>
              <a:rPr dirty="0" sz="850" spc="-10">
                <a:latin typeface="SimSun"/>
                <a:cs typeface="SimSun"/>
              </a:rPr>
              <a:t>['ipso'],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'ipso': </a:t>
            </a:r>
            <a:r>
              <a:rPr dirty="0" sz="850" spc="-10">
                <a:latin typeface="SimSun"/>
                <a:cs typeface="SimSun"/>
              </a:rPr>
              <a:t>['facto'],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'facto': </a:t>
            </a:r>
            <a:r>
              <a:rPr dirty="0" sz="850" spc="-10">
                <a:latin typeface="SimSun"/>
                <a:cs typeface="SimSun"/>
              </a:rPr>
              <a:t>['half'],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'not': </a:t>
            </a:r>
            <a:r>
              <a:rPr dirty="0" sz="850" spc="-10">
                <a:latin typeface="SimSun"/>
                <a:cs typeface="SimSun"/>
              </a:rPr>
              <a:t>['be'],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'be': ['but', </a:t>
            </a:r>
            <a:r>
              <a:rPr dirty="0" sz="850" spc="-10">
                <a:latin typeface="SimSun"/>
                <a:cs typeface="SimSun"/>
              </a:rPr>
              <a:t>'vis'],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'but': </a:t>
            </a:r>
            <a:r>
              <a:rPr dirty="0" sz="850" spc="-10">
                <a:latin typeface="SimSun"/>
                <a:cs typeface="SimSun"/>
              </a:rPr>
              <a:t>['half'],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'the': </a:t>
            </a:r>
            <a:r>
              <a:rPr dirty="0" sz="850" spc="-10">
                <a:latin typeface="SimSun"/>
                <a:cs typeface="SimSun"/>
              </a:rPr>
              <a:t>['bee'],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'has': </a:t>
            </a:r>
            <a:r>
              <a:rPr dirty="0" sz="850" spc="-10">
                <a:latin typeface="SimSun"/>
                <a:cs typeface="SimSun"/>
              </a:rPr>
              <a:t>['got'],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'got': </a:t>
            </a:r>
            <a:r>
              <a:rPr dirty="0" sz="850" spc="-10">
                <a:latin typeface="SimSun"/>
                <a:cs typeface="SimSun"/>
              </a:rPr>
              <a:t>['to'],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'to': </a:t>
            </a:r>
            <a:r>
              <a:rPr dirty="0" sz="850" spc="-10">
                <a:latin typeface="SimSun"/>
                <a:cs typeface="SimSun"/>
              </a:rPr>
              <a:t>['be'],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'vis': ['a', </a:t>
            </a:r>
            <a:r>
              <a:rPr dirty="0" sz="850" spc="-10">
                <a:latin typeface="SimSun"/>
                <a:cs typeface="SimSun"/>
              </a:rPr>
              <a:t>'its'],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'its': </a:t>
            </a:r>
            <a:r>
              <a:rPr dirty="0" sz="850" spc="-10">
                <a:latin typeface="SimSun"/>
                <a:cs typeface="SimSun"/>
              </a:rPr>
              <a:t>['entity'],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'entity': </a:t>
            </a:r>
            <a:r>
              <a:rPr dirty="0" sz="850" spc="-10">
                <a:latin typeface="SimSun"/>
                <a:cs typeface="SimSun"/>
              </a:rPr>
              <a:t>["d'you"],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"d'you": </a:t>
            </a:r>
            <a:r>
              <a:rPr dirty="0" sz="850" spc="-10">
                <a:latin typeface="SimSun"/>
                <a:cs typeface="SimSun"/>
              </a:rPr>
              <a:t>['see']}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656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184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93348"/>
            <a:ext cx="4572000" cy="937260"/>
            <a:chOff x="914400" y="1493348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93348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949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766523"/>
            <a:ext cx="4572000" cy="289560"/>
            <a:chOff x="914400" y="2766523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76652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76811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34342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892462"/>
            <a:ext cx="4572000" cy="505459"/>
            <a:chOff x="914400" y="5892462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89246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8940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66852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61" y="657564"/>
            <a:ext cx="4598035" cy="593471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'half'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'a'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'not'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'the'</a:t>
            </a:r>
            <a:r>
              <a:rPr dirty="0" sz="1050">
                <a:latin typeface="Palatino Linotype"/>
                <a:cs typeface="Palatino Linotype"/>
              </a:rPr>
              <a:t>.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'a'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fol‐ </a:t>
            </a:r>
            <a:r>
              <a:rPr dirty="0" sz="1050" spc="-80">
                <a:latin typeface="Palatino Linotype"/>
                <a:cs typeface="Palatino Linotype"/>
              </a:rPr>
              <a:t>lowed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'bee'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'vis'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once,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fol‐ </a:t>
            </a:r>
            <a:r>
              <a:rPr dirty="0" sz="1050" spc="-90">
                <a:latin typeface="Palatino Linotype"/>
                <a:cs typeface="Palatino Linotype"/>
              </a:rPr>
              <a:t>lowed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analyze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process_word_bigram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'going'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['east', 'in', 'to', 'to', 'up', 'to', </a:t>
            </a:r>
            <a:r>
              <a:rPr dirty="0" sz="850" spc="-10">
                <a:latin typeface="SimSun"/>
                <a:cs typeface="SimSun"/>
              </a:rPr>
              <a:t>'of']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successors,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notice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'to'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times—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 </a:t>
            </a:r>
            <a:r>
              <a:rPr dirty="0" sz="1050" spc="-50">
                <a:latin typeface="Palatino Linotype"/>
                <a:cs typeface="Palatino Linotype"/>
              </a:rPr>
              <a:t>successors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once.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Generating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65" b="1">
                <a:latin typeface="Trebuchet MS"/>
                <a:cs typeface="Trebuchet MS"/>
              </a:rPr>
              <a:t>Text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 </a:t>
            </a:r>
            <a:r>
              <a:rPr dirty="0" sz="1050" spc="-55">
                <a:latin typeface="Palatino Linotype"/>
                <a:cs typeface="Palatino Linotype"/>
              </a:rPr>
              <a:t>rel</a:t>
            </a:r>
            <a:r>
              <a:rPr dirty="0" sz="1050" spc="-55">
                <a:latin typeface="Palatino Linotype"/>
                <a:cs typeface="Palatino Linotype"/>
              </a:rPr>
              <a:t>ationships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consecutive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original.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works: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300" algn="l"/>
              </a:tabLst>
            </a:pPr>
            <a:r>
              <a:rPr dirty="0" sz="1050" spc="-45">
                <a:latin typeface="Palatino Linotype"/>
                <a:cs typeface="Palatino Linotype"/>
              </a:rPr>
              <a:t>Starting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possible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successors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0">
                <a:latin typeface="Palatino Linotype"/>
                <a:cs typeface="Palatino Linotype"/>
              </a:rPr>
              <a:t> random.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300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Then,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chosen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its </a:t>
            </a:r>
            <a:r>
              <a:rPr dirty="0" sz="1050" spc="-50">
                <a:latin typeface="Palatino Linotype"/>
                <a:cs typeface="Palatino Linotype"/>
              </a:rPr>
              <a:t>possible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successors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choose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random.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940"/>
              </a:spcBef>
            </a:pP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repeat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generate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many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we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let’s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'although'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'although'</a:t>
            </a:r>
            <a:endParaRPr sz="850">
              <a:latin typeface="SimSun"/>
              <a:cs typeface="SimSun"/>
            </a:endParaRPr>
          </a:p>
          <a:p>
            <a:pPr marL="39370" marR="28225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['i', 'a', 'it', 'the', 'we', 'they', </a:t>
            </a:r>
            <a:r>
              <a:rPr dirty="0" sz="850" spc="-20">
                <a:latin typeface="SimSun"/>
                <a:cs typeface="SimSun"/>
              </a:rPr>
              <a:t>'i']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477589" y="7731125"/>
            <a:ext cx="10217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Generating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Text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185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144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164629"/>
            <a:ext cx="4572000" cy="613410"/>
            <a:chOff x="914400" y="2164629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16462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1662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0653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34" y="657564"/>
            <a:ext cx="4598035" cy="6501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choice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equal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probability: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39370" marR="28225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'i'</a:t>
            </a:r>
            <a:endParaRPr sz="850">
              <a:latin typeface="SimSun"/>
              <a:cs typeface="SimSun"/>
            </a:endParaRPr>
          </a:p>
          <a:p>
            <a:pPr marL="12700" marR="184150">
              <a:lnSpc>
                <a:spcPct val="147600"/>
              </a:lnSpc>
              <a:spcBef>
                <a:spcPts val="66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likely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selected. </a:t>
            </a:r>
            <a:r>
              <a:rPr dirty="0" sz="1050" spc="-60">
                <a:latin typeface="Palatino Linotype"/>
                <a:cs typeface="Palatino Linotype"/>
              </a:rPr>
              <a:t>Repeating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steps,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longer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series: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just" marL="255270" marR="26066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continue to hesitate and swallowed the smile withered from </a:t>
            </a:r>
            <a:r>
              <a:rPr dirty="0" sz="850" spc="-20">
                <a:latin typeface="SimSun"/>
                <a:cs typeface="SimSun"/>
              </a:rPr>
              <a:t>that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sounds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sentence,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much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sense.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55"/>
              </a:spcBef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successor_map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ple,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bigram—or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trigram—to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next.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analysis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35"/>
              </a:spcBef>
            </a:pPr>
            <a:r>
              <a:rPr dirty="0" sz="1050" spc="-85">
                <a:latin typeface="Palatino Linotype"/>
                <a:cs typeface="Palatino Linotype"/>
              </a:rPr>
              <a:t>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substantial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debugging.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stuck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5">
                <a:latin typeface="Palatino Linotype"/>
                <a:cs typeface="Palatino Linotype"/>
              </a:rPr>
              <a:t>difficult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few </a:t>
            </a:r>
            <a:r>
              <a:rPr dirty="0" sz="1050" spc="-50">
                <a:latin typeface="Palatino Linotype"/>
                <a:cs typeface="Palatino Linotype"/>
              </a:rPr>
              <a:t>things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try: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Reading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635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Examine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read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back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yourself,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check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says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55">
                <a:latin typeface="Palatino Linotype"/>
                <a:cs typeface="Palatino Linotype"/>
              </a:rPr>
              <a:t>meant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say.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Running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Experiment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by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changes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Often,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dis‐ </a:t>
            </a:r>
            <a:r>
              <a:rPr dirty="0" sz="1050" spc="-85">
                <a:latin typeface="Palatino Linotype"/>
                <a:cs typeface="Palatino Linotype"/>
              </a:rPr>
              <a:t>play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place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becomes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obvi‐ </a:t>
            </a:r>
            <a:r>
              <a:rPr dirty="0" sz="1050" spc="-60">
                <a:latin typeface="Palatino Linotype"/>
                <a:cs typeface="Palatino Linotype"/>
              </a:rPr>
              <a:t>ous,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build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scaffolding.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Ruminating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think!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it: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syntax,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runtime,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semantic? </a:t>
            </a:r>
            <a:r>
              <a:rPr dirty="0" sz="1050" spc="-50">
                <a:latin typeface="Palatino Linotype"/>
                <a:cs typeface="Palatino Linotype"/>
              </a:rPr>
              <a:t>What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messages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output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program?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kind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error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problem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you’re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seeing?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did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change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last,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problem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appeared?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749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186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5" y="650030"/>
            <a:ext cx="4598035" cy="5697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Rubberducking</a:t>
            </a:r>
            <a:endParaRPr sz="1050">
              <a:latin typeface="Palatino Linotype"/>
              <a:cs typeface="Palatino Linotype"/>
            </a:endParaRPr>
          </a:p>
          <a:p>
            <a:pPr algn="just" marL="240665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explain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problem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someone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else,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sometimes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answer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finish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question.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person;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60">
                <a:latin typeface="Palatino Linotype"/>
                <a:cs typeface="Palatino Linotype"/>
              </a:rPr>
              <a:t>could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just </a:t>
            </a:r>
            <a:r>
              <a:rPr dirty="0" sz="1050" spc="-45">
                <a:latin typeface="Palatino Linotype"/>
                <a:cs typeface="Palatino Linotype"/>
              </a:rPr>
              <a:t>talk</a:t>
            </a:r>
            <a:r>
              <a:rPr dirty="0" sz="1050">
                <a:latin typeface="Palatino Linotype"/>
                <a:cs typeface="Palatino Linotype"/>
              </a:rPr>
              <a:t> to a </a:t>
            </a:r>
            <a:r>
              <a:rPr dirty="0" sz="1050" spc="-50">
                <a:latin typeface="Palatino Linotype"/>
                <a:cs typeface="Palatino Linotype"/>
              </a:rPr>
              <a:t>rubber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duck.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that’s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origin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well-</a:t>
            </a:r>
            <a:r>
              <a:rPr dirty="0" sz="1050" spc="-75">
                <a:latin typeface="Palatino Linotype"/>
                <a:cs typeface="Palatino Linotype"/>
              </a:rPr>
              <a:t>known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strategy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rubber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duck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debugging</a:t>
            </a:r>
            <a:r>
              <a:rPr dirty="0" sz="1050" spc="-6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I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8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am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not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6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making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this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Retreating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635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thing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10">
                <a:latin typeface="Palatino Linotype"/>
                <a:cs typeface="Palatino Linotype"/>
              </a:rPr>
              <a:t>do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30">
                <a:latin typeface="Palatino Linotype"/>
                <a:cs typeface="Palatino Linotype"/>
              </a:rPr>
              <a:t>back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up—</a:t>
            </a:r>
            <a:r>
              <a:rPr dirty="0" sz="1050" spc="-55">
                <a:latin typeface="Palatino Linotype"/>
                <a:cs typeface="Palatino Linotype"/>
              </a:rPr>
              <a:t>undoing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recent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changes—</a:t>
            </a:r>
            <a:r>
              <a:rPr dirty="0" sz="1050" spc="-10">
                <a:latin typeface="Palatino Linotype"/>
                <a:cs typeface="Palatino Linotype"/>
              </a:rPr>
              <a:t>until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 rebuilding.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i="1">
                <a:latin typeface="Palatino Linotype"/>
                <a:cs typeface="Palatino Linotype"/>
              </a:rPr>
              <a:t>Resting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give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break,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problem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stuck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activities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others.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activity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own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failure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typogr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phical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conceptual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misunderstanding.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understand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</a:t>
            </a:r>
            <a:r>
              <a:rPr dirty="0" sz="1050" spc="-65">
                <a:latin typeface="Palatino Linotype"/>
                <a:cs typeface="Palatino Linotype"/>
              </a:rPr>
              <a:t>undred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75">
                <a:latin typeface="Palatino Linotype"/>
                <a:cs typeface="Palatino Linotype"/>
              </a:rPr>
              <a:t>R</a:t>
            </a:r>
            <a:r>
              <a:rPr dirty="0" sz="1050" spc="-55">
                <a:latin typeface="Palatino Linotype"/>
                <a:cs typeface="Palatino Linotype"/>
              </a:rPr>
              <a:t>unning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experime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especially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small,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tests.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experime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fig‐ </a:t>
            </a:r>
            <a:r>
              <a:rPr dirty="0" sz="1050" spc="-55">
                <a:latin typeface="Palatino Linotype"/>
                <a:cs typeface="Palatino Linotype"/>
              </a:rPr>
              <a:t>ure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ppening.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25">
                <a:latin typeface="Palatino Linotype"/>
                <a:cs typeface="Palatino Linotype"/>
              </a:rPr>
              <a:t>You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think.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experimental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science.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You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should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hypothesis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pos‐ </a:t>
            </a:r>
            <a:r>
              <a:rPr dirty="0" sz="1050" spc="-40">
                <a:latin typeface="Palatino Linotype"/>
                <a:cs typeface="Palatino Linotype"/>
              </a:rPr>
              <a:t>sibilities,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eliminate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But </a:t>
            </a:r>
            <a:r>
              <a:rPr dirty="0" sz="1050" spc="-65">
                <a:latin typeface="Palatino Linotype"/>
                <a:cs typeface="Palatino Linotype"/>
              </a:rPr>
              <a:t>even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debugging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techniques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fail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trying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complicated.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Sometimes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retreat,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simplifying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until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">
                <a:latin typeface="Palatino Linotype"/>
                <a:cs typeface="Palatino Linotype"/>
              </a:rPr>
              <a:t>B</a:t>
            </a:r>
            <a:r>
              <a:rPr dirty="0" sz="1050" spc="-55">
                <a:latin typeface="Palatino Linotype"/>
                <a:cs typeface="Palatino Linotype"/>
              </a:rPr>
              <a:t>eginning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relucta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</a:t>
            </a:r>
            <a:r>
              <a:rPr dirty="0" sz="1050" spc="-140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delete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(even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wrong).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feel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bette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copy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stripping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down.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copy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pieces </a:t>
            </a:r>
            <a:r>
              <a:rPr dirty="0" sz="1050" spc="-50">
                <a:latin typeface="Palatino Linotype"/>
                <a:cs typeface="Palatino Linotype"/>
              </a:rPr>
              <a:t>back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Finding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hard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bug</a:t>
            </a:r>
            <a:r>
              <a:rPr dirty="0" sz="1050" spc="-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reading,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running,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rumin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sometimes </a:t>
            </a:r>
            <a:r>
              <a:rPr dirty="0" sz="1050" spc="-45">
                <a:latin typeface="Palatino Linotype"/>
                <a:cs typeface="Palatino Linotype"/>
              </a:rPr>
              <a:t>resting.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stuck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activities,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666175" y="7731125"/>
            <a:ext cx="833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187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4503123"/>
            <a:ext cx="4572000" cy="937260"/>
            <a:chOff x="914400" y="4503123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4503123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450471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6819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00"/>
              <a:t>Glossary</a:t>
            </a:r>
            <a:endParaRPr sz="1900"/>
          </a:p>
        </p:txBody>
      </p:sp>
      <p:sp>
        <p:nvSpPr>
          <p:cNvPr id="6" name="object 6" descr=""/>
          <p:cNvSpPr txBox="1"/>
          <p:nvPr/>
        </p:nvSpPr>
        <p:spPr>
          <a:xfrm>
            <a:off x="901636" y="887824"/>
            <a:ext cx="4598035" cy="618109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default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value: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provided.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override: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deterministic: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deterministic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runs,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given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inputs.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pseudorandom: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pseudorandom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random,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65">
                <a:latin typeface="Palatino Linotype"/>
                <a:cs typeface="Palatino Linotype"/>
              </a:rPr>
              <a:t>generated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deterministic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bigram: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trigram: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n-</a:t>
            </a:r>
            <a:r>
              <a:rPr dirty="0" sz="1050" spc="-20" b="1">
                <a:latin typeface="Palatino Linotype"/>
                <a:cs typeface="Palatino Linotype"/>
              </a:rPr>
              <a:t>gram: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unspecified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rubber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duck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debugging:</a:t>
            </a:r>
            <a:r>
              <a:rPr dirty="0" sz="1050" spc="2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way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problem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aloud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55">
                <a:latin typeface="Palatino Linotype"/>
                <a:cs typeface="Palatino Linotype"/>
              </a:rPr>
              <a:t>inanimate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add_bigram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if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appends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exist‐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depending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add_bigram(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4447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first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"/>
              </a:spcBef>
            </a:pPr>
            <a:r>
              <a:rPr dirty="0" sz="1050" spc="-30">
                <a:latin typeface="Palatino Linotype"/>
                <a:cs typeface="Palatino Linotype"/>
              </a:rPr>
              <a:t>Dictionaries</a:t>
            </a:r>
            <a:r>
              <a:rPr dirty="0" sz="1050" spc="-40">
                <a:latin typeface="Palatino Linotype"/>
                <a:cs typeface="Palatino Linotype"/>
              </a:rPr>
              <a:t> provide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5">
                <a:latin typeface="Palatino Linotype"/>
                <a:cs typeface="Palatino Linotype"/>
              </a:rPr>
              <a:t>method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setdefault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 </a:t>
            </a:r>
            <a:r>
              <a:rPr dirty="0" sz="1050" spc="-30">
                <a:latin typeface="Palatino Linotype"/>
                <a:cs typeface="Palatino Linotype"/>
              </a:rPr>
              <a:t>thing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45">
                <a:latin typeface="Palatino Linotype"/>
                <a:cs typeface="Palatino Linotype"/>
              </a:rPr>
              <a:t> concisely.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virtual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works,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copy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add_word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setdefault</a:t>
            </a:r>
            <a:r>
              <a:rPr dirty="0" sz="1050" spc="-10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chapter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we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implemented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Markov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analysis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generation.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45">
                <a:latin typeface="Palatino Linotype"/>
                <a:cs typeface="Palatino Linotype"/>
              </a:rPr>
              <a:t>curious,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topic.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20">
                <a:latin typeface="Palatino Linotype"/>
                <a:cs typeface="Palatino Linotype"/>
              </a:rPr>
              <a:t>things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might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learn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virtual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assistants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algorithms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similar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5">
                <a:latin typeface="Palatino Linotype"/>
                <a:cs typeface="Palatino Linotype"/>
              </a:rPr>
              <a:t>many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ways—</a:t>
            </a:r>
            <a:r>
              <a:rPr dirty="0" sz="1050" spc="-2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important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ways.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large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language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models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ChatGPT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Markov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 </a:t>
            </a:r>
            <a:r>
              <a:rPr dirty="0" sz="1050" spc="-10">
                <a:latin typeface="Palatino Linotype"/>
                <a:cs typeface="Palatino Linotype"/>
              </a:rPr>
              <a:t>analysis?”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1675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188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570520"/>
            <a:ext cx="4572000" cy="829310"/>
            <a:chOff x="914400" y="3570520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570520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5721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4735744"/>
            <a:ext cx="4572000" cy="937260"/>
            <a:chOff x="914400" y="4735744"/>
            <a:chExt cx="4572000" cy="9372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4735744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473733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4" y="530706"/>
            <a:ext cx="4598035" cy="539178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459"/>
              </a:spcBef>
            </a:pPr>
            <a:r>
              <a:rPr dirty="0" sz="1050" spc="-2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trigram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(sequence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three </a:t>
            </a:r>
            <a:r>
              <a:rPr dirty="0" sz="1050" spc="-65">
                <a:latin typeface="Palatino Linotype"/>
                <a:cs typeface="Palatino Linotype"/>
              </a:rPr>
              <a:t>words)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 i="1">
                <a:latin typeface="Palatino Linotype"/>
                <a:cs typeface="Palatino Linotype"/>
              </a:rPr>
              <a:t>Dr.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Jekyll</a:t>
            </a:r>
            <a:r>
              <a:rPr dirty="0" sz="1050" i="1">
                <a:latin typeface="Palatino Linotype"/>
                <a:cs typeface="Palatino Linotype"/>
              </a:rPr>
              <a:t> and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85" i="1">
                <a:latin typeface="Palatino Linotype"/>
                <a:cs typeface="Palatino Linotype"/>
              </a:rPr>
              <a:t>Mr.</a:t>
            </a:r>
            <a:r>
              <a:rPr dirty="0" sz="1050" spc="20" i="1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Hyde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trigram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“said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lawyer.”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10">
                <a:latin typeface="Palatino Linotype"/>
                <a:cs typeface="Palatino Linotype"/>
              </a:rPr>
              <a:t>Hint: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count_trigram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similar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count_bigram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Then </a:t>
            </a:r>
            <a:r>
              <a:rPr dirty="0" sz="1050" spc="-25">
                <a:latin typeface="Palatino Linotype"/>
                <a:cs typeface="Palatino Linotype"/>
              </a:rPr>
              <a:t>write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process_word_trigram</a:t>
            </a:r>
            <a:r>
              <a:rPr dirty="0" sz="1000" spc="-4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similar</a:t>
            </a:r>
            <a:r>
              <a:rPr dirty="0" sz="1050" spc="1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process_word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_bigram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3499"/>
              </a:lnSpc>
              <a:spcBef>
                <a:spcPts val="415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arkov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analysis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possible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successors.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Starting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add_bigram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add_ trigram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upd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item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succes sor_map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possible </a:t>
            </a:r>
            <a:r>
              <a:rPr dirty="0" sz="1050" spc="-45">
                <a:latin typeface="Palatino Linotype"/>
                <a:cs typeface="Palatino Linotype"/>
              </a:rPr>
              <a:t>successor.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process_word_trigram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add_trigram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8765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process_word_trigram(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30924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add_trigram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window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successor_map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window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7146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split_line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clean_word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process_word_trigram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text.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45036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189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23593"/>
            <a:ext cx="4572000" cy="505459"/>
            <a:chOff x="914400" y="1523593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2359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25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3163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901635" y="519390"/>
            <a:ext cx="4598035" cy="433832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5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exercise,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assume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successor_map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maps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bigram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it. </a:t>
            </a:r>
            <a:r>
              <a:rPr dirty="0" sz="1050" spc="-65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random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text,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 </a:t>
            </a:r>
            <a:r>
              <a:rPr dirty="0" sz="1050" spc="-50">
                <a:latin typeface="Palatino Linotype"/>
                <a:cs typeface="Palatino Linotype"/>
              </a:rPr>
              <a:t>choosing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successor_map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146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successors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successor_map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bigram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choice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successors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bigram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('doubted', </a:t>
            </a:r>
            <a:r>
              <a:rPr dirty="0" sz="850" spc="-10">
                <a:latin typeface="SimSun"/>
                <a:cs typeface="SimSun"/>
              </a:rPr>
              <a:t>'if')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50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steps: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successor_map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bigram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Choose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random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5">
                <a:latin typeface="Palatino Linotype"/>
                <a:cs typeface="Palatino Linotype"/>
              </a:rPr>
              <a:t>next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iteration,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6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bigram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bigram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chosen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successor.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100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85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('doubted',</a:t>
            </a:r>
            <a:r>
              <a:rPr dirty="0" sz="1000" spc="55">
                <a:latin typeface="SimSun"/>
                <a:cs typeface="SimSun"/>
              </a:rPr>
              <a:t> </a:t>
            </a:r>
            <a:r>
              <a:rPr dirty="0" sz="1000" spc="-40">
                <a:latin typeface="SimSun"/>
                <a:cs typeface="SimSun"/>
              </a:rPr>
              <a:t>'if')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choose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'from'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its </a:t>
            </a:r>
            <a:r>
              <a:rPr dirty="0" sz="1050" spc="-55">
                <a:latin typeface="Palatino Linotype"/>
                <a:cs typeface="Palatino Linotype"/>
              </a:rPr>
              <a:t>successor,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bigram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('if',</a:t>
            </a:r>
            <a:r>
              <a:rPr dirty="0" sz="1000" spc="20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'from')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everything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generated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recognizably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simi‐ </a:t>
            </a:r>
            <a:r>
              <a:rPr dirty="0" sz="1050" spc="-20">
                <a:latin typeface="Palatino Linotype"/>
                <a:cs typeface="Palatino Linotype"/>
              </a:rPr>
              <a:t>lar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style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40">
                <a:latin typeface="Palatino Linotype"/>
                <a:cs typeface="Palatino Linotype"/>
              </a:rPr>
              <a:t>original,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phrases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sense,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20">
                <a:latin typeface="Palatino Linotype"/>
                <a:cs typeface="Palatino Linotype"/>
              </a:rPr>
              <a:t>text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wander 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topic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another.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40"/>
              </a:spcBef>
            </a:pPr>
            <a:r>
              <a:rPr dirty="0" sz="1050" spc="-7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bonus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solution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last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trigrams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 spc="-80">
                <a:latin typeface="Palatino Linotype"/>
                <a:cs typeface="Palatino Linotype"/>
              </a:rPr>
              <a:t>keys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successor_map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1675" y="7731125"/>
            <a:ext cx="19564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190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12: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70" b="1">
                <a:latin typeface="Trebuchet MS"/>
                <a:cs typeface="Trebuchet MS"/>
              </a:rPr>
              <a:t>Text</a:t>
            </a:r>
            <a:r>
              <a:rPr dirty="0" sz="900" spc="-130" b="1">
                <a:latin typeface="Trebuchet MS"/>
                <a:cs typeface="Trebuchet MS"/>
              </a:rPr>
              <a:t> Analysis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Generation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13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87780">
              <a:lnSpc>
                <a:spcPct val="100000"/>
              </a:lnSpc>
              <a:spcBef>
                <a:spcPts val="120"/>
              </a:spcBef>
            </a:pPr>
            <a:r>
              <a:rPr dirty="0" spc="-350"/>
              <a:t>Files</a:t>
            </a:r>
            <a:r>
              <a:rPr dirty="0" spc="-355"/>
              <a:t> </a:t>
            </a:r>
            <a:r>
              <a:rPr dirty="0" spc="-370"/>
              <a:t>and</a:t>
            </a:r>
            <a:r>
              <a:rPr dirty="0" spc="-350"/>
              <a:t> </a:t>
            </a:r>
            <a:r>
              <a:rPr dirty="0" spc="-360"/>
              <a:t>Databases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901641" y="3044843"/>
            <a:ext cx="4598035" cy="402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Most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ephemeral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sense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run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short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produce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output,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their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disappears.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Each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ephemeral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clean</a:t>
            </a:r>
            <a:r>
              <a:rPr dirty="0" sz="1050" spc="-10">
                <a:latin typeface="Palatino Linotype"/>
                <a:cs typeface="Palatino Linotype"/>
              </a:rPr>
              <a:t> slate.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p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25" b="1">
                <a:latin typeface="Palatino Linotype"/>
                <a:cs typeface="Palatino Linotype"/>
              </a:rPr>
              <a:t>r</a:t>
            </a:r>
            <a:r>
              <a:rPr dirty="0" sz="1050" spc="-35" b="1">
                <a:latin typeface="Palatino Linotype"/>
                <a:cs typeface="Palatino Linotype"/>
              </a:rPr>
              <a:t>s</a:t>
            </a:r>
            <a:r>
              <a:rPr dirty="0" sz="1050" spc="-45" b="1">
                <a:latin typeface="Palatino Linotype"/>
                <a:cs typeface="Palatino Linotype"/>
              </a:rPr>
              <a:t>i</a:t>
            </a:r>
            <a:r>
              <a:rPr dirty="0" sz="1050" spc="-65" b="1">
                <a:latin typeface="Palatino Linotype"/>
                <a:cs typeface="Palatino Linotype"/>
              </a:rPr>
              <a:t>s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time);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50">
                <a:latin typeface="Palatino Linotype"/>
                <a:cs typeface="Palatino Linotype"/>
              </a:rPr>
              <a:t>least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long-term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storage;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50">
                <a:latin typeface="Palatino Linotype"/>
                <a:cs typeface="Palatino Linotype"/>
              </a:rPr>
              <a:t>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down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restart,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 </a:t>
            </a:r>
            <a:r>
              <a:rPr dirty="0" sz="1050" spc="-50">
                <a:latin typeface="Palatino Linotype"/>
                <a:cs typeface="Palatino Linotype"/>
              </a:rPr>
              <a:t>pick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left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off.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tain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files.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vers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tile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tive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tabase.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tabases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specialized </a:t>
            </a:r>
            <a:r>
              <a:rPr dirty="0" sz="1050" spc="-45">
                <a:latin typeface="Palatino Linotype"/>
                <a:cs typeface="Palatino Linotype"/>
              </a:rPr>
              <a:t>files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written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efficie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tly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 </a:t>
            </a:r>
            <a:r>
              <a:rPr dirty="0" sz="1050" spc="-50">
                <a:latin typeface="Palatino Linotype"/>
                <a:cs typeface="Palatino Linotype"/>
              </a:rPr>
              <a:t>additional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pabilities.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databases,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searches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collection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photos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dupli‐ </a:t>
            </a:r>
            <a:r>
              <a:rPr dirty="0" sz="1050" spc="-40">
                <a:latin typeface="Palatino Linotype"/>
                <a:cs typeface="Palatino Linotype"/>
              </a:rPr>
              <a:t>cates.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before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file‐ </a:t>
            </a:r>
            <a:r>
              <a:rPr dirty="0" sz="1050" spc="-55">
                <a:latin typeface="Palatino Linotype"/>
                <a:cs typeface="Palatino Linotype"/>
              </a:rPr>
              <a:t>names,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paths,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directories.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Filenames</a:t>
            </a:r>
            <a:r>
              <a:rPr dirty="0" sz="1900" spc="-25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5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Paths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Files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organized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directories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“folders.”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current </a:t>
            </a:r>
            <a:r>
              <a:rPr dirty="0" sz="1050" spc="-65" b="1">
                <a:latin typeface="Palatino Linotype"/>
                <a:cs typeface="Palatino Linotype"/>
              </a:rPr>
              <a:t>working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directory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default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45">
                <a:latin typeface="Palatino Linotype"/>
                <a:cs typeface="Palatino Linotype"/>
              </a:rPr>
              <a:t>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operations.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</a:t>
            </a:r>
            <a:r>
              <a:rPr dirty="0" sz="1050" spc="-60">
                <a:latin typeface="Palatino Linotype"/>
                <a:cs typeface="Palatino Linotype"/>
              </a:rPr>
              <a:t>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open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directory.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63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os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directories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</a:t>
            </a:r>
            <a:r>
              <a:rPr dirty="0" sz="1050" spc="-150">
                <a:latin typeface="Palatino Linotype"/>
                <a:cs typeface="Palatino Linotype"/>
              </a:rPr>
              <a:t>“</a:t>
            </a:r>
            <a:r>
              <a:rPr dirty="0" sz="1050" spc="-55">
                <a:latin typeface="Palatino Linotype"/>
                <a:cs typeface="Palatino Linotype"/>
              </a:rPr>
              <a:t>o</a:t>
            </a:r>
            <a:r>
              <a:rPr dirty="0" sz="1050" spc="-90">
                <a:latin typeface="Palatino Linotype"/>
                <a:cs typeface="Palatino Linotype"/>
              </a:rPr>
              <a:t>s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stands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syste</a:t>
            </a:r>
            <a:r>
              <a:rPr dirty="0" sz="1050" spc="-195">
                <a:latin typeface="Palatino Linotype"/>
                <a:cs typeface="Palatino Linotype"/>
              </a:rPr>
              <a:t>m</a:t>
            </a:r>
            <a:r>
              <a:rPr dirty="0" sz="1050" spc="-40">
                <a:latin typeface="Palatino Linotype"/>
                <a:cs typeface="Palatino Linotype"/>
              </a:rPr>
              <a:t>”).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getcwd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curre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33765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191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505459"/>
            <a:chOff x="914400" y="685800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785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117885"/>
            <a:ext cx="4572000" cy="289560"/>
            <a:chOff x="914400" y="31178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1178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1194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6947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343898"/>
            <a:ext cx="4572000" cy="289560"/>
            <a:chOff x="914400" y="434389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34389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3454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9207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394823"/>
            <a:ext cx="4572000" cy="289560"/>
            <a:chOff x="914400" y="5394823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39482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3964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9717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6293262"/>
            <a:ext cx="4572000" cy="289560"/>
            <a:chOff x="914400" y="6293262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629326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629484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87015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6947947"/>
            <a:ext cx="4572000" cy="289560"/>
            <a:chOff x="914400" y="6947947"/>
            <a:chExt cx="4572000" cy="28956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694794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1"/>
                  </a:moveTo>
                  <a:lnTo>
                    <a:pt x="0" y="289241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1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69495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752484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901642" y="728091"/>
            <a:ext cx="4598035" cy="7165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5" b="1">
                <a:latin typeface="Courier New"/>
                <a:cs typeface="Courier New"/>
              </a:rPr>
              <a:t>os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getcwd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'/home/dinsdale'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home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dinsdale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'/home/dinsdale'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tifies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p</a:t>
            </a:r>
            <a:r>
              <a:rPr dirty="0" sz="1050" spc="-35" b="1">
                <a:latin typeface="Palatino Linotype"/>
                <a:cs typeface="Palatino Linotype"/>
              </a:rPr>
              <a:t>ath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62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filename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like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'memo.txt'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35">
                <a:latin typeface="Palatino Linotype"/>
                <a:cs typeface="Palatino Linotype"/>
              </a:rPr>
              <a:t> 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considered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relative</a:t>
            </a:r>
            <a:r>
              <a:rPr dirty="0" sz="1050" spc="-20" b="1">
                <a:latin typeface="Palatino Linotype"/>
                <a:cs typeface="Palatino Linotype"/>
              </a:rPr>
              <a:t> path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specifies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relative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25">
                <a:latin typeface="Palatino Linotype"/>
                <a:cs typeface="Palatino Linotype"/>
              </a:rPr>
              <a:t>current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directory.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current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/home/dinsdale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'memo.txt'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equivalent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complete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path </a:t>
            </a:r>
            <a:r>
              <a:rPr dirty="0" sz="1000" spc="-10">
                <a:latin typeface="SimSun"/>
                <a:cs typeface="SimSun"/>
              </a:rPr>
              <a:t>'/home/dinsdale/memo.txt'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path</a:t>
            </a:r>
            <a:r>
              <a:rPr dirty="0" sz="1050" spc="-25">
                <a:latin typeface="Palatino Linotype"/>
                <a:cs typeface="Palatino Linotype"/>
              </a:rPr>
              <a:t> 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/</a:t>
            </a:r>
            <a:r>
              <a:rPr dirty="0" sz="1000" spc="-1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 </a:t>
            </a:r>
            <a:r>
              <a:rPr dirty="0" sz="1050" spc="-60">
                <a:latin typeface="Palatino Linotype"/>
                <a:cs typeface="Palatino Linotype"/>
              </a:rPr>
              <a:t>depend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current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directory—</a:t>
            </a:r>
            <a:r>
              <a:rPr dirty="0" sz="1050">
                <a:latin typeface="Palatino Linotype"/>
                <a:cs typeface="Palatino Linotype"/>
              </a:rPr>
              <a:t>it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50" spc="-60" b="1">
                <a:latin typeface="Palatino Linotype"/>
                <a:cs typeface="Palatino Linotype"/>
              </a:rPr>
              <a:t>absolute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path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absolute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abspath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0924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abspath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'memo.txt'</a:t>
            </a:r>
            <a:r>
              <a:rPr dirty="0" sz="850" spc="-10">
                <a:latin typeface="SimSun"/>
                <a:cs typeface="SimSun"/>
              </a:rPr>
              <a:t>) '/home/dinsdale/memo.txt'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SimSun"/>
                <a:cs typeface="SimSun"/>
              </a:rPr>
              <a:t>os</a:t>
            </a:r>
            <a:r>
              <a:rPr dirty="0" sz="1000" spc="-2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filenames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paths.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list </a:t>
            </a:r>
            <a:r>
              <a:rPr dirty="0" sz="1000">
                <a:latin typeface="SimSun"/>
                <a:cs typeface="SimSun"/>
              </a:rPr>
              <a:t>dir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returns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contents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given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directory,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including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 </a:t>
            </a:r>
            <a:r>
              <a:rPr dirty="0" sz="1050" spc="-45">
                <a:latin typeface="Palatino Linotype"/>
                <a:cs typeface="Palatino Linotype"/>
              </a:rPr>
              <a:t>directories.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directory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photos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listdir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['notes.txt', 'mar-2023', 'jan-2023', 'feb-</a:t>
            </a:r>
            <a:r>
              <a:rPr dirty="0" sz="850" spc="-10">
                <a:latin typeface="SimSun"/>
                <a:cs typeface="SimSun"/>
              </a:rPr>
              <a:t>2023']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text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notes.txt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three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directories.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20">
                <a:latin typeface="Palatino Linotype"/>
                <a:cs typeface="Palatino Linotype"/>
              </a:rPr>
              <a:t>directo‐ </a:t>
            </a:r>
            <a:r>
              <a:rPr dirty="0" sz="1050" spc="-50">
                <a:latin typeface="Palatino Linotype"/>
                <a:cs typeface="Palatino Linotype"/>
              </a:rPr>
              <a:t>ries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image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JPEG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format:</a:t>
            </a:r>
            <a:endParaRPr sz="1050">
              <a:latin typeface="Palatino Linotype"/>
              <a:cs typeface="Palatino Linotype"/>
            </a:endParaRPr>
          </a:p>
          <a:p>
            <a:pPr marL="39370" marR="22828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listdir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'photos/jan-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2023'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['photo3.jpg', 'photo2.jpg', </a:t>
            </a:r>
            <a:r>
              <a:rPr dirty="0" sz="850" spc="-10">
                <a:latin typeface="SimSun"/>
                <a:cs typeface="SimSun"/>
              </a:rPr>
              <a:t>'photo1.jpg']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directory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os.path.exists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exists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 marL="39370" marR="2768600">
              <a:lnSpc>
                <a:spcPct val="220800"/>
              </a:lnSpc>
              <a:spcBef>
                <a:spcPts val="65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exists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'photos/apr-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2023'</a:t>
            </a:r>
            <a:r>
              <a:rPr dirty="0" sz="850" spc="-10">
                <a:latin typeface="SimSun"/>
                <a:cs typeface="SimSun"/>
              </a:rPr>
              <a:t>) 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dirty="0" sz="900" spc="-65" b="1">
                <a:latin typeface="Trebuchet MS"/>
                <a:cs typeface="Trebuchet MS"/>
              </a:rPr>
              <a:t>192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95547"/>
            <a:ext cx="4572000" cy="289560"/>
            <a:chOff x="914400" y="199554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9554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971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57244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097861"/>
            <a:ext cx="4572000" cy="289560"/>
            <a:chOff x="914400" y="4097861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09786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09944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67475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6271386"/>
            <a:ext cx="4572000" cy="397510"/>
            <a:chOff x="914400" y="6271386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627138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62729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901627" y="657564"/>
            <a:ext cx="4598035" cy="7236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refers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directory,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isdir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returns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directory:</a:t>
            </a:r>
            <a:endParaRPr sz="1050">
              <a:latin typeface="Palatino Linotype"/>
              <a:cs typeface="Palatino Linotype"/>
            </a:endParaRPr>
          </a:p>
          <a:p>
            <a:pPr marL="39370" marR="330835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isdir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isfile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file:</a:t>
            </a:r>
            <a:endParaRPr sz="1050">
              <a:latin typeface="Palatino Linotype"/>
              <a:cs typeface="Palatino Linotype"/>
            </a:endParaRPr>
          </a:p>
          <a:p>
            <a:pPr marL="39370" marR="27146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isfile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'photos/notes.txt'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 indent="-635">
              <a:lnSpc>
                <a:spcPct val="101200"/>
              </a:lnSpc>
            </a:pP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challenge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ths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 </a:t>
            </a:r>
            <a:r>
              <a:rPr dirty="0" sz="1050" spc="-60">
                <a:latin typeface="Palatino Linotype"/>
                <a:cs typeface="Palatino Linotype"/>
              </a:rPr>
              <a:t>systems.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macOS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U</a:t>
            </a:r>
            <a:r>
              <a:rPr dirty="0" sz="1050" spc="-40">
                <a:latin typeface="Palatino Linotype"/>
                <a:cs typeface="Palatino Linotype"/>
              </a:rPr>
              <a:t>nix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ux,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filenames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separ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85">
                <a:latin typeface="Palatino Linotype"/>
                <a:cs typeface="Palatino Linotype"/>
              </a:rPr>
              <a:t>ward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slash,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/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</a:t>
            </a:r>
            <a:r>
              <a:rPr dirty="0" sz="1050" spc="-70">
                <a:latin typeface="Palatino Linotype"/>
                <a:cs typeface="Palatino Linotype"/>
              </a:rPr>
              <a:t>indows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slash,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\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</a:t>
            </a:r>
            <a:r>
              <a:rPr dirty="0" sz="1050" spc="-85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</a:t>
            </a:r>
            <a:r>
              <a:rPr dirty="0" sz="1050" spc="-65">
                <a:latin typeface="Palatino Linotype"/>
                <a:cs typeface="Palatino Linotype"/>
              </a:rPr>
              <a:t>indows,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slashes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70">
                <a:latin typeface="Palatino Linotype"/>
                <a:cs typeface="Palatino Linotype"/>
              </a:rPr>
              <a:t>yo</a:t>
            </a:r>
            <a:r>
              <a:rPr dirty="0" sz="1050" spc="-110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replace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85">
                <a:latin typeface="Palatino Linotype"/>
                <a:cs typeface="Palatino Linotype"/>
              </a:rPr>
              <a:t>ward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slashes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45">
                <a:latin typeface="Palatino Linotype"/>
                <a:cs typeface="Palatino Linotype"/>
              </a:rPr>
              <a:t>O</a:t>
            </a:r>
            <a:r>
              <a:rPr dirty="0" sz="1050" spc="-9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systems,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os.path.join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joins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filenames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85">
                <a:latin typeface="Palatino Linotype"/>
                <a:cs typeface="Palatino Linotype"/>
              </a:rPr>
              <a:t>ward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backward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slash,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depending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using:</a:t>
            </a:r>
            <a:endParaRPr sz="1050">
              <a:latin typeface="Palatino Linotype"/>
              <a:cs typeface="Palatino Linotype"/>
            </a:endParaRPr>
          </a:p>
          <a:p>
            <a:pPr marL="39370" marR="19589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'jan-2023'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'photo1.jpg'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'photos/jan-</a:t>
            </a:r>
            <a:r>
              <a:rPr dirty="0" sz="850" spc="-10">
                <a:latin typeface="SimSun"/>
                <a:cs typeface="SimSun"/>
              </a:rPr>
              <a:t>2023/photo1.jpg'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L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image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04" b="1">
                <a:latin typeface="Trebuchet MS"/>
                <a:cs typeface="Trebuchet MS"/>
              </a:rPr>
              <a:t>f-</a:t>
            </a:r>
            <a:r>
              <a:rPr dirty="0" sz="1900" spc="-105" b="1">
                <a:latin typeface="Trebuchet MS"/>
                <a:cs typeface="Trebuchet MS"/>
              </a:rPr>
              <a:t>strings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20"/>
              </a:spcBef>
            </a:pP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suppose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camel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spotter,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camels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seen </a:t>
            </a:r>
            <a:r>
              <a:rPr dirty="0" sz="1050" spc="-45">
                <a:latin typeface="Palatino Linotype"/>
                <a:cs typeface="Palatino Linotype"/>
              </a:rPr>
              <a:t>during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period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observation.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suppose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half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years,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have </a:t>
            </a:r>
            <a:r>
              <a:rPr dirty="0" sz="1050" spc="-55">
                <a:latin typeface="Palatino Linotype"/>
                <a:cs typeface="Palatino Linotype"/>
              </a:rPr>
              <a:t>spotted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23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camels.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camel-</a:t>
            </a:r>
            <a:r>
              <a:rPr dirty="0" sz="1050" spc="-45">
                <a:latin typeface="Palatino Linotype"/>
                <a:cs typeface="Palatino Linotype"/>
              </a:rPr>
              <a:t>spotting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num_years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1.5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num_camels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write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60">
                <a:latin typeface="Palatino Linotype"/>
                <a:cs typeface="Palatino Linotype"/>
              </a:rPr>
              <a:t>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</a:t>
            </a:r>
            <a:r>
              <a:rPr dirty="0" sz="1050" spc="-1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W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riting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File</a:t>
            </a:r>
            <a:r>
              <a:rPr dirty="0" sz="1050" spc="-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s</a:t>
            </a:r>
            <a:r>
              <a:rPr dirty="0" sz="1050" spc="-10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”</a:t>
            </a:r>
            <a:r>
              <a:rPr dirty="0" sz="1050" spc="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110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write</a:t>
            </a:r>
            <a:r>
              <a:rPr dirty="0" sz="1000" spc="-1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put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vert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built-in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9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05" b="1">
                <a:latin typeface="Trebuchet MS"/>
                <a:cs typeface="Trebuchet MS"/>
              </a:rPr>
              <a:t>f-</a:t>
            </a:r>
            <a:r>
              <a:rPr dirty="0" sz="900" spc="-70" b="1">
                <a:latin typeface="Trebuchet MS"/>
                <a:cs typeface="Trebuchet MS"/>
              </a:rPr>
              <a:t>strings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193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613410"/>
            <a:chOff x="914400" y="922019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38899"/>
            <a:ext cx="4572000" cy="289560"/>
            <a:chOff x="914400" y="203889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3889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0404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6157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813638"/>
            <a:ext cx="4572000" cy="289560"/>
            <a:chOff x="914400" y="381363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81363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8152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39053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864563"/>
            <a:ext cx="4572000" cy="289560"/>
            <a:chOff x="914400" y="4864563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86456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8661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44146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5755468"/>
            <a:ext cx="4572000" cy="397510"/>
            <a:chOff x="914400" y="5755468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75546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7570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644031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6754324"/>
            <a:ext cx="4572000" cy="613410"/>
            <a:chOff x="914400" y="6754324"/>
            <a:chExt cx="4572000" cy="61341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75432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75591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901637" y="650030"/>
            <a:ext cx="4598035" cy="6625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1209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'camel-spotting-book.txt'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'w'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str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num_years</a:t>
            </a:r>
            <a:r>
              <a:rPr dirty="0" sz="850" spc="-10">
                <a:latin typeface="SimSun"/>
                <a:cs typeface="SimSun"/>
              </a:rPr>
              <a:t>))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str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num_camels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close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write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doesn’t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add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space</a:t>
            </a:r>
            <a:r>
              <a:rPr dirty="0" sz="1050">
                <a:latin typeface="Palatino Linotype"/>
                <a:cs typeface="Palatino Linotype"/>
              </a:rPr>
              <a:t> 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newline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unless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explicitly.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numbers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together:</a:t>
            </a:r>
            <a:endParaRPr sz="1050">
              <a:latin typeface="Palatino Linotype"/>
              <a:cs typeface="Palatino Linotype"/>
            </a:endParaRPr>
          </a:p>
          <a:p>
            <a:pPr marL="39370" marR="24987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'camel-spotting-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book.txt'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'1.523'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least,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add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whitespace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between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numbers.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while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at </a:t>
            </a:r>
            <a:r>
              <a:rPr dirty="0" sz="1050" spc="-2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explanatory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combin</a:t>
            </a:r>
            <a:r>
              <a:rPr dirty="0" sz="1050" spc="-6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f-</a:t>
            </a:r>
            <a:r>
              <a:rPr dirty="0" sz="1050" spc="-50" b="1">
                <a:latin typeface="Palatino Linotype"/>
                <a:cs typeface="Palatino Linotype"/>
              </a:rPr>
              <a:t>s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20" b="1">
                <a:latin typeface="Palatino Linotype"/>
                <a:cs typeface="Palatino Linotype"/>
              </a:rPr>
              <a:t>ri</a:t>
            </a:r>
            <a:r>
              <a:rPr dirty="0" sz="1050" spc="-45" b="1">
                <a:latin typeface="Palatino Linotype"/>
                <a:cs typeface="Palatino Linotype"/>
              </a:rPr>
              <a:t>n</a:t>
            </a:r>
            <a:r>
              <a:rPr dirty="0" sz="1050" spc="-70" b="1">
                <a:latin typeface="Palatino Linotype"/>
                <a:cs typeface="Palatino Linotype"/>
              </a:rPr>
              <a:t>g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f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opening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quot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mark,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curly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f-string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expres‐ </a:t>
            </a:r>
            <a:r>
              <a:rPr dirty="0" sz="1050" spc="-40">
                <a:latin typeface="Palatino Linotype"/>
                <a:cs typeface="Palatino Linotype"/>
              </a:rPr>
              <a:t>sion,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name:</a:t>
            </a:r>
            <a:endParaRPr sz="1050">
              <a:latin typeface="Palatino Linotype"/>
              <a:cs typeface="Palatino Linotype"/>
            </a:endParaRPr>
          </a:p>
          <a:p>
            <a:pPr marL="39370" marR="25527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 have spotted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num_camels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camels' </a:t>
            </a:r>
            <a:r>
              <a:rPr dirty="0" sz="850">
                <a:latin typeface="SimSun"/>
                <a:cs typeface="SimSun"/>
              </a:rPr>
              <a:t>'I have spotted 23 </a:t>
            </a:r>
            <a:r>
              <a:rPr dirty="0" sz="850" spc="-10">
                <a:latin typeface="SimSun"/>
                <a:cs typeface="SimSun"/>
              </a:rPr>
              <a:t>camels'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evaluated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replaced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result.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expression:</a:t>
            </a:r>
            <a:endParaRPr sz="1050">
              <a:latin typeface="Palatino Linotype"/>
              <a:cs typeface="Palatino Linotype"/>
            </a:endParaRPr>
          </a:p>
          <a:p>
            <a:pPr marL="39370" marR="14192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'In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num_years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years I have spotted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num_camels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camels' </a:t>
            </a:r>
            <a:r>
              <a:rPr dirty="0" sz="850">
                <a:latin typeface="SimSun"/>
                <a:cs typeface="SimSun"/>
              </a:rPr>
              <a:t>'In 1.5 years I have spotted 23 </a:t>
            </a:r>
            <a:r>
              <a:rPr dirty="0" sz="850" spc="-10">
                <a:latin typeface="SimSun"/>
                <a:cs typeface="SimSun"/>
              </a:rPr>
              <a:t>camels'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expressions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97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'In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round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num_years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12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months I have spotted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num_camels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camels'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'In 18 months I have spotted 23 </a:t>
            </a:r>
            <a:r>
              <a:rPr dirty="0" sz="850" spc="-10">
                <a:latin typeface="SimSun"/>
                <a:cs typeface="SimSun"/>
              </a:rPr>
              <a:t>camels'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39370" indent="-27305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17430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'camel-spotting-book.txt'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'w'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</a:t>
            </a:r>
            <a:r>
              <a:rPr dirty="0" sz="850">
                <a:latin typeface="SimSun"/>
                <a:cs typeface="SimSun"/>
              </a:rPr>
              <a:t>(f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'Years of observation: </a:t>
            </a:r>
            <a:r>
              <a:rPr dirty="0" sz="850" spc="-2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num_years</a:t>
            </a:r>
            <a:r>
              <a:rPr dirty="0" sz="850" spc="-2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20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</a:t>
            </a:r>
            <a:r>
              <a:rPr dirty="0" sz="850">
                <a:latin typeface="SimSun"/>
                <a:cs typeface="SimSun"/>
              </a:rPr>
              <a:t>(f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'Camels spotted: 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num_camels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close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1754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194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165774"/>
            <a:ext cx="4572000" cy="397510"/>
            <a:chOff x="914400" y="11657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1657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1673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585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32599"/>
            <a:ext cx="4572000" cy="505459"/>
            <a:chOff x="914400" y="2432599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3259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341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2253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058243"/>
            <a:ext cx="4572000" cy="721360"/>
            <a:chOff x="914400" y="5058243"/>
            <a:chExt cx="4572000" cy="7213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05824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05983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901584" y="581364"/>
            <a:ext cx="4598035" cy="6019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12470">
              <a:lnSpc>
                <a:spcPct val="1476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Both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\n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character.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1209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'camel-spotting-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book.txt'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data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Years of observation: </a:t>
            </a:r>
            <a:r>
              <a:rPr dirty="0" sz="850" spc="-25">
                <a:latin typeface="SimSun"/>
                <a:cs typeface="SimSun"/>
              </a:rPr>
              <a:t>1.5 </a:t>
            </a:r>
            <a:r>
              <a:rPr dirty="0" sz="850">
                <a:latin typeface="SimSun"/>
                <a:cs typeface="SimSun"/>
              </a:rPr>
              <a:t>Camels spotted: </a:t>
            </a:r>
            <a:r>
              <a:rPr dirty="0" sz="850" spc="-25">
                <a:latin typeface="SimSun"/>
                <a:cs typeface="SimSun"/>
              </a:rPr>
              <a:t>23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10">
                <a:latin typeface="Palatino Linotype"/>
                <a:cs typeface="Palatino Linotype"/>
              </a:rPr>
              <a:t>string,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expression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curly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braces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converted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50">
                <a:latin typeface="Palatino Linotype"/>
                <a:cs typeface="Palatino Linotype"/>
              </a:rPr>
              <a:t>include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dictionaries,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types: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'one'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'Here is a list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and a dictionary </a:t>
            </a:r>
            <a:r>
              <a:rPr dirty="0" sz="850" spc="-2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2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"Here is a list [1, 2, 3] and a dictionary {'one': </a:t>
            </a:r>
            <a:r>
              <a:rPr dirty="0" sz="850" spc="-25">
                <a:latin typeface="SimSun"/>
                <a:cs typeface="SimSun"/>
              </a:rPr>
              <a:t>1}"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375" b="1">
                <a:latin typeface="Trebuchet MS"/>
                <a:cs typeface="Trebuchet MS"/>
              </a:rPr>
              <a:t>YAML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reasons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read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write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store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configuration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data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how.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photos,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dictio‐ </a:t>
            </a:r>
            <a:r>
              <a:rPr dirty="0" sz="1050" spc="-50">
                <a:latin typeface="Palatino Linotype"/>
                <a:cs typeface="Palatino Linotype"/>
              </a:rPr>
              <a:t>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config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search,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extensions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</a:t>
            </a:r>
            <a:r>
              <a:rPr dirty="0" sz="1050" spc="-15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image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latin typeface="SimSun"/>
                <a:cs typeface="SimSun"/>
              </a:rPr>
              <a:t>{</a:t>
            </a:r>
            <a:endParaRPr sz="850">
              <a:latin typeface="SimSun"/>
              <a:cs typeface="SimSun"/>
            </a:endParaRPr>
          </a:p>
          <a:p>
            <a:pPr marL="255270" marR="27146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'photo_dir'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 spc="-1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'data_dir'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'photo_info'</a:t>
            </a:r>
            <a:r>
              <a:rPr dirty="0" sz="850" spc="-1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'extensions'</a:t>
            </a:r>
            <a:r>
              <a:rPr dirty="0" sz="850">
                <a:latin typeface="SimSun"/>
                <a:cs typeface="SimSun"/>
              </a:rPr>
              <a:t>: 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'jpg'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'jpeg'</a:t>
            </a:r>
            <a:r>
              <a:rPr dirty="0" sz="850" spc="-10">
                <a:latin typeface="SimSun"/>
                <a:cs typeface="SimSun"/>
              </a:rPr>
              <a:t>],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f-strings,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yaml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yaml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module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YAML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 </a:t>
            </a:r>
            <a:r>
              <a:rPr dirty="0" sz="1050" spc="-55">
                <a:latin typeface="Palatino Linotype"/>
                <a:cs typeface="Palatino Linotype"/>
              </a:rPr>
              <a:t>formatted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easy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humans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write.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72077" y="7731125"/>
            <a:ext cx="627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5" b="1">
                <a:latin typeface="Trebuchet MS"/>
                <a:cs typeface="Trebuchet MS"/>
              </a:rPr>
              <a:t>YAML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195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829310"/>
            <a:chOff x="914400" y="1089574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254799"/>
            <a:ext cx="4572000" cy="397510"/>
            <a:chOff x="914400" y="2254799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25479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2563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3714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692988"/>
            <a:ext cx="4572000" cy="505459"/>
            <a:chOff x="914400" y="3692988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69298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6945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7016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175713"/>
            <a:ext cx="4572000" cy="289560"/>
            <a:chOff x="914400" y="5175713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1757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1773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75261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38" y="657564"/>
            <a:ext cx="4598035" cy="7236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an </a:t>
            </a:r>
            <a:r>
              <a:rPr dirty="0" sz="1050" spc="-55">
                <a:latin typeface="Palatino Linotype"/>
                <a:cs typeface="Palatino Linotype"/>
              </a:rPr>
              <a:t>example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dump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config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5">
                <a:latin typeface="Palatino Linotype"/>
                <a:cs typeface="Palatino Linotype"/>
              </a:rPr>
              <a:t>YAML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latin typeface="Courier New"/>
                <a:cs typeface="Courier New"/>
              </a:rPr>
              <a:t>yaml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39370" marR="26606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config_filename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'config.yaml'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writer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config_filename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'w'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yaml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dump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writer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close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YAML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10">
                <a:latin typeface="Palatino Linotype"/>
                <a:cs typeface="Palatino Linotype"/>
              </a:rPr>
              <a:t> like: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447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readback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config_filename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readback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347027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data_dir: </a:t>
            </a:r>
            <a:r>
              <a:rPr dirty="0" sz="850" spc="-10">
                <a:latin typeface="SimSun"/>
                <a:cs typeface="SimSun"/>
              </a:rPr>
              <a:t>photo_info extensions: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765"/>
              </a:lnSpc>
              <a:buChar char="-"/>
              <a:tabLst>
                <a:tab pos="147955" algn="l"/>
              </a:tabLst>
            </a:pPr>
            <a:r>
              <a:rPr dirty="0" sz="850" spc="-25">
                <a:latin typeface="SimSun"/>
                <a:cs typeface="SimSun"/>
              </a:rPr>
              <a:t>jpg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Char char="-"/>
              <a:tabLst>
                <a:tab pos="147955" algn="l"/>
              </a:tabLst>
            </a:pPr>
            <a:r>
              <a:rPr dirty="0" sz="850" spc="-20">
                <a:latin typeface="SimSun"/>
                <a:cs typeface="SimSun"/>
              </a:rPr>
              <a:t>jpeg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photo_dir: </a:t>
            </a:r>
            <a:r>
              <a:rPr dirty="0" sz="850" spc="-10">
                <a:latin typeface="SimSun"/>
                <a:cs typeface="SimSun"/>
              </a:rPr>
              <a:t>photos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114">
                <a:latin typeface="Palatino Linotype"/>
                <a:cs typeface="Palatino Linotype"/>
              </a:rPr>
              <a:t>Now,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safe_load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YAML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3907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reader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config_filename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config_readback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yaml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safe_load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config_readback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93345" marR="2876550" indent="-53975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{'data_dir': </a:t>
            </a:r>
            <a:r>
              <a:rPr dirty="0" sz="850" spc="-10">
                <a:latin typeface="SimSun"/>
                <a:cs typeface="SimSun"/>
              </a:rPr>
              <a:t>'photo_info', </a:t>
            </a:r>
            <a:r>
              <a:rPr dirty="0" sz="850">
                <a:latin typeface="SimSun"/>
                <a:cs typeface="SimSun"/>
              </a:rPr>
              <a:t>'extensions': ['jpg', </a:t>
            </a:r>
            <a:r>
              <a:rPr dirty="0" sz="850" spc="-10">
                <a:latin typeface="SimSun"/>
                <a:cs typeface="SimSun"/>
              </a:rPr>
              <a:t>'jpeg'], </a:t>
            </a:r>
            <a:r>
              <a:rPr dirty="0" sz="850">
                <a:latin typeface="SimSun"/>
                <a:cs typeface="SimSun"/>
              </a:rPr>
              <a:t>'photo_dir': </a:t>
            </a:r>
            <a:r>
              <a:rPr dirty="0" sz="850" spc="-10">
                <a:latin typeface="SimSun"/>
                <a:cs typeface="SimSun"/>
              </a:rPr>
              <a:t>'photos'}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original,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dictionary:</a:t>
            </a:r>
            <a:endParaRPr sz="1050">
              <a:latin typeface="Palatino Linotype"/>
              <a:cs typeface="Palatino Linotype"/>
            </a:endParaRPr>
          </a:p>
          <a:p>
            <a:pPr marL="39370" marR="32004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config_readback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Converting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serialization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Converting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deserialization</a:t>
            </a:r>
            <a:r>
              <a:rPr dirty="0" sz="1050" spc="-4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serialize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deseri‐ </a:t>
            </a:r>
            <a:r>
              <a:rPr dirty="0" sz="1050" spc="-65">
                <a:latin typeface="Palatino Linotype"/>
                <a:cs typeface="Palatino Linotype"/>
              </a:rPr>
              <a:t>alize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equivalent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original.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Shelve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95">
                <a:latin typeface="Palatino Linotype"/>
                <a:cs typeface="Palatino Linotype"/>
              </a:rPr>
              <a:t>’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text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files—now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tabases.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15" b="1">
                <a:latin typeface="Palatino Linotype"/>
                <a:cs typeface="Palatino Linotype"/>
              </a:rPr>
              <a:t>ata‐ </a:t>
            </a:r>
            <a:r>
              <a:rPr dirty="0" sz="1050" spc="-80" b="1">
                <a:latin typeface="Palatino Linotype"/>
                <a:cs typeface="Palatino Linotype"/>
              </a:rPr>
              <a:t>b</a:t>
            </a:r>
            <a:r>
              <a:rPr dirty="0" sz="1050" spc="-55" b="1">
                <a:latin typeface="Palatino Linotype"/>
                <a:cs typeface="Palatino Linotype"/>
              </a:rPr>
              <a:t>a</a:t>
            </a:r>
            <a:r>
              <a:rPr dirty="0" sz="1050" spc="-45" b="1">
                <a:latin typeface="Palatino Linotype"/>
                <a:cs typeface="Palatino Linotype"/>
              </a:rPr>
              <a:t>s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8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organized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ta.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tabases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organized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table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rows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columns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Others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organized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75">
                <a:latin typeface="Palatino Linotype"/>
                <a:cs typeface="Palatino Linotype"/>
              </a:rPr>
              <a:t>y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values;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5" b="1">
                <a:latin typeface="Palatino Linotype"/>
                <a:cs typeface="Palatino Linotype"/>
              </a:rPr>
              <a:t>k</a:t>
            </a:r>
            <a:r>
              <a:rPr dirty="0" sz="1050" spc="-65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y-va</a:t>
            </a:r>
            <a:r>
              <a:rPr dirty="0" sz="1050" spc="-55" b="1">
                <a:latin typeface="Palatino Linotype"/>
                <a:cs typeface="Palatino Linotype"/>
              </a:rPr>
              <a:t>l</a:t>
            </a:r>
            <a:r>
              <a:rPr dirty="0" sz="1050" spc="-55" b="1">
                <a:latin typeface="Palatino Linotype"/>
                <a:cs typeface="Palatino Linotype"/>
              </a:rPr>
              <a:t>u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s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5" b="1">
                <a:latin typeface="Palatino Linotype"/>
                <a:cs typeface="Palatino Linotype"/>
              </a:rPr>
              <a:t>r</a:t>
            </a:r>
            <a:r>
              <a:rPr dirty="0" sz="1050" spc="-65" b="1">
                <a:latin typeface="Palatino Linotype"/>
                <a:cs typeface="Palatino Linotype"/>
              </a:rPr>
              <a:t>es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-65" b="1">
                <a:latin typeface="Trebuchet MS"/>
                <a:cs typeface="Trebuchet MS"/>
              </a:rPr>
              <a:t>196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17148"/>
            <a:ext cx="4572000" cy="289560"/>
            <a:chOff x="914400" y="141714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1714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187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940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15587"/>
            <a:ext cx="4572000" cy="289560"/>
            <a:chOff x="914400" y="231558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1558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171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108617"/>
            <a:ext cx="4572000" cy="397510"/>
            <a:chOff x="914400" y="3108617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10861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1102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79346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275026"/>
            <a:ext cx="4572000" cy="613410"/>
            <a:chOff x="914400" y="4275026"/>
            <a:chExt cx="4572000" cy="6134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275026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27661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17577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053575"/>
            <a:ext cx="4572000" cy="397510"/>
            <a:chOff x="914400" y="6053575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05357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0551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42" y="657564"/>
            <a:ext cx="4598035" cy="620331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01600"/>
              </a:lnSpc>
              <a:spcBef>
                <a:spcPts val="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shelve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module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updating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</a:t>
            </a:r>
            <a:r>
              <a:rPr dirty="0" sz="1050" spc="-45">
                <a:latin typeface="Palatino Linotype"/>
                <a:cs typeface="Palatino Linotype"/>
              </a:rPr>
              <a:t>value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store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“shelf.”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shelf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captions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figures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photos</a:t>
            </a:r>
            <a:r>
              <a:rPr dirty="0" sz="1050" spc="-50" i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directory.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config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direc‐ </a:t>
            </a:r>
            <a:r>
              <a:rPr dirty="0" sz="1050" spc="-50">
                <a:latin typeface="Palatino Linotype"/>
                <a:cs typeface="Palatino Linotype"/>
              </a:rPr>
              <a:t>tory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shelf:</a:t>
            </a:r>
            <a:endParaRPr sz="1050">
              <a:latin typeface="Palatino Linotype"/>
              <a:cs typeface="Palatino Linotype"/>
            </a:endParaRPr>
          </a:p>
          <a:p>
            <a:pPr marL="39370" marR="35782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config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'data_dir'</a:t>
            </a:r>
            <a:r>
              <a:rPr dirty="0" sz="850" spc="-10">
                <a:latin typeface="SimSun"/>
                <a:cs typeface="SimSun"/>
              </a:rPr>
              <a:t>] 'photo_info'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os.makedirs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directory,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makedirs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'data_dir'</a:t>
            </a:r>
            <a:r>
              <a:rPr dirty="0" sz="850">
                <a:latin typeface="SimSun"/>
                <a:cs typeface="SimSun"/>
              </a:rPr>
              <a:t>],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exist_ok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os.path.join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captions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1635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db_file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config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'data_dir'</a:t>
            </a:r>
            <a:r>
              <a:rPr dirty="0" sz="850">
                <a:latin typeface="SimSun"/>
                <a:cs typeface="SimSun"/>
              </a:rPr>
              <a:t>],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'captions'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db_file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'photo_info/captions'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7620" indent="-635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shelve.open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open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shelf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file.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indicates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necessary: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shelve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39370" marR="29305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shelve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db_file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'c'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&lt;shelve.DbfilenameShelf at </a:t>
            </a:r>
            <a:r>
              <a:rPr dirty="0" sz="850" spc="-10">
                <a:latin typeface="SimSun"/>
                <a:cs typeface="SimSun"/>
              </a:rPr>
              <a:t>0x7f5a2021c310&gt;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officially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DbfilenameShelf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casually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shelf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 marR="3810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shelf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behaves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item,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mapping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value: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924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'jan-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2023/photo1.jpg'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nose'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key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path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image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5">
                <a:latin typeface="Palatino Linotype"/>
                <a:cs typeface="Palatino Linotype"/>
              </a:rPr>
              <a:t>describes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image.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831408" y="7731125"/>
            <a:ext cx="6680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Shelve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197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397510"/>
            <a:chOff x="914400" y="92201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068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28409"/>
            <a:ext cx="4572000" cy="397510"/>
            <a:chOff x="914400" y="1928409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2840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299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6132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094818"/>
            <a:ext cx="4572000" cy="289560"/>
            <a:chOff x="914400" y="309481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09481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0964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67171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3749503"/>
            <a:ext cx="4572000" cy="289560"/>
            <a:chOff x="914400" y="3749503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37495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37510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32640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4647942"/>
            <a:ext cx="4572000" cy="289560"/>
            <a:chOff x="914400" y="4647942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464794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46495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522483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914400" y="5546381"/>
            <a:ext cx="4572000" cy="397510"/>
            <a:chOff x="914400" y="5546381"/>
            <a:chExt cx="4572000" cy="397510"/>
          </a:xfrm>
        </p:grpSpPr>
        <p:sp>
          <p:nvSpPr>
            <p:cNvPr id="23" name="object 23" descr=""/>
            <p:cNvSpPr/>
            <p:nvPr/>
          </p:nvSpPr>
          <p:spPr>
            <a:xfrm>
              <a:off x="914400" y="554638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14400" y="554796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914400" y="623122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" name="object 26" descr=""/>
          <p:cNvGrpSpPr/>
          <p:nvPr/>
        </p:nvGrpSpPr>
        <p:grpSpPr>
          <a:xfrm>
            <a:off x="914400" y="6545236"/>
            <a:ext cx="4572000" cy="289560"/>
            <a:chOff x="914400" y="6545236"/>
            <a:chExt cx="4572000" cy="289560"/>
          </a:xfrm>
        </p:grpSpPr>
        <p:sp>
          <p:nvSpPr>
            <p:cNvPr id="27" name="object 27" descr=""/>
            <p:cNvSpPr/>
            <p:nvPr/>
          </p:nvSpPr>
          <p:spPr>
            <a:xfrm>
              <a:off x="914400" y="654523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914400" y="65468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901637" y="650030"/>
            <a:ext cx="4598035" cy="6092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401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'Cat </a:t>
            </a:r>
            <a:r>
              <a:rPr dirty="0" sz="850" spc="-10">
                <a:latin typeface="SimSun"/>
                <a:cs typeface="SimSun"/>
              </a:rPr>
              <a:t>nose'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existing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dbm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old</a:t>
            </a:r>
            <a:r>
              <a:rPr dirty="0" sz="1050" spc="-10">
                <a:latin typeface="Palatino Linotype"/>
                <a:cs typeface="Palatino Linotype"/>
              </a:rPr>
              <a:t> value: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447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'Close up view of a cat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nose'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'Close up view of a cat </a:t>
            </a:r>
            <a:r>
              <a:rPr dirty="0" sz="850" spc="-10">
                <a:latin typeface="SimSun"/>
                <a:cs typeface="SimSun"/>
              </a:rPr>
              <a:t>nose'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Some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methods,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keys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items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also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database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keys</a:t>
            </a:r>
            <a:r>
              <a:rPr dirty="0" sz="850" spc="-10">
                <a:latin typeface="SimSun"/>
                <a:cs typeface="SimSun"/>
              </a:rPr>
              <a:t>())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['jan-</a:t>
            </a:r>
            <a:r>
              <a:rPr dirty="0" sz="850" spc="-10">
                <a:latin typeface="SimSun"/>
                <a:cs typeface="SimSun"/>
              </a:rPr>
              <a:t>2023/photo1.jpg']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values</a:t>
            </a:r>
            <a:r>
              <a:rPr dirty="0" sz="850" spc="-10">
                <a:latin typeface="SimSun"/>
                <a:cs typeface="SimSun"/>
              </a:rPr>
              <a:t>())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['Close up view of a cat </a:t>
            </a:r>
            <a:r>
              <a:rPr dirty="0" sz="850" spc="-10">
                <a:latin typeface="SimSun"/>
                <a:cs typeface="SimSun"/>
              </a:rPr>
              <a:t>nose']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shelf:</a:t>
            </a:r>
            <a:endParaRPr sz="1050">
              <a:latin typeface="Palatino Linotype"/>
              <a:cs typeface="Palatino Linotype"/>
            </a:endParaRPr>
          </a:p>
          <a:p>
            <a:pPr marL="39370" marR="40640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db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keys: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':'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jan-2023/photo1.jpg : Close up view of a cat </a:t>
            </a:r>
            <a:r>
              <a:rPr dirty="0" sz="850" spc="-20">
                <a:latin typeface="SimSun"/>
                <a:cs typeface="SimSun"/>
              </a:rPr>
              <a:t>nose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database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done: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close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01702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198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055578"/>
            <a:ext cx="4572000" cy="397510"/>
            <a:chOff x="914400" y="4055578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05557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0571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4789003"/>
            <a:ext cx="4572000" cy="505459"/>
            <a:chOff x="914400" y="4789003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78900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7905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5818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6063362"/>
            <a:ext cx="4572000" cy="289560"/>
            <a:chOff x="914400" y="6063362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06336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0649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6688838"/>
            <a:ext cx="4572000" cy="397510"/>
            <a:chOff x="914400" y="6688838"/>
            <a:chExt cx="4572000" cy="39751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668883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66904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737368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36" y="650030"/>
            <a:ext cx="4598035" cy="6630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directory,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files:</a:t>
            </a:r>
            <a:endParaRPr sz="1050">
              <a:latin typeface="Palatino Linotype"/>
              <a:cs typeface="Palatino Linotype"/>
            </a:endParaRPr>
          </a:p>
          <a:p>
            <a:pPr marL="39370" marR="28225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listdir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config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'data_dir'</a:t>
            </a:r>
            <a:r>
              <a:rPr dirty="0" sz="850" spc="-10">
                <a:latin typeface="SimSun"/>
                <a:cs typeface="SimSun"/>
              </a:rPr>
              <a:t>]) </a:t>
            </a:r>
            <a:r>
              <a:rPr dirty="0" sz="850">
                <a:latin typeface="SimSun"/>
                <a:cs typeface="SimSun"/>
              </a:rPr>
              <a:t>['captions.dir', </a:t>
            </a:r>
            <a:r>
              <a:rPr dirty="0" sz="850" spc="-10">
                <a:latin typeface="SimSun"/>
                <a:cs typeface="SimSun"/>
              </a:rPr>
              <a:t>'captions.dat']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10" i="1">
                <a:latin typeface="Palatino Linotype"/>
                <a:cs typeface="Palatino Linotype"/>
              </a:rPr>
              <a:t>captions.dat</a:t>
            </a:r>
            <a:r>
              <a:rPr dirty="0" sz="1050" spc="-60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data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just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stored.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captions.dir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organization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database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makes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efficient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access.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suffix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dir</a:t>
            </a:r>
            <a:r>
              <a:rPr dirty="0" sz="1050" spc="-25" i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“directory,”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nothing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30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we’ve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work‐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files.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Storing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70" b="1">
                <a:latin typeface="Trebuchet MS"/>
                <a:cs typeface="Trebuchet MS"/>
              </a:rPr>
              <a:t>Data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Structures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shelf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also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structures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dictionaries.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revisit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anagram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“Exercis</a:t>
            </a:r>
            <a:r>
              <a:rPr dirty="0" sz="1050" spc="-1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e</a:t>
            </a:r>
            <a:r>
              <a:rPr dirty="0" sz="1050" spc="-10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”</a:t>
            </a:r>
            <a:r>
              <a:rPr dirty="0" sz="1050" spc="114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114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114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169</a:t>
            </a:r>
            <a:r>
              <a:rPr dirty="0" sz="1050" spc="-25">
                <a:latin typeface="Palatino Linotype"/>
                <a:cs typeface="Palatino Linotype"/>
              </a:rPr>
              <a:t>. </a:t>
            </a:r>
            <a:r>
              <a:rPr dirty="0" sz="1050" spc="-50">
                <a:latin typeface="Palatino Linotype"/>
                <a:cs typeface="Palatino Linotype"/>
              </a:rPr>
              <a:t>Recall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sorted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75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'opst'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['opts',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'post',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'pots',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'spot',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'stop',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'tops']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sort_word(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sorted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'pots'</a:t>
            </a:r>
            <a:endParaRPr sz="850">
              <a:latin typeface="SimSun"/>
              <a:cs typeface="SimSun"/>
            </a:endParaRPr>
          </a:p>
          <a:p>
            <a:pPr marL="39370" marR="34163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sort_word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'opst'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Now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open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shelf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anagram_map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argument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'n'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means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should </a:t>
            </a:r>
            <a:r>
              <a:rPr dirty="0" sz="1050" spc="-95">
                <a:latin typeface="Palatino Linotype"/>
                <a:cs typeface="Palatino Linotype"/>
              </a:rPr>
              <a:t>always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new,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exists: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shelve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'anagram_map'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'n'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item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861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['pots']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207446" y="7731125"/>
            <a:ext cx="12922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0" b="1">
                <a:latin typeface="Trebuchet MS"/>
                <a:cs typeface="Trebuchet MS"/>
              </a:rPr>
              <a:t>Storing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Data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0" b="1">
                <a:latin typeface="Trebuchet MS"/>
                <a:cs typeface="Trebuchet MS"/>
              </a:rPr>
              <a:t>Structures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199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165774"/>
            <a:ext cx="4572000" cy="505459"/>
            <a:chOff x="914400" y="1165774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16577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1673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585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40133"/>
            <a:ext cx="4572000" cy="289560"/>
            <a:chOff x="914400" y="244013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401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417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225628"/>
            <a:ext cx="4572000" cy="289560"/>
            <a:chOff x="914400" y="322562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22562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2272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8025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436573"/>
            <a:ext cx="4572000" cy="505459"/>
            <a:chOff x="914400" y="4436573"/>
            <a:chExt cx="4572000" cy="505459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43657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438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5277948"/>
            <a:ext cx="4572000" cy="289560"/>
            <a:chOff x="914400" y="5277948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527794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52795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58548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76" y="566295"/>
            <a:ext cx="4598035" cy="5676265"/>
          </a:xfrm>
          <a:prstGeom prst="rect">
            <a:avLst/>
          </a:prstGeom>
        </p:spPr>
        <p:txBody>
          <a:bodyPr wrap="square" lIns="0" tIns="965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item,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tops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'tops'</a:t>
            </a:r>
            <a:endParaRPr sz="850">
              <a:latin typeface="SimSun"/>
              <a:cs typeface="SimSun"/>
            </a:endParaRPr>
          </a:p>
          <a:p>
            <a:pPr marL="39370" marR="34163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sort_word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'opst'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previous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append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word 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db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dictionary: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  <a:tabLst>
                <a:tab pos="1658620" algn="l"/>
              </a:tabLst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INCORRECT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70">
                <a:latin typeface="Palatino Linotype"/>
                <a:cs typeface="Palatino Linotype"/>
              </a:rPr>
              <a:t>key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shelf,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looks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been </a:t>
            </a:r>
            <a:r>
              <a:rPr dirty="0" sz="1050" spc="-10">
                <a:latin typeface="Palatino Linotype"/>
                <a:cs typeface="Palatino Linotype"/>
              </a:rPr>
              <a:t>updated:</a:t>
            </a:r>
            <a:endParaRPr sz="1050">
              <a:latin typeface="Palatino Linotype"/>
              <a:cs typeface="Palatino Linotype"/>
            </a:endParaRPr>
          </a:p>
          <a:p>
            <a:pPr marL="39370" marR="41179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 ['pots']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</a:t>
            </a:r>
            <a:r>
              <a:rPr dirty="0" sz="1050" spc="-16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75">
                <a:latin typeface="Palatino Linotype"/>
                <a:cs typeface="Palatino Linotype"/>
              </a:rPr>
              <a:t>y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affect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upd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read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upd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anagram_list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anagram_list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anagram_list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updated: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db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['pots', </a:t>
            </a:r>
            <a:r>
              <a:rPr dirty="0" sz="850" spc="-10">
                <a:latin typeface="SimSun"/>
                <a:cs typeface="SimSun"/>
              </a:rPr>
              <a:t>'tops']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finish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anagrams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shelf.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1683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200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203583"/>
            <a:ext cx="4572000" cy="505459"/>
            <a:chOff x="914400" y="2203583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203583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2051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99638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881717"/>
            <a:ext cx="4572000" cy="505459"/>
            <a:chOff x="914400" y="3881717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88171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8833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67451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224742"/>
            <a:ext cx="4572000" cy="613410"/>
            <a:chOff x="914400" y="5224742"/>
            <a:chExt cx="4572000" cy="6134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224742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2263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228663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05"/>
              <a:t>Checking</a:t>
            </a:r>
            <a:r>
              <a:rPr dirty="0" sz="1900" spc="-254"/>
              <a:t> </a:t>
            </a:r>
            <a:r>
              <a:rPr dirty="0" sz="1900" spc="-280"/>
              <a:t>for</a:t>
            </a:r>
            <a:r>
              <a:rPr dirty="0" sz="1900" spc="-254"/>
              <a:t> </a:t>
            </a:r>
            <a:r>
              <a:rPr dirty="0" sz="1900" spc="-285"/>
              <a:t>Equivalent</a:t>
            </a:r>
            <a:r>
              <a:rPr dirty="0" sz="1900" spc="-254"/>
              <a:t> </a:t>
            </a:r>
            <a:r>
              <a:rPr dirty="0" sz="1900" spc="-285"/>
              <a:t>Files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41" y="964024"/>
            <a:ext cx="4598035" cy="6160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30">
                <a:latin typeface="Palatino Linotype"/>
                <a:cs typeface="Palatino Linotype"/>
              </a:rPr>
              <a:t>Now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chapter: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compare.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files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images,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'rb'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'r'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means </a:t>
            </a:r>
            <a:r>
              <a:rPr dirty="0" sz="1050" spc="-6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read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'b'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indicates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binary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mode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binary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mode,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co</a:t>
            </a:r>
            <a:r>
              <a:rPr dirty="0" sz="1050" spc="-45">
                <a:latin typeface="Palatino Linotype"/>
                <a:cs typeface="Palatino Linotype"/>
              </a:rPr>
              <a:t>ntents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interpreted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text—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treated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bytes.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opens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image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60667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'photos/jan-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2023/photo1.jpg'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'rb'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data1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bytes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read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bytes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object—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sequence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bytes.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contents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human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readable.</a:t>
            </a:r>
            <a:r>
              <a:rPr dirty="0" sz="1050" spc="-10">
                <a:latin typeface="Palatino Linotype"/>
                <a:cs typeface="Palatino Linotype"/>
              </a:rPr>
              <a:t> 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compare: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6066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'photos/jan-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2023/photo2.jpg'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'rb'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data2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equivalent.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encapsulate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function: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6066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same_contents(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path2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'rb'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'rb'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data1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data2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files,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60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option.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large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80">
                <a:latin typeface="Palatino Linotype"/>
                <a:cs typeface="Palatino Linotype"/>
              </a:rPr>
              <a:t>we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know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any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data. </a:t>
            </a: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inefficient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tive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ha</a:t>
            </a:r>
            <a:r>
              <a:rPr dirty="0" sz="1050" spc="-55" b="1">
                <a:latin typeface="Palatino Linotype"/>
                <a:cs typeface="Palatino Linotype"/>
              </a:rPr>
              <a:t>s</a:t>
            </a:r>
            <a:r>
              <a:rPr dirty="0" sz="1050" spc="-65" b="1">
                <a:latin typeface="Palatino Linotype"/>
                <a:cs typeface="Palatino Linotype"/>
              </a:rPr>
              <a:t>h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fun</a:t>
            </a:r>
            <a:r>
              <a:rPr dirty="0" sz="1050" spc="-40" b="1">
                <a:latin typeface="Palatino Linotype"/>
                <a:cs typeface="Palatino Linotype"/>
              </a:rPr>
              <a:t>c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50" b="1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com‐ </a:t>
            </a:r>
            <a:r>
              <a:rPr dirty="0" sz="1050" spc="-60">
                <a:latin typeface="Palatino Linotype"/>
                <a:cs typeface="Palatino Linotype"/>
              </a:rPr>
              <a:t>putes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dige</a:t>
            </a:r>
            <a:r>
              <a:rPr dirty="0" sz="1050" spc="-65" b="1">
                <a:latin typeface="Palatino Linotype"/>
                <a:cs typeface="Palatino Linotype"/>
              </a:rPr>
              <a:t>s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large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ta,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digest.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30" i="1">
                <a:latin typeface="Palatino Linotype"/>
                <a:cs typeface="Palatino Linotype"/>
              </a:rPr>
              <a:t>a</a:t>
            </a:r>
            <a:r>
              <a:rPr dirty="0" sz="1050" spc="-50" i="1">
                <a:latin typeface="Palatino Linotype"/>
                <a:cs typeface="Palatino Linotype"/>
              </a:rPr>
              <a:t>l</a:t>
            </a:r>
            <a:r>
              <a:rPr dirty="0" sz="1050" spc="-5" i="1">
                <a:latin typeface="Palatino Linotype"/>
                <a:cs typeface="Palatino Linotype"/>
              </a:rPr>
              <a:t>m</a:t>
            </a:r>
            <a:r>
              <a:rPr dirty="0" sz="1050" spc="15" i="1">
                <a:latin typeface="Palatino Linotype"/>
                <a:cs typeface="Palatino Linotype"/>
              </a:rPr>
              <a:t>o</a:t>
            </a:r>
            <a:r>
              <a:rPr dirty="0" sz="1050" spc="-70" i="1">
                <a:latin typeface="Palatino Linotype"/>
                <a:cs typeface="Palatino Linotype"/>
              </a:rPr>
              <a:t>s</a:t>
            </a:r>
            <a:r>
              <a:rPr dirty="0" sz="1050" spc="-30" i="1">
                <a:latin typeface="Palatino Linotype"/>
                <a:cs typeface="Palatino Linotype"/>
              </a:rPr>
              <a:t>t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130" i="1">
                <a:latin typeface="Palatino Linotype"/>
                <a:cs typeface="Palatino Linotype"/>
              </a:rPr>
              <a:t> </a:t>
            </a:r>
            <a:r>
              <a:rPr dirty="0" sz="1050" spc="30" i="1">
                <a:latin typeface="Palatino Linotype"/>
                <a:cs typeface="Palatino Linotype"/>
              </a:rPr>
              <a:t>a</a:t>
            </a:r>
            <a:r>
              <a:rPr dirty="0" sz="1050" spc="-55" i="1">
                <a:latin typeface="Palatino Linotype"/>
                <a:cs typeface="Palatino Linotype"/>
              </a:rPr>
              <a:t>l</a:t>
            </a:r>
            <a:r>
              <a:rPr dirty="0" sz="1050" spc="-60" i="1">
                <a:latin typeface="Palatino Linotype"/>
                <a:cs typeface="Palatino Linotype"/>
              </a:rPr>
              <a:t>w</a:t>
            </a:r>
            <a:r>
              <a:rPr dirty="0" sz="1050" spc="20" i="1">
                <a:latin typeface="Palatino Linotype"/>
                <a:cs typeface="Palatino Linotype"/>
              </a:rPr>
              <a:t>a</a:t>
            </a:r>
            <a:r>
              <a:rPr dirty="0" sz="1050" spc="-60" i="1">
                <a:latin typeface="Palatino Linotype"/>
                <a:cs typeface="Palatino Linotype"/>
              </a:rPr>
              <a:t>ys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130" i="1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55">
                <a:latin typeface="Palatino Linotype"/>
                <a:cs typeface="Palatino Linotype"/>
              </a:rPr>
              <a:t>digests.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005715" y="7731125"/>
            <a:ext cx="14935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Checking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for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Equivalent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70" b="1">
                <a:latin typeface="Trebuchet MS"/>
                <a:cs typeface="Trebuchet MS"/>
              </a:rPr>
              <a:t>Files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201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613410"/>
            <a:chOff x="914400" y="1097108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978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79417"/>
            <a:ext cx="4572000" cy="289560"/>
            <a:chOff x="914400" y="247941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7941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810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272447"/>
            <a:ext cx="4572000" cy="397510"/>
            <a:chOff x="914400" y="3272447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27244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2740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95729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271302"/>
            <a:ext cx="4572000" cy="829310"/>
            <a:chOff x="914400" y="4271302"/>
            <a:chExt cx="4572000" cy="8293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271302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2728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5596547"/>
            <a:ext cx="4572000" cy="397510"/>
            <a:chOff x="914400" y="5596547"/>
            <a:chExt cx="4572000" cy="39751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559654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55981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628139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35" y="657564"/>
            <a:ext cx="4598035" cy="601154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hashlib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provides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several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functions—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md5</a:t>
            </a:r>
            <a:r>
              <a:rPr dirty="0" sz="1050" spc="-20">
                <a:latin typeface="Palatino Linotype"/>
                <a:cs typeface="Palatino Linotype"/>
              </a:rPr>
              <a:t>. </a:t>
            </a:r>
            <a:r>
              <a:rPr dirty="0" sz="1050" spc="-80">
                <a:latin typeface="Palatino Linotype"/>
                <a:cs typeface="Palatino Linotype"/>
              </a:rPr>
              <a:t>W</a:t>
            </a:r>
            <a:r>
              <a:rPr dirty="0" sz="1050" spc="-80">
                <a:latin typeface="Palatino Linotype"/>
                <a:cs typeface="Palatino Linotype"/>
              </a:rPr>
              <a:t>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hashlib.md5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HASH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hashlib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39370" marR="32543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md5_hash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hashlib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md5_hash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_hashlib.HASH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HASH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update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md5_hash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update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data1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hexdigest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digest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hexadecimal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digits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rep‐ </a:t>
            </a:r>
            <a:r>
              <a:rPr dirty="0" sz="1050" spc="-50">
                <a:latin typeface="Palatino Linotype"/>
                <a:cs typeface="Palatino Linotype"/>
              </a:rPr>
              <a:t>resent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16: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845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digest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md5_hash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hexdigest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digest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'aa1d2fc25b7ae247b2931f5a0882fa37'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encapsulates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steps: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md5_digest(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4987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data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'rb'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read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md5_hash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hashlib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md5_hash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update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data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digest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md5_hash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hexdigest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digest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hash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contents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different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confirm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get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 </a:t>
            </a:r>
            <a:r>
              <a:rPr dirty="0" sz="1050" spc="-10">
                <a:latin typeface="Palatino Linotype"/>
                <a:cs typeface="Palatino Linotype"/>
              </a:rPr>
              <a:t>digest: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3907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filename2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'photos/feb-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2023/photo2.jpg'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md5_digest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'6a501b11b01f89af9c3f6591d7f02c49'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100">
                <a:latin typeface="Palatino Linotype"/>
                <a:cs typeface="Palatino Linotype"/>
              </a:rPr>
              <a:t>Now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almost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everything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equivalent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last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step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directory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image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1679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202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723609"/>
            <a:ext cx="4572000" cy="1045210"/>
            <a:chOff x="914400" y="1723609"/>
            <a:chExt cx="4572000" cy="10452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723609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7251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104734"/>
            <a:ext cx="4572000" cy="289560"/>
            <a:chOff x="914400" y="3104734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10473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1063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43728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315083"/>
            <a:ext cx="4572000" cy="1045210"/>
            <a:chOff x="914400" y="5315083"/>
            <a:chExt cx="4572000" cy="10452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315083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31667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56654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60"/>
              <a:t>Walking </a:t>
            </a:r>
            <a:r>
              <a:rPr dirty="0" sz="1900" spc="-295"/>
              <a:t>Directories</a:t>
            </a:r>
            <a:endParaRPr sz="1900"/>
          </a:p>
        </p:txBody>
      </p:sp>
      <p:sp>
        <p:nvSpPr>
          <p:cNvPr id="13" name="object 13" descr=""/>
          <p:cNvSpPr txBox="1"/>
          <p:nvPr/>
        </p:nvSpPr>
        <p:spPr>
          <a:xfrm>
            <a:off x="901641" y="964024"/>
            <a:ext cx="4598035" cy="530415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01600"/>
              </a:lnSpc>
              <a:spcBef>
                <a:spcPts val="8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search.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uses </a:t>
            </a:r>
            <a:r>
              <a:rPr dirty="0" sz="1000" spc="-5">
                <a:latin typeface="SimSun"/>
                <a:cs typeface="SimSun"/>
              </a:rPr>
              <a:t>listdir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its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th.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itself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recursively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subdirecto</a:t>
            </a:r>
            <a:r>
              <a:rPr dirty="0" sz="1050" spc="-10">
                <a:latin typeface="Palatino Linotype"/>
                <a:cs typeface="Palatino Linotype"/>
              </a:rPr>
              <a:t>r</a:t>
            </a:r>
            <a:r>
              <a:rPr dirty="0" sz="1050" spc="-65">
                <a:latin typeface="Palatino Linotype"/>
                <a:cs typeface="Palatino Linotype"/>
              </a:rPr>
              <a:t>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walk(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dirname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listdir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dirname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dirname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687070" marR="28225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isfile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687070" marR="27686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elif</a:t>
            </a:r>
            <a:r>
              <a:rPr dirty="0" sz="850" spc="-6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isdir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walk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walk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3146425">
              <a:lnSpc>
                <a:spcPts val="85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photos/notes.txt </a:t>
            </a:r>
            <a:r>
              <a:rPr dirty="0" sz="850">
                <a:latin typeface="SimSun"/>
                <a:cs typeface="SimSun"/>
              </a:rPr>
              <a:t>photos/mar-</a:t>
            </a:r>
            <a:r>
              <a:rPr dirty="0" sz="850" spc="-10">
                <a:latin typeface="SimSun"/>
                <a:cs typeface="SimSun"/>
              </a:rPr>
              <a:t>2023/photo2.jpg </a:t>
            </a:r>
            <a:r>
              <a:rPr dirty="0" sz="850">
                <a:latin typeface="SimSun"/>
                <a:cs typeface="SimSun"/>
              </a:rPr>
              <a:t>photos/mar-</a:t>
            </a:r>
            <a:r>
              <a:rPr dirty="0" sz="850" spc="-10">
                <a:latin typeface="SimSun"/>
                <a:cs typeface="SimSun"/>
              </a:rPr>
              <a:t>2023/photo1.jpg </a:t>
            </a:r>
            <a:r>
              <a:rPr dirty="0" sz="850">
                <a:latin typeface="SimSun"/>
                <a:cs typeface="SimSun"/>
              </a:rPr>
              <a:t>photos/jan-</a:t>
            </a:r>
            <a:r>
              <a:rPr dirty="0" sz="850" spc="-10">
                <a:latin typeface="SimSun"/>
                <a:cs typeface="SimSun"/>
              </a:rPr>
              <a:t>2023/photo3.jpg </a:t>
            </a:r>
            <a:r>
              <a:rPr dirty="0" sz="850">
                <a:latin typeface="SimSun"/>
                <a:cs typeface="SimSun"/>
              </a:rPr>
              <a:t>photos/jan-</a:t>
            </a:r>
            <a:r>
              <a:rPr dirty="0" sz="850" spc="-10">
                <a:latin typeface="SimSun"/>
                <a:cs typeface="SimSun"/>
              </a:rPr>
              <a:t>2023/photo2.jpg </a:t>
            </a:r>
            <a:r>
              <a:rPr dirty="0" sz="850">
                <a:latin typeface="SimSun"/>
                <a:cs typeface="SimSun"/>
              </a:rPr>
              <a:t>photos/jan-</a:t>
            </a:r>
            <a:r>
              <a:rPr dirty="0" sz="850" spc="-10">
                <a:latin typeface="SimSun"/>
                <a:cs typeface="SimSun"/>
              </a:rPr>
              <a:t>2023/photo1.jpg </a:t>
            </a:r>
            <a:r>
              <a:rPr dirty="0" sz="850">
                <a:latin typeface="SimSun"/>
                <a:cs typeface="SimSun"/>
              </a:rPr>
              <a:t>photos/feb-</a:t>
            </a:r>
            <a:r>
              <a:rPr dirty="0" sz="850" spc="-10">
                <a:latin typeface="SimSun"/>
                <a:cs typeface="SimSun"/>
              </a:rPr>
              <a:t>2023/photo2.jpg </a:t>
            </a:r>
            <a:r>
              <a:rPr dirty="0" sz="850">
                <a:latin typeface="SimSun"/>
                <a:cs typeface="SimSun"/>
              </a:rPr>
              <a:t>photos/feb-</a:t>
            </a:r>
            <a:r>
              <a:rPr dirty="0" sz="850" spc="-10">
                <a:latin typeface="SimSun"/>
                <a:cs typeface="SimSun"/>
              </a:rPr>
              <a:t>2023/photo1.jpg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depends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details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operating</a:t>
            </a:r>
            <a:r>
              <a:rPr dirty="0" sz="1050" spc="-10">
                <a:latin typeface="Palatino Linotype"/>
                <a:cs typeface="Palatino Linotype"/>
              </a:rPr>
              <a:t> system.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Here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general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version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walk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 </a:t>
            </a:r>
            <a:r>
              <a:rPr dirty="0" sz="1050" spc="-20">
                <a:latin typeface="Palatino Linotype"/>
                <a:cs typeface="Palatino Linotype"/>
              </a:rPr>
              <a:t>object.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Instead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printing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50">
                <a:latin typeface="Palatino Linotype"/>
                <a:cs typeface="Palatino Linotype"/>
              </a:rPr>
              <a:t>path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30">
                <a:latin typeface="Palatino Linotype"/>
                <a:cs typeface="Palatino Linotype"/>
              </a:rPr>
              <a:t>files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discovers,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5">
                <a:latin typeface="Palatino Linotype"/>
                <a:cs typeface="Palatino Linotype"/>
              </a:rPr>
              <a:t>passes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parameter: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walk(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dirname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visit_func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listdir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dirname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dirname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687070" marR="28225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isfile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visit_func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walk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path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visit_func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48212" y="7731125"/>
            <a:ext cx="11512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0" b="1">
                <a:latin typeface="Trebuchet MS"/>
                <a:cs typeface="Trebuchet MS"/>
              </a:rPr>
              <a:t>Walking </a:t>
            </a:r>
            <a:r>
              <a:rPr dirty="0" sz="900" spc="-114" b="1">
                <a:latin typeface="Trebuchet MS"/>
                <a:cs typeface="Trebuchet MS"/>
              </a:rPr>
              <a:t>Directories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30" b="1">
                <a:latin typeface="Trebuchet MS"/>
                <a:cs typeface="Trebuchet MS"/>
              </a:rPr>
              <a:t>203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4296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866263"/>
            <a:ext cx="4572000" cy="397510"/>
            <a:chOff x="914400" y="3866263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86626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8678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6590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300642"/>
            <a:ext cx="4572000" cy="289560"/>
            <a:chOff x="914400" y="5300642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30064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3022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87753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612" y="657564"/>
            <a:ext cx="4598035" cy="673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latin typeface="Palatino Linotype"/>
                <a:cs typeface="Palatino Linotype"/>
              </a:rPr>
              <a:t>Here’s</a:t>
            </a:r>
            <a:r>
              <a:rPr dirty="0" sz="1050" spc="1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where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we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pass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print</a:t>
            </a:r>
            <a:r>
              <a:rPr dirty="0" sz="1000" spc="-3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argument,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when</a:t>
            </a:r>
            <a:r>
              <a:rPr dirty="0" sz="105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walk</a:t>
            </a:r>
            <a:r>
              <a:rPr dirty="0" sz="1000" spc="-3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calls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visit_func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discovers: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walk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'photos'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50">
              <a:latin typeface="SimSun"/>
              <a:cs typeface="SimSun"/>
            </a:endParaRPr>
          </a:p>
          <a:p>
            <a:pPr marL="39370" marR="3146425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photos/notes.txt </a:t>
            </a:r>
            <a:r>
              <a:rPr dirty="0" sz="850">
                <a:latin typeface="SimSun"/>
                <a:cs typeface="SimSun"/>
              </a:rPr>
              <a:t>photos/mar-</a:t>
            </a:r>
            <a:r>
              <a:rPr dirty="0" sz="850" spc="-10">
                <a:latin typeface="SimSun"/>
                <a:cs typeface="SimSun"/>
              </a:rPr>
              <a:t>2023/photo2.jpg </a:t>
            </a:r>
            <a:r>
              <a:rPr dirty="0" sz="850">
                <a:latin typeface="SimSun"/>
                <a:cs typeface="SimSun"/>
              </a:rPr>
              <a:t>photos/mar-</a:t>
            </a:r>
            <a:r>
              <a:rPr dirty="0" sz="850" spc="-10">
                <a:latin typeface="SimSun"/>
                <a:cs typeface="SimSun"/>
              </a:rPr>
              <a:t>2023/photo1.jpg </a:t>
            </a:r>
            <a:r>
              <a:rPr dirty="0" sz="850">
                <a:latin typeface="SimSun"/>
                <a:cs typeface="SimSun"/>
              </a:rPr>
              <a:t>photos/jan-</a:t>
            </a:r>
            <a:r>
              <a:rPr dirty="0" sz="850" spc="-10">
                <a:latin typeface="SimSun"/>
                <a:cs typeface="SimSun"/>
              </a:rPr>
              <a:t>2023/photo3.jpg </a:t>
            </a:r>
            <a:r>
              <a:rPr dirty="0" sz="850">
                <a:latin typeface="SimSun"/>
                <a:cs typeface="SimSun"/>
              </a:rPr>
              <a:t>photos/jan-</a:t>
            </a:r>
            <a:r>
              <a:rPr dirty="0" sz="850" spc="-10">
                <a:latin typeface="SimSun"/>
                <a:cs typeface="SimSun"/>
              </a:rPr>
              <a:t>2023/photo2.jpg </a:t>
            </a:r>
            <a:r>
              <a:rPr dirty="0" sz="850">
                <a:latin typeface="SimSun"/>
                <a:cs typeface="SimSun"/>
              </a:rPr>
              <a:t>photos/jan-</a:t>
            </a:r>
            <a:r>
              <a:rPr dirty="0" sz="850" spc="-10">
                <a:latin typeface="SimSun"/>
                <a:cs typeface="SimSun"/>
              </a:rPr>
              <a:t>2023/photo1.jpg </a:t>
            </a:r>
            <a:r>
              <a:rPr dirty="0" sz="850">
                <a:latin typeface="SimSun"/>
                <a:cs typeface="SimSun"/>
              </a:rPr>
              <a:t>photos/feb-</a:t>
            </a:r>
            <a:r>
              <a:rPr dirty="0" sz="850" spc="-10">
                <a:latin typeface="SimSun"/>
                <a:cs typeface="SimSun"/>
              </a:rPr>
              <a:t>2023/photo2.jpg </a:t>
            </a:r>
            <a:r>
              <a:rPr dirty="0" sz="850">
                <a:latin typeface="SimSun"/>
                <a:cs typeface="SimSun"/>
              </a:rPr>
              <a:t>photos/feb-</a:t>
            </a:r>
            <a:r>
              <a:rPr dirty="0" sz="850" spc="-10">
                <a:latin typeface="SimSun"/>
                <a:cs typeface="SimSun"/>
              </a:rPr>
              <a:t>2023/photo1.jpg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called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visit_func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suggests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“walk”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around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directory,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“visit”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10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reading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files,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might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run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problems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white‐ </a:t>
            </a:r>
            <a:r>
              <a:rPr dirty="0" sz="1050" spc="-45">
                <a:latin typeface="Palatino Linotype"/>
                <a:cs typeface="Palatino Linotype"/>
              </a:rPr>
              <a:t>space.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75">
                <a:latin typeface="Palatino Linotype"/>
                <a:cs typeface="Palatino Linotype"/>
              </a:rPr>
              <a:t>debug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spaces,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tabs,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nor‐ </a:t>
            </a:r>
            <a:r>
              <a:rPr dirty="0" sz="1050" spc="-65">
                <a:latin typeface="Palatino Linotype"/>
                <a:cs typeface="Palatino Linotype"/>
              </a:rPr>
              <a:t>mally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invisible: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322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10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65">
                <a:solidFill>
                  <a:srgbClr val="7E0610"/>
                </a:solidFill>
                <a:latin typeface="SimSun"/>
                <a:cs typeface="SimSun"/>
              </a:rPr>
              <a:t>2</a:t>
            </a:r>
            <a:r>
              <a:rPr dirty="0" sz="850" spc="-65" b="1">
                <a:solidFill>
                  <a:srgbClr val="CC3300"/>
                </a:solidFill>
                <a:latin typeface="Courier New"/>
                <a:cs typeface="Courier New"/>
              </a:rPr>
              <a:t>\t</a:t>
            </a:r>
            <a:r>
              <a:rPr dirty="0" sz="850" spc="-85" b="1">
                <a:solidFill>
                  <a:srgbClr val="CC3300"/>
                </a:solidFill>
                <a:latin typeface="Courier New"/>
                <a:cs typeface="Courier New"/>
              </a:rPr>
              <a:t> </a:t>
            </a:r>
            <a:r>
              <a:rPr dirty="0" sz="850" spc="-65">
                <a:solidFill>
                  <a:srgbClr val="7E0610"/>
                </a:solidFill>
                <a:latin typeface="SimSun"/>
                <a:cs typeface="SimSun"/>
              </a:rPr>
              <a:t>3</a:t>
            </a:r>
            <a:r>
              <a:rPr dirty="0" sz="850" spc="-65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80" b="1">
                <a:solidFill>
                  <a:srgbClr val="CC3300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4'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tabLst>
                <a:tab pos="525145" algn="l"/>
              </a:tabLst>
            </a:pPr>
            <a:r>
              <a:rPr dirty="0" sz="850">
                <a:latin typeface="SimSun"/>
                <a:cs typeface="SimSun"/>
              </a:rPr>
              <a:t>1 </a:t>
            </a:r>
            <a:r>
              <a:rPr dirty="0" sz="850" spc="-50"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50"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 marL="93345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4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repr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help.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representation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represents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whitespace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characters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backslash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sequences:</a:t>
            </a:r>
            <a:endParaRPr sz="1050">
              <a:latin typeface="Palatino Linotype"/>
              <a:cs typeface="Palatino Linotype"/>
            </a:endParaRPr>
          </a:p>
          <a:p>
            <a:pPr marL="39370" marR="37941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repr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)) </a:t>
            </a:r>
            <a:r>
              <a:rPr dirty="0" sz="850">
                <a:latin typeface="SimSun"/>
                <a:cs typeface="SimSun"/>
              </a:rPr>
              <a:t>'1 2\t 3\n </a:t>
            </a:r>
            <a:r>
              <a:rPr dirty="0" sz="850" spc="-25">
                <a:latin typeface="SimSun"/>
                <a:cs typeface="SimSun"/>
              </a:rPr>
              <a:t>4'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helpful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debugging.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charac‐ </a:t>
            </a:r>
            <a:r>
              <a:rPr dirty="0" sz="1050" spc="-45">
                <a:latin typeface="Palatino Linotype"/>
                <a:cs typeface="Palatino Linotype"/>
              </a:rPr>
              <a:t>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newline,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\n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Oth‐ </a:t>
            </a:r>
            <a:r>
              <a:rPr dirty="0" sz="1050" spc="-50">
                <a:latin typeface="Palatino Linotype"/>
                <a:cs typeface="Palatino Linotype"/>
              </a:rPr>
              <a:t>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characte</a:t>
            </a:r>
            <a:r>
              <a:rPr dirty="0" sz="1050" spc="-10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\r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systems,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inconsistencies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Filename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capitalization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issue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might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encounter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differ‐ </a:t>
            </a:r>
            <a:r>
              <a:rPr dirty="0" sz="1050">
                <a:latin typeface="Palatino Linotype"/>
                <a:cs typeface="Palatino Linotype"/>
              </a:rPr>
              <a:t>e</a:t>
            </a:r>
            <a:r>
              <a:rPr dirty="0" sz="1050">
                <a:latin typeface="Palatino Linotype"/>
                <a:cs typeface="Palatino Linotype"/>
              </a:rPr>
              <a:t>nt </a:t>
            </a:r>
            <a:r>
              <a:rPr dirty="0" sz="1050" spc="-35">
                <a:latin typeface="Palatino Linotype"/>
                <a:cs typeface="Palatino Linotype"/>
              </a:rPr>
              <a:t>operating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systems.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10">
                <a:latin typeface="Palatino Linotype"/>
                <a:cs typeface="Palatino Linotype"/>
              </a:rPr>
              <a:t>macOS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Unix,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filenames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contain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lowercase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55">
                <a:latin typeface="Palatino Linotype"/>
                <a:cs typeface="Palatino Linotype"/>
              </a:rPr>
              <a:t>uppercase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digits,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symbols.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Windows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applications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ignore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1702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204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62" y="650030"/>
            <a:ext cx="4598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lowercase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uppercase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several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symbols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70">
                <a:latin typeface="Palatino Linotype"/>
                <a:cs typeface="Palatino Linotype"/>
              </a:rPr>
              <a:t>allowed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macOS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Unix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allowed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Windows.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01685" y="1088051"/>
            <a:ext cx="68199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00"/>
              <a:t>Glossary</a:t>
            </a:r>
            <a:endParaRPr sz="1900"/>
          </a:p>
        </p:txBody>
      </p:sp>
      <p:sp>
        <p:nvSpPr>
          <p:cNvPr id="4" name="object 4" descr=""/>
          <p:cNvSpPr txBox="1"/>
          <p:nvPr/>
        </p:nvSpPr>
        <p:spPr>
          <a:xfrm>
            <a:off x="901643" y="1445055"/>
            <a:ext cx="4598035" cy="5496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ephemeral: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ephemeral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typically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5">
                <a:latin typeface="Palatino Linotype"/>
                <a:cs typeface="Palatino Linotype"/>
              </a:rPr>
              <a:t>short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10">
                <a:latin typeface="Palatino Linotype"/>
                <a:cs typeface="Palatino Linotype"/>
              </a:rPr>
              <a:t>ends,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lost.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persistent: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persistent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indefinitely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keeps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10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data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permanent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storage.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directory: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collection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directories.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current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working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directory: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default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unless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another </a:t>
            </a:r>
            <a:r>
              <a:rPr dirty="0" sz="1050" spc="-50">
                <a:latin typeface="Palatino Linotype"/>
                <a:cs typeface="Palatino Linotype"/>
              </a:rPr>
              <a:t>directory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specified.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path: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directories,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relative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path: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path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current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directory,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 </a:t>
            </a:r>
            <a:r>
              <a:rPr dirty="0" sz="1050" spc="-40">
                <a:latin typeface="Palatino Linotype"/>
                <a:cs typeface="Palatino Linotype"/>
              </a:rPr>
              <a:t>some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 </a:t>
            </a:r>
            <a:r>
              <a:rPr dirty="0" sz="1050" spc="-55">
                <a:latin typeface="Palatino Linotype"/>
                <a:cs typeface="Palatino Linotype"/>
              </a:rPr>
              <a:t>specified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directory.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0" b="1">
                <a:latin typeface="Palatino Linotype"/>
                <a:cs typeface="Palatino Linotype"/>
              </a:rPr>
              <a:t>absolute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path: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depend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directory.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45" b="1">
                <a:latin typeface="Palatino Linotype"/>
                <a:cs typeface="Palatino Linotype"/>
              </a:rPr>
              <a:t>f-</a:t>
            </a:r>
            <a:r>
              <a:rPr dirty="0" sz="1050" spc="-20" b="1">
                <a:latin typeface="Palatino Linotype"/>
                <a:cs typeface="Palatino Linotype"/>
              </a:rPr>
              <a:t>string:</a:t>
            </a:r>
            <a:r>
              <a:rPr dirty="0" sz="1050" spc="-5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string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quotation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mark,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expressions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curly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braces.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configuration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data: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Data,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specifies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should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how.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serialization: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Converting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string.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deserialization: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Converting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database:</a:t>
            </a:r>
            <a:r>
              <a:rPr dirty="0" sz="1050" spc="2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whose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contents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organized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perform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certain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operations </a:t>
            </a:r>
            <a:r>
              <a:rPr dirty="0" sz="1050" spc="-10">
                <a:latin typeface="Palatino Linotype"/>
                <a:cs typeface="Palatino Linotype"/>
              </a:rPr>
              <a:t>efficiently.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75" b="1">
                <a:latin typeface="Palatino Linotype"/>
                <a:cs typeface="Palatino Linotype"/>
              </a:rPr>
              <a:t>key-</a:t>
            </a:r>
            <a:r>
              <a:rPr dirty="0" sz="1050" spc="-65" b="1">
                <a:latin typeface="Palatino Linotype"/>
                <a:cs typeface="Palatino Linotype"/>
              </a:rPr>
              <a:t>value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stores: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database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organized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keys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correspond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values.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binary </a:t>
            </a:r>
            <a:r>
              <a:rPr dirty="0" sz="1050" spc="-25" b="1">
                <a:latin typeface="Palatino Linotype"/>
                <a:cs typeface="Palatino Linotype"/>
              </a:rPr>
              <a:t>mode: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writing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interpreted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60">
                <a:latin typeface="Palatino Linotype"/>
                <a:cs typeface="Palatino Linotype"/>
              </a:rPr>
              <a:t>bytes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characters.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hash</a:t>
            </a:r>
            <a:r>
              <a:rPr dirty="0" sz="1050" spc="3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function:</a:t>
            </a:r>
            <a:r>
              <a:rPr dirty="0" sz="1050" spc="4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integer,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digest.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digest: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result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especially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two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same.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769043" y="7731125"/>
            <a:ext cx="7302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205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7321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5"/>
              <a:t>Exercises</a:t>
            </a:r>
            <a:endParaRPr sz="1900"/>
          </a:p>
        </p:txBody>
      </p:sp>
      <p:sp>
        <p:nvSpPr>
          <p:cNvPr id="3" name="object 3" descr=""/>
          <p:cNvSpPr txBox="1"/>
          <p:nvPr/>
        </p:nvSpPr>
        <p:spPr>
          <a:xfrm>
            <a:off x="901634" y="909185"/>
            <a:ext cx="4598035" cy="607822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several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topics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explain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detail. </a:t>
            </a: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questions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information: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ephemeral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persistent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programs?”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persistent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programs?”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“What’s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relative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absolute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path?”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90">
                <a:latin typeface="Palatino Linotype"/>
                <a:cs typeface="Palatino Linotype"/>
              </a:rPr>
              <a:t>“Why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yaml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load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safe_load</a:t>
            </a:r>
            <a:r>
              <a:rPr dirty="0" sz="1050" spc="-10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“When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suffixes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dat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dir</a:t>
            </a:r>
            <a:r>
              <a:rPr dirty="0" sz="1050" spc="-10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key-values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kinds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databases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“When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binary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bytes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string?”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MD5</a:t>
            </a:r>
            <a:r>
              <a:rPr dirty="0" sz="1050" spc="-10">
                <a:latin typeface="Palatino Linotype"/>
                <a:cs typeface="Palatino Linotype"/>
              </a:rPr>
              <a:t> digest?”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alw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ys,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stuck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</a:t>
            </a:r>
            <a:r>
              <a:rPr dirty="0" sz="1050" spc="-110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Along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question,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paste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releva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050">
                <a:latin typeface="Palatino Linotype"/>
                <a:cs typeface="Palatino Linotype"/>
              </a:rPr>
              <a:t>Write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replace_all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takes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arguments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pattern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replacement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filenames.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30">
                <a:latin typeface="Palatino Linotype"/>
                <a:cs typeface="Palatino Linotype"/>
              </a:rPr>
              <a:t>tents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 </a:t>
            </a:r>
            <a:r>
              <a:rPr dirty="0" sz="1050" spc="-35">
                <a:latin typeface="Palatino Linotype"/>
                <a:cs typeface="Palatino Linotype"/>
              </a:rPr>
              <a:t>(creating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necessary).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pattern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appears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any‐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replacement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photos/notes.txt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replace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'photos'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'images'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photos/new_notes.txt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05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Storing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D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a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ta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Structure</a:t>
            </a:r>
            <a:r>
              <a:rPr dirty="0" sz="1050" spc="-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s</a:t>
            </a:r>
            <a:r>
              <a:rPr dirty="0" sz="1050" spc="-10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199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shelve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key-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sorted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anagrams.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finish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add_word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shelf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708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206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7" y="650030"/>
            <a:ext cx="4598035" cy="6095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sort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</a:t>
            </a:r>
            <a:r>
              <a:rPr dirty="0" sz="1050" spc="-16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already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ppend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existing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large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collection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copy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stored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directories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filenames.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tes.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image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p</a:t>
            </a:r>
            <a:r>
              <a:rPr dirty="0" sz="1050" i="1">
                <a:latin typeface="Palatino Linotype"/>
                <a:cs typeface="Palatino Linotype"/>
              </a:rPr>
              <a:t>h</a:t>
            </a:r>
            <a:r>
              <a:rPr dirty="0" sz="1050" spc="10" i="1">
                <a:latin typeface="Palatino Linotype"/>
                <a:cs typeface="Palatino Linotype"/>
              </a:rPr>
              <a:t>o</a:t>
            </a:r>
            <a:r>
              <a:rPr dirty="0" sz="1050" spc="-45" i="1">
                <a:latin typeface="Palatino Linotype"/>
                <a:cs typeface="Palatino Linotype"/>
              </a:rPr>
              <a:t>t</a:t>
            </a:r>
            <a:r>
              <a:rPr dirty="0" sz="1050" spc="15" i="1">
                <a:latin typeface="Palatino Linotype"/>
                <a:cs typeface="Palatino Linotype"/>
              </a:rPr>
              <a:t>o</a:t>
            </a:r>
            <a:r>
              <a:rPr dirty="0" sz="1050" spc="-55" i="1">
                <a:latin typeface="Palatino Linotype"/>
                <a:cs typeface="Palatino Linotype"/>
              </a:rPr>
              <a:t>s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direc‐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18745">
              <a:lnSpc>
                <a:spcPct val="1047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use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walk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“Walking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Directories”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203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search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2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directory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files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end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with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extensions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config ['extensions']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md5_digest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“Checking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for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Equivalent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Files”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on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page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201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digest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contents.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shelf,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mapping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digest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paths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10">
                <a:latin typeface="Palatino Linotype"/>
                <a:cs typeface="Palatino Linotype"/>
              </a:rPr>
              <a:t>digest.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Finally,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shelf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digests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map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multiple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files.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any,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same_contents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confirm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same </a:t>
            </a:r>
            <a:r>
              <a:rPr dirty="0" sz="1050" spc="-10">
                <a:latin typeface="Palatino Linotype"/>
                <a:cs typeface="Palatino Linotype"/>
              </a:rPr>
              <a:t>data.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1000"/>
              </a:spcBef>
            </a:pPr>
            <a:r>
              <a:rPr dirty="0" sz="1050" spc="-30">
                <a:latin typeface="Palatino Linotype"/>
                <a:cs typeface="Palatino Linotype"/>
              </a:rPr>
              <a:t>I’ll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suggest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together: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3099"/>
              </a:lnSpc>
              <a:spcBef>
                <a:spcPts val="1020"/>
              </a:spcBef>
              <a:buAutoNum type="arabicPeriod"/>
              <a:tabLst>
                <a:tab pos="241935" algn="l"/>
              </a:tabLst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identify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files, </a:t>
            </a: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is_image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path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extensions,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True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extensions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Hint: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os.path.splitext</a:t>
            </a:r>
            <a:r>
              <a:rPr dirty="0" sz="1050" spc="-10">
                <a:latin typeface="Palatino Linotype"/>
                <a:cs typeface="Palatino Linotype"/>
              </a:rPr>
              <a:t>—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you.</a:t>
            </a:r>
            <a:endParaRPr sz="1050">
              <a:latin typeface="Palatino Linotype"/>
              <a:cs typeface="Palatino Linotype"/>
            </a:endParaRPr>
          </a:p>
          <a:p>
            <a:pPr algn="just" marL="240665" marR="5080" indent="-161290">
              <a:lnSpc>
                <a:spcPct val="101600"/>
              </a:lnSpc>
              <a:spcBef>
                <a:spcPts val="439"/>
              </a:spcBef>
              <a:buAutoNum type="arabicPeriod"/>
              <a:tabLst>
                <a:tab pos="241935" algn="l"/>
              </a:tabLst>
            </a:pP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add_path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as </a:t>
            </a:r>
            <a:r>
              <a:rPr dirty="0" sz="1050" spc="-50">
                <a:latin typeface="Palatino Linotype"/>
                <a:cs typeface="Palatino Linotype"/>
              </a:rPr>
              <a:t>arguments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0">
                <a:latin typeface="Palatino Linotype"/>
                <a:cs typeface="Palatino Linotype"/>
              </a:rPr>
              <a:t>path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25">
                <a:latin typeface="Palatino Linotype"/>
                <a:cs typeface="Palatino Linotype"/>
              </a:rPr>
              <a:t>shelf.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md5_digest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digest</a:t>
            </a:r>
            <a:r>
              <a:rPr dirty="0" sz="1050">
                <a:latin typeface="Palatino Linotype"/>
                <a:cs typeface="Palatino Linotype"/>
              </a:rPr>
              <a:t> of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contents.</a:t>
            </a:r>
            <a:r>
              <a:rPr dirty="0" sz="1050">
                <a:latin typeface="Palatino Linotype"/>
                <a:cs typeface="Palatino Linotype"/>
              </a:rPr>
              <a:t> 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40">
                <a:latin typeface="Palatino Linotype"/>
                <a:cs typeface="Palatino Linotype"/>
              </a:rPr>
              <a:t>should </a:t>
            </a:r>
            <a:r>
              <a:rPr dirty="0" sz="1050" spc="-60">
                <a:latin typeface="Palatino Linotype"/>
                <a:cs typeface="Palatino Linotype"/>
              </a:rPr>
              <a:t>update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shelf,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either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digest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 </a:t>
            </a:r>
            <a:r>
              <a:rPr dirty="0" sz="1050" spc="-50">
                <a:latin typeface="Palatino Linotype"/>
                <a:cs typeface="Palatino Linotype"/>
              </a:rPr>
              <a:t>containing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path,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appending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exists.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47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35">
                <a:latin typeface="Palatino Linotype"/>
                <a:cs typeface="Palatino Linotype"/>
              </a:rPr>
              <a:t>Write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process_path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path,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is_image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check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image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add_path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shelf.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745075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207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206946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901662" y="650030"/>
            <a:ext cx="4598035" cy="1814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latin typeface="Palatino Linotype"/>
                <a:cs typeface="Palatino Linotype"/>
              </a:rPr>
              <a:t>When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everything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shelf, </a:t>
            </a:r>
            <a:r>
              <a:rPr dirty="0" sz="1050" spc="-50">
                <a:latin typeface="Palatino Linotype"/>
                <a:cs typeface="Palatino Linotype"/>
              </a:rPr>
              <a:t>search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photos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directory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paths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shelf,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multiple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digest: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44475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db = shelve.open('photos/digests', </a:t>
            </a:r>
            <a:r>
              <a:rPr dirty="0" sz="850" spc="-20">
                <a:latin typeface="SimSun"/>
                <a:cs typeface="SimSun"/>
              </a:rPr>
              <a:t>'n') </a:t>
            </a:r>
            <a:r>
              <a:rPr dirty="0" sz="850">
                <a:latin typeface="SimSun"/>
                <a:cs typeface="SimSun"/>
              </a:rPr>
              <a:t>walk('photos', </a:t>
            </a:r>
            <a:r>
              <a:rPr dirty="0" sz="850" spc="-10">
                <a:latin typeface="SimSun"/>
                <a:cs typeface="SimSun"/>
              </a:rPr>
              <a:t>process_path)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2822575" indent="-2159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for digest, paths in </a:t>
            </a:r>
            <a:r>
              <a:rPr dirty="0" sz="850" spc="-10">
                <a:latin typeface="SimSun"/>
                <a:cs typeface="SimSun"/>
              </a:rPr>
              <a:t>db.items(): </a:t>
            </a:r>
            <a:r>
              <a:rPr dirty="0" sz="850">
                <a:latin typeface="SimSun"/>
                <a:cs typeface="SimSun"/>
              </a:rPr>
              <a:t>if len(paths) &gt; </a:t>
            </a:r>
            <a:r>
              <a:rPr dirty="0" sz="850" spc="-25">
                <a:latin typeface="SimSun"/>
                <a:cs typeface="SimSun"/>
              </a:rPr>
              <a:t>1: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10">
                <a:latin typeface="SimSun"/>
                <a:cs typeface="SimSun"/>
              </a:rPr>
              <a:t>print(paths)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should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find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pair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digest.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same_contents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data.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64" y="7731125"/>
            <a:ext cx="16046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208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13: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Files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Databases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315733"/>
            <a:ext cx="4572000" cy="397510"/>
            <a:chOff x="914400" y="5315733"/>
            <a:chExt cx="4572000" cy="3975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31573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3173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914400" y="6628021"/>
            <a:ext cx="4572000" cy="289560"/>
            <a:chOff x="914400" y="6628021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662802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662960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14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3209522" y="1212513"/>
            <a:ext cx="228981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55"/>
              <a:t>Classes </a:t>
            </a:r>
            <a:r>
              <a:rPr dirty="0" spc="-370"/>
              <a:t>and</a:t>
            </a:r>
            <a:r>
              <a:rPr dirty="0" spc="-350"/>
              <a:t> </a:t>
            </a:r>
            <a:r>
              <a:rPr dirty="0" spc="-390"/>
              <a:t>Functions</a:t>
            </a:r>
          </a:p>
        </p:txBody>
      </p:sp>
      <p:sp>
        <p:nvSpPr>
          <p:cNvPr id="11" name="object 11" descr=""/>
          <p:cNvSpPr txBox="1"/>
          <p:nvPr/>
        </p:nvSpPr>
        <p:spPr>
          <a:xfrm>
            <a:off x="901642" y="3044843"/>
            <a:ext cx="4598035" cy="3780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125">
                <a:latin typeface="Palatino Linotype"/>
                <a:cs typeface="Palatino Linotype"/>
              </a:rPr>
              <a:t>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know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how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organize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how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70">
                <a:latin typeface="Palatino Linotype"/>
                <a:cs typeface="Palatino Linotype"/>
              </a:rPr>
              <a:t>types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organize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step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object-oriented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programming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(OOP)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programmer-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organize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data.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Object-orie</a:t>
            </a:r>
            <a:r>
              <a:rPr dirty="0" sz="1050" spc="-5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topic,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proceed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graduall</a:t>
            </a:r>
            <a:r>
              <a:rPr dirty="0" sz="1050" spc="-160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idiom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tic—th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 </a:t>
            </a:r>
            <a:r>
              <a:rPr dirty="0" sz="1050" spc="-50">
                <a:latin typeface="Palatino Linotype"/>
                <a:cs typeface="Palatino Linotype"/>
              </a:rPr>
              <a:t>experienced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write—but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place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p‐ </a:t>
            </a:r>
            <a:r>
              <a:rPr dirty="0" sz="1050" spc="-40">
                <a:latin typeface="Palatino Linotype"/>
                <a:cs typeface="Palatino Linotype"/>
              </a:rPr>
              <a:t>ters,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additional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idiom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Programmer-</a:t>
            </a:r>
            <a:r>
              <a:rPr dirty="0" sz="1900" spc="-290" b="1">
                <a:latin typeface="Trebuchet MS"/>
                <a:cs typeface="Trebuchet MS"/>
              </a:rPr>
              <a:t>Defined</a:t>
            </a:r>
            <a:r>
              <a:rPr dirty="0" sz="1900" spc="-215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Types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509"/>
              </a:spcBef>
            </a:pP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Python’s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types—</a:t>
            </a:r>
            <a:r>
              <a:rPr dirty="0" sz="1050" spc="-65">
                <a:latin typeface="Palatino Linotype"/>
                <a:cs typeface="Palatino Linotype"/>
              </a:rPr>
              <a:t>now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type.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>
                <a:latin typeface="Palatino Linotype"/>
                <a:cs typeface="Palatino Linotype"/>
              </a:rPr>
              <a:t>first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example,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we’ll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create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type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called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represents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time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day.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programme</a:t>
            </a:r>
            <a:r>
              <a:rPr dirty="0" sz="1050" spc="-65">
                <a:latin typeface="Palatino Linotype"/>
                <a:cs typeface="Palatino Linotype"/>
              </a:rPr>
              <a:t>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class</a:t>
            </a:r>
            <a:r>
              <a:rPr dirty="0" sz="1050" spc="-55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Time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time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day."""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8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header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body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docstring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5">
                <a:latin typeface="Palatino Linotype"/>
                <a:cs typeface="Palatino Linotype"/>
              </a:rPr>
              <a:t>explains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class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factory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creating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80">
                <a:latin typeface="Palatino Linotype"/>
                <a:cs typeface="Palatino Linotype"/>
              </a:rPr>
              <a:t>were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lunch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333764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209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155567"/>
            <a:ext cx="4572000" cy="289560"/>
            <a:chOff x="914400" y="215556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15556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1571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3246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161538"/>
            <a:ext cx="4572000" cy="505459"/>
            <a:chOff x="914400" y="4161538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16153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1631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901625" y="657564"/>
            <a:ext cx="4598035" cy="499808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</a:t>
            </a:r>
            <a:r>
              <a:rPr dirty="0" sz="1050" spc="-20">
                <a:latin typeface="Palatino Linotype"/>
                <a:cs typeface="Palatino Linotype"/>
              </a:rPr>
              <a:t> 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whose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main</a:t>
            </a:r>
            <a:r>
              <a:rPr dirty="0" u="sng" sz="1000" spc="39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.Time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where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main</a:t>
            </a:r>
            <a:r>
              <a:rPr dirty="0" u="sng" sz="1000" spc="6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name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.Time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5">
                <a:latin typeface="Palatino Linotype"/>
                <a:cs typeface="Palatino Linotype"/>
              </a:rPr>
              <a:t>When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tells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type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stored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0">
                <a:latin typeface="Palatino Linotype"/>
                <a:cs typeface="Palatino Linotype"/>
              </a:rPr>
              <a:t>memo</a:t>
            </a:r>
            <a:r>
              <a:rPr dirty="0" sz="1050" spc="-60">
                <a:latin typeface="Palatino Linotype"/>
                <a:cs typeface="Palatino Linotype"/>
              </a:rPr>
              <a:t>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prefix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0x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means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hexadecimal):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&lt;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.Time object at </a:t>
            </a:r>
            <a:r>
              <a:rPr dirty="0" sz="850" spc="-10">
                <a:latin typeface="SimSun"/>
                <a:cs typeface="SimSun"/>
              </a:rPr>
              <a:t>0x7fbf2c427280&gt;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Creating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0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object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instantiation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and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 is an </a:t>
            </a:r>
            <a:r>
              <a:rPr dirty="0" sz="1050" spc="-25" b="1">
                <a:latin typeface="Palatino Linotype"/>
                <a:cs typeface="Palatino Linotype"/>
              </a:rPr>
              <a:t>instance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class.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Attributes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8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attributes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pronounced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emphasis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syllable,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“AT-</a:t>
            </a:r>
            <a:r>
              <a:rPr dirty="0" sz="1050" spc="-30">
                <a:latin typeface="Palatino Linotype"/>
                <a:cs typeface="Palatino Linotype"/>
              </a:rPr>
              <a:t>trib-</a:t>
            </a:r>
            <a:r>
              <a:rPr dirty="0" sz="1050" spc="-70">
                <a:latin typeface="Palatino Linotype"/>
                <a:cs typeface="Palatino Linotype"/>
              </a:rPr>
              <a:t>ute,”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syllable,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“a- </a:t>
            </a:r>
            <a:r>
              <a:rPr dirty="0" sz="1050" spc="-35">
                <a:latin typeface="Palatino Linotype"/>
                <a:cs typeface="Palatino Linotype"/>
              </a:rPr>
              <a:t>TRIB</a:t>
            </a:r>
            <a:r>
              <a:rPr dirty="0" sz="1050" spc="-35">
                <a:latin typeface="Palatino Linotype"/>
                <a:cs typeface="Palatino Linotype"/>
              </a:rPr>
              <a:t>-</a:t>
            </a:r>
            <a:r>
              <a:rPr dirty="0" sz="1050" spc="-70">
                <a:latin typeface="Palatino Linotype"/>
                <a:cs typeface="Palatino Linotype"/>
              </a:rPr>
              <a:t>ute.”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notation: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11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59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creates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hour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minute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hours,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minutes,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11:59:01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lunchtime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am </a:t>
            </a:r>
            <a:r>
              <a:rPr dirty="0" sz="1050" spc="-10">
                <a:latin typeface="Palatino Linotype"/>
                <a:cs typeface="Palatino Linotype"/>
              </a:rPr>
              <a:t>concerned.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following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diagram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shows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state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lunch</a:t>
            </a:r>
            <a:r>
              <a:rPr dirty="0" sz="1000" spc="-12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attributes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after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these </a:t>
            </a:r>
            <a:r>
              <a:rPr dirty="0" sz="1050" spc="-10">
                <a:latin typeface="Palatino Linotype"/>
                <a:cs typeface="Palatino Linotype"/>
              </a:rPr>
              <a:t>assignments: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5832968"/>
            <a:ext cx="1458770" cy="839329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901658" y="6861176"/>
            <a:ext cx="459803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lunch</a:t>
            </a:r>
            <a:r>
              <a:rPr dirty="0" sz="1000" spc="-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Each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this—which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shows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its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ttributes—is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95" b="1">
                <a:latin typeface="Palatino Linotype"/>
                <a:cs typeface="Palatino Linotype"/>
              </a:rPr>
              <a:t>b</a:t>
            </a:r>
            <a:r>
              <a:rPr dirty="0" sz="1050" spc="-50" b="1">
                <a:latin typeface="Palatino Linotype"/>
                <a:cs typeface="Palatino Linotype"/>
              </a:rPr>
              <a:t>j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20" b="1">
                <a:latin typeface="Palatino Linotype"/>
                <a:cs typeface="Palatino Linotype"/>
              </a:rPr>
              <a:t>c</a:t>
            </a:r>
            <a:r>
              <a:rPr dirty="0" sz="1050" spc="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di</a:t>
            </a:r>
            <a:r>
              <a:rPr dirty="0" sz="1050" spc="-50" b="1">
                <a:latin typeface="Palatino Linotype"/>
                <a:cs typeface="Palatino Linotype"/>
              </a:rPr>
              <a:t>a</a:t>
            </a:r>
            <a:r>
              <a:rPr dirty="0" sz="1050" spc="-50" b="1">
                <a:latin typeface="Palatino Linotype"/>
                <a:cs typeface="Palatino Linotype"/>
              </a:rPr>
              <a:t>g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45" b="1">
                <a:latin typeface="Palatino Linotype"/>
                <a:cs typeface="Palatino Linotype"/>
              </a:rPr>
              <a:t>am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01661" y="7731125"/>
            <a:ext cx="1676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210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12925"/>
            <a:ext cx="4572000" cy="397510"/>
            <a:chOff x="914400" y="181292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1292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145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49777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811780"/>
            <a:ext cx="4572000" cy="289560"/>
            <a:chOff x="914400" y="2811780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81178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8133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38867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357833"/>
            <a:ext cx="4572000" cy="289560"/>
            <a:chOff x="914400" y="4357833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35783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3594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493473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576312"/>
            <a:ext cx="4572000" cy="505459"/>
            <a:chOff x="914400" y="5576312"/>
            <a:chExt cx="4572000" cy="505459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57631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5779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914400" y="6425221"/>
            <a:ext cx="4572000" cy="289560"/>
            <a:chOff x="914400" y="6425221"/>
            <a:chExt cx="4572000" cy="28956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42522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42680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700211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901638" y="650030"/>
            <a:ext cx="4598035" cy="6258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 spc="-25">
                <a:latin typeface="SimSun"/>
                <a:cs typeface="SimSun"/>
              </a:rPr>
              <a:t>11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0669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total_minutes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total_minutes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5">
                <a:latin typeface="SimSun"/>
                <a:cs typeface="SimSun"/>
              </a:rPr>
              <a:t>719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 marR="21209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latin typeface="SimSun"/>
                <a:cs typeface="SimSun"/>
              </a:rPr>
              <a:t>f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latin typeface="SimSun"/>
                <a:cs typeface="SimSun"/>
              </a:rPr>
              <a:t>'11:59:1'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notice</a:t>
            </a:r>
            <a:r>
              <a:rPr dirty="0" sz="1050" spc="-35">
                <a:latin typeface="Palatino Linotype"/>
                <a:cs typeface="Palatino Linotype"/>
              </a:rPr>
              <a:t> that</a:t>
            </a:r>
            <a:r>
              <a:rPr dirty="0" sz="1050" spc="-30">
                <a:latin typeface="Palatino Linotype"/>
                <a:cs typeface="Palatino Linotype"/>
              </a:rPr>
              <a:t> 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format.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fix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have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print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minute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second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attributes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leading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zero.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 </a:t>
            </a:r>
            <a:r>
              <a:rPr dirty="0" sz="1050" spc="-40">
                <a:latin typeface="Palatino Linotype"/>
                <a:cs typeface="Palatino Linotype"/>
              </a:rPr>
              <a:t>extending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expressions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30">
                <a:latin typeface="Palatino Linotype"/>
                <a:cs typeface="Palatino Linotype"/>
              </a:rPr>
              <a:t>curly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braces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10" b="1">
                <a:latin typeface="Palatino Linotype"/>
                <a:cs typeface="Palatino Linotype"/>
              </a:rPr>
              <a:t>format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specifier</a:t>
            </a:r>
            <a:r>
              <a:rPr dirty="0" sz="1050" spc="-45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following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format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specifiers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indicate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minute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second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should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displayed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digits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zero,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needed:</a:t>
            </a:r>
            <a:endParaRPr sz="1050">
              <a:latin typeface="Palatino Linotype"/>
              <a:cs typeface="Palatino Linotype"/>
            </a:endParaRPr>
          </a:p>
          <a:p>
            <a:pPr marL="39370" marR="16891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latin typeface="SimSun"/>
                <a:cs typeface="SimSun"/>
              </a:rPr>
              <a:t>f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latin typeface="SimSun"/>
                <a:cs typeface="SimSun"/>
              </a:rPr>
              <a:t>'11:59:01'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75">
                <a:latin typeface="Palatino Linotype"/>
                <a:cs typeface="Palatino Linotype"/>
              </a:rPr>
              <a:t>We’ll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displays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print_time(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12033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f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lunch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9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lunch</a:t>
            </a:r>
            <a:r>
              <a:rPr dirty="0" sz="850" spc="-10">
                <a:latin typeface="SimSun"/>
                <a:cs typeface="SimSun"/>
              </a:rPr>
              <a:t>) 11:59:01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699594" y="7731125"/>
            <a:ext cx="8001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5" b="1">
                <a:latin typeface="Trebuchet MS"/>
                <a:cs typeface="Trebuchet MS"/>
              </a:rPr>
              <a:t>Attributes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211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71123"/>
            <a:ext cx="4572000" cy="829310"/>
            <a:chOff x="914400" y="1571123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71123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727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071457"/>
            <a:ext cx="4572000" cy="397510"/>
            <a:chOff x="914400" y="3071457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07145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0730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75630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032891"/>
            <a:ext cx="4572000" cy="397510"/>
            <a:chOff x="914400" y="5032891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03289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0344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71773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6199300"/>
            <a:ext cx="4572000" cy="505459"/>
            <a:chOff x="914400" y="6199300"/>
            <a:chExt cx="4572000" cy="505459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19930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20088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99209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95008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20"/>
              <a:t>Objects</a:t>
            </a:r>
            <a:r>
              <a:rPr dirty="0" sz="1900" spc="-270"/>
              <a:t> </a:t>
            </a:r>
            <a:r>
              <a:rPr dirty="0" sz="1900" spc="-260"/>
              <a:t>as</a:t>
            </a:r>
            <a:r>
              <a:rPr dirty="0" sz="1900" spc="-265"/>
              <a:t> </a:t>
            </a:r>
            <a:r>
              <a:rPr dirty="0" sz="1900" spc="-305"/>
              <a:t>Return</a:t>
            </a:r>
            <a:r>
              <a:rPr dirty="0" sz="1900" spc="-270"/>
              <a:t> </a:t>
            </a:r>
            <a:r>
              <a:rPr dirty="0" sz="1900" spc="-290"/>
              <a:t>Values</a:t>
            </a:r>
            <a:endParaRPr sz="1900"/>
          </a:p>
        </p:txBody>
      </p:sp>
      <p:sp>
        <p:nvSpPr>
          <p:cNvPr id="18" name="object 18" descr=""/>
          <p:cNvSpPr txBox="1"/>
          <p:nvPr/>
        </p:nvSpPr>
        <p:spPr>
          <a:xfrm>
            <a:off x="901640" y="971559"/>
            <a:ext cx="4598035" cy="624840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35">
                <a:latin typeface="Palatino Linotype"/>
                <a:cs typeface="Palatino Linotype"/>
              </a:rPr>
              <a:t>Functions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make_time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hour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00">
                <a:latin typeface="SimSun"/>
                <a:cs typeface="SimSun"/>
              </a:rPr>
              <a:t>minute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stores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SimSun"/>
                <a:cs typeface="SimSun"/>
              </a:rPr>
              <a:t>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new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6066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make_time(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 marR="32543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surprising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 spc="-65">
                <a:latin typeface="Palatino Linotype"/>
                <a:cs typeface="Palatino Linotype"/>
              </a:rPr>
              <a:t>that’s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common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make_time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924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11:59:01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320" b="1">
                <a:latin typeface="Trebuchet MS"/>
                <a:cs typeface="Trebuchet MS"/>
              </a:rPr>
              <a:t>Objects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45" b="1">
                <a:latin typeface="Trebuchet MS"/>
                <a:cs typeface="Trebuchet MS"/>
              </a:rPr>
              <a:t>Are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285" b="1">
                <a:latin typeface="Trebuchet MS"/>
                <a:cs typeface="Trebuchet MS"/>
              </a:rPr>
              <a:t>Mutable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Suppose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going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screening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movie,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Monty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Python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1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the</a:t>
            </a:r>
            <a:r>
              <a:rPr dirty="0" sz="1050" spc="1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Holy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Grail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starts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9:20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P.M.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runs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92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minutes,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hour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32 </a:t>
            </a:r>
            <a:r>
              <a:rPr dirty="0" sz="1050" spc="-50">
                <a:latin typeface="Palatino Linotype"/>
                <a:cs typeface="Palatino Linotype"/>
              </a:rPr>
              <a:t>mi</a:t>
            </a:r>
            <a:r>
              <a:rPr dirty="0" sz="1050" spc="-50">
                <a:latin typeface="Palatino Linotype"/>
                <a:cs typeface="Palatino Linotype"/>
              </a:rPr>
              <a:t>nutes.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movie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end?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30">
                <a:latin typeface="Palatino Linotype"/>
                <a:cs typeface="Palatino Linotype"/>
              </a:rPr>
              <a:t>First,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924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09:20:00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find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time,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modify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duration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movie: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39370" marR="35782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32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10:52:00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movie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over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10:52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P.M.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46" y="7731125"/>
            <a:ext cx="1676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212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613410"/>
            <a:chOff x="914400" y="1089574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038899"/>
            <a:ext cx="4572000" cy="505459"/>
            <a:chOff x="914400" y="2038899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03889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0404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8316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7066759"/>
            <a:ext cx="4572000" cy="289560"/>
            <a:chOff x="914400" y="7066759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70667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70683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901656" y="650030"/>
            <a:ext cx="4598035" cy="25768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encapsulate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generalize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duration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movie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parameters: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hours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minutes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seconds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18510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increment_time(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endParaRPr sz="850">
              <a:latin typeface="SimSun"/>
              <a:cs typeface="SimSun"/>
            </a:endParaRPr>
          </a:p>
          <a:p>
            <a:pPr marL="2552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demonstrates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28765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increment_time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10:52:00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following</a:t>
            </a:r>
            <a:r>
              <a:rPr dirty="0" sz="1050" spc="3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stack</a:t>
            </a:r>
            <a:r>
              <a:rPr dirty="0" sz="1050" spc="3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diagram</a:t>
            </a:r>
            <a:r>
              <a:rPr dirty="0" sz="1050" spc="3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shows</a:t>
            </a:r>
            <a:r>
              <a:rPr dirty="0" sz="1050" spc="3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state</a:t>
            </a:r>
            <a:r>
              <a:rPr dirty="0" sz="1050" spc="3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program</a:t>
            </a:r>
            <a:r>
              <a:rPr dirty="0" sz="1050" spc="3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just</a:t>
            </a:r>
            <a:r>
              <a:rPr dirty="0" sz="1050" spc="36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before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increment_time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modifies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3431247"/>
            <a:ext cx="2724469" cy="1362234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901634" y="4933288"/>
            <a:ext cx="4598035" cy="2331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Inside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alias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modified,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changes.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works,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after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left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variable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named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end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longer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0">
                <a:latin typeface="Palatino Linotype"/>
                <a:cs typeface="Palatino Linotype"/>
              </a:rPr>
              <a:t>represents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unchanged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copying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start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modify‐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copy.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Copying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copy</a:t>
            </a:r>
            <a:r>
              <a:rPr dirty="0" sz="1000" spc="-1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module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copy</a:t>
            </a:r>
            <a:r>
              <a:rPr dirty="0" sz="1000" spc="-16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duplicate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copy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77807" y="7731125"/>
            <a:ext cx="721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5" b="1">
                <a:latin typeface="Trebuchet MS"/>
                <a:cs typeface="Trebuchet MS"/>
              </a:rPr>
              <a:t>Copying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213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715049"/>
            <a:ext cx="4572000" cy="289560"/>
            <a:chOff x="914400" y="171504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71504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7166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2348058"/>
            <a:ext cx="4572000" cy="397510"/>
            <a:chOff x="914400" y="2348058"/>
            <a:chExt cx="4572000" cy="3975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234805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23496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31408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3462397"/>
            <a:ext cx="4572000" cy="289560"/>
            <a:chOff x="914400" y="3462397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346239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34639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40392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914400" y="4360836"/>
            <a:ext cx="4572000" cy="289560"/>
            <a:chOff x="914400" y="4360836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436083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436242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493773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914400" y="6732051"/>
            <a:ext cx="4572000" cy="613410"/>
            <a:chOff x="914400" y="6732051"/>
            <a:chExt cx="4572000" cy="61341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6732051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67336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901642" y="657564"/>
            <a:ext cx="4598035" cy="6595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movie: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copy: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end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data: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322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latin typeface="SimSun"/>
                <a:cs typeface="SimSun"/>
              </a:rPr>
              <a:t>09:20:00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latin typeface="SimSun"/>
                <a:cs typeface="SimSun"/>
              </a:rPr>
              <a:t>09:20:00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confirms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does: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SimSun"/>
                <a:cs typeface="SimSun"/>
              </a:rPr>
              <a:t>==</a:t>
            </a:r>
            <a:r>
              <a:rPr dirty="0" sz="1000" spc="-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yield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True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same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5">
                <a:latin typeface="Palatino Linotype"/>
                <a:cs typeface="Palatino Linotype"/>
              </a:rPr>
              <a:t>programmer-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behavior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SimSun"/>
                <a:cs typeface="SimSun"/>
              </a:rPr>
              <a:t>==</a:t>
            </a:r>
            <a:r>
              <a:rPr dirty="0" sz="1000" spc="2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SimSun"/>
                <a:cs typeface="SimSun"/>
              </a:rPr>
              <a:t>is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operator—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identity,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equivalence.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5" b="1">
                <a:latin typeface="Trebuchet MS"/>
                <a:cs typeface="Trebuchet MS"/>
              </a:rPr>
              <a:t>Pure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Functions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copy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write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modify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parameters.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30">
                <a:latin typeface="Palatino Linotype"/>
                <a:cs typeface="Palatino Linotype"/>
              </a:rPr>
              <a:t> that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Time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duration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hours,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minutes,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0">
                <a:latin typeface="Palatino Linotype"/>
                <a:cs typeface="Palatino Linotype"/>
              </a:rPr>
              <a:t> makes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copy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original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increment_time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modify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copy,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1748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add_time(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increment_time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total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total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1737" y="7731125"/>
            <a:ext cx="1676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214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397510"/>
            <a:chOff x="914400" y="922019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068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088429"/>
            <a:ext cx="4572000" cy="289560"/>
            <a:chOff x="914400" y="2088429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08842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0900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6653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618228"/>
            <a:ext cx="4572000" cy="505459"/>
            <a:chOff x="914400" y="5618228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61822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6198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641102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595" y="650030"/>
            <a:ext cx="4598035" cy="6575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10:52:00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of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movie.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unchanged: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 09:20:00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5">
                <a:latin typeface="SimSun"/>
                <a:cs typeface="SimSun"/>
              </a:rPr>
              <a:t>add_time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p</a:t>
            </a:r>
            <a:r>
              <a:rPr dirty="0" sz="1050" spc="-30" b="1">
                <a:latin typeface="Palatino Linotype"/>
                <a:cs typeface="Palatino Linotype"/>
              </a:rPr>
              <a:t>u</a:t>
            </a:r>
            <a:r>
              <a:rPr dirty="0" sz="1050" spc="-30" b="1">
                <a:latin typeface="Palatino Linotype"/>
                <a:cs typeface="Palatino Linotype"/>
              </a:rPr>
              <a:t>r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fun</a:t>
            </a:r>
            <a:r>
              <a:rPr dirty="0" sz="1050" spc="-40" b="1">
                <a:latin typeface="Palatino Linotype"/>
                <a:cs typeface="Palatino Linotype"/>
              </a:rPr>
              <a:t>c</a:t>
            </a:r>
            <a:r>
              <a:rPr dirty="0" sz="1050" spc="-5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-50" b="1">
                <a:latin typeface="Palatino Linotype"/>
                <a:cs typeface="Palatino Linotype"/>
              </a:rPr>
              <a:t>n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passed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Anything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modifiers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35">
                <a:latin typeface="Palatino Linotype"/>
                <a:cs typeface="Palatino Linotype"/>
              </a:rPr>
              <a:t>fact,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languages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allow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pure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modifiers.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modifiers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convenient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efficient.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suggest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whenever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reasonable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40">
                <a:latin typeface="Palatino Linotype"/>
                <a:cs typeface="Palatino Linotype"/>
              </a:rPr>
              <a:t>modifiers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10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a </a:t>
            </a:r>
            <a:r>
              <a:rPr dirty="0" sz="1050" spc="-45">
                <a:latin typeface="Palatino Linotype"/>
                <a:cs typeface="Palatino Linotype"/>
              </a:rPr>
              <a:t>compelling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advantage.</a:t>
            </a:r>
            <a:r>
              <a:rPr dirty="0" sz="1050">
                <a:latin typeface="Palatino Linotype"/>
                <a:cs typeface="Palatino Linotype"/>
              </a:rPr>
              <a:t> This </a:t>
            </a:r>
            <a:r>
              <a:rPr dirty="0" sz="1050" spc="-45">
                <a:latin typeface="Palatino Linotype"/>
                <a:cs typeface="Palatino Linotype"/>
              </a:rPr>
              <a:t>approach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be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0" b="1">
                <a:latin typeface="Palatino Linotype"/>
                <a:cs typeface="Palatino Linotype"/>
              </a:rPr>
              <a:t>functional</a:t>
            </a:r>
            <a:r>
              <a:rPr dirty="0" sz="1050" spc="3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programming</a:t>
            </a:r>
            <a:r>
              <a:rPr dirty="0" sz="1050" spc="30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style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95" b="1">
                <a:latin typeface="Trebuchet MS"/>
                <a:cs typeface="Trebuchet MS"/>
              </a:rPr>
              <a:t>Prototype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Patch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previous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increment_time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add_time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seem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try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quite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correct.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75">
                <a:latin typeface="Palatino Linotype"/>
                <a:cs typeface="Palatino Linotype"/>
              </a:rPr>
              <a:t>Suppose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arrive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at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theater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discover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movie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9:40,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9:20.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updated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28765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10:72:00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8890">
              <a:lnSpc>
                <a:spcPct val="1047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problem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increment_time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 </a:t>
            </a:r>
            <a:r>
              <a:rPr dirty="0" sz="1050" spc="-60">
                <a:latin typeface="Palatino Linotype"/>
                <a:cs typeface="Palatino Linotype"/>
              </a:rPr>
              <a:t>cases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60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75">
                <a:latin typeface="Palatino Linotype"/>
                <a:cs typeface="Palatino Linotype"/>
              </a:rPr>
              <a:t>Here’s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improved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checks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whether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second</a:t>
            </a:r>
            <a:r>
              <a:rPr dirty="0" sz="1000" spc="-1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exceeds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60</a:t>
            </a:r>
            <a:r>
              <a:rPr dirty="0" sz="1050" spc="-40">
                <a:latin typeface="Palatino Linotype"/>
                <a:cs typeface="Palatino Linotype"/>
              </a:rPr>
              <a:t>—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incre‐ </a:t>
            </a:r>
            <a:r>
              <a:rPr dirty="0" sz="1050" spc="-55">
                <a:latin typeface="Palatino Linotype"/>
                <a:cs typeface="Palatino Linotype"/>
              </a:rPr>
              <a:t>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minute</a:t>
            </a:r>
            <a:r>
              <a:rPr dirty="0" sz="1050" spc="-25">
                <a:latin typeface="Palatino Linotype"/>
                <a:cs typeface="Palatino Linotype"/>
              </a:rPr>
              <a:t>—</a:t>
            </a:r>
            <a:r>
              <a:rPr dirty="0" sz="1050" spc="-50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minute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exceeds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60</a:t>
            </a:r>
            <a:r>
              <a:rPr dirty="0" sz="1050" spc="-40">
                <a:latin typeface="Palatino Linotype"/>
                <a:cs typeface="Palatino Linotype"/>
              </a:rPr>
              <a:t>—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increments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hour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313603" y="7731125"/>
            <a:ext cx="11855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Prototype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85" b="1">
                <a:latin typeface="Trebuchet MS"/>
                <a:cs typeface="Trebuchet MS"/>
              </a:rPr>
              <a:t>Patch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120" b="1">
                <a:latin typeface="Trebuchet MS"/>
                <a:cs typeface="Trebuchet MS"/>
              </a:rPr>
              <a:t>215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1477010"/>
            <a:chOff x="914400" y="685800"/>
            <a:chExt cx="4572000" cy="14770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1477010"/>
            </a:xfrm>
            <a:custGeom>
              <a:avLst/>
              <a:gdLst/>
              <a:ahLst/>
              <a:cxnLst/>
              <a:rect l="l" t="t" r="r" b="b"/>
              <a:pathLst>
                <a:path w="4572000" h="1477010">
                  <a:moveTo>
                    <a:pt x="4572000" y="1476692"/>
                  </a:moveTo>
                  <a:lnTo>
                    <a:pt x="0" y="14766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4766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666279"/>
            <a:ext cx="4572000" cy="397510"/>
            <a:chOff x="914400" y="2666279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66627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6678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3511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4007777"/>
            <a:ext cx="4572000" cy="397510"/>
            <a:chOff x="914400" y="4007777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00777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00936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6926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181720"/>
            <a:ext cx="4572000" cy="505459"/>
            <a:chOff x="914400" y="5181720"/>
            <a:chExt cx="4572000" cy="505459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18172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1833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9745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463613"/>
            <a:ext cx="4572000" cy="397510"/>
            <a:chOff x="914400" y="6463613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46361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4652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71484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33" y="728091"/>
            <a:ext cx="4598035" cy="6655434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255270" marR="1851025" indent="-215900">
              <a:lnSpc>
                <a:spcPts val="850"/>
              </a:lnSpc>
              <a:spcBef>
                <a:spcPts val="27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increment_time(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endParaRPr sz="850">
              <a:latin typeface="SimSun"/>
              <a:cs typeface="SimSun"/>
            </a:endParaRPr>
          </a:p>
          <a:p>
            <a:pPr marL="2552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2004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20040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8255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Fixing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increment_time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fixes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add_time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exam‐ </a:t>
            </a:r>
            <a:r>
              <a:rPr dirty="0" sz="1050" spc="-70">
                <a:latin typeface="Palatino Linotype"/>
                <a:cs typeface="Palatino Linotype"/>
              </a:rPr>
              <a:t>ple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10">
                <a:latin typeface="Palatino Linotype"/>
                <a:cs typeface="Palatino Linotype"/>
              </a:rPr>
              <a:t> correctly: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still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bigger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60</a:t>
            </a:r>
            <a:r>
              <a:rPr dirty="0" sz="1050" spc="-25">
                <a:latin typeface="Palatino Linotype"/>
                <a:cs typeface="Palatino Linotype"/>
              </a:rPr>
              <a:t>.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given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92</a:t>
            </a:r>
            <a:r>
              <a:rPr dirty="0" sz="1000" spc="-1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utes,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ther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1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hour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32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utes.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add_time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10:72:00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</a:t>
            </a:r>
            <a:r>
              <a:rPr dirty="0" sz="1050" spc="-20">
                <a:latin typeface="Palatino Linotype"/>
                <a:cs typeface="Palatino Linotype"/>
              </a:rPr>
              <a:t> 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approach,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divmod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incrementing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minute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field: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29305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92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132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minute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132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2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hours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12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minutes.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divmod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70">
                <a:latin typeface="Palatino Linotype"/>
                <a:cs typeface="Palatino Linotype"/>
              </a:rPr>
              <a:t>divide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60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hours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left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over: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2828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(2, </a:t>
            </a:r>
            <a:r>
              <a:rPr dirty="0" sz="850" spc="-25">
                <a:latin typeface="SimSun"/>
                <a:cs typeface="SimSun"/>
              </a:rPr>
              <a:t>12)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minute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hours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hour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692" y="7731125"/>
            <a:ext cx="1676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216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397510"/>
            <a:chOff x="914400" y="68580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37064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52209"/>
            <a:ext cx="4572000" cy="1045210"/>
            <a:chOff x="914400" y="1852209"/>
            <a:chExt cx="4572000" cy="10452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52209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537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408422"/>
            <a:ext cx="4572000" cy="397510"/>
            <a:chOff x="914400" y="3408422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40842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4100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09327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28" y="728091"/>
            <a:ext cx="4598035" cy="665099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39370" marR="3632200">
              <a:lnSpc>
                <a:spcPts val="850"/>
              </a:lnSpc>
              <a:spcBef>
                <a:spcPts val="27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carry 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valid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time.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hour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0">
                <a:latin typeface="Palatino Linotype"/>
                <a:cs typeface="Palatino Linotype"/>
              </a:rPr>
              <a:t>encapsulate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whole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18510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increment_time(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endParaRPr sz="850">
              <a:latin typeface="SimSun"/>
              <a:cs typeface="SimSun"/>
            </a:endParaRPr>
          </a:p>
          <a:p>
            <a:pPr marL="2552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 marR="15271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carry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With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version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increment_time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add_time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works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correctly,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even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argu‐ </a:t>
            </a:r>
            <a:r>
              <a:rPr dirty="0" sz="1050" spc="-55">
                <a:latin typeface="Palatino Linotype"/>
                <a:cs typeface="Palatino Linotype"/>
              </a:rPr>
              <a:t>ments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exceed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60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7686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120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demonstrates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development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plan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prototype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and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patch</a:t>
            </a:r>
            <a:r>
              <a:rPr dirty="0" sz="1050" spc="-20">
                <a:latin typeface="Palatino Linotype"/>
                <a:cs typeface="Palatino Linotype"/>
              </a:rPr>
              <a:t>.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started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prototype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correctly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Then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difficult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examples—when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found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fix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putting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patch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puncture.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approach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effective,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especially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deep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understanding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problem.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incremental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corrections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unnecessarily </a:t>
            </a:r>
            <a:r>
              <a:rPr dirty="0" sz="1050" spc="-65">
                <a:latin typeface="Palatino Linotype"/>
                <a:cs typeface="Palatino Linotype"/>
              </a:rPr>
              <a:t>complicated—</a:t>
            </a:r>
            <a:r>
              <a:rPr dirty="0" sz="1050" spc="-30">
                <a:latin typeface="Palatino Linotype"/>
                <a:cs typeface="Palatino Linotype"/>
              </a:rPr>
              <a:t>since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deals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cases—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unreliable,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since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hard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found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Design-</a:t>
            </a:r>
            <a:r>
              <a:rPr dirty="0" sz="1900" spc="-250" b="1">
                <a:latin typeface="Trebuchet MS"/>
                <a:cs typeface="Trebuchet MS"/>
              </a:rPr>
              <a:t>First</a:t>
            </a:r>
            <a:r>
              <a:rPr dirty="0" sz="1900" spc="-225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Development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alternative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plan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design-</a:t>
            </a:r>
            <a:r>
              <a:rPr dirty="0" sz="1050" b="1">
                <a:latin typeface="Palatino Linotype"/>
                <a:cs typeface="Palatino Linotype"/>
              </a:rPr>
              <a:t>first</a:t>
            </a:r>
            <a:r>
              <a:rPr dirty="0" sz="1050" spc="6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development</a:t>
            </a:r>
            <a:r>
              <a:rPr dirty="0" sz="1050" spc="-3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which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involves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more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planning </a:t>
            </a:r>
            <a:r>
              <a:rPr dirty="0" sz="1050" spc="-30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prototyping.</a:t>
            </a:r>
            <a:r>
              <a:rPr dirty="0" sz="1050">
                <a:latin typeface="Palatino Linotype"/>
                <a:cs typeface="Palatino Linotype"/>
              </a:rPr>
              <a:t> In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design-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process,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sometimes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high-</a:t>
            </a:r>
            <a:r>
              <a:rPr dirty="0" sz="1050" spc="-35">
                <a:latin typeface="Palatino Linotype"/>
                <a:cs typeface="Palatino Linotype"/>
              </a:rPr>
              <a:t>level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problem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much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easier.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499"/>
              </a:lnSpc>
              <a:spcBef>
                <a:spcPts val="61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case,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think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3-</a:t>
            </a:r>
            <a:r>
              <a:rPr dirty="0" sz="1050" spc="-20">
                <a:latin typeface="Palatino Linotype"/>
                <a:cs typeface="Palatino Linotype"/>
              </a:rPr>
              <a:t>digit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45">
                <a:latin typeface="Palatino Linotype"/>
                <a:cs typeface="Palatino Linotype"/>
              </a:rPr>
              <a:t>base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60—</a:t>
            </a:r>
            <a:r>
              <a:rPr dirty="0" sz="1050" spc="-20">
                <a:latin typeface="Palatino Linotype"/>
                <a:cs typeface="Palatino Linotype"/>
              </a:rPr>
              <a:t>also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known</a:t>
            </a:r>
            <a:r>
              <a:rPr dirty="0" sz="1050">
                <a:latin typeface="Palatino Linotype"/>
                <a:cs typeface="Palatino Linotype"/>
              </a:rPr>
              <a:t> 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sexagesimal.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second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attribute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“ones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column,”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SimSun"/>
                <a:cs typeface="SimSun"/>
              </a:rPr>
              <a:t>minute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“sixties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column,”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hour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“thirty-</a:t>
            </a:r>
            <a:r>
              <a:rPr dirty="0" sz="1050" spc="-20">
                <a:latin typeface="Palatino Linotype"/>
                <a:cs typeface="Palatino Linotype"/>
              </a:rPr>
              <a:t>six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hun‐ </a:t>
            </a:r>
            <a:r>
              <a:rPr dirty="0" sz="1050" spc="-60">
                <a:latin typeface="Palatino Linotype"/>
                <a:cs typeface="Palatino Linotype"/>
              </a:rPr>
              <a:t>dreds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column.”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wrote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increment_time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effectively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addition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60,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why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carry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column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next.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04047" y="7731125"/>
            <a:ext cx="13950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Design-</a:t>
            </a:r>
            <a:r>
              <a:rPr dirty="0" sz="900" spc="-120" b="1">
                <a:latin typeface="Trebuchet MS"/>
                <a:cs typeface="Trebuchet MS"/>
              </a:rPr>
              <a:t>First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Development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5" b="1">
                <a:latin typeface="Trebuchet MS"/>
                <a:cs typeface="Trebuchet MS"/>
              </a:rPr>
              <a:t>  </a:t>
            </a:r>
            <a:r>
              <a:rPr dirty="0" sz="900" spc="-125" b="1">
                <a:latin typeface="Trebuchet MS"/>
                <a:cs typeface="Trebuchet MS"/>
              </a:rPr>
              <a:t>217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93348"/>
            <a:ext cx="4572000" cy="613410"/>
            <a:chOff x="914400" y="1493348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9334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949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777782"/>
            <a:ext cx="4572000" cy="505459"/>
            <a:chOff x="914400" y="2777782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77778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77936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57057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914400" y="386585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4347416"/>
            <a:ext cx="4572000" cy="613410"/>
            <a:chOff x="914400" y="4347416"/>
            <a:chExt cx="4572000" cy="6134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4347416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434900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5304275"/>
            <a:ext cx="4572000" cy="397510"/>
            <a:chOff x="914400" y="5304275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30427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3058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98912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6310664"/>
            <a:ext cx="4572000" cy="613410"/>
            <a:chOff x="914400" y="6310664"/>
            <a:chExt cx="4572000" cy="6134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31066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3122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44" y="650030"/>
            <a:ext cx="4598035" cy="724408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observation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approach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whole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problem—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convert </a:t>
            </a:r>
            <a:r>
              <a:rPr dirty="0" sz="1000" spc="-35">
                <a:latin typeface="SimSun"/>
                <a:cs typeface="SimSun"/>
              </a:rPr>
              <a:t>Time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advantage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fact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do </a:t>
            </a:r>
            <a:r>
              <a:rPr dirty="0" sz="1050" spc="-50">
                <a:latin typeface="Palatino Linotype"/>
                <a:cs typeface="Palatino Linotype"/>
              </a:rPr>
              <a:t>i</a:t>
            </a:r>
            <a:r>
              <a:rPr dirty="0" sz="1050" spc="-50">
                <a:latin typeface="Palatino Linotype"/>
                <a:cs typeface="Palatino Linotype"/>
              </a:rPr>
              <a:t>nteger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arithmetic.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integer: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time_to_int(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2828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ple, </a:t>
            </a:r>
            <a:r>
              <a:rPr dirty="0" sz="1000" spc="-5">
                <a:latin typeface="SimSun"/>
                <a:cs typeface="SimSun"/>
              </a:rPr>
              <a:t>01:01:01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hou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ute,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3600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60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01:01:01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20">
                <a:latin typeface="SimSun"/>
                <a:cs typeface="SimSun"/>
              </a:rPr>
              <a:t>3661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here’s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goes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other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direction—</a:t>
            </a:r>
            <a:r>
              <a:rPr dirty="0" sz="1050" spc="-45">
                <a:latin typeface="Palatino Linotype"/>
                <a:cs typeface="Palatino Linotype"/>
              </a:rPr>
              <a:t>converting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integer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object—using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divmod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int_to_time(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2828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converting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543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int_to_time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3661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01:01:01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add_time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19050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add_time(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duration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int_to_time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converts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50">
                <a:latin typeface="Palatino Linotype"/>
                <a:cs typeface="Palatino Linotype"/>
              </a:rPr>
              <a:t>arguments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00" spc="-20">
                <a:latin typeface="SimSun"/>
                <a:cs typeface="SimSun"/>
              </a:rPr>
              <a:t>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duration</a:t>
            </a:r>
            <a:r>
              <a:rPr dirty="0" sz="1050">
                <a:latin typeface="Palatino Linotype"/>
                <a:cs typeface="Palatino Linotype"/>
              </a:rPr>
              <a:t>. The </a:t>
            </a:r>
            <a:r>
              <a:rPr dirty="0" sz="1050" spc="-30">
                <a:latin typeface="Palatino Linotype"/>
                <a:cs typeface="Palatino Linotype"/>
              </a:rPr>
              <a:t>second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converts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duration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adds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them.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converts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sum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218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30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505459"/>
            <a:chOff x="914400" y="92201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148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4987759"/>
            <a:ext cx="4572000" cy="289560"/>
            <a:chOff x="914400" y="4987759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498775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49893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556465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6046218"/>
            <a:ext cx="4572000" cy="289560"/>
            <a:chOff x="914400" y="604621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604621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60478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66231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602" y="650030"/>
            <a:ext cx="4598035" cy="5880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10">
                <a:latin typeface="Palatino Linotype"/>
                <a:cs typeface="Palatino Linotype"/>
              </a:rPr>
              <a:t>works: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28765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some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ways,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60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base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just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dealing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abstract;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intuition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dealing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val‐ </a:t>
            </a:r>
            <a:r>
              <a:rPr dirty="0" sz="1050" spc="-75">
                <a:latin typeface="Palatino Linotype"/>
                <a:cs typeface="Palatino Linotype"/>
              </a:rPr>
              <a:t>ues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better.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treat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base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60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numbers—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effort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20">
                <a:latin typeface="Palatino Linotype"/>
                <a:cs typeface="Palatino Linotype"/>
              </a:rPr>
              <a:t>write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conversion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time_to_int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int_to_time</a:t>
            </a:r>
            <a:r>
              <a:rPr dirty="0" sz="1050" spc="-25">
                <a:latin typeface="Palatino Linotype"/>
                <a:cs typeface="Palatino Linotype"/>
              </a:rPr>
              <a:t>—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get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program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shorter,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read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reliable.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also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easier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add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features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later.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imagine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subtracting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Time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duration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them.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approach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sub‐ </a:t>
            </a:r>
            <a:r>
              <a:rPr dirty="0" sz="1050" spc="-30">
                <a:latin typeface="Palatino Linotype"/>
                <a:cs typeface="Palatino Linotype"/>
              </a:rPr>
              <a:t>traction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borrowing.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40">
                <a:latin typeface="Palatino Linotype"/>
                <a:cs typeface="Palatino Linotype"/>
              </a:rPr>
              <a:t>easier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correct.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Ironically,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sometimes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problem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harder—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general—</a:t>
            </a:r>
            <a:r>
              <a:rPr dirty="0" sz="1050" spc="-50">
                <a:latin typeface="Palatino Linotype"/>
                <a:cs typeface="Palatino Linotype"/>
              </a:rPr>
              <a:t>makes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easier, </a:t>
            </a:r>
            <a:r>
              <a:rPr dirty="0" sz="1050" spc="-65">
                <a:latin typeface="Palatino Linotype"/>
                <a:cs typeface="Palatino Linotype"/>
              </a:rPr>
              <a:t>bec</a:t>
            </a:r>
            <a:r>
              <a:rPr dirty="0" sz="1050" spc="-65">
                <a:latin typeface="Palatino Linotype"/>
                <a:cs typeface="Palatino Linotype"/>
              </a:rPr>
              <a:t>ause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fewer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fewer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opportunities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several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 </a:t>
            </a:r>
            <a:r>
              <a:rPr dirty="0" sz="1050" spc="-35">
                <a:latin typeface="Palatino Linotype"/>
                <a:cs typeface="Palatino Linotype"/>
              </a:rPr>
              <a:t>testing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debugging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work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ask: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.Time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isinstance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particular </a:t>
            </a:r>
            <a:r>
              <a:rPr dirty="0" sz="1050" spc="-45">
                <a:latin typeface="Palatino Linotype"/>
                <a:cs typeface="Palatino Linotype"/>
              </a:rPr>
              <a:t>class:</a:t>
            </a:r>
            <a:endParaRPr sz="1050">
              <a:latin typeface="Palatino Linotype"/>
              <a:cs typeface="Palatino Linotype"/>
            </a:endParaRPr>
          </a:p>
          <a:p>
            <a:pPr marL="39370" marR="3416300">
              <a:lnSpc>
                <a:spcPts val="2250"/>
              </a:lnSpc>
              <a:spcBef>
                <a:spcPts val="8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isinstance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66225" y="7731125"/>
            <a:ext cx="833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219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664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88013"/>
            <a:ext cx="4572000" cy="289560"/>
            <a:chOff x="914400" y="198801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8801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896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5649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046472"/>
            <a:ext cx="4572000" cy="613410"/>
            <a:chOff x="914400" y="3046472"/>
            <a:chExt cx="4572000" cy="6134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046472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04806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9472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1649" y="650030"/>
            <a:ext cx="4598035" cy="724408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particular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built-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hasattr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3623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hasattr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'hour'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dictionary,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vars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vars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{'hour': 9, 'minute': 40, 'second': </a:t>
            </a:r>
            <a:r>
              <a:rPr dirty="0" sz="850" spc="-25">
                <a:latin typeface="SimSun"/>
                <a:cs typeface="SimSun"/>
              </a:rPr>
              <a:t>0}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structshape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module,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which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saw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“Debugging”</a:t>
            </a:r>
            <a:r>
              <a:rPr dirty="0" sz="1050" spc="6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166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works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programmer-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types:</a:t>
            </a:r>
            <a:endParaRPr sz="1050">
              <a:latin typeface="Palatino Linotype"/>
              <a:cs typeface="Palatino Linotype"/>
            </a:endParaRPr>
          </a:p>
          <a:p>
            <a:pPr marL="39370" marR="2660650">
              <a:lnSpc>
                <a:spcPct val="166700"/>
              </a:lnSpc>
              <a:spcBef>
                <a:spcPts val="53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structshape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structshape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'tuple of 2 </a:t>
            </a:r>
            <a:r>
              <a:rPr dirty="0" sz="850" spc="-10">
                <a:latin typeface="SimSun"/>
                <a:cs typeface="SimSun"/>
              </a:rPr>
              <a:t>Time'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5080" indent="-635">
              <a:lnSpc>
                <a:spcPct val="100000"/>
              </a:lnSpc>
              <a:spcBef>
                <a:spcPts val="535"/>
              </a:spcBef>
            </a:pPr>
            <a:r>
              <a:rPr dirty="0" sz="1050" spc="-45" b="1">
                <a:latin typeface="Palatino Linotype"/>
                <a:cs typeface="Palatino Linotype"/>
              </a:rPr>
              <a:t>object-</a:t>
            </a:r>
            <a:r>
              <a:rPr dirty="0" sz="1050" spc="-35" b="1">
                <a:latin typeface="Palatino Linotype"/>
                <a:cs typeface="Palatino Linotype"/>
              </a:rPr>
              <a:t>oriented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programming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(OOP):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style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organize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data.</a:t>
            </a:r>
            <a:endParaRPr sz="1050">
              <a:latin typeface="Palatino Linotype"/>
              <a:cs typeface="Palatino Linotype"/>
            </a:endParaRPr>
          </a:p>
          <a:p>
            <a:pPr marL="12700" marR="248285">
              <a:lnSpc>
                <a:spcPct val="147600"/>
              </a:lnSpc>
            </a:pPr>
            <a:r>
              <a:rPr dirty="0" sz="1050" spc="-45" b="1">
                <a:latin typeface="Palatino Linotype"/>
                <a:cs typeface="Palatino Linotype"/>
              </a:rPr>
              <a:t>class: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programmer-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type.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 </a:t>
            </a:r>
            <a:r>
              <a:rPr dirty="0" sz="1050" spc="-55" b="1">
                <a:latin typeface="Palatino Linotype"/>
                <a:cs typeface="Palatino Linotype"/>
              </a:rPr>
              <a:t>class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object: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class—</a:t>
            </a: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definition. </a:t>
            </a:r>
            <a:r>
              <a:rPr dirty="0" sz="1050" spc="-40" b="1">
                <a:latin typeface="Palatino Linotype"/>
                <a:cs typeface="Palatino Linotype"/>
              </a:rPr>
              <a:t>instantiation: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belongs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class.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instance: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belongs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attribute: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 spc="-10">
                <a:latin typeface="Palatino Linotype"/>
                <a:cs typeface="Palatino Linotype"/>
              </a:rPr>
              <a:t> variable.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object</a:t>
            </a:r>
            <a:r>
              <a:rPr dirty="0" sz="1050" spc="100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diagram:</a:t>
            </a:r>
            <a:r>
              <a:rPr dirty="0" sz="1050" spc="1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graphical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representation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their values.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latin typeface="Palatino Linotype"/>
                <a:cs typeface="Palatino Linotype"/>
              </a:rPr>
              <a:t>format</a:t>
            </a:r>
            <a:r>
              <a:rPr dirty="0" sz="1050" spc="3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specifier:</a:t>
            </a:r>
            <a:r>
              <a:rPr dirty="0" sz="1050" spc="4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25">
                <a:latin typeface="Palatino Linotype"/>
                <a:cs typeface="Palatino Linotype"/>
              </a:rPr>
              <a:t>string,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format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specifier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determines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how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value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60">
                <a:latin typeface="Palatino Linotype"/>
                <a:cs typeface="Palatino Linotype"/>
              </a:rPr>
              <a:t>verted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5" b="1">
                <a:latin typeface="Palatino Linotype"/>
                <a:cs typeface="Palatino Linotype"/>
              </a:rPr>
              <a:t>pure</a:t>
            </a:r>
            <a:r>
              <a:rPr dirty="0" sz="1050" spc="3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function:</a:t>
            </a:r>
            <a:r>
              <a:rPr dirty="0" sz="1050" spc="4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value.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functional</a:t>
            </a:r>
            <a:r>
              <a:rPr dirty="0" sz="1050" spc="7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programming</a:t>
            </a:r>
            <a:r>
              <a:rPr dirty="0" sz="1050" spc="7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style:</a:t>
            </a:r>
            <a:r>
              <a:rPr dirty="0" sz="1050" spc="8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way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pure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 </a:t>
            </a:r>
            <a:r>
              <a:rPr dirty="0" sz="1050" spc="-70">
                <a:latin typeface="Palatino Linotype"/>
                <a:cs typeface="Palatino Linotype"/>
              </a:rPr>
              <a:t>whenever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possible.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5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220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30" b="1">
                <a:latin typeface="Trebuchet MS"/>
                <a:cs typeface="Trebuchet MS"/>
              </a:rPr>
              <a:t>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650030"/>
            <a:ext cx="4598035" cy="5579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prototype</a:t>
            </a:r>
            <a:r>
              <a:rPr dirty="0" sz="1050" spc="-30" b="1">
                <a:latin typeface="Palatino Linotype"/>
                <a:cs typeface="Palatino Linotype"/>
              </a:rPr>
              <a:t> and </a:t>
            </a:r>
            <a:r>
              <a:rPr dirty="0" sz="1050" spc="-20" b="1">
                <a:latin typeface="Palatino Linotype"/>
                <a:cs typeface="Palatino Linotype"/>
              </a:rPr>
              <a:t>patch: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65">
                <a:latin typeface="Palatino Linotype"/>
                <a:cs typeface="Palatino Linotype"/>
              </a:rPr>
              <a:t>developing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draft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gradually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features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fixing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bugs.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latin typeface="Palatino Linotype"/>
                <a:cs typeface="Palatino Linotype"/>
              </a:rPr>
              <a:t>design-first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105" b="1">
                <a:latin typeface="Palatino Linotype"/>
                <a:cs typeface="Palatino Linotype"/>
              </a:rPr>
              <a:t>v</a:t>
            </a:r>
            <a:r>
              <a:rPr dirty="0" sz="1050" spc="-75" b="1">
                <a:latin typeface="Palatino Linotype"/>
                <a:cs typeface="Palatino Linotype"/>
              </a:rPr>
              <a:t>e</a:t>
            </a:r>
            <a:r>
              <a:rPr dirty="0" sz="1050" spc="-55" b="1">
                <a:latin typeface="Palatino Linotype"/>
                <a:cs typeface="Palatino Linotype"/>
              </a:rPr>
              <a:t>l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85" b="1">
                <a:latin typeface="Palatino Linotype"/>
                <a:cs typeface="Palatino Linotype"/>
              </a:rPr>
              <a:t>p</a:t>
            </a:r>
            <a:r>
              <a:rPr dirty="0" sz="1050" spc="-75" b="1">
                <a:latin typeface="Palatino Linotype"/>
                <a:cs typeface="Palatino Linotype"/>
              </a:rPr>
              <a:t>m</a:t>
            </a:r>
            <a:r>
              <a:rPr dirty="0" sz="1050" spc="-55" b="1">
                <a:latin typeface="Palatino Linotype"/>
                <a:cs typeface="Palatino Linotype"/>
              </a:rPr>
              <a:t>e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5" b="1">
                <a:latin typeface="Palatino Linotype"/>
                <a:cs typeface="Palatino Linotype"/>
              </a:rPr>
              <a:t>t: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developing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careful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planning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prototype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tch.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vocabulary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conversation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assis‐ </a:t>
            </a:r>
            <a:r>
              <a:rPr dirty="0" sz="1050" spc="-50">
                <a:latin typeface="Palatino Linotype"/>
                <a:cs typeface="Palatino Linotype"/>
              </a:rPr>
              <a:t>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help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solidify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understanding.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Consider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asking: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type?”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instance?”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attribute?”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modifiers?”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35">
                <a:latin typeface="Palatino Linotype"/>
                <a:cs typeface="Palatino Linotype"/>
              </a:rPr>
              <a:t>Because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just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getting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25">
                <a:latin typeface="Palatino Linotype"/>
                <a:cs typeface="Palatino Linotype"/>
              </a:rPr>
              <a:t>oriented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chapter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idiomatic—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kind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experienced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programmers </a:t>
            </a:r>
            <a:r>
              <a:rPr dirty="0" sz="1050" spc="-40">
                <a:latin typeface="Palatino Linotype"/>
                <a:cs typeface="Palatino Linotype"/>
              </a:rPr>
              <a:t>write.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help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probably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see </a:t>
            </a:r>
            <a:r>
              <a:rPr dirty="0" sz="1050" spc="-50">
                <a:latin typeface="Palatino Linotype"/>
                <a:cs typeface="Palatino Linotype"/>
              </a:rPr>
              <a:t>features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covered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yet.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particular,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u="sng" sz="1000" spc="5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1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initialize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instance.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features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sense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go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ahead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patient—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soon.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meantime,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solve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using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features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covered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far.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Also,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chapter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saw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format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specifier.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information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10">
                <a:latin typeface="Palatino Linotype"/>
                <a:cs typeface="Palatino Linotype"/>
              </a:rPr>
              <a:t>string?”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subtract_time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interval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seconds—assuming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during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same </a:t>
            </a:r>
            <a:r>
              <a:rPr dirty="0" sz="1050" spc="-20">
                <a:latin typeface="Palatino Linotype"/>
                <a:cs typeface="Palatino Linotype"/>
              </a:rPr>
              <a:t>day.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745030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221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363573"/>
            <a:ext cx="4572000" cy="1369060"/>
            <a:chOff x="914400" y="1363573"/>
            <a:chExt cx="4572000" cy="13690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363573"/>
              <a:ext cx="4572000" cy="1369060"/>
            </a:xfrm>
            <a:custGeom>
              <a:avLst/>
              <a:gdLst/>
              <a:ahLst/>
              <a:cxnLst/>
              <a:rect l="l" t="t" r="r" b="b"/>
              <a:pathLst>
                <a:path w="4572000" h="1369060">
                  <a:moveTo>
                    <a:pt x="4572000" y="1368742"/>
                  </a:moveTo>
                  <a:lnTo>
                    <a:pt x="0" y="13687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3687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365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552764"/>
            <a:ext cx="4572000" cy="397510"/>
            <a:chOff x="914400" y="3552764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55276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55435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5" y="519390"/>
            <a:ext cx="4598035" cy="552767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 marR="5080" indent="-635">
              <a:lnSpc>
                <a:spcPct val="104700"/>
              </a:lnSpc>
              <a:spcBef>
                <a:spcPts val="465"/>
              </a:spcBef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is_after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otherwise: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is_after(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2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`t1`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after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`t2`.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152717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is_after(make_time(3,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2,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1),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make_time(3,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2,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0))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 marR="152717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is_after(make_time(3,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2,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1),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make_time(3,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2,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1))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4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is_after(make_time(11,</a:t>
            </a:r>
            <a:r>
              <a:rPr dirty="0" sz="850" spc="-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12,</a:t>
            </a:r>
            <a:r>
              <a:rPr dirty="0" sz="850" spc="-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0),</a:t>
            </a:r>
            <a:r>
              <a:rPr dirty="0" sz="850" spc="-4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make_time(9,</a:t>
            </a:r>
            <a:r>
              <a:rPr dirty="0" sz="850" spc="-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40,</a:t>
            </a:r>
            <a:r>
              <a:rPr dirty="0" sz="850" spc="-3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0))</a:t>
            </a:r>
            <a:endParaRPr sz="850">
              <a:latin typeface="Courier New"/>
              <a:cs typeface="Courier New"/>
            </a:endParaRPr>
          </a:p>
          <a:p>
            <a:pPr marL="255270" marR="4117975">
              <a:lnSpc>
                <a:spcPts val="850"/>
              </a:lnSpc>
              <a:spcBef>
                <a:spcPts val="85"/>
              </a:spcBef>
            </a:pP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r>
              <a:rPr dirty="0" sz="850" spc="-10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Date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date—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year,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month,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100">
                <a:latin typeface="Palatino Linotype"/>
                <a:cs typeface="Palatino Linotype"/>
              </a:rPr>
              <a:t>day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month: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Date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year,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month,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and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day"""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ourier New"/>
              <a:cs typeface="Courier New"/>
            </a:endParaRPr>
          </a:p>
          <a:p>
            <a:pPr algn="just" marL="241300" marR="5080" indent="-161290">
              <a:lnSpc>
                <a:spcPct val="102400"/>
              </a:lnSpc>
              <a:buAutoNum type="arabicPeriod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make_date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year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month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SimSun"/>
                <a:cs typeface="SimSun"/>
              </a:rPr>
              <a:t>day</a:t>
            </a:r>
            <a:r>
              <a:rPr dirty="0" sz="1000" spc="-60">
                <a:latin typeface="SimSun"/>
                <a:cs typeface="SimSun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parameters, </a:t>
            </a:r>
            <a:r>
              <a:rPr dirty="0" sz="1050" spc="-60">
                <a:latin typeface="Palatino Linotype"/>
                <a:cs typeface="Palatino Linotype"/>
              </a:rPr>
              <a:t>makes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Date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assigns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June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22,</a:t>
            </a:r>
            <a:r>
              <a:rPr dirty="0" sz="1050" spc="-10">
                <a:latin typeface="Palatino Linotype"/>
                <a:cs typeface="Palatino Linotype"/>
              </a:rPr>
              <a:t> 1933.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47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print_date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Date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format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prints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Date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cre‐ </a:t>
            </a:r>
            <a:r>
              <a:rPr dirty="0" sz="1050" spc="-65">
                <a:latin typeface="Palatino Linotype"/>
                <a:cs typeface="Palatino Linotype"/>
              </a:rPr>
              <a:t>ated,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1933-06-</a:t>
            </a:r>
            <a:r>
              <a:rPr dirty="0" sz="1000" spc="-25">
                <a:latin typeface="SimSun"/>
                <a:cs typeface="SimSun"/>
              </a:rPr>
              <a:t>22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2400"/>
              </a:lnSpc>
              <a:spcBef>
                <a:spcPts val="430"/>
              </a:spcBef>
              <a:buAutoNum type="arabicPeriod"/>
              <a:tabLst>
                <a:tab pos="241935" algn="l"/>
              </a:tabLst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is_after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Date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True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repre‐ </a:t>
            </a:r>
            <a:r>
              <a:rPr dirty="0" sz="1050" spc="-50">
                <a:latin typeface="Palatino Linotype"/>
                <a:cs typeface="Palatino Linotype"/>
              </a:rPr>
              <a:t>se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September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17,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1933,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1060"/>
              </a:spcBef>
            </a:pPr>
            <a:r>
              <a:rPr dirty="0" sz="1050" spc="-25">
                <a:latin typeface="Palatino Linotype"/>
                <a:cs typeface="Palatino Linotype"/>
              </a:rPr>
              <a:t>Hint: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might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useful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date_to_tuple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Date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year,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month,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day</a:t>
            </a:r>
            <a:r>
              <a:rPr dirty="0" sz="1050" spc="-10">
                <a:latin typeface="Palatino Linotype"/>
                <a:cs typeface="Palatino Linotype"/>
              </a:rPr>
              <a:t> order.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1699" y="7731125"/>
            <a:ext cx="1676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222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14: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Functions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6257815"/>
            <a:ext cx="4572000" cy="829310"/>
            <a:chOff x="914400" y="6257815"/>
            <a:chExt cx="4572000" cy="8293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6257815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625940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15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185545">
              <a:lnSpc>
                <a:spcPct val="100000"/>
              </a:lnSpc>
              <a:spcBef>
                <a:spcPts val="120"/>
              </a:spcBef>
            </a:pPr>
            <a:r>
              <a:rPr dirty="0" spc="-355"/>
              <a:t>Classes </a:t>
            </a:r>
            <a:r>
              <a:rPr dirty="0" spc="-370"/>
              <a:t>and</a:t>
            </a:r>
            <a:r>
              <a:rPr dirty="0" spc="-350"/>
              <a:t> </a:t>
            </a:r>
            <a:r>
              <a:rPr dirty="0" spc="-375"/>
              <a:t>Methods</a:t>
            </a:r>
          </a:p>
        </p:txBody>
      </p:sp>
      <p:sp>
        <p:nvSpPr>
          <p:cNvPr id="8" name="object 8" descr=""/>
          <p:cNvSpPr txBox="1"/>
          <p:nvPr/>
        </p:nvSpPr>
        <p:spPr>
          <a:xfrm>
            <a:off x="901642" y="3044843"/>
            <a:ext cx="4598035" cy="484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latin typeface="Palatino Linotype"/>
                <a:cs typeface="Palatino Linotype"/>
              </a:rPr>
              <a:t>Python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object-</a:t>
            </a:r>
            <a:r>
              <a:rPr dirty="0" sz="1050" spc="-30" b="1">
                <a:latin typeface="Palatino Linotype"/>
                <a:cs typeface="Palatino Linotype"/>
              </a:rPr>
              <a:t>oriented</a:t>
            </a:r>
            <a:r>
              <a:rPr dirty="0" sz="1050" spc="90" b="1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language</a:t>
            </a:r>
            <a:r>
              <a:rPr dirty="0" sz="1050" spc="-70">
                <a:latin typeface="Palatino Linotype"/>
                <a:cs typeface="Palatino Linotype"/>
              </a:rPr>
              <a:t>—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features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support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45">
                <a:latin typeface="Palatino Linotype"/>
                <a:cs typeface="Palatino Linotype"/>
              </a:rPr>
              <a:t>oriented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characteristics: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expressed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terms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things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25">
                <a:latin typeface="Palatino Linotype"/>
                <a:cs typeface="Palatino Linotype"/>
              </a:rPr>
              <a:t>real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world,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often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correspond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world</a:t>
            </a:r>
            <a:r>
              <a:rPr dirty="0" sz="1050" spc="-10">
                <a:latin typeface="Palatino Linotype"/>
                <a:cs typeface="Palatino Linotype"/>
              </a:rPr>
              <a:t> interact.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definitions.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899"/>
              </a:lnSpc>
              <a:spcBef>
                <a:spcPts val="1045"/>
              </a:spcBef>
            </a:pP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corresponds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people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record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correspond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kinds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people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times.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explicit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connection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between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</a:t>
            </a:r>
            <a:r>
              <a:rPr dirty="0" sz="1050" spc="-185">
                <a:latin typeface="Palatino Linotype"/>
                <a:cs typeface="Palatino Linotype"/>
              </a:rPr>
              <a:t>w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connection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explicit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me</a:t>
            </a:r>
            <a:r>
              <a:rPr dirty="0" sz="1050" spc="-30" b="1">
                <a:latin typeface="Palatino Linotype"/>
                <a:cs typeface="Palatino Linotype"/>
              </a:rPr>
              <a:t>th</a:t>
            </a:r>
            <a:r>
              <a:rPr dirty="0" sz="1050" spc="-25" b="1">
                <a:latin typeface="Palatino Linotype"/>
                <a:cs typeface="Palatino Linotype"/>
              </a:rPr>
              <a:t>o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0" b="1">
                <a:latin typeface="Trebuchet MS"/>
                <a:cs typeface="Trebuchet MS"/>
              </a:rPr>
              <a:t>Defining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Methods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wrote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named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print_time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day: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Time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time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day."""</a:t>
            </a:r>
            <a:endParaRPr sz="850">
              <a:latin typeface="Courier New"/>
              <a:cs typeface="Courier New"/>
            </a:endParaRPr>
          </a:p>
          <a:p>
            <a:pPr algn="just"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print_time(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12033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f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move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definition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Notice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change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indentation.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900" spc="-25" b="1">
                <a:latin typeface="Trebuchet MS"/>
                <a:cs typeface="Trebuchet MS"/>
              </a:rPr>
              <a:t>223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57128"/>
            <a:ext cx="4572000" cy="829310"/>
            <a:chOff x="914400" y="1257128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5712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587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597442"/>
            <a:ext cx="4572000" cy="829310"/>
            <a:chOff x="914400" y="2597442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597442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5990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770201"/>
            <a:ext cx="4572000" cy="289560"/>
            <a:chOff x="914400" y="3770201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77020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7717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4563230"/>
            <a:ext cx="4572000" cy="289560"/>
            <a:chOff x="914400" y="4563230"/>
            <a:chExt cx="4572000" cy="28956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456323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45648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914400" y="514012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914400" y="5789243"/>
            <a:ext cx="4572000" cy="289560"/>
            <a:chOff x="914400" y="5789243"/>
            <a:chExt cx="4572000" cy="28956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578924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579083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914400" y="636614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901637" y="657564"/>
            <a:ext cx="4598035" cy="7236459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20">
                <a:latin typeface="Palatino Linotype"/>
                <a:cs typeface="Palatino Linotype"/>
              </a:rPr>
              <a:t>At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we’ll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change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30">
                <a:latin typeface="Palatino Linotype"/>
                <a:cs typeface="Palatino Linotype"/>
              </a:rPr>
              <a:t>name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the </a:t>
            </a:r>
            <a:r>
              <a:rPr dirty="0" sz="1050" spc="-45">
                <a:latin typeface="Palatino Linotype"/>
                <a:cs typeface="Palatino Linotype"/>
              </a:rPr>
              <a:t>parameter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00">
                <a:latin typeface="SimSun"/>
                <a:cs typeface="SimSun"/>
              </a:rPr>
              <a:t>self</a:t>
            </a:r>
            <a:r>
              <a:rPr dirty="0" sz="1050">
                <a:latin typeface="Palatino Linotype"/>
                <a:cs typeface="Palatino Linotype"/>
              </a:rPr>
              <a:t>.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45">
                <a:latin typeface="Palatino Linotype"/>
                <a:cs typeface="Palatino Linotype"/>
              </a:rPr>
              <a:t>change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necessary,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conventional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25">
                <a:latin typeface="Palatino Linotype"/>
                <a:cs typeface="Palatino Linotype"/>
              </a:rPr>
              <a:t>first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self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Time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time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day."""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print_time(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9874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f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55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call</a:t>
            </a:r>
            <a:r>
              <a:rPr dirty="0" sz="1050" spc="-35">
                <a:latin typeface="Palatino Linotype"/>
                <a:cs typeface="Palatino Linotype"/>
              </a:rPr>
              <a:t> 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00" spc="-45">
                <a:latin typeface="SimSun"/>
                <a:cs typeface="SimSun"/>
              </a:rPr>
              <a:t>Time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30">
                <a:latin typeface="Palatino Linotype"/>
                <a:cs typeface="Palatino Linotype"/>
              </a:rPr>
              <a:t>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6066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make_time(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 marR="32543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instance: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There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ways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print_time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(and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common)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way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syntax:</a:t>
            </a:r>
            <a:endParaRPr sz="1050">
              <a:latin typeface="Palatino Linotype"/>
              <a:cs typeface="Palatino Linotype"/>
            </a:endParaRPr>
          </a:p>
          <a:p>
            <a:pPr marL="39370" marR="33623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 09:40:00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Time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print_time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method, and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start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passed</a:t>
            </a:r>
            <a:r>
              <a:rPr dirty="0" sz="1050">
                <a:latin typeface="Palatino Linotype"/>
                <a:cs typeface="Palatino Linotype"/>
              </a:rPr>
              <a:t> as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parameter.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(and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idiomatic)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to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syntax:</a:t>
            </a:r>
            <a:endParaRPr sz="1050">
              <a:latin typeface="Palatino Linotype"/>
              <a:cs typeface="Palatino Linotype"/>
            </a:endParaRPr>
          </a:p>
          <a:p>
            <a:pPr marL="39370" marR="35782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() 09:40:00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start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75">
                <a:latin typeface="Palatino Linotype"/>
                <a:cs typeface="Palatino Linotype"/>
              </a:rPr>
              <a:t>voked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5" b="1">
                <a:latin typeface="Palatino Linotype"/>
                <a:cs typeface="Palatino Linotype"/>
              </a:rPr>
              <a:t>r</a:t>
            </a:r>
            <a:r>
              <a:rPr dirty="0" sz="1050" spc="-60" b="1">
                <a:latin typeface="Palatino Linotype"/>
                <a:cs typeface="Palatino Linotype"/>
              </a:rPr>
              <a:t>e</a:t>
            </a:r>
            <a:r>
              <a:rPr dirty="0" sz="1050" spc="-25" b="1">
                <a:latin typeface="Palatino Linotype"/>
                <a:cs typeface="Palatino Linotype"/>
              </a:rPr>
              <a:t>c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55" b="1">
                <a:latin typeface="Palatino Linotype"/>
                <a:cs typeface="Palatino Linotype"/>
              </a:rPr>
              <a:t>i</a:t>
            </a:r>
            <a:r>
              <a:rPr dirty="0" sz="1050" spc="-90" b="1">
                <a:latin typeface="Palatino Linotype"/>
                <a:cs typeface="Palatino Linotype"/>
              </a:rPr>
              <a:t>v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15" b="1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based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analo</a:t>
            </a:r>
            <a:r>
              <a:rPr dirty="0" sz="1050" spc="-40">
                <a:latin typeface="Palatino Linotype"/>
                <a:cs typeface="Palatino Linotype"/>
              </a:rPr>
              <a:t>g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voking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sending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45">
                <a:latin typeface="Palatino Linotype"/>
                <a:cs typeface="Palatino Linotype"/>
              </a:rPr>
              <a:t>Regardless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syntax,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behavior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method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receiver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45">
                <a:latin typeface="Palatino Linotype"/>
                <a:cs typeface="Palatino Linotype"/>
              </a:rPr>
              <a:t> 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parameter,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self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224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" b="1">
                <a:latin typeface="Trebuchet MS"/>
                <a:cs typeface="Trebuchet MS"/>
              </a:rPr>
              <a:t>Methods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3549"/>
            <a:ext cx="4572000" cy="613410"/>
            <a:chOff x="914400" y="1243549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354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51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192874"/>
            <a:ext cx="4572000" cy="829310"/>
            <a:chOff x="914400" y="2192874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192874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1944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4569507"/>
            <a:ext cx="4572000" cy="289560"/>
            <a:chOff x="914400" y="4569507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456950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457109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51464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6422992"/>
            <a:ext cx="4572000" cy="613410"/>
            <a:chOff x="914400" y="6422992"/>
            <a:chExt cx="4572000" cy="6134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422992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4245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32461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0"/>
              <a:t>Another</a:t>
            </a:r>
            <a:r>
              <a:rPr dirty="0" sz="1900" spc="-270"/>
              <a:t> </a:t>
            </a:r>
            <a:r>
              <a:rPr dirty="0" sz="1900" spc="-295"/>
              <a:t>Method</a:t>
            </a:r>
            <a:endParaRPr sz="1900"/>
          </a:p>
        </p:txBody>
      </p:sp>
      <p:sp>
        <p:nvSpPr>
          <p:cNvPr id="16" name="object 16" descr=""/>
          <p:cNvSpPr txBox="1"/>
          <p:nvPr/>
        </p:nvSpPr>
        <p:spPr>
          <a:xfrm>
            <a:off x="901638" y="971559"/>
            <a:ext cx="4598035" cy="5972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time_to_int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time_to_int(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2828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rewritten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time_to_int(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0669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 line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special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add_method_to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adds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previously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class.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Jupyter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notebook,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part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Python,</a:t>
            </a:r>
            <a:r>
              <a:rPr dirty="0" sz="1050">
                <a:latin typeface="Palatino Linotype"/>
                <a:cs typeface="Palatino Linotype"/>
              </a:rPr>
              <a:t> so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2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environments.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Normally,</a:t>
            </a:r>
            <a:r>
              <a:rPr dirty="0" sz="1050">
                <a:latin typeface="Palatino Linotype"/>
                <a:cs typeface="Palatino Linotype"/>
              </a:rPr>
              <a:t> all </a:t>
            </a:r>
            <a:r>
              <a:rPr dirty="0" sz="1050" spc="-45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class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get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</a:t>
            </a:r>
            <a:r>
              <a:rPr dirty="0" sz="1050" spc="-20">
                <a:latin typeface="Palatino Linotype"/>
                <a:cs typeface="Palatino Linotype"/>
              </a:rPr>
              <a:t> the </a:t>
            </a:r>
            <a:r>
              <a:rPr dirty="0" sz="1050" spc="-5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time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the class.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book,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helpful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time.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20">
                <a:latin typeface="Palatino Linotype"/>
                <a:cs typeface="Palatino Linotype"/>
              </a:rPr>
              <a:t>As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indented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parameter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self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that,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identical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25">
                <a:latin typeface="Palatino Linotype"/>
                <a:cs typeface="Palatino Linotype"/>
              </a:rPr>
              <a:t>function.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 marR="35242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() 34800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common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say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“call”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“invoke”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mean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thing.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54" b="1">
                <a:latin typeface="Trebuchet MS"/>
                <a:cs typeface="Trebuchet MS"/>
              </a:rPr>
              <a:t>Static </a:t>
            </a:r>
            <a:r>
              <a:rPr dirty="0" sz="1900" spc="-295" b="1">
                <a:latin typeface="Trebuchet MS"/>
                <a:cs typeface="Trebuchet MS"/>
              </a:rPr>
              <a:t>Methods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let’s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int_to_time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Here’s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version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int_to_time(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 marR="22828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21151" y="7731125"/>
            <a:ext cx="978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Static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5" b="1">
                <a:latin typeface="Trebuchet MS"/>
                <a:cs typeface="Trebuchet MS"/>
              </a:rPr>
              <a:t>Methods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225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820922"/>
            <a:ext cx="4572000" cy="829310"/>
            <a:chOff x="914400" y="1820922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820922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8225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161236"/>
            <a:ext cx="4572000" cy="289560"/>
            <a:chOff x="914400" y="3161236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16123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1628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794245"/>
            <a:ext cx="4572000" cy="289560"/>
            <a:chOff x="914400" y="3794245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79424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7958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437114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4852704"/>
            <a:ext cx="4572000" cy="613410"/>
            <a:chOff x="914400" y="4852704"/>
            <a:chExt cx="4572000" cy="6134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85270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8542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14400" y="5802029"/>
            <a:ext cx="4572000" cy="829310"/>
            <a:chOff x="914400" y="5802029"/>
            <a:chExt cx="4572000" cy="82931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5802029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580361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901637" y="657564"/>
            <a:ext cx="4598035" cy="639826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function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seconds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returns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Time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40">
                <a:latin typeface="Palatino Linotype"/>
                <a:cs typeface="Palatino Linotype"/>
              </a:rPr>
              <a:t>transform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class,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invoke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we’re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trying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on?</a:t>
            </a:r>
            <a:endParaRPr sz="1050">
              <a:latin typeface="Palatino Linotype"/>
              <a:cs typeface="Palatino Linotype"/>
            </a:endParaRPr>
          </a:p>
          <a:p>
            <a:pPr algn="just" marL="12700" marR="6985">
              <a:lnSpc>
                <a:spcPct val="100000"/>
              </a:lnSpc>
              <a:spcBef>
                <a:spcPts val="600"/>
              </a:spcBef>
            </a:pP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60">
                <a:latin typeface="Palatino Linotype"/>
                <a:cs typeface="Palatino Linotype"/>
              </a:rPr>
              <a:t>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solve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chicken-and-egg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problem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 b="1">
                <a:latin typeface="Palatino Linotype"/>
                <a:cs typeface="Palatino Linotype"/>
              </a:rPr>
              <a:t>s</a:t>
            </a:r>
            <a:r>
              <a:rPr dirty="0" sz="1050" spc="-10" b="1">
                <a:latin typeface="Palatino Linotype"/>
                <a:cs typeface="Palatino Linotype"/>
              </a:rPr>
              <a:t>ta</a:t>
            </a:r>
            <a:r>
              <a:rPr dirty="0" sz="1050" spc="-20" b="1">
                <a:latin typeface="Palatino Linotype"/>
                <a:cs typeface="Palatino Linotype"/>
              </a:rPr>
              <a:t>t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25" b="1">
                <a:latin typeface="Palatino Linotype"/>
                <a:cs typeface="Palatino Linotype"/>
              </a:rPr>
              <a:t>c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60" b="1">
                <a:latin typeface="Palatino Linotype"/>
                <a:cs typeface="Palatino Linotype"/>
              </a:rPr>
              <a:t>me</a:t>
            </a:r>
            <a:r>
              <a:rPr dirty="0" sz="1050" spc="-30" b="1">
                <a:latin typeface="Palatino Linotype"/>
                <a:cs typeface="Palatino Linotype"/>
              </a:rPr>
              <a:t>th</a:t>
            </a:r>
            <a:r>
              <a:rPr dirty="0" sz="1050" spc="-25" b="1">
                <a:latin typeface="Palatino Linotype"/>
                <a:cs typeface="Palatino Linotype"/>
              </a:rPr>
              <a:t>o</a:t>
            </a:r>
            <a:r>
              <a:rPr dirty="0" sz="1050" spc="-70" b="1">
                <a:latin typeface="Palatino Linotype"/>
                <a:cs typeface="Palatino Linotype"/>
              </a:rPr>
              <a:t>d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require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voked.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int_to_time(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0669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divmod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static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method,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5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not </a:t>
            </a:r>
            <a:r>
              <a:rPr dirty="0" sz="1050" spc="-60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self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 a </a:t>
            </a:r>
            <a:r>
              <a:rPr dirty="0" sz="1050" spc="-50">
                <a:latin typeface="Palatino Linotype"/>
                <a:cs typeface="Palatino Linotype"/>
              </a:rPr>
              <a:t>parameter.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invoke</a:t>
            </a:r>
            <a:r>
              <a:rPr dirty="0" sz="1050">
                <a:latin typeface="Palatino Linotype"/>
                <a:cs typeface="Palatino Linotype"/>
              </a:rPr>
              <a:t> it, </a:t>
            </a:r>
            <a:r>
              <a:rPr dirty="0" sz="1050" spc="-25">
                <a:latin typeface="Palatino Linotype"/>
                <a:cs typeface="Palatino Linotype"/>
              </a:rPr>
              <a:t>we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int_to_time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34800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9:40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5782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() 09:40:00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20">
                <a:latin typeface="Palatino Linotype"/>
                <a:cs typeface="Palatino Linotype"/>
              </a:rPr>
              <a:t>Now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Time.from_seconds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add_time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method.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chapter: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19050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add_time(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duration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int_to_time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rewritten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16891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add_time(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minutes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duration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int_to_time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00" spc="-20">
                <a:latin typeface="SimSun"/>
                <a:cs typeface="SimSun"/>
              </a:rPr>
              <a:t>add_time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self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static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method.</a:t>
            </a:r>
            <a:r>
              <a:rPr dirty="0" sz="1050">
                <a:latin typeface="Palatino Linotype"/>
                <a:cs typeface="Palatino Linotype"/>
              </a:rPr>
              <a:t> It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ordinary </a:t>
            </a:r>
            <a:r>
              <a:rPr dirty="0" sz="1050" spc="-75">
                <a:latin typeface="Palatino Linotype"/>
                <a:cs typeface="Palatino Linotype"/>
              </a:rPr>
              <a:t>method—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instance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method</a:t>
            </a:r>
            <a:r>
              <a:rPr dirty="0" sz="1050" spc="-45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instance: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755" y="7731125"/>
            <a:ext cx="164083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226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Methods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397510"/>
            <a:chOff x="914400" y="685800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37064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250994"/>
            <a:ext cx="4572000" cy="397510"/>
            <a:chOff x="914400" y="2250994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25099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2525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2984419"/>
            <a:ext cx="4572000" cy="613410"/>
            <a:chOff x="914400" y="2984419"/>
            <a:chExt cx="4572000" cy="6134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98441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9860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4268852"/>
            <a:ext cx="4572000" cy="289560"/>
            <a:chOff x="914400" y="4268852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26885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2704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484575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914400" y="6464979"/>
            <a:ext cx="4572000" cy="721360"/>
            <a:chOff x="914400" y="6464979"/>
            <a:chExt cx="4572000" cy="7213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646497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59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64665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901643" y="728091"/>
            <a:ext cx="4598035" cy="636651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39370" marR="2930525">
              <a:lnSpc>
                <a:spcPts val="850"/>
              </a:lnSpc>
              <a:spcBef>
                <a:spcPts val="27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print_time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95" b="1">
                <a:latin typeface="Trebuchet MS"/>
                <a:cs typeface="Trebuchet MS"/>
              </a:rPr>
              <a:t>Comparing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55" b="1">
                <a:latin typeface="Trebuchet MS"/>
                <a:cs typeface="Trebuchet MS"/>
              </a:rPr>
              <a:t>Time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30" b="1">
                <a:latin typeface="Trebuchet MS"/>
                <a:cs typeface="Trebuchet MS"/>
              </a:rPr>
              <a:t>Objects</a:t>
            </a:r>
            <a:endParaRPr sz="1900">
              <a:latin typeface="Trebuchet MS"/>
              <a:cs typeface="Trebuchet MS"/>
            </a:endParaRPr>
          </a:p>
          <a:p>
            <a:pPr marL="12700" marR="5080" indent="-635">
              <a:lnSpc>
                <a:spcPct val="100000"/>
              </a:lnSpc>
              <a:spcBef>
                <a:spcPts val="595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is_after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is_after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is_after(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2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is_after(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40">
                <a:latin typeface="Palatino Linotype"/>
                <a:cs typeface="Palatino Linotype"/>
              </a:rPr>
              <a:t>Because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comparing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00">
                <a:latin typeface="SimSun"/>
                <a:cs typeface="SimSun"/>
              </a:rPr>
              <a:t>self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invoke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75">
                <a:latin typeface="Palatino Linotype"/>
                <a:cs typeface="Palatino Linotype"/>
              </a:rPr>
              <a:t>pass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argument:</a:t>
            </a:r>
            <a:endParaRPr sz="1050">
              <a:latin typeface="Palatino Linotype"/>
              <a:cs typeface="Palatino Linotype"/>
            </a:endParaRPr>
          </a:p>
          <a:p>
            <a:pPr marL="39370" marR="35242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is_after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nice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syntax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almost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question,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“</a:t>
            </a:r>
            <a:r>
              <a:rPr dirty="0" sz="1000" spc="-40">
                <a:latin typeface="SimSun"/>
                <a:cs typeface="SimSun"/>
              </a:rPr>
              <a:t>end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after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start</a:t>
            </a:r>
            <a:r>
              <a:rPr dirty="0" sz="1050" spc="-10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  <a:tabLst>
                <a:tab pos="579755" algn="l"/>
                <a:tab pos="1064260" algn="l"/>
              </a:tabLst>
            </a:pPr>
            <a:r>
              <a:rPr dirty="0" sz="1900" spc="-375" b="1">
                <a:latin typeface="Trebuchet MS"/>
                <a:cs typeface="Trebuchet MS"/>
              </a:rPr>
              <a:t>The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u="sng" sz="1900" b="1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	</a:t>
            </a:r>
            <a:r>
              <a:rPr dirty="0" sz="1900" spc="-280" b="1">
                <a:latin typeface="Trebuchet MS"/>
                <a:cs typeface="Trebuchet MS"/>
              </a:rPr>
              <a:t>str</a:t>
            </a:r>
            <a:r>
              <a:rPr dirty="0" u="sng" sz="1900" b="1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	</a:t>
            </a:r>
            <a:r>
              <a:rPr dirty="0" sz="1900" spc="-295" b="1">
                <a:latin typeface="Trebuchet MS"/>
                <a:cs typeface="Trebuchet MS"/>
              </a:rPr>
              <a:t>Method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When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choose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almost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name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want.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However,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names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meanings.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has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named</a:t>
            </a:r>
            <a:endParaRPr sz="1050">
              <a:latin typeface="Palatino Linotype"/>
              <a:cs typeface="Palatino Linotype"/>
            </a:endParaRPr>
          </a:p>
          <a:p>
            <a:pPr algn="just" marL="12700" marR="8890">
              <a:lnSpc>
                <a:spcPct val="104700"/>
              </a:lnSpc>
            </a:pP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str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vert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here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str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f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: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02d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86137" y="7731125"/>
            <a:ext cx="12134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The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u="sng" sz="900" spc="375" b="1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dirty="0" sz="900" b="1">
                <a:latin typeface="Trebuchet MS"/>
                <a:cs typeface="Trebuchet MS"/>
              </a:rPr>
              <a:t>str</a:t>
            </a:r>
            <a:r>
              <a:rPr dirty="0" u="sng" sz="900" spc="509" b="1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Method</a:t>
            </a:r>
            <a:r>
              <a:rPr dirty="0" sz="900" spc="4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1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227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325794"/>
            <a:ext cx="4572000" cy="289560"/>
            <a:chOff x="914400" y="132579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32579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3273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026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91787"/>
            <a:ext cx="4572000" cy="289560"/>
            <a:chOff x="914400" y="239178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9178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933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9686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90227"/>
            <a:ext cx="4572000" cy="289560"/>
            <a:chOff x="914400" y="3290227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9022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918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671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318799"/>
            <a:ext cx="4572000" cy="829310"/>
            <a:chOff x="914400" y="5318799"/>
            <a:chExt cx="4572000" cy="8293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318799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3203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914400" y="6811598"/>
            <a:ext cx="4572000" cy="397510"/>
            <a:chOff x="914400" y="6811598"/>
            <a:chExt cx="4572000" cy="3975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681159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68131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749644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1635" y="657564"/>
            <a:ext cx="4598035" cy="6745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similar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print_time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except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returns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way:</a:t>
            </a:r>
            <a:endParaRPr sz="1050">
              <a:latin typeface="Palatino Linotype"/>
              <a:cs typeface="Palatino Linotype"/>
            </a:endParaRPr>
          </a:p>
          <a:p>
            <a:pPr marL="39370" marR="384810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25">
                <a:latin typeface="SimSun"/>
                <a:cs typeface="SimSun"/>
              </a:rPr>
              <a:t>() </a:t>
            </a:r>
            <a:r>
              <a:rPr dirty="0" sz="850" spc="-10">
                <a:latin typeface="SimSun"/>
                <a:cs typeface="SimSun"/>
              </a:rPr>
              <a:t>'11:12:00'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convert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55"/>
              </a:spcBef>
            </a:pP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229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str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 '11:12:00'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 marR="40100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 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Methods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u="sng" sz="1050" spc="4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56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called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special</a:t>
            </a:r>
            <a:r>
              <a:rPr dirty="0" sz="1050" spc="45" b="1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methods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identify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them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because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begin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underscores.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  <a:tabLst>
                <a:tab pos="579755" algn="l"/>
                <a:tab pos="1127760" algn="l"/>
              </a:tabLst>
            </a:pPr>
            <a:r>
              <a:rPr dirty="0" sz="1900" spc="-375" b="1">
                <a:latin typeface="Trebuchet MS"/>
                <a:cs typeface="Trebuchet MS"/>
              </a:rPr>
              <a:t>The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u="sng" sz="1900" b="1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	</a:t>
            </a:r>
            <a:r>
              <a:rPr dirty="0" sz="1900" spc="-20" b="1">
                <a:latin typeface="Trebuchet MS"/>
                <a:cs typeface="Trebuchet MS"/>
              </a:rPr>
              <a:t>init</a:t>
            </a:r>
            <a:r>
              <a:rPr dirty="0" u="sng" sz="1900" b="1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	</a:t>
            </a:r>
            <a:r>
              <a:rPr dirty="0" sz="1900" spc="-295" b="1">
                <a:latin typeface="Trebuchet MS"/>
                <a:cs typeface="Trebuchet MS"/>
              </a:rPr>
              <a:t>Method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init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so-called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initializes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init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2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1797050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2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65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6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endParaRPr sz="850">
              <a:latin typeface="SimSun"/>
              <a:cs typeface="SimSun"/>
            </a:endParaRPr>
          </a:p>
          <a:p>
            <a:pPr marL="471170" marR="3038475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110">
                <a:latin typeface="Palatino Linotype"/>
                <a:cs typeface="Palatino Linotype"/>
              </a:rPr>
              <a:t>Now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instantiate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Time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invokes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u="sng" sz="1050" spc="16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36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along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arguments.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initialize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same </a:t>
            </a:r>
            <a:r>
              <a:rPr dirty="0" sz="1050" spc="-10">
                <a:latin typeface="Palatino Linotype"/>
                <a:cs typeface="Palatino Linotype"/>
              </a:rPr>
              <a:t>time: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4163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40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09:40:00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1707" y="7731125"/>
            <a:ext cx="164083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228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Methods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7442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095963"/>
            <a:ext cx="4572000" cy="397510"/>
            <a:chOff x="914400" y="2095963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09596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0975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808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102352"/>
            <a:ext cx="4572000" cy="397510"/>
            <a:chOff x="914400" y="3102352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10235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1039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78720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726383"/>
            <a:ext cx="4572000" cy="721360"/>
            <a:chOff x="914400" y="5726383"/>
            <a:chExt cx="4572000" cy="7213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72638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72797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901649" y="657564"/>
            <a:ext cx="4598035" cy="569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optional,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 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no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arguments,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00:00:00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argument,</a:t>
            </a:r>
            <a:r>
              <a:rPr dirty="0" sz="1050" spc="-20">
                <a:latin typeface="Palatino Linotype"/>
                <a:cs typeface="Palatino Linotype"/>
              </a:rPr>
              <a:t> it </a:t>
            </a:r>
            <a:r>
              <a:rPr dirty="0" sz="1050" spc="-55">
                <a:latin typeface="Palatino Linotype"/>
                <a:cs typeface="Palatino Linotype"/>
              </a:rPr>
              <a:t>overrides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hour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941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09:00:00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override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hour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minute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9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45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 spc="-10">
                <a:latin typeface="SimSun"/>
                <a:cs typeface="SimSun"/>
              </a:rPr>
              <a:t>09:45:00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override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When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class,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50">
                <a:latin typeface="Palatino Linotype"/>
                <a:cs typeface="Palatino Linotype"/>
              </a:rPr>
              <a:t>almost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always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writing </a:t>
            </a:r>
            <a:r>
              <a:rPr dirty="0" u="sng" sz="1050" spc="1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50" spc="1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2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50" spc="2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debugging.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0" b="1">
                <a:latin typeface="Trebuchet MS"/>
                <a:cs typeface="Trebuchet MS"/>
              </a:rPr>
              <a:t>Operator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Overloading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80"/>
              </a:spcBef>
            </a:pP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special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specify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behavior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operators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 </a:t>
            </a:r>
            <a:r>
              <a:rPr dirty="0" sz="1050" spc="-65">
                <a:latin typeface="Palatino Linotype"/>
                <a:cs typeface="Palatino Linotype"/>
              </a:rPr>
              <a:t>programme</a:t>
            </a:r>
            <a:r>
              <a:rPr dirty="0" sz="1050" spc="-65">
                <a:latin typeface="Palatino Linotype"/>
                <a:cs typeface="Palatino Linotype"/>
              </a:rPr>
              <a:t>r-</a:t>
            </a:r>
            <a:r>
              <a:rPr dirty="0" sz="1050" spc="-45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if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named </a:t>
            </a:r>
            <a:r>
              <a:rPr dirty="0" u="sng" sz="1050" spc="1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add</a:t>
            </a:r>
            <a:r>
              <a:rPr dirty="0" u="sng" sz="1000" spc="6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+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u="sng" sz="1050" spc="22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add</a:t>
            </a:r>
            <a:r>
              <a:rPr dirty="0" u="sng" sz="1000" spc="1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add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int_to_time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seconds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70638" y="7731125"/>
            <a:ext cx="12287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5" b="1">
                <a:latin typeface="Trebuchet MS"/>
                <a:cs typeface="Trebuchet MS"/>
              </a:rPr>
              <a:t>Operator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0" b="1">
                <a:latin typeface="Trebuchet MS"/>
                <a:cs typeface="Trebuchet MS"/>
              </a:rPr>
              <a:t>Overloading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30" b="1">
                <a:latin typeface="Trebuchet MS"/>
                <a:cs typeface="Trebuchet MS"/>
              </a:rPr>
              <a:t>229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505459"/>
            <a:chOff x="914400" y="92201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148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5251232"/>
            <a:ext cx="4572000" cy="1477010"/>
            <a:chOff x="914400" y="5251232"/>
            <a:chExt cx="4572000" cy="14770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251232"/>
              <a:ext cx="4572000" cy="1477010"/>
            </a:xfrm>
            <a:custGeom>
              <a:avLst/>
              <a:gdLst/>
              <a:ahLst/>
              <a:cxnLst/>
              <a:rect l="l" t="t" r="r" b="b"/>
              <a:pathLst>
                <a:path w="4572000" h="1477009">
                  <a:moveTo>
                    <a:pt x="4572000" y="1476692"/>
                  </a:moveTo>
                  <a:lnTo>
                    <a:pt x="0" y="14766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4766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2528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901641" y="650030"/>
            <a:ext cx="4598035" cy="5986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39370" marR="33623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11:12:00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happening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60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instantiate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72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7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invoked.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+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73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add</a:t>
            </a:r>
            <a:r>
              <a:rPr dirty="0" u="sng" sz="1000" spc="7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invoked.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7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7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invoked.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940"/>
              </a:spcBef>
            </a:pPr>
            <a:r>
              <a:rPr dirty="0" sz="1050" spc="-60">
                <a:latin typeface="Palatino Linotype"/>
                <a:cs typeface="Palatino Linotype"/>
              </a:rPr>
              <a:t>Changing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vior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programme</a:t>
            </a:r>
            <a:r>
              <a:rPr dirty="0" sz="1050" spc="-70">
                <a:latin typeface="Palatino Linotype"/>
                <a:cs typeface="Palatino Linotype"/>
              </a:rPr>
              <a:t>r</a:t>
            </a:r>
            <a:r>
              <a:rPr dirty="0" sz="1050" spc="-45">
                <a:latin typeface="Palatino Linotype"/>
                <a:cs typeface="Palatino Linotype"/>
              </a:rPr>
              <a:t>-defined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</a:t>
            </a:r>
            <a:r>
              <a:rPr dirty="0" sz="1050" spc="-60" b="1">
                <a:latin typeface="Palatino Linotype"/>
                <a:cs typeface="Palatino Linotype"/>
              </a:rPr>
              <a:t>p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20" b="1">
                <a:latin typeface="Palatino Linotype"/>
                <a:cs typeface="Palatino Linotype"/>
              </a:rPr>
              <a:t>r</a:t>
            </a:r>
            <a:r>
              <a:rPr dirty="0" sz="1050" spc="-20" b="1">
                <a:latin typeface="Palatino Linotype"/>
                <a:cs typeface="Palatino Linotype"/>
              </a:rPr>
              <a:t>a</a:t>
            </a:r>
            <a:r>
              <a:rPr dirty="0" sz="1050" spc="-30" b="1">
                <a:latin typeface="Palatino Linotype"/>
                <a:cs typeface="Palatino Linotype"/>
              </a:rPr>
              <a:t>t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15" b="1">
                <a:latin typeface="Palatino Linotype"/>
                <a:cs typeface="Palatino Linotype"/>
              </a:rPr>
              <a:t>r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o</a:t>
            </a:r>
            <a:r>
              <a:rPr dirty="0" sz="1050" spc="-105" b="1">
                <a:latin typeface="Palatino Linotype"/>
                <a:cs typeface="Palatino Linotype"/>
              </a:rPr>
              <a:t>v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25" b="1">
                <a:latin typeface="Palatino Linotype"/>
                <a:cs typeface="Palatino Linotype"/>
              </a:rPr>
              <a:t>r</a:t>
            </a:r>
            <a:r>
              <a:rPr dirty="0" sz="1050" spc="-15" b="1">
                <a:latin typeface="Palatino Linotype"/>
                <a:cs typeface="Palatino Linotype"/>
              </a:rPr>
              <a:t>l</a:t>
            </a:r>
            <a:r>
              <a:rPr dirty="0" sz="1050" spc="-30" b="1">
                <a:latin typeface="Palatino Linotype"/>
                <a:cs typeface="Palatino Linotype"/>
              </a:rPr>
              <a:t>o</a:t>
            </a:r>
            <a:r>
              <a:rPr dirty="0" sz="1050" spc="-45" b="1">
                <a:latin typeface="Palatino Linotype"/>
                <a:cs typeface="Palatino Linotype"/>
              </a:rPr>
              <a:t>adi</a:t>
            </a:r>
            <a:r>
              <a:rPr dirty="0" sz="1050" spc="-70" b="1">
                <a:latin typeface="Palatino Linotype"/>
                <a:cs typeface="Palatino Linotype"/>
              </a:rPr>
              <a:t>n</a:t>
            </a:r>
            <a:r>
              <a:rPr dirty="0" sz="1050" spc="-65" b="1">
                <a:latin typeface="Palatino Linotype"/>
                <a:cs typeface="Palatino Linotype"/>
              </a:rPr>
              <a:t>g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</a:t>
            </a:r>
            <a:r>
              <a:rPr dirty="0" sz="1050" spc="-2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+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correspond‐ </a:t>
            </a:r>
            <a:r>
              <a:rPr dirty="0" sz="1050" spc="-55">
                <a:latin typeface="Palatino Linotype"/>
                <a:cs typeface="Palatino Linotype"/>
              </a:rPr>
              <a:t>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add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valid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minute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second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60</a:t>
            </a:r>
            <a:r>
              <a:rPr dirty="0" sz="1050" spc="-55">
                <a:latin typeface="Palatino Linotype"/>
                <a:cs typeface="Palatino Linotype"/>
              </a:rPr>
              <a:t>— </a:t>
            </a:r>
            <a:r>
              <a:rPr dirty="0" sz="1050" spc="-50">
                <a:latin typeface="Palatino Linotype"/>
                <a:cs typeface="Palatino Linotype"/>
              </a:rPr>
              <a:t>including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60</a:t>
            </a:r>
            <a:r>
              <a:rPr dirty="0" sz="1050" spc="-70">
                <a:latin typeface="Palatino Linotype"/>
                <a:cs typeface="Palatino Linotype"/>
              </a:rPr>
              <a:t>—and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hour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positive.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</a:t>
            </a:r>
            <a:r>
              <a:rPr dirty="0" sz="1050" spc="-10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hour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minute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20">
                <a:latin typeface="Palatino Linotype"/>
                <a:cs typeface="Palatino Linotype"/>
              </a:rPr>
              <a:t>te‐ </a:t>
            </a:r>
            <a:r>
              <a:rPr dirty="0" sz="1050" spc="-60">
                <a:latin typeface="Palatino Linotype"/>
                <a:cs typeface="Palatino Linotype"/>
              </a:rPr>
              <a:t>ger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allow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second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fraction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i</a:t>
            </a:r>
            <a:r>
              <a:rPr dirty="0" sz="1050" spc="-80" b="1">
                <a:latin typeface="Palatino Linotype"/>
                <a:cs typeface="Palatino Linotype"/>
              </a:rPr>
              <a:t>n</a:t>
            </a:r>
            <a:r>
              <a:rPr dirty="0" sz="1050" spc="-40" b="1">
                <a:latin typeface="Palatino Linotype"/>
                <a:cs typeface="Palatino Linotype"/>
              </a:rPr>
              <a:t>vari</a:t>
            </a:r>
            <a:r>
              <a:rPr dirty="0" sz="1050" spc="-40" b="1">
                <a:latin typeface="Palatino Linotype"/>
                <a:cs typeface="Palatino Linotype"/>
              </a:rPr>
              <a:t>a</a:t>
            </a:r>
            <a:r>
              <a:rPr dirty="0" sz="1050" spc="-60" b="1">
                <a:latin typeface="Palatino Linotype"/>
                <a:cs typeface="Palatino Linotype"/>
              </a:rPr>
              <a:t>n</a:t>
            </a:r>
            <a:r>
              <a:rPr dirty="0" sz="1050" spc="-30" b="1">
                <a:latin typeface="Palatino Linotype"/>
                <a:cs typeface="Palatino Linotype"/>
              </a:rPr>
              <a:t>ts</a:t>
            </a:r>
            <a:r>
              <a:rPr dirty="0" sz="1050" spc="45" b="1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alw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put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true,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wrong.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540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40">
                <a:latin typeface="Palatino Linotype"/>
                <a:cs typeface="Palatino Linotype"/>
              </a:rPr>
              <a:t>riting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varia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detect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uses.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0">
                <a:latin typeface="Palatino Linotype"/>
                <a:cs typeface="Palatino Linotype"/>
              </a:rPr>
              <a:t>or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is_valid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Time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 </a:t>
            </a:r>
            <a:r>
              <a:rPr dirty="0" sz="1000" spc="-5">
                <a:latin typeface="SimSun"/>
                <a:cs typeface="SimSun"/>
              </a:rPr>
              <a:t>False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viol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varia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is_valid(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or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second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isinstance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hour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isinstance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int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3254375" indent="2159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False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1716" y="7731125"/>
            <a:ext cx="164083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230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Methods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2039"/>
            <a:ext cx="4572000" cy="829310"/>
            <a:chOff x="914400" y="1082039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2039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836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422353"/>
            <a:ext cx="4572000" cy="397510"/>
            <a:chOff x="914400" y="2422353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42235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42394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10720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184988"/>
            <a:ext cx="4572000" cy="289560"/>
            <a:chOff x="914400" y="3184988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18498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18657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7618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45" y="650030"/>
            <a:ext cx="4598035" cy="64357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Then,</a:t>
            </a:r>
            <a:r>
              <a:rPr dirty="0" sz="1050">
                <a:latin typeface="Palatino Linotype"/>
                <a:cs typeface="Palatino Linotype"/>
              </a:rPr>
              <a:t> at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check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sure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valid: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is_after(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136525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assert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is_valid</a:t>
            </a:r>
            <a:r>
              <a:rPr dirty="0" sz="850">
                <a:latin typeface="SimSun"/>
                <a:cs typeface="SimSun"/>
              </a:rPr>
              <a:t>(),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'self is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not a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valid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Time'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assert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is_valid</a:t>
            </a:r>
            <a:r>
              <a:rPr dirty="0" sz="850">
                <a:latin typeface="SimSun"/>
                <a:cs typeface="SimSun"/>
              </a:rPr>
              <a:t>(),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'self is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not a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valid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Time'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 indent="-635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assert</a:t>
            </a:r>
            <a:r>
              <a:rPr dirty="0" sz="1000" spc="-13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evaluates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follows.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True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nothing;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causes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AssertionError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0924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duration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minute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132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duration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00:132:00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is_after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duration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AssertionError: self is not a valid </a:t>
            </a:r>
            <a:r>
              <a:rPr dirty="0" sz="850" spc="-20">
                <a:latin typeface="SimSun"/>
                <a:cs typeface="SimSun"/>
              </a:rPr>
              <a:t>Time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assert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useful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distinguish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deals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normal </a:t>
            </a:r>
            <a:r>
              <a:rPr dirty="0" sz="1050" spc="-40">
                <a:latin typeface="Palatino Linotype"/>
                <a:cs typeface="Palatino Linotype"/>
              </a:rPr>
              <a:t>conditions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errors.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45" b="1">
                <a:latin typeface="Palatino Linotype"/>
                <a:cs typeface="Palatino Linotype"/>
              </a:rPr>
              <a:t>object-</a:t>
            </a:r>
            <a:r>
              <a:rPr dirty="0" sz="1050" spc="-25" b="1">
                <a:latin typeface="Palatino Linotype"/>
                <a:cs typeface="Palatino Linotype"/>
              </a:rPr>
              <a:t>oriented</a:t>
            </a:r>
            <a:r>
              <a:rPr dirty="0" sz="1050" spc="15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language:</a:t>
            </a:r>
            <a:r>
              <a:rPr dirty="0" sz="1050" spc="17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language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provides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features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support</a:t>
            </a:r>
            <a:r>
              <a:rPr dirty="0" sz="1050" spc="1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object- </a:t>
            </a:r>
            <a:r>
              <a:rPr dirty="0" sz="1050" spc="-50">
                <a:latin typeface="Palatino Linotype"/>
                <a:cs typeface="Palatino Linotype"/>
              </a:rPr>
              <a:t>oriented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notably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inheritance.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method: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invoked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instan‐ </a:t>
            </a:r>
            <a:r>
              <a:rPr dirty="0" sz="1050" spc="-50">
                <a:latin typeface="Palatino Linotype"/>
                <a:cs typeface="Palatino Linotype"/>
              </a:rPr>
              <a:t>ces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class.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receiver: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invoked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static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method: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invoked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receiver.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instance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method: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must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invoked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receiver.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special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method: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work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object.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operator </a:t>
            </a:r>
            <a:r>
              <a:rPr dirty="0" sz="1050" spc="-45" b="1">
                <a:latin typeface="Palatino Linotype"/>
                <a:cs typeface="Palatino Linotype"/>
              </a:rPr>
              <a:t>overloading: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change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oper‐ </a:t>
            </a:r>
            <a:r>
              <a:rPr dirty="0" sz="1050" spc="-50">
                <a:latin typeface="Palatino Linotype"/>
                <a:cs typeface="Palatino Linotype"/>
              </a:rPr>
              <a:t>ators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user-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types.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invariant: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always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true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execution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program.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9062" y="7731125"/>
            <a:ext cx="7302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231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563232"/>
            <a:ext cx="4572000" cy="397510"/>
            <a:chOff x="914400" y="3563232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56323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5648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7321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5"/>
              <a:t>Exercises</a:t>
            </a:r>
            <a:endParaRPr sz="1900"/>
          </a:p>
        </p:txBody>
      </p:sp>
      <p:sp>
        <p:nvSpPr>
          <p:cNvPr id="6" name="object 6" descr=""/>
          <p:cNvSpPr txBox="1"/>
          <p:nvPr/>
        </p:nvSpPr>
        <p:spPr>
          <a:xfrm>
            <a:off x="901628" y="909185"/>
            <a:ext cx="4598035" cy="649986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85">
                <a:latin typeface="Palatino Linotype"/>
                <a:cs typeface="Palatino Linotype"/>
              </a:rPr>
              <a:t>“What’s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90">
                <a:latin typeface="Palatino Linotype"/>
                <a:cs typeface="Palatino Linotype"/>
              </a:rPr>
              <a:t>“Why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static?”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98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probably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@staticmethod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50">
                <a:latin typeface="Palatino Linotype"/>
                <a:cs typeface="Palatino Linotype"/>
              </a:rPr>
              <a:t>decor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tor”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tic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method. </a:t>
            </a:r>
            <a:r>
              <a:rPr dirty="0" sz="1050" spc="-45">
                <a:latin typeface="Palatino Linotype"/>
                <a:cs typeface="Palatino Linotype"/>
              </a:rPr>
              <a:t>Decor</a:t>
            </a:r>
            <a:r>
              <a:rPr dirty="0" sz="1050" spc="-6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tors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covered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curious,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tion.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rewrote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several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gener‐ 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good</a:t>
            </a:r>
            <a:r>
              <a:rPr dirty="0" sz="1050">
                <a:latin typeface="Palatino Linotype"/>
                <a:cs typeface="Palatino Linotype"/>
              </a:rPr>
              <a:t> at this </a:t>
            </a:r>
            <a:r>
              <a:rPr dirty="0" sz="1050" spc="-10">
                <a:latin typeface="Palatino Linotype"/>
                <a:cs typeface="Palatino Linotype"/>
              </a:rPr>
              <a:t>kind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10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transformation.</a:t>
            </a:r>
            <a:r>
              <a:rPr dirty="0" sz="1050">
                <a:latin typeface="Palatino Linotype"/>
                <a:cs typeface="Palatino Linotype"/>
              </a:rPr>
              <a:t> As an </a:t>
            </a:r>
            <a:r>
              <a:rPr dirty="0" sz="1050" spc="-4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paste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sz="1050" spc="-45">
                <a:latin typeface="Palatino Linotype"/>
                <a:cs typeface="Palatino Linotype"/>
              </a:rPr>
              <a:t>following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“Rewrite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SimSun"/>
                <a:cs typeface="SimSun"/>
              </a:rPr>
              <a:t>Time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class.”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subtract_time(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2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t1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time_to_int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49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series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Date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several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>
                <a:latin typeface="Palatino Linotype"/>
                <a:cs typeface="Palatino Linotype"/>
              </a:rPr>
              <a:t>tions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work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Date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practice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rewriting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 </a:t>
            </a:r>
            <a:r>
              <a:rPr dirty="0" sz="1050" spc="-10">
                <a:latin typeface="Palatino Linotype"/>
                <a:cs typeface="Palatino Linotype"/>
              </a:rPr>
              <a:t>methods: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Date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date—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is,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year,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month,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month.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0000"/>
              </a:lnSpc>
              <a:spcBef>
                <a:spcPts val="455"/>
              </a:spcBef>
              <a:buAutoNum type="arabicPeriod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Write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u="sng" sz="1050" spc="54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68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takes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year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month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day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assigns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parameters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attributes.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Create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represents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June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22, </a:t>
            </a:r>
            <a:r>
              <a:rPr dirty="0" sz="1050" spc="-10">
                <a:latin typeface="Palatino Linotype"/>
                <a:cs typeface="Palatino Linotype"/>
              </a:rPr>
              <a:t>1933.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47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25">
                <a:latin typeface="Palatino Linotype"/>
                <a:cs typeface="Palatino Linotype"/>
              </a:rPr>
              <a:t>Write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u="sng" sz="1050" spc="5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66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format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format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result.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SimSun"/>
                <a:cs typeface="SimSun"/>
              </a:rPr>
              <a:t>Date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created,</a:t>
            </a:r>
            <a:r>
              <a:rPr dirty="0" sz="105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 </a:t>
            </a:r>
            <a:r>
              <a:rPr dirty="0" sz="1000" spc="-10">
                <a:latin typeface="SimSun"/>
                <a:cs typeface="SimSun"/>
              </a:rPr>
              <a:t>1933-06-</a:t>
            </a:r>
            <a:r>
              <a:rPr dirty="0" sz="1000" spc="-25">
                <a:latin typeface="SimSun"/>
                <a:cs typeface="SimSun"/>
              </a:rPr>
              <a:t>22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241300" marR="5080" indent="-161290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is_after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Date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True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after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September </a:t>
            </a:r>
            <a:r>
              <a:rPr dirty="0" sz="1050" spc="-25">
                <a:latin typeface="Palatino Linotype"/>
                <a:cs typeface="Palatino Linotype"/>
              </a:rPr>
              <a:t>17,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1933,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1000"/>
              </a:spcBef>
            </a:pPr>
            <a:r>
              <a:rPr dirty="0" sz="1050" spc="-30">
                <a:latin typeface="Palatino Linotype"/>
                <a:cs typeface="Palatino Linotype"/>
              </a:rPr>
              <a:t>Hint: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to_tuple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tuple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Date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year-</a:t>
            </a:r>
            <a:r>
              <a:rPr dirty="0" sz="1050" spc="-50">
                <a:latin typeface="Palatino Linotype"/>
                <a:cs typeface="Palatino Linotype"/>
              </a:rPr>
              <a:t>month-</a:t>
            </a:r>
            <a:r>
              <a:rPr dirty="0" sz="1050" spc="-85">
                <a:latin typeface="Palatino Linotype"/>
                <a:cs typeface="Palatino Linotype"/>
              </a:rPr>
              <a:t>day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1740" y="7731125"/>
            <a:ext cx="164083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232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15: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0" b="1">
                <a:latin typeface="Trebuchet MS"/>
                <a:cs typeface="Trebuchet MS"/>
              </a:rPr>
              <a:t>Methods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16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462554" y="1212513"/>
            <a:ext cx="203708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55"/>
              <a:t>Classes </a:t>
            </a:r>
            <a:r>
              <a:rPr dirty="0" spc="-370"/>
              <a:t>and</a:t>
            </a:r>
            <a:r>
              <a:rPr dirty="0" spc="-350"/>
              <a:t> </a:t>
            </a:r>
            <a:r>
              <a:rPr dirty="0" spc="-434"/>
              <a:t>Objects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901642" y="3044843"/>
            <a:ext cx="4598035" cy="3876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At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point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 </a:t>
            </a:r>
            <a:r>
              <a:rPr dirty="0" sz="1050" spc="-40">
                <a:latin typeface="Palatino Linotype"/>
                <a:cs typeface="Palatino Linotype"/>
              </a:rPr>
              <a:t>created</a:t>
            </a:r>
            <a:r>
              <a:rPr dirty="0" sz="1050" spc="-20">
                <a:latin typeface="Palatino Linotype"/>
                <a:cs typeface="Palatino Linotype"/>
              </a:rPr>
              <a:t> objects that </a:t>
            </a:r>
            <a:r>
              <a:rPr dirty="0" sz="1050" spc="-40">
                <a:latin typeface="Palatino Linotype"/>
                <a:cs typeface="Palatino Linotype"/>
              </a:rPr>
              <a:t>represent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5">
                <a:latin typeface="Palatino Linotype"/>
                <a:cs typeface="Palatino Linotype"/>
              </a:rPr>
              <a:t>day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day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year.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we’ve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modify,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per‐ </a:t>
            </a:r>
            <a:r>
              <a:rPr dirty="0" sz="1050" spc="-55">
                <a:latin typeface="Palatino Linotype"/>
                <a:cs typeface="Palatino Linotype"/>
              </a:rPr>
              <a:t>form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computations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1600"/>
              </a:lnSpc>
              <a:spcBef>
                <a:spcPts val="58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chapter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continue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tour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25">
                <a:latin typeface="Palatino Linotype"/>
                <a:cs typeface="Palatino Linotype"/>
              </a:rPr>
              <a:t>oriented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(OOP)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 </a:t>
            </a:r>
            <a:r>
              <a:rPr dirty="0" sz="1050" spc="-40">
                <a:latin typeface="Palatino Linotype"/>
                <a:cs typeface="Palatino Linotype"/>
              </a:rPr>
              <a:t>defining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represent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geometric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including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rectangles,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circles.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I’ll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OOP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topics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identity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equiva‐ </a:t>
            </a:r>
            <a:r>
              <a:rPr dirty="0" sz="1050" spc="-40">
                <a:latin typeface="Palatino Linotype"/>
                <a:cs typeface="Palatino Linotype"/>
              </a:rPr>
              <a:t>lence,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shallow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deep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copying,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polymorphism.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Creating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70" b="1">
                <a:latin typeface="Trebuchet MS"/>
                <a:cs typeface="Trebuchet MS"/>
              </a:rPr>
              <a:t>Point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3499"/>
              </a:lnSpc>
              <a:spcBef>
                <a:spcPts val="495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puter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phics,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screen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coordin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50" spc="20">
                <a:latin typeface="Palatino Linotype"/>
                <a:cs typeface="Palatino Linotype"/>
              </a:rPr>
              <a:t>-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plane.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ve</a:t>
            </a:r>
            <a:r>
              <a:rPr dirty="0" sz="1050" spc="-9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tion,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(0,</a:t>
            </a:r>
            <a:r>
              <a:rPr dirty="0" sz="1000" spc="8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0)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70">
                <a:latin typeface="Palatino Linotype"/>
                <a:cs typeface="Palatino Linotype"/>
              </a:rPr>
              <a:t>uppe</a:t>
            </a:r>
            <a:r>
              <a:rPr dirty="0" sz="1050" spc="-80">
                <a:latin typeface="Palatino Linotype"/>
                <a:cs typeface="Palatino Linotype"/>
              </a:rPr>
              <a:t>r</a:t>
            </a:r>
            <a:r>
              <a:rPr dirty="0" sz="1050" spc="-30">
                <a:latin typeface="Palatino Linotype"/>
                <a:cs typeface="Palatino Linotype"/>
              </a:rPr>
              <a:t>-left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corner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screen,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(x,</a:t>
            </a:r>
            <a:r>
              <a:rPr dirty="0" sz="1000" spc="80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y)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17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units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units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down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origin.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65">
                <a:latin typeface="Palatino Linotype"/>
                <a:cs typeface="Palatino Linotype"/>
              </a:rPr>
              <a:t>pared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Cartesian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coordin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system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y-axis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upside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down.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several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Python: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60"/>
              </a:spcBef>
              <a:buChar char="•"/>
              <a:tabLst>
                <a:tab pos="241935" algn="l"/>
              </a:tabLst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coordinates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separately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x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coordinates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tuple.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points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33835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233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1153160"/>
            <a:chOff x="914400" y="1089574"/>
            <a:chExt cx="4572000" cy="11531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997492"/>
            <a:ext cx="4572000" cy="397510"/>
            <a:chOff x="914400" y="2997492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99749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99907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68233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748716"/>
            <a:ext cx="4572000" cy="721360"/>
            <a:chOff x="914400" y="5748716"/>
            <a:chExt cx="4572000" cy="7213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748716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7503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901662" y="650030"/>
            <a:ext cx="4598035" cy="326009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40">
                <a:latin typeface="Palatino Linotype"/>
                <a:cs typeface="Palatino Linotype"/>
              </a:rPr>
              <a:t>oriented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90">
                <a:latin typeface="Palatino Linotype"/>
                <a:cs typeface="Palatino Linotype"/>
              </a:rPr>
              <a:t>would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idiomatic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Point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point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2-D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space."""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471170" marR="2984500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'Point(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,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)'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u="sng" sz="1050" spc="1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9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30">
                <a:latin typeface="Palatino Linotype"/>
                <a:cs typeface="Palatino Linotype"/>
              </a:rPr>
              <a:t>method</a:t>
            </a:r>
            <a:r>
              <a:rPr dirty="0" sz="1050" spc="1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takes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coordinates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parameters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assigns</a:t>
            </a:r>
            <a:r>
              <a:rPr dirty="0" sz="1050" spc="1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</a:t>
            </a:r>
            <a:r>
              <a:rPr dirty="0" sz="1050" spc="1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x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23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representation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instantiate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display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242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Point(0, </a:t>
            </a:r>
            <a:r>
              <a:rPr dirty="0" sz="850" spc="-25">
                <a:latin typeface="SimSun"/>
                <a:cs typeface="SimSun"/>
              </a:rPr>
              <a:t>0)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4087520"/>
            <a:ext cx="1128938" cy="555083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901652" y="4745378"/>
            <a:ext cx="4598035" cy="1981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As </a:t>
            </a:r>
            <a:r>
              <a:rPr dirty="0" sz="1050" spc="-45">
                <a:latin typeface="Palatino Linotype"/>
                <a:cs typeface="Palatino Linotype"/>
              </a:rPr>
              <a:t>usual,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programmer-</a:t>
            </a:r>
            <a:r>
              <a:rPr dirty="0" sz="1050" spc="-35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type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represented</a:t>
            </a:r>
            <a:r>
              <a:rPr dirty="0" sz="1050" spc="-10">
                <a:latin typeface="Palatino Linotype"/>
                <a:cs typeface="Palatino Linotype"/>
              </a:rPr>
              <a:t> 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75">
                <a:latin typeface="Palatino Linotype"/>
                <a:cs typeface="Palatino Linotype"/>
              </a:rPr>
              <a:t>type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outside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inside.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programme</a:t>
            </a:r>
            <a:r>
              <a:rPr dirty="0" sz="1050" spc="-70">
                <a:latin typeface="Palatino Linotype"/>
                <a:cs typeface="Palatino Linotype"/>
              </a:rPr>
              <a:t>r</a:t>
            </a:r>
            <a:r>
              <a:rPr dirty="0" sz="1050" spc="-50">
                <a:latin typeface="Palatino Linotype"/>
                <a:cs typeface="Palatino Linotype"/>
              </a:rPr>
              <a:t>-defined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0">
                <a:latin typeface="Palatino Linotype"/>
                <a:cs typeface="Palatino Linotype"/>
              </a:rPr>
              <a:t>utable,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 </a:t>
            </a:r>
            <a:r>
              <a:rPr dirty="0" sz="1000" spc="-5">
                <a:latin typeface="SimSun"/>
                <a:cs typeface="SimSun"/>
              </a:rPr>
              <a:t>translate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dx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8225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translate(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translates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location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plane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another.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1754" y="7731125"/>
            <a:ext cx="15862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234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721360"/>
            <a:chOff x="914400" y="108957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20982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19813"/>
            <a:ext cx="4572000" cy="829310"/>
            <a:chOff x="914400" y="2419813"/>
            <a:chExt cx="4572000" cy="8293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19813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2140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4163901"/>
            <a:ext cx="4572000" cy="397510"/>
            <a:chOff x="914400" y="4163901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416390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416548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8487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965315"/>
            <a:ext cx="4572000" cy="937260"/>
            <a:chOff x="914400" y="5965315"/>
            <a:chExt cx="4572000" cy="9372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965315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96690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901642" y="657564"/>
            <a:ext cx="4598035" cy="6153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existing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Point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copy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copy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original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copy: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copy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3623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end1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Point(300, </a:t>
            </a:r>
            <a:r>
              <a:rPr dirty="0" sz="850" spc="-25">
                <a:latin typeface="SimSun"/>
                <a:cs typeface="SimSun"/>
              </a:rPr>
              <a:t>0)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encapsulate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steps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translated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55270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translated(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built-in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sort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sorted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now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translate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Point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00" spc="-5">
                <a:latin typeface="SimSun"/>
                <a:cs typeface="SimSun"/>
              </a:rPr>
              <a:t>translated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8765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end2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150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Point(0, </a:t>
            </a:r>
            <a:r>
              <a:rPr dirty="0" sz="850" spc="-20">
                <a:latin typeface="SimSun"/>
                <a:cs typeface="SimSun"/>
              </a:rPr>
              <a:t>150)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next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points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line.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Creating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20" b="1">
                <a:latin typeface="Trebuchet MS"/>
                <a:cs typeface="Trebuchet MS"/>
              </a:rPr>
              <a:t>Line</a:t>
            </a:r>
            <a:endParaRPr sz="1900">
              <a:latin typeface="Trebuchet MS"/>
              <a:cs typeface="Trebuchet MS"/>
            </a:endParaRPr>
          </a:p>
          <a:p>
            <a:pPr algn="just" marL="12700" marR="6985" indent="-635">
              <a:lnSpc>
                <a:spcPct val="104700"/>
              </a:lnSpc>
              <a:spcBef>
                <a:spcPts val="480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segme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usual,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init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str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Line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876550" indent="-215900">
              <a:lnSpc>
                <a:spcPts val="850"/>
              </a:lnSpc>
              <a:spcBef>
                <a:spcPts val="85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'Line(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,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)'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20290" y="7731125"/>
            <a:ext cx="97916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Creating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70" b="1">
                <a:latin typeface="Trebuchet MS"/>
                <a:cs typeface="Trebuchet MS"/>
              </a:rPr>
              <a:t>Line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235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7442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901637" y="657564"/>
            <a:ext cx="4598035" cy="2753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762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ti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Line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rep‐ </a:t>
            </a:r>
            <a:r>
              <a:rPr dirty="0" sz="1050" spc="-45">
                <a:latin typeface="Palatino Linotype"/>
                <a:cs typeface="Palatino Linotype"/>
              </a:rPr>
              <a:t>rese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x-axis: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end1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Line(Point(0, 0), Point(300, </a:t>
            </a:r>
            <a:r>
              <a:rPr dirty="0" sz="850" spc="-25">
                <a:latin typeface="SimSun"/>
                <a:cs typeface="SimSun"/>
              </a:rPr>
              <a:t>0))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43815" indent="-635">
              <a:lnSpc>
                <a:spcPct val="104700"/>
              </a:lnSpc>
            </a:pPr>
            <a:r>
              <a:rPr dirty="0" sz="1050" spc="-30">
                <a:latin typeface="Palatino Linotype"/>
                <a:cs typeface="Palatino Linotype"/>
              </a:rPr>
              <a:t>When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print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line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print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invokes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u="sng" sz="1050" spc="15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8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.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2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50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f-</a:t>
            </a: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-30">
                <a:latin typeface="Palatino Linotype"/>
                <a:cs typeface="Palatino Linotype"/>
              </a:rPr>
              <a:t> contains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curly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braces,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self.p1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self.p2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When </a:t>
            </a:r>
            <a:r>
              <a:rPr dirty="0" sz="1050" spc="-25">
                <a:latin typeface="Palatino Linotype"/>
                <a:cs typeface="Palatino Linotype"/>
              </a:rPr>
              <a:t>those</a:t>
            </a:r>
            <a:r>
              <a:rPr dirty="0" sz="1050" spc="-45">
                <a:latin typeface="Palatino Linotype"/>
                <a:cs typeface="Palatino Linotype"/>
              </a:rPr>
              <a:t> expressions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evaluated,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results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objects.</a:t>
            </a:r>
            <a:r>
              <a:rPr dirty="0" sz="1050" spc="-10">
                <a:latin typeface="Palatino Linotype"/>
                <a:cs typeface="Palatino Linotype"/>
              </a:rPr>
              <a:t> Then,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55">
                <a:latin typeface="Palatino Linotype"/>
                <a:cs typeface="Palatino Linotype"/>
              </a:rPr>
              <a:t>converted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23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gets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invoked.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That’s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why,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display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Line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representations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3588616"/>
            <a:ext cx="1962905" cy="1544581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901669" y="5235972"/>
            <a:ext cx="4598035" cy="265811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representations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diagrams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35">
                <a:latin typeface="Palatino Linotype"/>
                <a:cs typeface="Palatino Linotype"/>
              </a:rPr>
              <a:t>this </a:t>
            </a:r>
            <a:r>
              <a:rPr dirty="0" sz="1050" spc="-70">
                <a:latin typeface="Palatino Linotype"/>
                <a:cs typeface="Palatino Linotype"/>
              </a:rPr>
              <a:t>example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graphics,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text!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jupyturtle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module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100">
                <a:latin typeface="Palatino Linotype"/>
                <a:cs typeface="Palatino Linotype"/>
              </a:rPr>
              <a:t>dr</a:t>
            </a:r>
            <a:r>
              <a:rPr dirty="0" sz="1050" spc="-100">
                <a:latin typeface="Palatino Linotype"/>
                <a:cs typeface="Palatino Linotype"/>
              </a:rPr>
              <a:t>aw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screen.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“The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jupyturtle</a:t>
            </a:r>
            <a:r>
              <a:rPr dirty="0" sz="1050" spc="1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Module”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on</a:t>
            </a:r>
            <a:r>
              <a:rPr dirty="0" sz="1050" spc="1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page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39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make_turtle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SimSun"/>
                <a:cs typeface="SimSun"/>
              </a:rPr>
              <a:t>Turtle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canvas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draw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lines,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new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module: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0">
                <a:latin typeface="SimSun"/>
                <a:cs typeface="SimSun"/>
              </a:rPr>
              <a:t>jumpto</a:t>
            </a:r>
            <a:endParaRPr sz="1000">
              <a:latin typeface="SimSun"/>
              <a:cs typeface="SimSun"/>
            </a:endParaRPr>
          </a:p>
          <a:p>
            <a:pPr marL="240665" marR="5080">
              <a:lnSpc>
                <a:spcPct val="100000"/>
              </a:lnSpc>
              <a:spcBef>
                <a:spcPts val="65"/>
              </a:spcBef>
            </a:pPr>
            <a:r>
              <a:rPr dirty="0" sz="1050" spc="-75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coordinates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moves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Turtle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location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without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draw‐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0">
                <a:latin typeface="SimSun"/>
                <a:cs typeface="SimSun"/>
              </a:rPr>
              <a:t>moveto</a:t>
            </a:r>
            <a:endParaRPr sz="1000">
              <a:latin typeface="SimSun"/>
              <a:cs typeface="SimSun"/>
            </a:endParaRPr>
          </a:p>
          <a:p>
            <a:pPr marL="241300" marR="5080" indent="-635">
              <a:lnSpc>
                <a:spcPct val="100000"/>
              </a:lnSpc>
              <a:spcBef>
                <a:spcPts val="70"/>
              </a:spcBef>
            </a:pPr>
            <a:r>
              <a:rPr dirty="0" sz="1050" spc="-55">
                <a:latin typeface="Palatino Linotype"/>
                <a:cs typeface="Palatino Linotype"/>
              </a:rPr>
              <a:t>Moves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Turtle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current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location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given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location,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draws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segment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236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555029"/>
            <a:ext cx="4572000" cy="721360"/>
            <a:chOff x="914400" y="1555029"/>
            <a:chExt cx="4572000" cy="7213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55502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5566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2612304"/>
            <a:ext cx="4572000" cy="397510"/>
            <a:chOff x="914400" y="2612304"/>
            <a:chExt cx="4572000" cy="3975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261230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26138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32971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3611159"/>
            <a:ext cx="4572000" cy="505459"/>
            <a:chOff x="914400" y="3611159"/>
            <a:chExt cx="4572000" cy="505459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361115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361274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14400" y="6743389"/>
            <a:ext cx="4572000" cy="397510"/>
            <a:chOff x="914400" y="6743389"/>
            <a:chExt cx="4572000" cy="397510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674338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67449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901663" y="650030"/>
            <a:ext cx="4585335" cy="3374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</a:t>
            </a:r>
            <a:r>
              <a:rPr dirty="0" sz="1050" spc="-10">
                <a:latin typeface="Palatino Linotype"/>
                <a:cs typeface="Palatino Linotype"/>
              </a:rPr>
              <a:t> them: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jupyturtle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jumpto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2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moveto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draws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5939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draw(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jumpto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moveto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it’s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y-</a:t>
            </a:r>
            <a:r>
              <a:rPr dirty="0" sz="1050" spc="-10">
                <a:latin typeface="Palatino Linotype"/>
                <a:cs typeface="Palatino Linotype"/>
              </a:rPr>
              <a:t>axis: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8770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end2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Line(Point(0, 0), Point(0, </a:t>
            </a:r>
            <a:r>
              <a:rPr dirty="0" sz="850" spc="-10">
                <a:latin typeface="SimSun"/>
                <a:cs typeface="SimSun"/>
              </a:rPr>
              <a:t>150))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axes: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354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4211552"/>
            <a:ext cx="2752353" cy="1374652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901643" y="5676374"/>
            <a:ext cx="4598035" cy="1372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draw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these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lines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again.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let’s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talk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equivalence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identity.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5" b="1">
                <a:latin typeface="Trebuchet MS"/>
                <a:cs typeface="Trebuchet MS"/>
              </a:rPr>
              <a:t>Equivalence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Identity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points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coordinates: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4702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50087" y="7731125"/>
            <a:ext cx="13493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Equivalence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85" b="1">
                <a:latin typeface="Trebuchet MS"/>
                <a:cs typeface="Trebuchet MS"/>
              </a:rPr>
              <a:t>Identity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14" b="1">
                <a:latin typeface="Trebuchet MS"/>
                <a:cs typeface="Trebuchet MS"/>
              </a:rPr>
              <a:t>237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57128"/>
            <a:ext cx="4572000" cy="289560"/>
            <a:chOff x="914400" y="125712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5712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587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340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23122"/>
            <a:ext cx="4572000" cy="613410"/>
            <a:chOff x="914400" y="2323122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23122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2470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615090"/>
            <a:ext cx="4572000" cy="289560"/>
            <a:chOff x="914400" y="3615090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61509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6166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19198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4513529"/>
            <a:ext cx="4572000" cy="289560"/>
            <a:chOff x="914400" y="4513529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51352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5151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50904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588" y="657564"/>
            <a:ext cx="4654550" cy="7236459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61594">
              <a:lnSpc>
                <a:spcPct val="102400"/>
              </a:lnSpc>
              <a:spcBef>
                <a:spcPts val="7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==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operator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compare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them,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get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default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behavior</a:t>
            </a:r>
            <a:r>
              <a:rPr dirty="0" sz="1050" spc="1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5">
                <a:latin typeface="Palatino Linotype"/>
                <a:cs typeface="Palatino Linotype"/>
              </a:rPr>
              <a:t>programmer-</a:t>
            </a:r>
            <a:r>
              <a:rPr dirty="0" sz="1050" spc="-50">
                <a:latin typeface="Palatino Linotype"/>
                <a:cs typeface="Palatino Linotype"/>
              </a:rPr>
              <a:t>defined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types—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</a:t>
            </a:r>
            <a:r>
              <a:rPr dirty="0" sz="1050" spc="-20">
                <a:latin typeface="Palatino Linotype"/>
                <a:cs typeface="Palatino Linotype"/>
              </a:rPr>
              <a:t> 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True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not:</a:t>
            </a:r>
            <a:endParaRPr sz="1050">
              <a:latin typeface="Palatino Linotype"/>
              <a:cs typeface="Palatino Linotype"/>
            </a:endParaRPr>
          </a:p>
          <a:p>
            <a:pPr marL="39370" marR="41751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p2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want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45">
                <a:latin typeface="Palatino Linotype"/>
                <a:cs typeface="Palatino Linotype"/>
              </a:rPr>
              <a:t>change</a:t>
            </a:r>
            <a:r>
              <a:rPr dirty="0" sz="1050" spc="-20">
                <a:latin typeface="Palatino Linotype"/>
                <a:cs typeface="Palatino Linotype"/>
              </a:rPr>
              <a:t> that </a:t>
            </a:r>
            <a:r>
              <a:rPr dirty="0" sz="1050" spc="-50">
                <a:latin typeface="Palatino Linotype"/>
                <a:cs typeface="Palatino Linotype"/>
              </a:rPr>
              <a:t>behavior,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 </a:t>
            </a:r>
            <a:r>
              <a:rPr dirty="0" sz="1050" spc="-50">
                <a:latin typeface="Palatino Linotype"/>
                <a:cs typeface="Palatino Linotype"/>
              </a:rPr>
              <a:t>provide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special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called </a:t>
            </a:r>
            <a:r>
              <a:rPr dirty="0" u="sng" sz="1050" spc="4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6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 spc="6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means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equal: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eq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61594" indent="-635">
              <a:lnSpc>
                <a:spcPct val="1047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definition</a:t>
            </a:r>
            <a:r>
              <a:rPr dirty="0" sz="1050" spc="-35">
                <a:latin typeface="Palatino Linotype"/>
                <a:cs typeface="Palatino Linotype"/>
              </a:rPr>
              <a:t> considers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Points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equal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equal.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Now </a:t>
            </a:r>
            <a:r>
              <a:rPr dirty="0" sz="1050" spc="-6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SimSun"/>
                <a:cs typeface="SimSun"/>
              </a:rPr>
              <a:t>==</a:t>
            </a:r>
            <a:r>
              <a:rPr dirty="0" sz="1000" spc="-5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invokes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u="sng" sz="10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8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40">
                <a:latin typeface="Palatino Linotype"/>
                <a:cs typeface="Palatino Linotype"/>
              </a:rPr>
              <a:t>method,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indicates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p1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p2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considered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equal:</a:t>
            </a:r>
            <a:endParaRPr sz="1050">
              <a:latin typeface="Palatino Linotype"/>
              <a:cs typeface="Palatino Linotype"/>
            </a:endParaRPr>
          </a:p>
          <a:p>
            <a:pPr marL="39370" marR="41751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p2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indicates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 marR="41751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p2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61594">
              <a:lnSpc>
                <a:spcPct val="101600"/>
              </a:lnSpc>
            </a:pPr>
            <a:r>
              <a:rPr dirty="0" sz="1050" spc="-80">
                <a:latin typeface="Palatino Linotype"/>
                <a:cs typeface="Palatino Linotype"/>
              </a:rPr>
              <a:t>It’s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override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SimSun"/>
                <a:cs typeface="SimSun"/>
              </a:rPr>
              <a:t>is</a:t>
            </a:r>
            <a:r>
              <a:rPr dirty="0" sz="1000" spc="-1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operator—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always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35" b="1">
                <a:latin typeface="Palatino Linotype"/>
                <a:cs typeface="Palatino Linotype"/>
              </a:rPr>
              <a:t>identical</a:t>
            </a:r>
            <a:r>
              <a:rPr dirty="0" sz="1050" spc="-35">
                <a:latin typeface="Palatino Linotype"/>
                <a:cs typeface="Palatino Linotype"/>
              </a:rPr>
              <a:t>. </a:t>
            </a: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65">
                <a:latin typeface="Palatino Linotype"/>
                <a:cs typeface="Palatino Linotype"/>
              </a:rPr>
              <a:t> programmer-</a:t>
            </a:r>
            <a:r>
              <a:rPr dirty="0" sz="1050" spc="-40">
                <a:latin typeface="Palatino Linotype"/>
                <a:cs typeface="Palatino Linotype"/>
              </a:rPr>
              <a:t>defined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types,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override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SimSun"/>
                <a:cs typeface="SimSun"/>
              </a:rPr>
              <a:t>==</a:t>
            </a:r>
            <a:r>
              <a:rPr dirty="0" sz="1000" spc="-5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>
                <a:latin typeface="Palatino Linotype"/>
                <a:cs typeface="Palatino Linotype"/>
              </a:rPr>
              <a:t> so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>
                <a:latin typeface="Palatino Linotype"/>
                <a:cs typeface="Palatino Linotype"/>
              </a:rPr>
              <a:t>checks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whether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 b="1">
                <a:latin typeface="Palatino Linotype"/>
                <a:cs typeface="Palatino Linotype"/>
              </a:rPr>
              <a:t>equivalent</a:t>
            </a:r>
            <a:r>
              <a:rPr dirty="0" sz="1050" spc="-35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equivalent </a:t>
            </a:r>
            <a:r>
              <a:rPr dirty="0" sz="1050" spc="-10">
                <a:latin typeface="Palatino Linotype"/>
                <a:cs typeface="Palatino Linotype"/>
              </a:rPr>
              <a:t>means.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85" b="1">
                <a:latin typeface="Trebuchet MS"/>
                <a:cs typeface="Trebuchet MS"/>
              </a:rPr>
              <a:t>Creating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265" b="1">
                <a:latin typeface="Trebuchet MS"/>
                <a:cs typeface="Trebuchet MS"/>
              </a:rPr>
              <a:t>a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Rectangle</a:t>
            </a:r>
            <a:endParaRPr sz="1900">
              <a:latin typeface="Trebuchet MS"/>
              <a:cs typeface="Trebuchet MS"/>
            </a:endParaRPr>
          </a:p>
          <a:p>
            <a:pPr algn="just" marL="12700" marR="61594">
              <a:lnSpc>
                <a:spcPct val="100000"/>
              </a:lnSpc>
              <a:spcBef>
                <a:spcPts val="535"/>
              </a:spcBef>
            </a:pPr>
            <a:r>
              <a:rPr dirty="0" sz="1050" spc="-105">
                <a:latin typeface="Palatino Linotype"/>
                <a:cs typeface="Palatino Linotype"/>
              </a:rPr>
              <a:t>Now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draws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rectangles.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keep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simple, </a:t>
            </a:r>
            <a:r>
              <a:rPr dirty="0" sz="1050" spc="-95">
                <a:latin typeface="Palatino Linotype"/>
                <a:cs typeface="Palatino Linotype"/>
              </a:rPr>
              <a:t>we’ll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assume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rectangles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vertical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horizontal,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angle.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What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specify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location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size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rectangle?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possibilities:</a:t>
            </a:r>
            <a:endParaRPr sz="1050">
              <a:latin typeface="Palatino Linotype"/>
              <a:cs typeface="Palatino Linotype"/>
            </a:endParaRPr>
          </a:p>
          <a:p>
            <a:pPr marL="241300" marR="61594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could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specify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width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height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40">
                <a:latin typeface="Palatino Linotype"/>
                <a:cs typeface="Palatino Linotype"/>
              </a:rPr>
              <a:t>rectangle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location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 </a:t>
            </a:r>
            <a:r>
              <a:rPr dirty="0" sz="1050" spc="-10">
                <a:latin typeface="Palatino Linotype"/>
                <a:cs typeface="Palatino Linotype"/>
              </a:rPr>
              <a:t>corner.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7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238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369060"/>
            <a:ext cx="4572000" cy="1477010"/>
            <a:chOff x="914400" y="1369060"/>
            <a:chExt cx="4572000" cy="14770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369060"/>
              <a:ext cx="4572000" cy="1477010"/>
            </a:xfrm>
            <a:custGeom>
              <a:avLst/>
              <a:gdLst/>
              <a:ahLst/>
              <a:cxnLst/>
              <a:rect l="l" t="t" r="r" b="b"/>
              <a:pathLst>
                <a:path w="4572000" h="1477010">
                  <a:moveTo>
                    <a:pt x="4572000" y="1476692"/>
                  </a:moveTo>
                  <a:lnTo>
                    <a:pt x="0" y="14766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4766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3706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524628"/>
            <a:ext cx="4572000" cy="505459"/>
            <a:chOff x="914400" y="3524628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52462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5262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31742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6305371"/>
            <a:ext cx="4572000" cy="1045210"/>
            <a:chOff x="914400" y="6305371"/>
            <a:chExt cx="4572000" cy="10452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305371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09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3069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901663" y="650030"/>
            <a:ext cx="4654550" cy="3895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118745">
              <a:lnSpc>
                <a:spcPct val="100000"/>
              </a:lnSpc>
              <a:spcBef>
                <a:spcPts val="100"/>
              </a:spcBef>
              <a:buChar char="•"/>
              <a:tabLst>
                <a:tab pos="241300" algn="l"/>
              </a:tabLst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specify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opposing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corners.</a:t>
            </a:r>
            <a:endParaRPr sz="1050">
              <a:latin typeface="Palatino Linotype"/>
              <a:cs typeface="Palatino Linotype"/>
            </a:endParaRPr>
          </a:p>
          <a:p>
            <a:pPr marL="12700" marR="61594">
              <a:lnSpc>
                <a:spcPct val="100000"/>
              </a:lnSpc>
              <a:spcBef>
                <a:spcPts val="1000"/>
              </a:spcBef>
            </a:pPr>
            <a:r>
              <a:rPr dirty="0" sz="1050" spc="-45">
                <a:latin typeface="Palatino Linotype"/>
                <a:cs typeface="Palatino Linotype"/>
              </a:rPr>
              <a:t>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hard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whether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better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other,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implement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definition: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Rectangle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rectangle.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2555875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attributes: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width,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height,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corner.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471170" marR="2124075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2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65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6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width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height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width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width</a:t>
            </a:r>
            <a:endParaRPr sz="850">
              <a:latin typeface="SimSun"/>
              <a:cs typeface="SimSun"/>
            </a:endParaRPr>
          </a:p>
          <a:p>
            <a:pPr marL="471170" marR="3095625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height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height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corner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'Rectangle(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width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,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height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,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)'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usual,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u="sng" sz="1050" spc="1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6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45">
                <a:latin typeface="Palatino Linotype"/>
                <a:cs typeface="Palatino Linotype"/>
              </a:rPr>
              <a:t>attributes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the </a:t>
            </a:r>
            <a:r>
              <a:rPr dirty="0" u="sng" sz="1050" spc="1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37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 spc="37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representation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Now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instantiate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location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upper-</a:t>
            </a:r>
            <a:r>
              <a:rPr dirty="0" sz="1050" spc="-35">
                <a:latin typeface="Palatino Linotype"/>
                <a:cs typeface="Palatino Linotype"/>
              </a:rPr>
              <a:t>left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corner: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corner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28257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Rectangle(100, 50, Point(30, </a:t>
            </a:r>
            <a:r>
              <a:rPr dirty="0" sz="850" spc="-20">
                <a:latin typeface="SimSun"/>
                <a:cs typeface="SimSun"/>
              </a:rPr>
              <a:t>20))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4722605"/>
            <a:ext cx="2271285" cy="1040446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901670" y="5873362"/>
            <a:ext cx="4597400" cy="1384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draw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rectangle,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we’ll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use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four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13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corners: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make_points(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endParaRPr sz="850">
              <a:latin typeface="SimSun"/>
              <a:cs typeface="SimSun"/>
            </a:endParaRPr>
          </a:p>
          <a:p>
            <a:pPr marL="471170" marR="22828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width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p3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height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p4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p3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width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p3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p4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303360" y="7731125"/>
            <a:ext cx="11963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Creating</a:t>
            </a:r>
            <a:r>
              <a:rPr dirty="0" sz="900" spc="-130" b="1">
                <a:latin typeface="Trebuchet MS"/>
                <a:cs typeface="Trebuchet MS"/>
              </a:rPr>
              <a:t> a </a:t>
            </a:r>
            <a:r>
              <a:rPr dirty="0" sz="900" spc="-105" b="1">
                <a:latin typeface="Trebuchet MS"/>
                <a:cs typeface="Trebuchet MS"/>
              </a:rPr>
              <a:t>Rectangle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30" b="1">
                <a:latin typeface="Trebuchet MS"/>
                <a:cs typeface="Trebuchet MS"/>
              </a:rPr>
              <a:t>239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721360"/>
            <a:chOff x="914400" y="92955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986829"/>
            <a:ext cx="4572000" cy="829310"/>
            <a:chOff x="914400" y="1986829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986829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9884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152054"/>
            <a:ext cx="4572000" cy="613410"/>
            <a:chOff x="914400" y="3152054"/>
            <a:chExt cx="4572000" cy="6134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15205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1536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901700" y="657564"/>
            <a:ext cx="4584700" cy="3015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sides: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make_lines(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p4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make_points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>
                <a:latin typeface="SimSun"/>
                <a:cs typeface="SimSun"/>
              </a:rPr>
              <a:t>),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p3</a:t>
            </a:r>
            <a:r>
              <a:rPr dirty="0" sz="850">
                <a:latin typeface="SimSun"/>
                <a:cs typeface="SimSun"/>
              </a:rPr>
              <a:t>),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p4</a:t>
            </a:r>
            <a:r>
              <a:rPr dirty="0" sz="850">
                <a:latin typeface="SimSun"/>
                <a:cs typeface="SimSun"/>
              </a:rPr>
              <a:t>),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p4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sides: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draw(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make_lines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687070" marR="31337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354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3860396"/>
            <a:ext cx="2752353" cy="1374652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901580" y="5259743"/>
            <a:ext cx="4598035" cy="1221105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15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figure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lines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axes.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Changing</a:t>
            </a:r>
            <a:r>
              <a:rPr dirty="0" sz="1900" spc="-240" b="1">
                <a:latin typeface="Trebuchet MS"/>
                <a:cs typeface="Trebuchet MS"/>
              </a:rPr>
              <a:t> </a:t>
            </a:r>
            <a:r>
              <a:rPr dirty="0" sz="1900" spc="-290" b="1">
                <a:latin typeface="Trebuchet MS"/>
                <a:cs typeface="Trebuchet MS"/>
              </a:rPr>
              <a:t>Rectangles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rectangles,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grow</a:t>
            </a:r>
            <a:r>
              <a:rPr dirty="0" sz="1000" spc="-13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translate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2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grow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expected,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translate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subtle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figure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explain.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1722" y="7731125"/>
            <a:ext cx="15862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240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721360"/>
            <a:chOff x="914400" y="1097108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29472"/>
            <a:ext cx="4572000" cy="505459"/>
            <a:chOff x="914400" y="2329472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2947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310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12226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443811"/>
            <a:ext cx="4572000" cy="721360"/>
            <a:chOff x="914400" y="3443811"/>
            <a:chExt cx="4572000" cy="7213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443811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44539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914400" y="6172003"/>
            <a:ext cx="4572000" cy="613410"/>
            <a:chOff x="914400" y="6172003"/>
            <a:chExt cx="4572000" cy="6134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172003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1735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01678" y="657564"/>
            <a:ext cx="4598035" cy="3415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imSun"/>
                <a:cs typeface="SimSun"/>
              </a:rPr>
              <a:t>grow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two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numbers,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dwidth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dheight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adds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width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height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rectangle: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26066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grow(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dwidth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dheight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width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dwidth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height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dheight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making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5">
                <a:latin typeface="Palatino Linotype"/>
                <a:cs typeface="Palatino Linotype"/>
              </a:rPr>
              <a:t>copy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00" spc="-10">
                <a:latin typeface="SimSun"/>
                <a:cs typeface="SimSun"/>
              </a:rPr>
              <a:t>box1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invok‐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grow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copy: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39370" marR="36322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grow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Rectangle(160, 90, Point(30, </a:t>
            </a:r>
            <a:r>
              <a:rPr dirty="0" sz="850" spc="-20">
                <a:latin typeface="SimSun"/>
                <a:cs typeface="SimSun"/>
              </a:rPr>
              <a:t>20))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box1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box2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grow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expected: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  <a:spcBef>
                <a:spcPts val="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4260103"/>
            <a:ext cx="2752353" cy="1374652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901634" y="5732460"/>
            <a:ext cx="4598035" cy="96075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translate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dx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moves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rec‐ </a:t>
            </a:r>
            <a:r>
              <a:rPr dirty="0" sz="1050" spc="-55">
                <a:latin typeface="Palatino Linotype"/>
                <a:cs typeface="Palatino Linotype"/>
              </a:rPr>
              <a:t>tangle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given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distances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x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y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directions: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5527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translate(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92604" y="7731125"/>
            <a:ext cx="12065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0" b="1">
                <a:latin typeface="Trebuchet MS"/>
                <a:cs typeface="Trebuchet MS"/>
              </a:rPr>
              <a:t>Changing </a:t>
            </a:r>
            <a:r>
              <a:rPr dirty="0" sz="900" spc="-105" b="1">
                <a:latin typeface="Trebuchet MS"/>
                <a:cs typeface="Trebuchet MS"/>
              </a:rPr>
              <a:t>Rectangles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241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144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35943"/>
            <a:ext cx="4572000" cy="721360"/>
            <a:chOff x="914400" y="1935943"/>
            <a:chExt cx="4572000" cy="7213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3594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375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5459161"/>
            <a:ext cx="4572000" cy="289560"/>
            <a:chOff x="914400" y="5459161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45916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46074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603605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6357600"/>
            <a:ext cx="4572000" cy="289560"/>
            <a:chOff x="914400" y="6357600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3576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35918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93449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75" y="657564"/>
            <a:ext cx="4585335" cy="19075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demonstrate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effect,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translate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box2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down: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496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Rectangle(160, 90, Point(60, </a:t>
            </a:r>
            <a:r>
              <a:rPr dirty="0" sz="850" spc="-20">
                <a:latin typeface="SimSun"/>
                <a:cs typeface="SimSun"/>
              </a:rPr>
              <a:t>40))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box1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box2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again: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354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752236"/>
            <a:ext cx="2752353" cy="1374652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901616" y="4217058"/>
            <a:ext cx="4598035" cy="2624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rectangles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moved,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intended!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next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section </a:t>
            </a:r>
            <a:r>
              <a:rPr dirty="0" sz="1050" spc="-55">
                <a:latin typeface="Palatino Linotype"/>
                <a:cs typeface="Palatino Linotype"/>
              </a:rPr>
              <a:t>explains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wrong.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40" b="1">
                <a:latin typeface="Trebuchet MS"/>
                <a:cs typeface="Trebuchet MS"/>
              </a:rPr>
              <a:t>Deep</a:t>
            </a:r>
            <a:r>
              <a:rPr dirty="0" sz="1900" spc="-270" b="1">
                <a:latin typeface="Trebuchet MS"/>
                <a:cs typeface="Trebuchet MS"/>
              </a:rPr>
              <a:t> </a:t>
            </a:r>
            <a:r>
              <a:rPr dirty="0" sz="1900" spc="-360" b="1">
                <a:latin typeface="Trebuchet MS"/>
                <a:cs typeface="Trebuchet MS"/>
              </a:rPr>
              <a:t>Copy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copy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box1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copies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box1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box2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intended: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box2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corner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object:</a:t>
            </a:r>
            <a:endParaRPr sz="1050">
              <a:latin typeface="Palatino Linotype"/>
              <a:cs typeface="Palatino Linotype"/>
            </a:endParaRPr>
          </a:p>
          <a:p>
            <a:pPr marL="39370" marR="3146425">
              <a:lnSpc>
                <a:spcPts val="2250"/>
              </a:lnSpc>
              <a:spcBef>
                <a:spcPts val="9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box1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1718" y="7731125"/>
            <a:ext cx="15862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242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4500179"/>
            <a:ext cx="4572000" cy="505459"/>
            <a:chOff x="914400" y="4500179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450017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450176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529297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5606984"/>
            <a:ext cx="4572000" cy="505459"/>
            <a:chOff x="914400" y="5606984"/>
            <a:chExt cx="4572000" cy="505459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5606984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56085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6455893"/>
            <a:ext cx="4572000" cy="289560"/>
            <a:chOff x="914400" y="6455893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4558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4574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703279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700" y="650030"/>
            <a:ext cx="29521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diagram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013193"/>
            <a:ext cx="2214972" cy="1802011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901644" y="2925513"/>
            <a:ext cx="4598035" cy="401383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algn="just" marL="12700" marR="5080">
              <a:lnSpc>
                <a:spcPct val="103099"/>
              </a:lnSpc>
              <a:spcBef>
                <a:spcPts val="60"/>
              </a:spcBef>
            </a:pPr>
            <a:r>
              <a:rPr dirty="0" sz="1050">
                <a:latin typeface="Palatino Linotype"/>
                <a:cs typeface="Palatino Linotype"/>
              </a:rPr>
              <a:t>What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copy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create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shallow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20" b="1">
                <a:latin typeface="Palatino Linotype"/>
                <a:cs typeface="Palatino Linotype"/>
              </a:rPr>
              <a:t>copy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because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copies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changing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width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height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one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Rectangle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does not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affect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changing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shared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Point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affects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both!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 </a:t>
            </a:r>
            <a:r>
              <a:rPr dirty="0" sz="1050" spc="-60">
                <a:latin typeface="Palatino Linotype"/>
                <a:cs typeface="Palatino Linotype"/>
              </a:rPr>
              <a:t>behavior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confusing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prone.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60">
                <a:latin typeface="Palatino Linotype"/>
                <a:cs typeface="Palatino Linotype"/>
              </a:rPr>
              <a:t>Fortunately,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copy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module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deepcopy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copies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they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</a:t>
            </a:r>
            <a:r>
              <a:rPr dirty="0" sz="1050" spc="-40">
                <a:latin typeface="Palatino Linotype"/>
                <a:cs typeface="Palatino Linotype"/>
              </a:rPr>
              <a:t>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 b="1">
                <a:latin typeface="Palatino Linotype"/>
                <a:cs typeface="Palatino Linotype"/>
              </a:rPr>
              <a:t>deep</a:t>
            </a:r>
            <a:r>
              <a:rPr dirty="0" sz="1050" spc="-20" b="1">
                <a:latin typeface="Palatino Linotype"/>
                <a:cs typeface="Palatino Linotype"/>
              </a:rPr>
              <a:t> copy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start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corner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27686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box3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Rectangle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Rectangle(100, 50, Point(20, </a:t>
            </a:r>
            <a:r>
              <a:rPr dirty="0" sz="850" spc="-20">
                <a:latin typeface="SimSun"/>
                <a:cs typeface="SimSun"/>
              </a:rPr>
              <a:t>20))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deep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copy:</a:t>
            </a:r>
            <a:endParaRPr sz="1050">
              <a:latin typeface="Palatino Linotype"/>
              <a:cs typeface="Palatino Linotype"/>
            </a:endParaRPr>
          </a:p>
          <a:p>
            <a:pPr marL="39370" marR="3200400">
              <a:lnSpc>
                <a:spcPct val="166700"/>
              </a:lnSpc>
              <a:spcBef>
                <a:spcPts val="53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copy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deepcopy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box4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deepcopy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 marR="3146425">
              <a:lnSpc>
                <a:spcPts val="22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box3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corner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box4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corner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88992" y="7731125"/>
            <a:ext cx="8102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70" b="1">
                <a:latin typeface="Trebuchet MS"/>
                <a:cs typeface="Trebuchet MS"/>
              </a:rPr>
              <a:t>Deep</a:t>
            </a:r>
            <a:r>
              <a:rPr dirty="0" sz="900" spc="-14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Copy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243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397510"/>
            <a:chOff x="914400" y="1097108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830533"/>
            <a:ext cx="4572000" cy="721360"/>
            <a:chOff x="914400" y="1830533"/>
            <a:chExt cx="4572000" cy="7213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83053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8321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5117531"/>
            <a:ext cx="4572000" cy="289560"/>
            <a:chOff x="914400" y="5117531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511753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511911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5918094"/>
            <a:ext cx="4572000" cy="613410"/>
            <a:chOff x="914400" y="5918094"/>
            <a:chExt cx="4572000" cy="6134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591809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591968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901662" y="657564"/>
            <a:ext cx="4598035" cy="18021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45">
                <a:latin typeface="Palatino Linotype"/>
                <a:cs typeface="Palatino Linotype"/>
              </a:rPr>
              <a:t>Because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box3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box4</a:t>
            </a:r>
            <a:r>
              <a:rPr dirty="0" sz="1000" spc="-17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completely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separate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without </a:t>
            </a:r>
            <a:r>
              <a:rPr dirty="0" sz="1050" spc="-50">
                <a:latin typeface="Palatino Linotype"/>
                <a:cs typeface="Palatino Linotype"/>
              </a:rPr>
              <a:t>affecting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other.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move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box3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grow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box4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box3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translate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50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box4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grow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effect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expected: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84810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box3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box4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2646825"/>
            <a:ext cx="2752353" cy="1374652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39" y="4016130"/>
            <a:ext cx="4598035" cy="2423160"/>
          </a:xfrm>
          <a:prstGeom prst="rect">
            <a:avLst/>
          </a:prstGeom>
        </p:spPr>
        <p:txBody>
          <a:bodyPr wrap="square" lIns="0" tIns="1485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70"/>
              </a:spcBef>
            </a:pPr>
            <a:r>
              <a:rPr dirty="0" sz="1900" spc="-305" b="1">
                <a:latin typeface="Trebuchet MS"/>
                <a:cs typeface="Trebuchet MS"/>
              </a:rPr>
              <a:t>Polymorphism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previous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invoked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draw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Line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two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concisely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making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shapes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box3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box4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draw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70">
                <a:latin typeface="Palatino Linotype"/>
                <a:cs typeface="Palatino Linotype"/>
              </a:rPr>
              <a:t>voke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draw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make_turtle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34702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shape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shapes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shape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draw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716" y="7731125"/>
            <a:ext cx="15862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244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391271"/>
            <a:ext cx="4572000" cy="613410"/>
            <a:chOff x="914400" y="6391271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391271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3928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685800"/>
            <a:ext cx="2752353" cy="137160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901634" y="2155108"/>
            <a:ext cx="4598035" cy="4757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second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through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loop,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shape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refers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when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draw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third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fourth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time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loop,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shape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refers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draw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sense,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each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object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knows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how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draw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itself.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feature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 b="1">
                <a:latin typeface="Palatino Linotype"/>
                <a:cs typeface="Palatino Linotype"/>
              </a:rPr>
              <a:t>polymor‐ </a:t>
            </a:r>
            <a:r>
              <a:rPr dirty="0" sz="1050" spc="-20" b="1">
                <a:latin typeface="Palatino Linotype"/>
                <a:cs typeface="Palatino Linotype"/>
              </a:rPr>
              <a:t>phism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comes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Greek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roots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mean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“many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shaped.”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object- </a:t>
            </a:r>
            <a:r>
              <a:rPr dirty="0" sz="1050" spc="-45">
                <a:latin typeface="Palatino Linotype"/>
                <a:cs typeface="Palatino Linotype"/>
              </a:rPr>
              <a:t>oriented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programming,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polymorphism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ability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provide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same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possible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perform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many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computations—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draw‐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shapes—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types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you’ll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class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45">
                <a:latin typeface="Palatino Linotype"/>
                <a:cs typeface="Palatino Linotype"/>
              </a:rPr>
              <a:t>represents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20">
                <a:latin typeface="Palatino Linotype"/>
                <a:cs typeface="Palatino Linotype"/>
              </a:rPr>
              <a:t>circle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draw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method.</a:t>
            </a:r>
            <a:r>
              <a:rPr dirty="0" sz="1050">
                <a:latin typeface="Palatino Linotype"/>
                <a:cs typeface="Palatino Linotype"/>
              </a:rPr>
              <a:t> Then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polymorphism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75">
                <a:latin typeface="Palatino Linotype"/>
                <a:cs typeface="Palatino Linotype"/>
              </a:rPr>
              <a:t>draw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lines, </a:t>
            </a:r>
            <a:r>
              <a:rPr dirty="0" sz="1050" spc="-55">
                <a:latin typeface="Palatino Linotype"/>
                <a:cs typeface="Palatino Linotype"/>
              </a:rPr>
              <a:t>rectangles,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circles.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1600"/>
              </a:lnSpc>
              <a:spcBef>
                <a:spcPts val="575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ran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subtle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 </a:t>
            </a:r>
            <a:r>
              <a:rPr dirty="0" sz="1050" spc="-35">
                <a:latin typeface="Palatino Linotype"/>
                <a:cs typeface="Palatino Linotype"/>
              </a:rPr>
              <a:t>that </a:t>
            </a:r>
            <a:r>
              <a:rPr dirty="0" sz="1050" spc="-95">
                <a:latin typeface="Palatino Linotype"/>
                <a:cs typeface="Palatino Linotype"/>
              </a:rPr>
              <a:t>was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shared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Rectangle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objects,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modified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Point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gen‐ </a:t>
            </a:r>
            <a:r>
              <a:rPr dirty="0" sz="1050" spc="-35">
                <a:latin typeface="Palatino Linotype"/>
                <a:cs typeface="Palatino Linotype"/>
              </a:rPr>
              <a:t>eral, </a:t>
            </a:r>
            <a:r>
              <a:rPr dirty="0" sz="1050" spc="-40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avoid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problems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this: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avoid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sharing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or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avoid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modifying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avoid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sharing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deep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copy,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did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chapter.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avoid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modifying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consider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replacing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modifiers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translate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pure </a:t>
            </a:r>
            <a:r>
              <a:rPr dirty="0" sz="1050" spc="-40">
                <a:latin typeface="Palatino Linotype"/>
                <a:cs typeface="Palatino Linotype"/>
              </a:rPr>
              <a:t>functions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like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translated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translated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never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modifies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attributes: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76860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translated(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dx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dy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666152" y="7731125"/>
            <a:ext cx="833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245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596" y="650030"/>
            <a:ext cx="4598035" cy="6678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void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65">
                <a:latin typeface="Palatino Linotype"/>
                <a:cs typeface="Palatino Linotype"/>
              </a:rPr>
              <a:t>ying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 </a:t>
            </a:r>
            <a:r>
              <a:rPr dirty="0" sz="1050" spc="-65">
                <a:latin typeface="Palatino Linotype"/>
                <a:cs typeface="Palatino Linotype"/>
              </a:rPr>
              <a:t>beyond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scope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curious,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</a:t>
            </a:r>
            <a:r>
              <a:rPr dirty="0" sz="1050" spc="-145">
                <a:latin typeface="Palatino Linotype"/>
                <a:cs typeface="Palatino Linotype"/>
              </a:rPr>
              <a:t>H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utable</a:t>
            </a:r>
            <a:r>
              <a:rPr dirty="0" sz="1050" spc="-40">
                <a:latin typeface="Palatino Linotype"/>
                <a:cs typeface="Palatino Linotype"/>
              </a:rPr>
              <a:t>?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modi</a:t>
            </a:r>
            <a:r>
              <a:rPr dirty="0" sz="1050" spc="-20">
                <a:latin typeface="Palatino Linotype"/>
                <a:cs typeface="Palatino Linotype"/>
              </a:rPr>
              <a:t>f</a:t>
            </a:r>
            <a:r>
              <a:rPr dirty="0" sz="1050" spc="-65">
                <a:latin typeface="Palatino Linotype"/>
                <a:cs typeface="Palatino Linotype"/>
              </a:rPr>
              <a:t>ying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existing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differ‐ </a:t>
            </a:r>
            <a:r>
              <a:rPr dirty="0" sz="1050" spc="-45">
                <a:latin typeface="Palatino Linotype"/>
                <a:cs typeface="Palatino Linotype"/>
              </a:rPr>
              <a:t>ence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seldom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tters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practice.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void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shared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modifiers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</a:t>
            </a:r>
            <a:r>
              <a:rPr dirty="0" sz="1050" spc="-114">
                <a:latin typeface="Palatino Linotype"/>
                <a:cs typeface="Palatino Linotype"/>
              </a:rPr>
              <a:t>p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test,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debug—and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best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</a:t>
            </a:r>
            <a:r>
              <a:rPr dirty="0" sz="1050" spc="-95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40" b="1">
                <a:latin typeface="Palatino Linotype"/>
                <a:cs typeface="Palatino Linotype"/>
              </a:rPr>
              <a:t>identical: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(which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implies</a:t>
            </a:r>
            <a:r>
              <a:rPr dirty="0" sz="1050" spc="-10">
                <a:latin typeface="Palatino Linotype"/>
                <a:cs typeface="Palatino Linotype"/>
              </a:rPr>
              <a:t> equivalence).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equivalent: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75" b="1">
                <a:latin typeface="Palatino Linotype"/>
                <a:cs typeface="Palatino Linotype"/>
              </a:rPr>
              <a:t>shallow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copy: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nested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75" b="1">
                <a:latin typeface="Palatino Linotype"/>
                <a:cs typeface="Palatino Linotype"/>
              </a:rPr>
              <a:t>deep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copy: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copies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nested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polymorphism: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ability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6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multiple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types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10">
                <a:latin typeface="Palatino Linotype"/>
                <a:cs typeface="Palatino Linotype"/>
              </a:rPr>
              <a:t>objects.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3099"/>
              </a:lnSpc>
              <a:spcBef>
                <a:spcPts val="425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all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consider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asking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help.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 </a:t>
            </a:r>
            <a:r>
              <a:rPr dirty="0" sz="1050" spc="-80">
                <a:latin typeface="Palatino Linotype"/>
                <a:cs typeface="Palatino Linotype"/>
              </a:rPr>
              <a:t>do,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want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include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prompt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SimSun"/>
                <a:cs typeface="SimSun"/>
              </a:rPr>
              <a:t>Rectangle</a:t>
            </a:r>
            <a:r>
              <a:rPr dirty="0" sz="1050" spc="-20">
                <a:latin typeface="Palatino Linotype"/>
                <a:cs typeface="Palatino Linotype"/>
              </a:rPr>
              <a:t>—</a:t>
            </a:r>
            <a:r>
              <a:rPr dirty="0" sz="1050" spc="-40">
                <a:latin typeface="Palatino Linotype"/>
                <a:cs typeface="Palatino Linotype"/>
              </a:rPr>
              <a:t>otherwise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assistant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5">
                <a:latin typeface="Palatino Linotype"/>
                <a:cs typeface="Palatino Linotype"/>
              </a:rPr>
              <a:t>guess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attributes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won’t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459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459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1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Line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True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Line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refer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equivalent,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59"/>
              </a:spcBef>
            </a:pP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Line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midpoint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midpoint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segment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464"/>
              </a:spcBef>
            </a:pP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Rectangle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midpoint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ce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rec‐ </a:t>
            </a:r>
            <a:r>
              <a:rPr dirty="0" sz="1050" spc="-55">
                <a:latin typeface="Palatino Linotype"/>
                <a:cs typeface="Palatino Linotype"/>
              </a:rPr>
              <a:t>tangle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Point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744" y="7731125"/>
            <a:ext cx="15862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246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16: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Classes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Objects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35" y="519390"/>
            <a:ext cx="4654550" cy="271335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Rectangle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make_cross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following:</a:t>
            </a:r>
            <a:endParaRPr sz="1050">
              <a:latin typeface="Palatino Linotype"/>
              <a:cs typeface="Palatino Linotype"/>
            </a:endParaRPr>
          </a:p>
          <a:p>
            <a:pPr marL="241300" marR="61594" indent="-161290">
              <a:lnSpc>
                <a:spcPct val="100000"/>
              </a:lnSpc>
              <a:spcBef>
                <a:spcPts val="1060"/>
              </a:spcBef>
              <a:buAutoNum type="arabicPeriod"/>
              <a:tabLst>
                <a:tab pos="241935" algn="l"/>
              </a:tabLst>
            </a:pP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make_lines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get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00" spc="-10">
                <a:latin typeface="SimSun"/>
                <a:cs typeface="SimSun"/>
              </a:rPr>
              <a:t>Line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rectangle.</a:t>
            </a:r>
            <a:endParaRPr sz="1050">
              <a:latin typeface="Palatino Linotype"/>
              <a:cs typeface="Palatino Linotype"/>
            </a:endParaRPr>
          </a:p>
          <a:p>
            <a:pPr marL="241300" indent="-161925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41935" algn="l"/>
              </a:tabLst>
            </a:pPr>
            <a:r>
              <a:rPr dirty="0" sz="1050" spc="-65">
                <a:latin typeface="Palatino Linotype"/>
                <a:cs typeface="Palatino Linotype"/>
              </a:rPr>
              <a:t>Computes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midpoints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lines.</a:t>
            </a:r>
            <a:endParaRPr sz="1050">
              <a:latin typeface="Palatino Linotype"/>
              <a:cs typeface="Palatino Linotype"/>
            </a:endParaRPr>
          </a:p>
          <a:p>
            <a:pPr marL="241300" marR="61594" indent="-161290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41935" algn="l"/>
              </a:tabLst>
            </a:pPr>
            <a:r>
              <a:rPr dirty="0" sz="1050" spc="-40">
                <a:latin typeface="Palatino Linotype"/>
                <a:cs typeface="Palatino Linotype"/>
              </a:rPr>
              <a:t>Makes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two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Line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represent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lines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connecting </a:t>
            </a:r>
            <a:r>
              <a:rPr dirty="0" sz="1050" spc="-55">
                <a:latin typeface="Palatino Linotype"/>
                <a:cs typeface="Palatino Linotype"/>
              </a:rPr>
              <a:t>opposite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midpoints,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forming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cross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middle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rectangle.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3099"/>
              </a:lnSpc>
              <a:spcBef>
                <a:spcPts val="484"/>
              </a:spcBef>
            </a:pP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Circle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center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radius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where </a:t>
            </a:r>
            <a:r>
              <a:rPr dirty="0" sz="1000" spc="-10">
                <a:latin typeface="SimSun"/>
                <a:cs typeface="SimSun"/>
              </a:rPr>
              <a:t>center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radius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Include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methods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u="sng" sz="1050" spc="1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31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 spc="31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u="sng" sz="1050" spc="2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50" spc="229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60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draw</a:t>
            </a:r>
            <a:r>
              <a:rPr dirty="0" sz="1000" spc="-229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jupyturtle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circle.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745067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247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17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2136140">
              <a:lnSpc>
                <a:spcPct val="100000"/>
              </a:lnSpc>
              <a:spcBef>
                <a:spcPts val="120"/>
              </a:spcBef>
            </a:pPr>
            <a:r>
              <a:rPr dirty="0" spc="-365"/>
              <a:t>Inheritance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901635" y="3044843"/>
            <a:ext cx="4598035" cy="35483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language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feature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most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often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associated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20">
                <a:latin typeface="Palatino Linotype"/>
                <a:cs typeface="Palatino Linotype"/>
              </a:rPr>
              <a:t>oriented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programming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40" b="1">
                <a:latin typeface="Palatino Linotype"/>
                <a:cs typeface="Palatino Linotype"/>
              </a:rPr>
              <a:t>inheritance</a:t>
            </a:r>
            <a:r>
              <a:rPr dirty="0" sz="1050" spc="-40">
                <a:latin typeface="Palatino Linotype"/>
                <a:cs typeface="Palatino Linotype"/>
              </a:rPr>
              <a:t>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Inheritance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ability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modified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version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chapter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inheritance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repre‐ sent </a:t>
            </a:r>
            <a:r>
              <a:rPr dirty="0" sz="1050" spc="-50">
                <a:latin typeface="Palatino Linotype"/>
                <a:cs typeface="Palatino Linotype"/>
              </a:rPr>
              <a:t>playing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cards,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decks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cards,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poker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hands.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play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poker,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don’t </a:t>
            </a:r>
            <a:r>
              <a:rPr dirty="0" sz="1050" spc="-75">
                <a:latin typeface="Palatino Linotype"/>
                <a:cs typeface="Palatino Linotype"/>
              </a:rPr>
              <a:t>worry—</a:t>
            </a:r>
            <a:r>
              <a:rPr dirty="0" sz="1050" spc="-35">
                <a:latin typeface="Palatino Linotype"/>
                <a:cs typeface="Palatino Linotype"/>
              </a:rPr>
              <a:t>I’ll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need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know.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Representing</a:t>
            </a:r>
            <a:r>
              <a:rPr dirty="0" sz="1900" spc="-250" b="1">
                <a:latin typeface="Trebuchet MS"/>
                <a:cs typeface="Trebuchet MS"/>
              </a:rPr>
              <a:t> </a:t>
            </a:r>
            <a:r>
              <a:rPr dirty="0" sz="1900" spc="-325" b="1">
                <a:latin typeface="Trebuchet MS"/>
                <a:cs typeface="Trebuchet MS"/>
              </a:rPr>
              <a:t>Cards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30">
                <a:latin typeface="Palatino Linotype"/>
                <a:cs typeface="Palatino Linotype"/>
              </a:rPr>
              <a:t> 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52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playing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standard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deck—</a:t>
            </a:r>
            <a:r>
              <a:rPr dirty="0" sz="1050" spc="-4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belongs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one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four </a:t>
            </a:r>
            <a:r>
              <a:rPr dirty="0" sz="1050" spc="-35">
                <a:latin typeface="Palatino Linotype"/>
                <a:cs typeface="Palatino Linotype"/>
              </a:rPr>
              <a:t>suits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thirteen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ranks.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suits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Spades,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Hearts,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Diamonds,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Clubs.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ranks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Ace,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2,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3,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4,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5,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6,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7,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8,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9,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10,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Jack,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Queen,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King.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Depending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game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playing,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higher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lower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2.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want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playing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card,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50">
                <a:latin typeface="Palatino Linotype"/>
                <a:cs typeface="Palatino Linotype"/>
              </a:rPr>
              <a:t>obvious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ttributes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be: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rank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suit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obvious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should </a:t>
            </a:r>
            <a:r>
              <a:rPr dirty="0" sz="1050">
                <a:latin typeface="Palatino Linotype"/>
                <a:cs typeface="Palatino Linotype"/>
              </a:rPr>
              <a:t>be.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possibility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strings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'Spade'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suits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'Queen'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ranks.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65">
                <a:latin typeface="Palatino Linotype"/>
                <a:cs typeface="Palatino Linotype"/>
              </a:rPr>
              <a:t>problem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implementation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would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easy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see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higher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rank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suit.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tegers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e</a:t>
            </a:r>
            <a:r>
              <a:rPr dirty="0" sz="1050" spc="-35" b="1">
                <a:latin typeface="Palatino Linotype"/>
                <a:cs typeface="Palatino Linotype"/>
              </a:rPr>
              <a:t>nc</a:t>
            </a:r>
            <a:r>
              <a:rPr dirty="0" sz="1050" spc="-25" b="1">
                <a:latin typeface="Palatino Linotype"/>
                <a:cs typeface="Palatino Linotype"/>
              </a:rPr>
              <a:t>o</a:t>
            </a:r>
            <a:r>
              <a:rPr dirty="0" sz="1050" spc="-65" b="1">
                <a:latin typeface="Palatino Linotype"/>
                <a:cs typeface="Palatino Linotype"/>
              </a:rPr>
              <a:t>d</a:t>
            </a:r>
            <a:r>
              <a:rPr dirty="0" sz="1050" spc="-70" b="1">
                <a:latin typeface="Palatino Linotype"/>
                <a:cs typeface="Palatino Linotype"/>
              </a:rPr>
              <a:t>e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suits.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text,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55">
                <a:latin typeface="Palatino Linotype"/>
                <a:cs typeface="Palatino Linotype"/>
              </a:rPr>
              <a:t>encod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suits,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 </a:t>
            </a:r>
            <a:r>
              <a:rPr dirty="0" sz="1050" spc="-65">
                <a:latin typeface="Palatino Linotype"/>
                <a:cs typeface="Palatino Linotype"/>
              </a:rPr>
              <a:t>between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ranks.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encoding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secret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(th</a:t>
            </a:r>
            <a:r>
              <a:rPr dirty="0" sz="1050" spc="-6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80">
                <a:latin typeface="Palatino Linotype"/>
                <a:cs typeface="Palatino Linotype"/>
              </a:rPr>
              <a:t>would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0">
                <a:latin typeface="Palatino Linotype"/>
                <a:cs typeface="Palatino Linotype"/>
              </a:rPr>
              <a:t>“</a:t>
            </a:r>
            <a:r>
              <a:rPr dirty="0" sz="1050" spc="-40">
                <a:latin typeface="Palatino Linotype"/>
                <a:cs typeface="Palatino Linotype"/>
              </a:rPr>
              <a:t>enc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50">
                <a:latin typeface="Palatino Linotype"/>
                <a:cs typeface="Palatino Linotype"/>
              </a:rPr>
              <a:t>yptio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”).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33775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249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899920"/>
            <a:ext cx="728980" cy="3175"/>
            <a:chOff x="914400" y="1899920"/>
            <a:chExt cx="728980" cy="3175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901507"/>
              <a:ext cx="446405" cy="0"/>
            </a:xfrm>
            <a:custGeom>
              <a:avLst/>
              <a:gdLst/>
              <a:ahLst/>
              <a:cxnLst/>
              <a:rect l="l" t="t" r="r" b="b"/>
              <a:pathLst>
                <a:path w="446405" h="0">
                  <a:moveTo>
                    <a:pt x="4457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357643" y="1901507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28553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510743"/>
            <a:ext cx="601980" cy="3175"/>
            <a:chOff x="914400" y="3510743"/>
            <a:chExt cx="601980" cy="3175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512330"/>
              <a:ext cx="318770" cy="0"/>
            </a:xfrm>
            <a:custGeom>
              <a:avLst/>
              <a:gdLst/>
              <a:ahLst/>
              <a:cxnLst/>
              <a:rect l="l" t="t" r="r" b="b"/>
              <a:pathLst>
                <a:path w="318769" h="0">
                  <a:moveTo>
                    <a:pt x="31845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30311" y="3512330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28553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5028943"/>
            <a:ext cx="4572000" cy="829310"/>
            <a:chOff x="914400" y="5028943"/>
            <a:chExt cx="4572000" cy="8293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5028943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50305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6933051"/>
            <a:ext cx="4572000" cy="289560"/>
            <a:chOff x="914400" y="6933051"/>
            <a:chExt cx="4572000" cy="28956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693305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693463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914400" y="75099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901700" y="650030"/>
            <a:ext cx="407035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codes: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4400" y="1004569"/>
            <a:ext cx="728980" cy="189230"/>
          </a:xfrm>
          <a:prstGeom prst="rect">
            <a:avLst/>
          </a:prstGeom>
          <a:solidFill>
            <a:srgbClr val="000000"/>
          </a:solidFill>
        </p:spPr>
        <p:txBody>
          <a:bodyPr wrap="square" lIns="0" tIns="1524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20"/>
              </a:spcBef>
              <a:tabLst>
                <a:tab pos="489584" algn="l"/>
              </a:tabLst>
            </a:pPr>
            <a:r>
              <a:rPr dirty="0" sz="900" spc="-20" b="1">
                <a:solidFill>
                  <a:srgbClr val="FFFFFF"/>
                </a:solidFill>
                <a:latin typeface="Calibri"/>
                <a:cs typeface="Calibri"/>
              </a:rPr>
              <a:t>Suit</a:t>
            </a:r>
            <a:r>
              <a:rPr dirty="0" sz="900" b="1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dirty="0" sz="900" spc="-25" b="1">
                <a:solidFill>
                  <a:srgbClr val="FFFFFF"/>
                </a:solidFill>
                <a:latin typeface="Calibri"/>
                <a:cs typeface="Calibri"/>
              </a:rPr>
              <a:t>Code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62" y="1144270"/>
            <a:ext cx="4598035" cy="147891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58419">
              <a:lnSpc>
                <a:spcPct val="100000"/>
              </a:lnSpc>
              <a:spcBef>
                <a:spcPts val="409"/>
              </a:spcBef>
              <a:tabLst>
                <a:tab pos="502284" algn="l"/>
              </a:tabLst>
            </a:pPr>
            <a:r>
              <a:rPr dirty="0" sz="900" spc="-10">
                <a:latin typeface="Trebuchet MS"/>
                <a:cs typeface="Trebuchet MS"/>
              </a:rPr>
              <a:t>Spades</a:t>
            </a:r>
            <a:r>
              <a:rPr dirty="0" sz="900">
                <a:latin typeface="Trebuchet MS"/>
                <a:cs typeface="Trebuchet MS"/>
              </a:rPr>
              <a:t>	</a:t>
            </a:r>
            <a:r>
              <a:rPr dirty="0" sz="900" spc="-50">
                <a:latin typeface="Trebuchet MS"/>
                <a:cs typeface="Trebuchet MS"/>
              </a:rPr>
              <a:t>3</a:t>
            </a:r>
            <a:endParaRPr sz="900">
              <a:latin typeface="Trebuchet MS"/>
              <a:cs typeface="Trebuchet MS"/>
            </a:endParaRPr>
          </a:p>
          <a:p>
            <a:pPr marL="58419">
              <a:lnSpc>
                <a:spcPct val="100000"/>
              </a:lnSpc>
              <a:spcBef>
                <a:spcPts val="309"/>
              </a:spcBef>
              <a:tabLst>
                <a:tab pos="502284" algn="l"/>
              </a:tabLst>
            </a:pPr>
            <a:r>
              <a:rPr dirty="0" sz="900" spc="-10">
                <a:latin typeface="Trebuchet MS"/>
                <a:cs typeface="Trebuchet MS"/>
              </a:rPr>
              <a:t>Hearts</a:t>
            </a:r>
            <a:r>
              <a:rPr dirty="0" sz="900">
                <a:latin typeface="Trebuchet MS"/>
                <a:cs typeface="Trebuchet MS"/>
              </a:rPr>
              <a:t>	</a:t>
            </a:r>
            <a:r>
              <a:rPr dirty="0" sz="900" spc="-50">
                <a:latin typeface="Trebuchet MS"/>
                <a:cs typeface="Trebuchet MS"/>
              </a:rPr>
              <a:t>2</a:t>
            </a:r>
            <a:endParaRPr sz="900">
              <a:latin typeface="Trebuchet MS"/>
              <a:cs typeface="Trebuchet MS"/>
            </a:endParaRPr>
          </a:p>
          <a:p>
            <a:pPr marL="58419">
              <a:lnSpc>
                <a:spcPct val="100000"/>
              </a:lnSpc>
              <a:spcBef>
                <a:spcPts val="309"/>
              </a:spcBef>
            </a:pPr>
            <a:r>
              <a:rPr dirty="0" sz="900" spc="-114">
                <a:latin typeface="Trebuchet MS"/>
                <a:cs typeface="Trebuchet MS"/>
              </a:rPr>
              <a:t>Diamonds</a:t>
            </a:r>
            <a:r>
              <a:rPr dirty="0" sz="900" spc="240">
                <a:latin typeface="Trebuchet MS"/>
                <a:cs typeface="Trebuchet MS"/>
              </a:rPr>
              <a:t> </a:t>
            </a:r>
            <a:r>
              <a:rPr dirty="0" sz="900" spc="-50">
                <a:latin typeface="Trebuchet MS"/>
                <a:cs typeface="Trebuchet MS"/>
              </a:rPr>
              <a:t>1</a:t>
            </a:r>
            <a:endParaRPr sz="900">
              <a:latin typeface="Trebuchet MS"/>
              <a:cs typeface="Trebuchet MS"/>
            </a:endParaRPr>
          </a:p>
          <a:p>
            <a:pPr marL="58419">
              <a:lnSpc>
                <a:spcPct val="100000"/>
              </a:lnSpc>
              <a:spcBef>
                <a:spcPts val="309"/>
              </a:spcBef>
              <a:tabLst>
                <a:tab pos="502284" algn="l"/>
              </a:tabLst>
            </a:pPr>
            <a:r>
              <a:rPr dirty="0" sz="900" spc="-10">
                <a:latin typeface="Trebuchet MS"/>
                <a:cs typeface="Trebuchet MS"/>
              </a:rPr>
              <a:t>Clubs</a:t>
            </a:r>
            <a:r>
              <a:rPr dirty="0" sz="900">
                <a:latin typeface="Trebuchet MS"/>
                <a:cs typeface="Trebuchet MS"/>
              </a:rPr>
              <a:t>	</a:t>
            </a:r>
            <a:r>
              <a:rPr dirty="0" sz="900" spc="-50">
                <a:latin typeface="Trebuchet MS"/>
                <a:cs typeface="Trebuchet MS"/>
              </a:rPr>
              <a:t>0</a:t>
            </a: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encoding,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comparing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codes.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ranks,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integer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2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rank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2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3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10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face</a:t>
            </a:r>
            <a:r>
              <a:rPr dirty="0" sz="1050" spc="-10">
                <a:latin typeface="Palatino Linotype"/>
                <a:cs typeface="Palatino Linotype"/>
              </a:rPr>
              <a:t> cards: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14400" y="2791923"/>
            <a:ext cx="601980" cy="189230"/>
          </a:xfrm>
          <a:prstGeom prst="rect">
            <a:avLst/>
          </a:prstGeom>
          <a:solidFill>
            <a:srgbClr val="000000"/>
          </a:solidFill>
        </p:spPr>
        <p:txBody>
          <a:bodyPr wrap="square" lIns="0" tIns="1524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20"/>
              </a:spcBef>
            </a:pPr>
            <a:r>
              <a:rPr dirty="0" sz="900" b="1">
                <a:solidFill>
                  <a:srgbClr val="FFFFFF"/>
                </a:solidFill>
                <a:latin typeface="Calibri"/>
                <a:cs typeface="Calibri"/>
              </a:rPr>
              <a:t>Rank</a:t>
            </a:r>
            <a:r>
              <a:rPr dirty="0" sz="900" spc="420" b="1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dirty="0" sz="900" spc="-20" b="1">
                <a:solidFill>
                  <a:srgbClr val="FFFFFF"/>
                </a:solidFill>
                <a:latin typeface="Calibri"/>
                <a:cs typeface="Calibri"/>
              </a:rPr>
              <a:t>Code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1639" y="2931623"/>
            <a:ext cx="4598035" cy="496252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58419">
              <a:lnSpc>
                <a:spcPct val="100000"/>
              </a:lnSpc>
              <a:spcBef>
                <a:spcPts val="409"/>
              </a:spcBef>
              <a:tabLst>
                <a:tab pos="375285" algn="l"/>
              </a:tabLst>
            </a:pPr>
            <a:r>
              <a:rPr dirty="0" sz="900" spc="-20">
                <a:latin typeface="Trebuchet MS"/>
                <a:cs typeface="Trebuchet MS"/>
              </a:rPr>
              <a:t>Jack</a:t>
            </a:r>
            <a:r>
              <a:rPr dirty="0" sz="900">
                <a:latin typeface="Trebuchet MS"/>
                <a:cs typeface="Trebuchet MS"/>
              </a:rPr>
              <a:t>	</a:t>
            </a:r>
            <a:r>
              <a:rPr dirty="0" sz="900" spc="-25">
                <a:latin typeface="Trebuchet MS"/>
                <a:cs typeface="Trebuchet MS"/>
              </a:rPr>
              <a:t>11</a:t>
            </a:r>
            <a:endParaRPr sz="900">
              <a:latin typeface="Trebuchet MS"/>
              <a:cs typeface="Trebuchet MS"/>
            </a:endParaRPr>
          </a:p>
          <a:p>
            <a:pPr marL="58419">
              <a:lnSpc>
                <a:spcPct val="100000"/>
              </a:lnSpc>
              <a:spcBef>
                <a:spcPts val="309"/>
              </a:spcBef>
            </a:pPr>
            <a:r>
              <a:rPr dirty="0" sz="900" spc="-114">
                <a:latin typeface="Trebuchet MS"/>
                <a:cs typeface="Trebuchet MS"/>
              </a:rPr>
              <a:t>Queen</a:t>
            </a:r>
            <a:r>
              <a:rPr dirty="0" sz="900" spc="220">
                <a:latin typeface="Trebuchet MS"/>
                <a:cs typeface="Trebuchet MS"/>
              </a:rPr>
              <a:t> </a:t>
            </a:r>
            <a:r>
              <a:rPr dirty="0" sz="900" spc="-35">
                <a:latin typeface="Trebuchet MS"/>
                <a:cs typeface="Trebuchet MS"/>
              </a:rPr>
              <a:t>12</a:t>
            </a:r>
            <a:endParaRPr sz="900">
              <a:latin typeface="Trebuchet MS"/>
              <a:cs typeface="Trebuchet MS"/>
            </a:endParaRPr>
          </a:p>
          <a:p>
            <a:pPr marL="58419">
              <a:lnSpc>
                <a:spcPct val="100000"/>
              </a:lnSpc>
              <a:spcBef>
                <a:spcPts val="310"/>
              </a:spcBef>
              <a:tabLst>
                <a:tab pos="375285" algn="l"/>
              </a:tabLst>
            </a:pPr>
            <a:r>
              <a:rPr dirty="0" sz="900" spc="-20">
                <a:latin typeface="Trebuchet MS"/>
                <a:cs typeface="Trebuchet MS"/>
              </a:rPr>
              <a:t>King</a:t>
            </a:r>
            <a:r>
              <a:rPr dirty="0" sz="900">
                <a:latin typeface="Trebuchet MS"/>
                <a:cs typeface="Trebuchet MS"/>
              </a:rPr>
              <a:t>	</a:t>
            </a:r>
            <a:r>
              <a:rPr dirty="0" sz="900" spc="-25">
                <a:latin typeface="Trebuchet MS"/>
                <a:cs typeface="Trebuchet MS"/>
              </a:rPr>
              <a:t>13</a:t>
            </a: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14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ce,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depending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considered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lower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higher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encodings,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names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ranks.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5">
                <a:latin typeface="Palatino Linotype"/>
                <a:cs typeface="Palatino Linotype"/>
              </a:rPr>
              <a:t>Here’s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playing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card,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strings </a:t>
            </a: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class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variables</a:t>
            </a:r>
            <a:r>
              <a:rPr dirty="0" sz="1050" spc="-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inside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Card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standard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playing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card."""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131127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suit_names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'Clubs'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'Diamonds'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'Hearts'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'Spades'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rank_names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50">
                <a:latin typeface="SimSun"/>
                <a:cs typeface="SimSun"/>
              </a:rPr>
              <a:t>[</a:t>
            </a:r>
            <a:r>
              <a:rPr dirty="0" sz="850" spc="-5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'Ace'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'2'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'3'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'4'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'5'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'6'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7E0610"/>
                </a:solidFill>
                <a:latin typeface="SimSun"/>
                <a:cs typeface="SimSun"/>
              </a:rPr>
              <a:t>'7'</a:t>
            </a:r>
            <a:r>
              <a:rPr dirty="0" sz="850" spc="-20">
                <a:latin typeface="SimSun"/>
                <a:cs typeface="SimSun"/>
              </a:rPr>
              <a:t>,</a:t>
            </a:r>
            <a:endParaRPr sz="850">
              <a:latin typeface="SimSun"/>
              <a:cs typeface="SimSun"/>
            </a:endParaRPr>
          </a:p>
          <a:p>
            <a:pPr marL="1010919">
              <a:lnSpc>
                <a:spcPts val="850"/>
              </a:lnSpc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'8'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'9'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'10'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'Jack'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'Queen'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'King'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'Ace'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45">
                <a:latin typeface="Palatino Linotype"/>
                <a:cs typeface="Palatino Linotype"/>
              </a:rPr>
              <a:t> element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rank_names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None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 </a:t>
            </a:r>
            <a:r>
              <a:rPr dirty="0" sz="1050" spc="-30">
                <a:latin typeface="Palatino Linotype"/>
                <a:cs typeface="Palatino Linotype"/>
              </a:rPr>
              <a:t>card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rank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zero.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By </a:t>
            </a:r>
            <a:r>
              <a:rPr dirty="0" sz="1050" spc="-45">
                <a:latin typeface="Palatino Linotype"/>
                <a:cs typeface="Palatino Linotype"/>
              </a:rPr>
              <a:t>including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None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place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property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2 </a:t>
            </a:r>
            <a:r>
              <a:rPr dirty="0" sz="1050" spc="-85">
                <a:latin typeface="Palatino Linotype"/>
                <a:cs typeface="Palatino Linotype"/>
              </a:rPr>
              <a:t>maps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'2'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associated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rather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suit_names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['Clubs', 'Diamonds', 'Hearts', </a:t>
            </a:r>
            <a:r>
              <a:rPr dirty="0" sz="850" spc="-10">
                <a:latin typeface="SimSun"/>
                <a:cs typeface="SimSun"/>
              </a:rPr>
              <a:t>'Spades']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900" spc="-65" b="1">
                <a:latin typeface="Trebuchet MS"/>
                <a:cs typeface="Trebuchet MS"/>
              </a:rPr>
              <a:t>250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4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27993"/>
            <a:ext cx="4572000" cy="289560"/>
            <a:chOff x="914400" y="182799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279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295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4048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85238"/>
            <a:ext cx="4572000" cy="721360"/>
            <a:chOff x="914400" y="3285238"/>
            <a:chExt cx="4572000" cy="7213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85238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868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4350047"/>
            <a:ext cx="4572000" cy="289560"/>
            <a:chOff x="914400" y="435004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435004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43516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4975522"/>
            <a:ext cx="4572000" cy="289560"/>
            <a:chOff x="914400" y="4975522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497552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497710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555241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914400" y="5866427"/>
            <a:ext cx="4572000" cy="289560"/>
            <a:chOff x="914400" y="5866427"/>
            <a:chExt cx="4572000" cy="28956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586642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586801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914400" y="644332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901640" y="657564"/>
            <a:ext cx="4598035" cy="6013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suit_names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corresponding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string:</a:t>
            </a:r>
            <a:endParaRPr sz="1050">
              <a:latin typeface="Palatino Linotype"/>
              <a:cs typeface="Palatino Linotype"/>
            </a:endParaRPr>
          </a:p>
          <a:p>
            <a:pPr marL="39370" marR="357822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suit_names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10">
                <a:latin typeface="SimSun"/>
                <a:cs typeface="SimSun"/>
              </a:rPr>
              <a:t>] 'Clubs'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rank_names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rank:</a:t>
            </a:r>
            <a:endParaRPr sz="1050">
              <a:latin typeface="Palatino Linotype"/>
              <a:cs typeface="Palatino Linotype"/>
            </a:endParaRPr>
          </a:p>
          <a:p>
            <a:pPr marL="39370" marR="3524250">
              <a:lnSpc>
                <a:spcPts val="2250"/>
              </a:lnSpc>
              <a:spcBef>
                <a:spcPts val="26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rank_names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11</a:t>
            </a:r>
            <a:r>
              <a:rPr dirty="0" sz="850" spc="-10">
                <a:latin typeface="SimSun"/>
                <a:cs typeface="SimSun"/>
              </a:rPr>
              <a:t>] 'Jack'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900" spc="-330" b="1">
                <a:latin typeface="Trebuchet MS"/>
                <a:cs typeface="Trebuchet MS"/>
              </a:rPr>
              <a:t>Card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80" b="1">
                <a:latin typeface="Trebuchet MS"/>
                <a:cs typeface="Trebuchet MS"/>
              </a:rPr>
              <a:t>Attributes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u="sng" sz="105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10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Card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class—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suit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rank</a:t>
            </a:r>
            <a:r>
              <a:rPr dirty="0" sz="1000" spc="-204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parameters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names: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660650" indent="-215900">
              <a:lnSpc>
                <a:spcPts val="850"/>
              </a:lnSpc>
              <a:spcBef>
                <a:spcPts val="5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Card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attributes:</a:t>
            </a:r>
            <a:endParaRPr sz="1050">
              <a:latin typeface="Palatino Linotype"/>
              <a:cs typeface="Palatino Linotype"/>
            </a:endParaRPr>
          </a:p>
          <a:p>
            <a:pPr marL="39370" marR="33623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 </a:t>
            </a: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12)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legal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variables: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suit_names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['Clubs', 'Diamonds', 'Hearts', </a:t>
            </a:r>
            <a:r>
              <a:rPr dirty="0" sz="850" spc="-10">
                <a:latin typeface="SimSun"/>
                <a:cs typeface="SimSun"/>
              </a:rPr>
              <a:t>'Spades']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clearer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attributes.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12391" y="7731125"/>
            <a:ext cx="986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5" b="1">
                <a:latin typeface="Trebuchet MS"/>
                <a:cs typeface="Trebuchet MS"/>
              </a:rPr>
              <a:t>Card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Attributes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30" b="1">
                <a:latin typeface="Trebuchet MS"/>
                <a:cs typeface="Trebuchet MS"/>
              </a:rPr>
              <a:t>251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3549"/>
            <a:ext cx="4572000" cy="829310"/>
            <a:chOff x="914400" y="1243549"/>
            <a:chExt cx="4572000" cy="8293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3549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51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576328"/>
            <a:ext cx="4572000" cy="289560"/>
            <a:chOff x="914400" y="2576328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57632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57791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15322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6648748"/>
            <a:ext cx="4572000" cy="397510"/>
            <a:chOff x="914400" y="6648748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664874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66503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73335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14046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54"/>
              <a:t>Printing</a:t>
            </a:r>
            <a:r>
              <a:rPr dirty="0" sz="1900" spc="-200"/>
              <a:t> </a:t>
            </a:r>
            <a:r>
              <a:rPr dirty="0" sz="1900" spc="-325"/>
              <a:t>Cards</a:t>
            </a:r>
            <a:endParaRPr sz="1900"/>
          </a:p>
        </p:txBody>
      </p:sp>
      <p:sp>
        <p:nvSpPr>
          <p:cNvPr id="14" name="object 14" descr=""/>
          <p:cNvSpPr txBox="1"/>
          <p:nvPr/>
        </p:nvSpPr>
        <p:spPr>
          <a:xfrm>
            <a:off x="901643" y="971559"/>
            <a:ext cx="4598035" cy="2752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u="sng" sz="1050" spc="2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1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Card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just" marL="471170" marR="206692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rank_names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suit_name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suit_names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5">
                <a:solidFill>
                  <a:srgbClr val="AA000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of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suit_name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When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print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u="sng" sz="1050" spc="5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7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30">
                <a:latin typeface="Palatino Linotype"/>
                <a:cs typeface="Palatino Linotype"/>
              </a:rPr>
              <a:t>method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get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human-</a:t>
            </a:r>
            <a:r>
              <a:rPr dirty="0" sz="1050" spc="-40">
                <a:latin typeface="Palatino Linotype"/>
                <a:cs typeface="Palatino Linotype"/>
              </a:rPr>
              <a:t>readable </a:t>
            </a:r>
            <a:r>
              <a:rPr dirty="0" sz="1050" spc="-50">
                <a:latin typeface="Palatino Linotype"/>
                <a:cs typeface="Palatino Linotype"/>
              </a:rPr>
              <a:t>representation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card: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Queen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diagram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Card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class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Card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instance.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Card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30">
                <a:latin typeface="Palatino Linotype"/>
                <a:cs typeface="Palatino Linotype"/>
              </a:rPr>
              <a:t>class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type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type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queen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instance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type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85">
                <a:latin typeface="Palatino Linotype"/>
                <a:cs typeface="Palatino Linotype"/>
              </a:rPr>
              <a:t>save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space,</a:t>
            </a:r>
            <a:r>
              <a:rPr dirty="0" sz="1050">
                <a:latin typeface="Palatino Linotype"/>
                <a:cs typeface="Palatino Linotype"/>
              </a:rPr>
              <a:t> 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didn’t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draw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suit_names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rank_names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3898367"/>
            <a:ext cx="1692067" cy="1557988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901613" y="5566665"/>
            <a:ext cx="4598035" cy="1673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Card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instance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own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suit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rank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Card</a:t>
            </a: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copy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suit_names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rank_names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95" b="1">
                <a:latin typeface="Trebuchet MS"/>
                <a:cs typeface="Trebuchet MS"/>
              </a:rPr>
              <a:t>Comparing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25" b="1">
                <a:latin typeface="Trebuchet MS"/>
                <a:cs typeface="Trebuchet MS"/>
              </a:rPr>
              <a:t>Cards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95"/>
              </a:spcBef>
            </a:pP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Card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rank: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47027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Queen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714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252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289560"/>
            <a:chOff x="914400" y="108957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6647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155568"/>
            <a:ext cx="4572000" cy="613410"/>
            <a:chOff x="914400" y="2155568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15556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15715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0563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941651"/>
            <a:ext cx="4572000" cy="289560"/>
            <a:chOff x="914400" y="3941651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94165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94323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5185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832556"/>
            <a:ext cx="4572000" cy="397510"/>
            <a:chOff x="914400" y="4832556"/>
            <a:chExt cx="4572000" cy="3975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83255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8341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551740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838945"/>
            <a:ext cx="4572000" cy="289560"/>
            <a:chOff x="914400" y="5838945"/>
            <a:chExt cx="4572000" cy="28956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83894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84053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914400" y="641584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01667" y="657564"/>
            <a:ext cx="4598035" cy="63284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55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SimSun"/>
                <a:cs typeface="SimSun"/>
              </a:rPr>
              <a:t>==</a:t>
            </a:r>
            <a:r>
              <a:rPr dirty="0" sz="100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checks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queen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queen2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refer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don’t,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 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False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change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 </a:t>
            </a:r>
            <a:r>
              <a:rPr dirty="0" sz="1050" spc="-40">
                <a:latin typeface="Palatino Linotype"/>
                <a:cs typeface="Palatino Linotype"/>
              </a:rPr>
              <a:t>behavior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defining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special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called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u="sng" sz="1050" spc="1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50" spc="1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 spc="-5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eq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and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"Class 'Card' not </a:t>
            </a:r>
            <a:r>
              <a:rPr dirty="0" sz="850" spc="-10">
                <a:latin typeface="SimSun"/>
                <a:cs typeface="SimSun"/>
              </a:rPr>
              <a:t>found."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11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45">
                <a:latin typeface="Palatino Linotype"/>
                <a:cs typeface="Palatino Linotype"/>
              </a:rPr>
              <a:t>takes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Card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True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same </a:t>
            </a:r>
            <a:r>
              <a:rPr dirty="0" sz="1050" spc="-45">
                <a:latin typeface="Palatino Linotype"/>
                <a:cs typeface="Palatino Linotype"/>
              </a:rPr>
              <a:t>suit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rank,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even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whether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equivalent,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even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identical.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==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Card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2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let’s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rank: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861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six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6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six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6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queen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six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equivalent: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six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SimSun"/>
                <a:cs typeface="SimSun"/>
              </a:rPr>
              <a:t>!=</a:t>
            </a:r>
            <a:r>
              <a:rPr dirty="0" sz="1000" spc="-2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invokes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u="sng" sz="1050" spc="1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ne</a:t>
            </a:r>
            <a:r>
              <a:rPr dirty="0" u="sng" sz="1050" spc="1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exists. </a:t>
            </a:r>
            <a:r>
              <a:rPr dirty="0" sz="1050" spc="-40">
                <a:latin typeface="Palatino Linotype"/>
                <a:cs typeface="Palatino Linotype"/>
              </a:rPr>
              <a:t>Otherwise,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invokes</a:t>
            </a:r>
            <a:r>
              <a:rPr dirty="0" u="sng" sz="1000" spc="3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1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inverts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result—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u="sng" sz="1050" spc="1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1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True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!=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False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446707" y="7731125"/>
            <a:ext cx="10528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Comparing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Cards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253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340485"/>
            <a:ext cx="4572000" cy="289560"/>
            <a:chOff x="914400" y="13404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3404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3420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19173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398944"/>
            <a:ext cx="4572000" cy="289560"/>
            <a:chOff x="914400" y="2398944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39894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40053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297584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341238"/>
            <a:ext cx="4572000" cy="613410"/>
            <a:chOff x="914400" y="4341238"/>
            <a:chExt cx="4572000" cy="61341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34123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3428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914400" y="5298097"/>
            <a:ext cx="4572000" cy="613410"/>
            <a:chOff x="914400" y="5298097"/>
            <a:chExt cx="4572000" cy="61341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298097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29968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914400" y="6811216"/>
            <a:ext cx="4572000" cy="289560"/>
            <a:chOff x="914400" y="6811216"/>
            <a:chExt cx="4572000" cy="289560"/>
          </a:xfrm>
        </p:grpSpPr>
        <p:sp>
          <p:nvSpPr>
            <p:cNvPr id="21" name="object 21" descr=""/>
            <p:cNvSpPr/>
            <p:nvPr/>
          </p:nvSpPr>
          <p:spPr>
            <a:xfrm>
              <a:off x="914400" y="6811216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14400" y="681280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914400" y="738811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901635" y="728091"/>
            <a:ext cx="4598035" cy="65665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!=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 marL="39370" marR="3902075">
              <a:lnSpc>
                <a:spcPct val="220800"/>
              </a:lnSpc>
              <a:spcBef>
                <a:spcPts val="65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!=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six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suppose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bigger.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relational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TypeError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'&lt;' not supported between instances of 'Card' and </a:t>
            </a:r>
            <a:r>
              <a:rPr dirty="0" sz="850" spc="-10">
                <a:latin typeface="SimSun"/>
                <a:cs typeface="SimSun"/>
              </a:rPr>
              <a:t>'Card'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change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behavior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&lt;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special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called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"/>
              </a:spcBef>
            </a:pPr>
            <a:r>
              <a:rPr dirty="0" u="sng" sz="1000" spc="35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lt</a:t>
            </a:r>
            <a:r>
              <a:rPr dirty="0" u="sng" sz="1050" spc="1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short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“less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than.”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sake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let’s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assume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50">
                <a:latin typeface="Palatino Linotype"/>
                <a:cs typeface="Palatino Linotype"/>
              </a:rPr>
              <a:t>suit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important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rank—</a:t>
            </a:r>
            <a:r>
              <a:rPr dirty="0" sz="1050" spc="-35">
                <a:latin typeface="Palatino Linotype"/>
                <a:cs typeface="Palatino Linotype"/>
              </a:rPr>
              <a:t>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Spades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outrank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Hearts,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outrank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all </a:t>
            </a:r>
            <a:r>
              <a:rPr dirty="0" sz="1050" spc="-45">
                <a:latin typeface="Palatino Linotype"/>
                <a:cs typeface="Palatino Linotype"/>
              </a:rPr>
              <a:t>Diamonds,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on.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suit,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higher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rank </a:t>
            </a:r>
            <a:r>
              <a:rPr dirty="0" sz="1050" spc="-10">
                <a:latin typeface="Palatino Linotype"/>
                <a:cs typeface="Palatino Linotype"/>
              </a:rPr>
              <a:t>wins.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implement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logic,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we’ll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con‐ </a:t>
            </a:r>
            <a:r>
              <a:rPr dirty="0" sz="1050" spc="-50">
                <a:latin typeface="Palatino Linotype"/>
                <a:cs typeface="Palatino Linotype"/>
              </a:rPr>
              <a:t>taining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card’s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rank,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to_tuple(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write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1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lt</a:t>
            </a:r>
            <a:r>
              <a:rPr dirty="0" u="sng" sz="105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 spc="-5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lt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to_tuple</a:t>
            </a:r>
            <a:r>
              <a:rPr dirty="0" sz="850">
                <a:latin typeface="SimSun"/>
                <a:cs typeface="SimSun"/>
              </a:rPr>
              <a:t>()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to_tuple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comparison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compares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tuple,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suits.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same,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compares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second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elements,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represent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ranks.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114">
                <a:latin typeface="Palatino Linotype"/>
                <a:cs typeface="Palatino Linotype"/>
              </a:rPr>
              <a:t>Now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&lt;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operator,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invokes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u="sng" sz="1050" spc="2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lt</a:t>
            </a:r>
            <a:r>
              <a:rPr dirty="0" u="sng" sz="1000" spc="11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 marL="39370" marR="3956050">
              <a:lnSpc>
                <a:spcPts val="2250"/>
              </a:lnSpc>
              <a:spcBef>
                <a:spcPts val="9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six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1725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254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751793"/>
            <a:ext cx="4572000" cy="289560"/>
            <a:chOff x="914400" y="175179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75179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7533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3286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650233"/>
            <a:ext cx="4572000" cy="613410"/>
            <a:chOff x="914400" y="2650233"/>
            <a:chExt cx="4572000" cy="6134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650233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6518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3599557"/>
            <a:ext cx="4572000" cy="289560"/>
            <a:chOff x="914400" y="359955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359955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36011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1764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914400" y="4254243"/>
            <a:ext cx="4572000" cy="289560"/>
            <a:chOff x="914400" y="4254243"/>
            <a:chExt cx="4572000" cy="289560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425424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42558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914400" y="483114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914400" y="5312702"/>
            <a:ext cx="4572000" cy="289560"/>
            <a:chOff x="914400" y="5312702"/>
            <a:chExt cx="4572000" cy="28956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531270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53142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588959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901647" y="657564"/>
            <a:ext cx="4598035" cy="59550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&gt;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vokes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gt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Other‐ </a:t>
            </a:r>
            <a:r>
              <a:rPr dirty="0" sz="1050" spc="-75">
                <a:latin typeface="Palatino Linotype"/>
                <a:cs typeface="Palatino Linotype"/>
              </a:rPr>
              <a:t>wise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vokes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lt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opposite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orde</a:t>
            </a:r>
            <a:r>
              <a:rPr dirty="0" sz="1050" spc="-1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7941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 marL="39370" marR="3794125">
              <a:lnSpc>
                <a:spcPct val="220800"/>
              </a:lnSpc>
              <a:spcBef>
                <a:spcPts val="37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60">
                <a:latin typeface="Palatino Linotype"/>
                <a:cs typeface="Palatino Linotype"/>
              </a:rPr>
              <a:t>Finally,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&lt;=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operator,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invokes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called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le</a:t>
            </a:r>
            <a:r>
              <a:rPr dirty="0" u="sng" sz="1050" spc="21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 spc="-5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le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to_tuple</a:t>
            </a:r>
            <a:r>
              <a:rPr dirty="0" sz="850">
                <a:latin typeface="SimSun"/>
                <a:cs typeface="SimSun"/>
              </a:rPr>
              <a:t>()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to_tuple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equal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another:</a:t>
            </a:r>
            <a:endParaRPr sz="1050">
              <a:latin typeface="Palatino Linotype"/>
              <a:cs typeface="Palatino Linotype"/>
            </a:endParaRPr>
          </a:p>
          <a:p>
            <a:pPr marL="39370" marR="3740150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queen2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 marL="39370" marR="3902075">
              <a:lnSpc>
                <a:spcPct val="220800"/>
              </a:lnSpc>
              <a:spcBef>
                <a:spcPts val="37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six </a:t>
            </a: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&gt;=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operator,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uses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ge</a:t>
            </a:r>
            <a:r>
              <a:rPr dirty="0" u="sng" sz="1000" spc="6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exists.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Otherwise,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invokes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u="sng" sz="10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le</a:t>
            </a:r>
            <a:r>
              <a:rPr dirty="0" u="sng" sz="1000" spc="6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with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opposite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&gt;=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six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7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them,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complete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sense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com‐ </a:t>
            </a:r>
            <a:r>
              <a:rPr dirty="0" sz="1050" spc="-10">
                <a:latin typeface="Palatino Linotype"/>
                <a:cs typeface="Palatino Linotype"/>
              </a:rPr>
              <a:t>pare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any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Card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objects,</a:t>
            </a:r>
            <a:r>
              <a:rPr dirty="0" sz="1050">
                <a:latin typeface="Palatino Linotype"/>
                <a:cs typeface="Palatino Linotype"/>
              </a:rPr>
              <a:t> 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consistent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sense</a:t>
            </a:r>
            <a:r>
              <a:rPr dirty="0" sz="1050">
                <a:latin typeface="Palatino Linotype"/>
                <a:cs typeface="Palatino Linotype"/>
              </a:rPr>
              <a:t> 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results</a:t>
            </a:r>
            <a:r>
              <a:rPr dirty="0" sz="1050">
                <a:latin typeface="Palatino Linotype"/>
                <a:cs typeface="Palatino Linotype"/>
              </a:rPr>
              <a:t> 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different </a:t>
            </a:r>
            <a:r>
              <a:rPr dirty="0" sz="1050" spc="-50">
                <a:latin typeface="Palatino Linotype"/>
                <a:cs typeface="Palatino Linotype"/>
              </a:rPr>
              <a:t>oper</a:t>
            </a:r>
            <a:r>
              <a:rPr dirty="0" sz="1050" spc="-50">
                <a:latin typeface="Palatino Linotype"/>
                <a:cs typeface="Palatino Linotype"/>
              </a:rPr>
              <a:t>ators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contradict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two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properties,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75">
                <a:latin typeface="Palatino Linotype"/>
                <a:cs typeface="Palatino Linotype"/>
              </a:rPr>
              <a:t>we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say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Card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totally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ordered</a:t>
            </a:r>
            <a:r>
              <a:rPr dirty="0" sz="1050" spc="-45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means,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sorted.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446721" y="7731125"/>
            <a:ext cx="10528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5" b="1">
                <a:latin typeface="Trebuchet MS"/>
                <a:cs typeface="Trebuchet MS"/>
              </a:rPr>
              <a:t>Comparing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90" b="1">
                <a:latin typeface="Trebuchet MS"/>
                <a:cs typeface="Trebuchet MS"/>
              </a:rPr>
              <a:t>Cards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255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71123"/>
            <a:ext cx="4572000" cy="613410"/>
            <a:chOff x="914400" y="1571123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71123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727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680468"/>
            <a:ext cx="4572000" cy="1153160"/>
            <a:chOff x="914400" y="2680468"/>
            <a:chExt cx="4572000" cy="11531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680468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6820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4679739"/>
            <a:ext cx="4572000" cy="505459"/>
            <a:chOff x="914400" y="4679739"/>
            <a:chExt cx="4572000" cy="505459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467973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468132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54725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6429083"/>
            <a:ext cx="4572000" cy="937260"/>
            <a:chOff x="914400" y="6429083"/>
            <a:chExt cx="4572000" cy="9372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6429083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64306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47498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40"/>
              <a:t>Decks</a:t>
            </a:r>
            <a:endParaRPr sz="1900"/>
          </a:p>
        </p:txBody>
      </p:sp>
      <p:sp>
        <p:nvSpPr>
          <p:cNvPr id="16" name="object 16" descr=""/>
          <p:cNvSpPr txBox="1"/>
          <p:nvPr/>
        </p:nvSpPr>
        <p:spPr>
          <a:xfrm>
            <a:off x="901634" y="964024"/>
            <a:ext cx="4598035" cy="630999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55">
                <a:latin typeface="Palatino Linotype"/>
                <a:cs typeface="Palatino Linotype"/>
              </a:rPr>
              <a:t>decks.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Deck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init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Card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Deck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930525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25">
                <a:latin typeface="Palatino Linotype"/>
                <a:cs typeface="Palatino Linotype"/>
              </a:rPr>
              <a:t>To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52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cards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standard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deck,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following static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make_cards():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902969" marR="24447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15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make_cards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suits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0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inner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u‐ </a:t>
            </a:r>
            <a:r>
              <a:rPr dirty="0" sz="1050" spc="-60">
                <a:latin typeface="Palatino Linotype"/>
                <a:cs typeface="Palatino Linotype"/>
              </a:rPr>
              <a:t>mer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2</a:t>
            </a:r>
            <a:r>
              <a:rPr dirty="0" sz="1000" spc="-1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14</a:t>
            </a:r>
            <a:r>
              <a:rPr dirty="0" sz="1050" spc="-75">
                <a:latin typeface="Palatino Linotype"/>
                <a:cs typeface="Palatino Linotype"/>
              </a:rPr>
              <a:t>—where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14</a:t>
            </a:r>
            <a:r>
              <a:rPr dirty="0" sz="1000" spc="-1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ce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outranks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King.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iter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Card</a:t>
            </a:r>
            <a:r>
              <a:rPr dirty="0" sz="1000" spc="-16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curre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suit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rank,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ppends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00" spc="-5">
                <a:latin typeface="SimSun"/>
                <a:cs typeface="SimSun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H</a:t>
            </a:r>
            <a:r>
              <a:rPr dirty="0" sz="1050" spc="-45">
                <a:latin typeface="Palatino Linotype"/>
                <a:cs typeface="Palatino Linotype"/>
              </a:rPr>
              <a:t>er</a:t>
            </a:r>
            <a:r>
              <a:rPr dirty="0" sz="1050" spc="-114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Deck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make_cards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deck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52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3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52 </a:t>
            </a:r>
            <a:r>
              <a:rPr dirty="0" sz="1050" spc="-60">
                <a:latin typeface="Palatino Linotype"/>
                <a:cs typeface="Palatino Linotype"/>
              </a:rPr>
              <a:t>cards,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intended.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900" spc="-254" b="1">
                <a:latin typeface="Trebuchet MS"/>
                <a:cs typeface="Trebuchet MS"/>
              </a:rPr>
              <a:t>Printing</a:t>
            </a:r>
            <a:r>
              <a:rPr dirty="0" sz="1900" spc="-235" b="1">
                <a:latin typeface="Trebuchet MS"/>
                <a:cs typeface="Trebuchet MS"/>
              </a:rPr>
              <a:t> </a:t>
            </a:r>
            <a:r>
              <a:rPr dirty="0" sz="1900" spc="-300" b="1">
                <a:latin typeface="Trebuchet MS"/>
                <a:cs typeface="Trebuchet MS"/>
              </a:rPr>
              <a:t>the</a:t>
            </a:r>
            <a:r>
              <a:rPr dirty="0" sz="1900" spc="-229" b="1">
                <a:latin typeface="Trebuchet MS"/>
                <a:cs typeface="Trebuchet MS"/>
              </a:rPr>
              <a:t> </a:t>
            </a:r>
            <a:r>
              <a:rPr dirty="0" sz="1900" spc="-370" b="1">
                <a:latin typeface="Trebuchet MS"/>
                <a:cs typeface="Trebuchet MS"/>
              </a:rPr>
              <a:t>Deck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95"/>
              </a:spcBef>
            </a:pPr>
            <a:r>
              <a:rPr dirty="0" sz="1050" spc="-70">
                <a:latin typeface="Palatino Linotype"/>
                <a:cs typeface="Palatino Linotype"/>
              </a:rPr>
              <a:t>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u="sng" sz="1050" spc="2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14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362325" indent="-215900">
              <a:lnSpc>
                <a:spcPts val="850"/>
              </a:lnSpc>
              <a:spcBef>
                <a:spcPts val="5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687070" marR="27686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str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85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256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325794"/>
            <a:ext cx="4572000" cy="289560"/>
            <a:chOff x="914400" y="132579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32579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3273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958803"/>
            <a:ext cx="4572000" cy="289560"/>
            <a:chOff x="914400" y="1958803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9588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9603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5357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413503"/>
            <a:ext cx="4572000" cy="289560"/>
            <a:chOff x="914400" y="3413503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4135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4150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09835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214917"/>
            <a:ext cx="4572000" cy="613410"/>
            <a:chOff x="914400" y="5214917"/>
            <a:chExt cx="4572000" cy="6134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214917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2165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6164242"/>
            <a:ext cx="4572000" cy="397510"/>
            <a:chOff x="914400" y="6164242"/>
            <a:chExt cx="4572000" cy="39751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616424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61658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684908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58" y="650030"/>
            <a:ext cx="4598035" cy="610552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demonstrates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efficient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accumulate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large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string—</a:t>
            </a:r>
            <a:r>
              <a:rPr dirty="0" sz="1050" spc="-45">
                <a:latin typeface="Palatino Linotype"/>
                <a:cs typeface="Palatino Linotype"/>
              </a:rPr>
              <a:t>building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string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join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cards: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small_deck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>
                <a:latin typeface="SimSun"/>
                <a:cs typeface="SimSun"/>
              </a:rPr>
              <a:t>([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queen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six</a:t>
            </a:r>
            <a:r>
              <a:rPr dirty="0" sz="850" spc="-10">
                <a:latin typeface="SimSun"/>
                <a:cs typeface="SimSun"/>
              </a:rPr>
              <a:t>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invokes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u="sng" sz="1050" spc="14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50" spc="1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50" spc="-5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str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small_deck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'Queen of Diamonds\n6 of </a:t>
            </a:r>
            <a:r>
              <a:rPr dirty="0" sz="850" spc="-10">
                <a:latin typeface="SimSun"/>
                <a:cs typeface="SimSun"/>
              </a:rPr>
              <a:t>Diamonds'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SimSun"/>
              <a:cs typeface="SimSun"/>
            </a:endParaRPr>
          </a:p>
          <a:p>
            <a:pPr marL="12700" marR="5080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When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Jupyter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displays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shows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“representational”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form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\n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70">
                <a:latin typeface="Palatino Linotype"/>
                <a:cs typeface="Palatino Linotype"/>
              </a:rPr>
              <a:t>However,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print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result,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Jupyter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shows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“printable”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form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string,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newline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whitespace:</a:t>
            </a:r>
            <a:endParaRPr sz="1050">
              <a:latin typeface="Palatino Linotype"/>
              <a:cs typeface="Palatino Linotype"/>
            </a:endParaRPr>
          </a:p>
          <a:p>
            <a:pPr marL="39370" marR="363220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small_deck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latin typeface="SimSun"/>
                <a:cs typeface="SimSun"/>
              </a:rPr>
              <a:t>Queen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570"/>
              </a:lnSpc>
            </a:pPr>
            <a:r>
              <a:rPr dirty="0" sz="850">
                <a:latin typeface="SimSun"/>
                <a:cs typeface="SimSun"/>
              </a:rPr>
              <a:t>6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separate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0" b="1">
                <a:latin typeface="Trebuchet MS"/>
                <a:cs typeface="Trebuchet MS"/>
              </a:rPr>
              <a:t>Add,</a:t>
            </a:r>
            <a:r>
              <a:rPr dirty="0" sz="1900" spc="-260" b="1">
                <a:latin typeface="Trebuchet MS"/>
                <a:cs typeface="Trebuchet MS"/>
              </a:rPr>
              <a:t> </a:t>
            </a:r>
            <a:r>
              <a:rPr dirty="0" sz="1900" spc="-335" b="1">
                <a:latin typeface="Trebuchet MS"/>
                <a:cs typeface="Trebuchet MS"/>
              </a:rPr>
              <a:t>Remove,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75" b="1">
                <a:latin typeface="Trebuchet MS"/>
                <a:cs typeface="Trebuchet MS"/>
              </a:rPr>
              <a:t>Shuffle,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Sort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4700"/>
              </a:lnSpc>
              <a:spcBef>
                <a:spcPts val="48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would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removes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 </a:t>
            </a:r>
            <a:r>
              <a:rPr dirty="0" sz="1050" spc="-20">
                <a:latin typeface="Palatino Linotype"/>
                <a:cs typeface="Palatino Linotype"/>
              </a:rPr>
              <a:t>it.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pop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convenient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take_card(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pop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take_card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Ace of </a:t>
            </a:r>
            <a:r>
              <a:rPr dirty="0" sz="850" spc="-10">
                <a:latin typeface="SimSun"/>
                <a:cs typeface="SimSun"/>
              </a:rPr>
              <a:t>Spades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917165" y="7731125"/>
            <a:ext cx="15824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5" b="1">
                <a:latin typeface="Trebuchet MS"/>
                <a:cs typeface="Trebuchet MS"/>
              </a:rPr>
              <a:t>Add,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5" b="1">
                <a:latin typeface="Trebuchet MS"/>
                <a:cs typeface="Trebuchet MS"/>
              </a:rPr>
              <a:t>Remove,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Shuffle,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55" b="1">
                <a:latin typeface="Trebuchet MS"/>
                <a:cs typeface="Trebuchet MS"/>
              </a:rPr>
              <a:t>Sort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5" b="1">
                <a:latin typeface="Trebuchet MS"/>
                <a:cs typeface="Trebuchet MS"/>
              </a:rPr>
              <a:t>  </a:t>
            </a:r>
            <a:r>
              <a:rPr dirty="0" sz="900" spc="-120" b="1">
                <a:latin typeface="Trebuchet MS"/>
                <a:cs typeface="Trebuchet MS"/>
              </a:rPr>
              <a:t>257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50645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827993"/>
            <a:ext cx="4572000" cy="613410"/>
            <a:chOff x="914400" y="1827993"/>
            <a:chExt cx="4572000" cy="6134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827993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8295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2777318"/>
            <a:ext cx="4572000" cy="397510"/>
            <a:chOff x="914400" y="2777318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277731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27789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346216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914400" y="378529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914400" y="40745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914400" y="5182295"/>
            <a:ext cx="4572000" cy="505459"/>
            <a:chOff x="914400" y="5182295"/>
            <a:chExt cx="4572000" cy="505459"/>
          </a:xfrm>
        </p:grpSpPr>
        <p:sp>
          <p:nvSpPr>
            <p:cNvPr id="16" name="object 16" descr=""/>
            <p:cNvSpPr/>
            <p:nvPr/>
          </p:nvSpPr>
          <p:spPr>
            <a:xfrm>
              <a:off x="914400" y="5182295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400" y="518388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914400" y="629894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914400" y="6780504"/>
            <a:ext cx="4572000" cy="613410"/>
            <a:chOff x="914400" y="6780504"/>
            <a:chExt cx="4572000" cy="613410"/>
          </a:xfrm>
        </p:grpSpPr>
        <p:sp>
          <p:nvSpPr>
            <p:cNvPr id="20" name="object 20" descr=""/>
            <p:cNvSpPr/>
            <p:nvPr/>
          </p:nvSpPr>
          <p:spPr>
            <a:xfrm>
              <a:off x="914400" y="6780504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09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914400" y="67820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901674" y="657564"/>
            <a:ext cx="4585335" cy="3039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51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left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deck:</a:t>
            </a:r>
            <a:endParaRPr sz="1050">
              <a:latin typeface="Palatino Linotype"/>
              <a:cs typeface="Palatino Linotype"/>
            </a:endParaRPr>
          </a:p>
          <a:p>
            <a:pPr marL="39370" marR="3727450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latin typeface="SimSun"/>
                <a:cs typeface="SimSun"/>
              </a:rPr>
              <a:t>51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append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28638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put_card(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just</a:t>
            </a:r>
            <a:r>
              <a:rPr dirty="0" sz="1050" spc="-10">
                <a:latin typeface="Palatino Linotype"/>
                <a:cs typeface="Palatino Linotype"/>
              </a:rPr>
              <a:t> popped: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115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put_card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52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shuffle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deck,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shuffle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random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module: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14400" y="3786882"/>
            <a:ext cx="4572000" cy="28638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random</a:t>
            </a:r>
            <a:endParaRPr sz="85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4400" y="4076125"/>
            <a:ext cx="4572000" cy="610235"/>
          </a:xfrm>
          <a:prstGeom prst="rect">
            <a:avLst/>
          </a:prstGeom>
          <a:solidFill>
            <a:srgbClr val="D9D9D9"/>
          </a:solidFill>
        </p:spPr>
        <p:txBody>
          <a:bodyPr wrap="square" lIns="0" tIns="5143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40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58470" marR="27019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shuffle(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random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shuffle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1644" y="4750285"/>
            <a:ext cx="4598035" cy="2551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shuffle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deck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print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first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cards,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 </a:t>
            </a:r>
            <a:r>
              <a:rPr dirty="0" sz="1050" spc="-65">
                <a:latin typeface="Palatino Linotype"/>
                <a:cs typeface="Palatino Linotype"/>
              </a:rPr>
              <a:t>apparent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shuffle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 marL="255270" marR="30924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]: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2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4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Hearts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4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8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5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sort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sorts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elements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place”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50" spc="-100">
                <a:latin typeface="Palatino Linotype"/>
                <a:cs typeface="Palatino Linotype"/>
              </a:rPr>
              <a:t>—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modifies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2004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sort(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sort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1683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258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555029"/>
            <a:ext cx="4572000" cy="397510"/>
            <a:chOff x="914400" y="1555029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555029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5566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256372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981534"/>
            <a:ext cx="4572000" cy="397510"/>
            <a:chOff x="914400" y="5981534"/>
            <a:chExt cx="4572000" cy="3975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98153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98312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901597" y="657564"/>
            <a:ext cx="4598035" cy="6146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invoke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sort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u="sng" sz="1050" spc="229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lt</a:t>
            </a:r>
            <a:r>
              <a:rPr dirty="0" u="sng" sz="1000" spc="114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compare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cards: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sort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few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confirm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increasing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0924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[: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]: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147320" indent="-108585">
              <a:lnSpc>
                <a:spcPts val="935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935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SimSun"/>
              <a:buAutoNum type="arabicPlain" startAt="2"/>
            </a:pPr>
            <a:endParaRPr sz="1000">
              <a:latin typeface="SimSun"/>
              <a:cs typeface="SimSun"/>
            </a:endParaRPr>
          </a:p>
          <a:p>
            <a:pPr marL="12700" marR="571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Deck.sort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anything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invoke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list.sort</a:t>
            </a:r>
            <a:r>
              <a:rPr dirty="0" sz="1050" spc="-10">
                <a:latin typeface="Palatino Linotype"/>
                <a:cs typeface="Palatino Linotype"/>
              </a:rPr>
              <a:t>. </a:t>
            </a:r>
            <a:r>
              <a:rPr dirty="0" sz="1050" spc="-40">
                <a:latin typeface="Palatino Linotype"/>
                <a:cs typeface="Palatino Linotype"/>
              </a:rPr>
              <a:t>Passing </a:t>
            </a:r>
            <a:r>
              <a:rPr dirty="0" sz="1050" spc="-65">
                <a:latin typeface="Palatino Linotype"/>
                <a:cs typeface="Palatino Linotype"/>
              </a:rPr>
              <a:t>along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responsibility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delegation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90" b="1">
                <a:latin typeface="Trebuchet MS"/>
                <a:cs typeface="Trebuchet MS"/>
              </a:rPr>
              <a:t>Parents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295" b="1">
                <a:latin typeface="Trebuchet MS"/>
                <a:cs typeface="Trebuchet MS"/>
              </a:rPr>
              <a:t>and</a:t>
            </a:r>
            <a:r>
              <a:rPr dirty="0" sz="1900" spc="-265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Children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40"/>
              </a:spcBef>
            </a:pPr>
            <a:r>
              <a:rPr dirty="0" sz="1050" spc="-40">
                <a:latin typeface="Palatino Linotype"/>
                <a:cs typeface="Palatino Linotype"/>
              </a:rPr>
              <a:t>Inheritance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ability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modified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existing </a:t>
            </a:r>
            <a:r>
              <a:rPr dirty="0" sz="1050" spc="-45">
                <a:latin typeface="Palatino Linotype"/>
                <a:cs typeface="Palatino Linotype"/>
              </a:rPr>
              <a:t>class.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</a:t>
            </a:r>
            <a:r>
              <a:rPr dirty="0" sz="1050" spc="-70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“hand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 </a:t>
            </a:r>
            <a:r>
              <a:rPr dirty="0" sz="1050" spc="-60">
                <a:latin typeface="Palatino Linotype"/>
                <a:cs typeface="Palatino Linotype"/>
              </a:rPr>
              <a:t>held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ye</a:t>
            </a:r>
            <a:r>
              <a:rPr dirty="0" sz="1050" spc="-3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lvl="1" marL="241300" marR="508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similar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deck—both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made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up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collection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 </a:t>
            </a:r>
            <a:r>
              <a:rPr dirty="0" sz="1050" spc="-45">
                <a:latin typeface="Palatino Linotype"/>
                <a:cs typeface="Palatino Linotype"/>
              </a:rPr>
              <a:t>require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removing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cards.</a:t>
            </a:r>
            <a:endParaRPr sz="1050">
              <a:latin typeface="Palatino Linotype"/>
              <a:cs typeface="Palatino Linotype"/>
            </a:endParaRPr>
          </a:p>
          <a:p>
            <a:pPr algn="just" lvl="1"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deck—there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55">
                <a:latin typeface="Palatino Linotype"/>
                <a:cs typeface="Palatino Linotype"/>
              </a:rPr>
              <a:t>do</a:t>
            </a:r>
            <a:r>
              <a:rPr dirty="0" sz="1050" spc="-14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sense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deck.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poker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hands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wins.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bridge,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pute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score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order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bid.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10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relationship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between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classes—</a:t>
            </a:r>
            <a:r>
              <a:rPr dirty="0" sz="1050" spc="-40">
                <a:latin typeface="Palatino Linotype"/>
                <a:cs typeface="Palatino Linotype"/>
              </a:rPr>
              <a:t>where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specialized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version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another— </a:t>
            </a:r>
            <a:r>
              <a:rPr dirty="0" sz="1050" spc="-70">
                <a:latin typeface="Palatino Linotype"/>
                <a:cs typeface="Palatino Linotype"/>
              </a:rPr>
              <a:t>lends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itself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inheritance.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based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exist‐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parentheses: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Hand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hand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playing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cards."""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4700"/>
              </a:lnSpc>
              <a:spcBef>
                <a:spcPts val="525"/>
              </a:spcBef>
            </a:pP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indicates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Hand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Deck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Hand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take_card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put_card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297839" y="7731125"/>
            <a:ext cx="12014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40" b="1">
                <a:latin typeface="Trebuchet MS"/>
                <a:cs typeface="Trebuchet MS"/>
              </a:rPr>
              <a:t>Parents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and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5" b="1">
                <a:latin typeface="Trebuchet MS"/>
                <a:cs typeface="Trebuchet MS"/>
              </a:rPr>
              <a:t>Children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35" b="1">
                <a:latin typeface="Trebuchet MS"/>
                <a:cs typeface="Trebuchet MS"/>
              </a:rPr>
              <a:t>259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721360"/>
            <a:chOff x="914400" y="1097108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657046"/>
            <a:ext cx="4572000" cy="397510"/>
            <a:chOff x="914400" y="2657046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65704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65863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34189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830990"/>
            <a:ext cx="4572000" cy="613410"/>
            <a:chOff x="914400" y="3830990"/>
            <a:chExt cx="4572000" cy="61341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830990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83257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73173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053278"/>
            <a:ext cx="4572000" cy="829310"/>
            <a:chOff x="914400" y="5053278"/>
            <a:chExt cx="4572000" cy="8293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05327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0548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901650" y="657564"/>
            <a:ext cx="4598035" cy="666051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8890">
              <a:lnSpc>
                <a:spcPct val="104700"/>
              </a:lnSpc>
              <a:spcBef>
                <a:spcPts val="40"/>
              </a:spcBef>
            </a:pPr>
            <a:r>
              <a:rPr dirty="0" sz="1000" spc="-50">
                <a:latin typeface="SimSun"/>
                <a:cs typeface="SimSun"/>
              </a:rPr>
              <a:t>Hand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inherits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u="sng" sz="1050" spc="2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9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Deck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u="sng" sz="105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1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Hand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 </a:t>
            </a:r>
            <a:r>
              <a:rPr dirty="0" sz="1050" spc="-55">
                <a:latin typeface="Palatino Linotype"/>
                <a:cs typeface="Palatino Linotype"/>
              </a:rPr>
              <a:t>overrides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4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3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5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label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label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label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3099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version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u="sng" sz="1050" spc="1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8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optional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always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starts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Hand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invokes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Deck</a:t>
            </a:r>
            <a:r>
              <a:rPr dirty="0" sz="1050" spc="-25">
                <a:latin typeface="Palatino Linotype"/>
                <a:cs typeface="Palatino Linotype"/>
              </a:rPr>
              <a:t>—</a:t>
            </a:r>
            <a:r>
              <a:rPr dirty="0" sz="1050" spc="-20">
                <a:latin typeface="Palatino Linotype"/>
                <a:cs typeface="Palatino Linotype"/>
              </a:rPr>
              <a:t>which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confirm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checking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result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label </a:t>
            </a:r>
            <a:r>
              <a:rPr dirty="0" sz="1050" spc="-10">
                <a:latin typeface="Palatino Linotype"/>
                <a:cs typeface="Palatino Linotype"/>
              </a:rPr>
              <a:t>attribute: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3083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'player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1'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label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'player </a:t>
            </a:r>
            <a:r>
              <a:rPr dirty="0" sz="850" spc="-25">
                <a:latin typeface="SimSun"/>
                <a:cs typeface="SimSun"/>
              </a:rPr>
              <a:t>1'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deal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take_card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remove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Deck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put_card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Hand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deck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33083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take_card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put_card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Ace of </a:t>
            </a:r>
            <a:r>
              <a:rPr dirty="0" sz="850" spc="-10">
                <a:latin typeface="SimSun"/>
                <a:cs typeface="SimSun"/>
              </a:rPr>
              <a:t>Spades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Let’s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encapsulate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move_cards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move_cards(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num</a:t>
            </a:r>
            <a:r>
              <a:rPr dirty="0" sz="850" spc="-2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num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687070" marR="266065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take_card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other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put_card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polymorphic—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is,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 </a:t>
            </a:r>
            <a:r>
              <a:rPr dirty="0" sz="1050" spc="-35">
                <a:latin typeface="Palatino Linotype"/>
                <a:cs typeface="Palatino Linotype"/>
              </a:rPr>
              <a:t>type: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self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SimSun"/>
                <a:cs typeface="SimSun"/>
              </a:rPr>
              <a:t>other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either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Hand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Deck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deal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5">
                <a:latin typeface="Palatino Linotype"/>
                <a:cs typeface="Palatino Linotype"/>
              </a:rPr>
              <a:t>card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Hand</a:t>
            </a:r>
            <a:r>
              <a:rPr dirty="0" sz="1050" spc="-10">
                <a:latin typeface="Palatino Linotype"/>
                <a:cs typeface="Palatino Linotype"/>
              </a:rPr>
              <a:t>,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Hand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another,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Hand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When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inherits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parent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child</a:t>
            </a:r>
            <a:r>
              <a:rPr dirty="0" sz="1050" spc="-45">
                <a:latin typeface="Palatino Linotype"/>
                <a:cs typeface="Palatino Linotype"/>
              </a:rPr>
              <a:t>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general:</a:t>
            </a:r>
            <a:endParaRPr sz="1050">
              <a:latin typeface="Palatino Linotype"/>
              <a:cs typeface="Palatino Linotype"/>
            </a:endParaRPr>
          </a:p>
          <a:p>
            <a:pPr marL="241300" marR="6350" indent="-118745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45">
                <a:latin typeface="Palatino Linotype"/>
                <a:cs typeface="Palatino Linotype"/>
              </a:rPr>
              <a:t>Instances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child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additional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attributes.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719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260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3997622"/>
            <a:ext cx="4572000" cy="1153160"/>
            <a:chOff x="914400" y="3997622"/>
            <a:chExt cx="4572000" cy="11531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3997622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399921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661785"/>
            <a:ext cx="4572000" cy="613410"/>
            <a:chOff x="914400" y="5661785"/>
            <a:chExt cx="4572000" cy="6134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661785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66337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656253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7044094"/>
            <a:ext cx="4572000" cy="485140"/>
            <a:chOff x="914400" y="7044094"/>
            <a:chExt cx="4572000" cy="48514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7044094"/>
              <a:ext cx="4572000" cy="485140"/>
            </a:xfrm>
            <a:custGeom>
              <a:avLst/>
              <a:gdLst/>
              <a:ahLst/>
              <a:cxnLst/>
              <a:rect l="l" t="t" r="r" b="b"/>
              <a:pathLst>
                <a:path w="4572000" h="485140">
                  <a:moveTo>
                    <a:pt x="4572000" y="485099"/>
                  </a:moveTo>
                  <a:lnTo>
                    <a:pt x="0" y="485099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485099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704568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901634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118745">
              <a:lnSpc>
                <a:spcPct val="100000"/>
              </a:lnSpc>
              <a:spcBef>
                <a:spcPts val="100"/>
              </a:spcBef>
              <a:buChar char="•"/>
              <a:tabLst>
                <a:tab pos="241935" algn="l"/>
              </a:tabLst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child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-10">
                <a:latin typeface="Palatino Linotype"/>
                <a:cs typeface="Palatino Linotype"/>
              </a:rPr>
              <a:t> 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have </a:t>
            </a:r>
            <a:r>
              <a:rPr dirty="0" sz="1050" spc="-55">
                <a:latin typeface="Palatino Linotype"/>
                <a:cs typeface="Palatino Linotype"/>
              </a:rPr>
              <a:t>additional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methods.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child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overrides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should </a:t>
            </a:r>
            <a:r>
              <a:rPr dirty="0" sz="1050" spc="-60">
                <a:latin typeface="Palatino Linotype"/>
                <a:cs typeface="Palatino Linotype"/>
              </a:rPr>
              <a:t>take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compatible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result.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rules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“Liskov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substitution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principle”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after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scientist </a:t>
            </a:r>
            <a:r>
              <a:rPr dirty="0" sz="1050" spc="-50">
                <a:latin typeface="Palatino Linotype"/>
                <a:cs typeface="Palatino Linotype"/>
              </a:rPr>
              <a:t>Barbara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Liskov.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rules,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instance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Deck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instances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child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Hand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viol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rules,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coll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pse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(sor</a:t>
            </a:r>
            <a:r>
              <a:rPr dirty="0" sz="1050">
                <a:latin typeface="Palatino Linotype"/>
                <a:cs typeface="Palatino Linotype"/>
              </a:rPr>
              <a:t>r</a:t>
            </a:r>
            <a:r>
              <a:rPr dirty="0" sz="1050" spc="-40">
                <a:latin typeface="Palatino Linotype"/>
                <a:cs typeface="Palatino Linotype"/>
              </a:rPr>
              <a:t>y).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0" b="1">
                <a:latin typeface="Trebuchet MS"/>
                <a:cs typeface="Trebuchet MS"/>
              </a:rPr>
              <a:t>Specialization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35">
                <a:latin typeface="Palatino Linotype"/>
                <a:cs typeface="Palatino Linotype"/>
              </a:rPr>
              <a:t>Let’s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make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class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called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BridgeHand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represents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bridge—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widely </a:t>
            </a:r>
            <a:r>
              <a:rPr dirty="0" sz="1050">
                <a:latin typeface="Palatino Linotype"/>
                <a:cs typeface="Palatino Linotype"/>
              </a:rPr>
              <a:t>pl</a:t>
            </a:r>
            <a:r>
              <a:rPr dirty="0" sz="1050">
                <a:latin typeface="Palatino Linotype"/>
                <a:cs typeface="Palatino Linotype"/>
              </a:rPr>
              <a:t>ayed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card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game.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We’ll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inherit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Hand</a:t>
            </a:r>
            <a:r>
              <a:rPr dirty="0" sz="1000" spc="-1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add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29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new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method</a:t>
            </a:r>
            <a:r>
              <a:rPr dirty="0" sz="1050" spc="2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 </a:t>
            </a:r>
            <a:r>
              <a:rPr dirty="0" sz="1000" spc="-10">
                <a:latin typeface="SimSun"/>
                <a:cs typeface="SimSun"/>
              </a:rPr>
              <a:t>high_card_point_count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evaluates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using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“high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card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point”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method,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adds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up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points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high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hand.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class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maps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60">
                <a:latin typeface="Palatino Linotype"/>
                <a:cs typeface="Palatino Linotype"/>
              </a:rPr>
              <a:t>card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names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BridgeHand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bridge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hand."""</a:t>
            </a:r>
            <a:endParaRPr sz="850">
              <a:latin typeface="Courier New"/>
              <a:cs typeface="Courier New"/>
            </a:endParaRPr>
          </a:p>
          <a:p>
            <a:pPr algn="r" marR="3686175">
              <a:lnSpc>
                <a:spcPts val="935"/>
              </a:lnSpc>
              <a:spcBef>
                <a:spcPts val="68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hcp_dict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latin typeface="SimSun"/>
                <a:cs typeface="SimSun"/>
              </a:rPr>
              <a:t>{</a:t>
            </a:r>
            <a:endParaRPr sz="850">
              <a:latin typeface="SimSun"/>
              <a:cs typeface="SimSun"/>
            </a:endParaRPr>
          </a:p>
          <a:p>
            <a:pPr algn="r" marR="3632200">
              <a:lnSpc>
                <a:spcPts val="850"/>
              </a:lnSpc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'Ace'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,</a:t>
            </a:r>
            <a:endParaRPr sz="850">
              <a:latin typeface="SimSun"/>
              <a:cs typeface="SimSun"/>
            </a:endParaRPr>
          </a:p>
          <a:p>
            <a:pPr algn="r" marR="3578225">
              <a:lnSpc>
                <a:spcPts val="850"/>
              </a:lnSpc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'King'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,</a:t>
            </a:r>
            <a:endParaRPr sz="850">
              <a:latin typeface="SimSun"/>
              <a:cs typeface="SimSun"/>
            </a:endParaRPr>
          </a:p>
          <a:p>
            <a:pPr algn="r" marR="3524250">
              <a:lnSpc>
                <a:spcPts val="850"/>
              </a:lnSpc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'Queen'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,</a:t>
            </a:r>
            <a:endParaRPr sz="850">
              <a:latin typeface="SimSun"/>
              <a:cs typeface="SimSun"/>
            </a:endParaRPr>
          </a:p>
          <a:p>
            <a:pPr algn="r" marR="3578225">
              <a:lnSpc>
                <a:spcPts val="850"/>
              </a:lnSpc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'Jack'</a:t>
            </a:r>
            <a:r>
              <a:rPr dirty="0" sz="850">
                <a:latin typeface="SimSun"/>
                <a:cs typeface="SimSun"/>
              </a:rPr>
              <a:t>: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,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60">
                <a:latin typeface="Palatino Linotype"/>
                <a:cs typeface="Palatino Linotype"/>
              </a:rPr>
              <a:t>Given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card,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12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Card.rank_names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repre‐ </a:t>
            </a:r>
            <a:r>
              <a:rPr dirty="0" sz="1050" spc="-50">
                <a:latin typeface="Palatino Linotype"/>
                <a:cs typeface="Palatino Linotype"/>
              </a:rPr>
              <a:t>se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rank,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hcp_dict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score: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12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rank_names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39370" marR="2120900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score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BridgeHand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hcp_dict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score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('Queen',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following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method loops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25">
                <a:latin typeface="Palatino Linotype"/>
                <a:cs typeface="Palatino Linotype"/>
              </a:rPr>
              <a:t>cards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00" spc="-10">
                <a:latin typeface="SimSun"/>
                <a:cs typeface="SimSun"/>
              </a:rPr>
              <a:t>BridgeHand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adds</a:t>
            </a:r>
            <a:r>
              <a:rPr dirty="0" sz="1050">
                <a:latin typeface="Palatino Linotype"/>
                <a:cs typeface="Palatino Linotype"/>
              </a:rPr>
              <a:t> up </a:t>
            </a:r>
            <a:r>
              <a:rPr dirty="0" sz="1050" spc="-10">
                <a:latin typeface="Palatino Linotype"/>
                <a:cs typeface="Palatino Linotype"/>
              </a:rPr>
              <a:t>their scores: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BridgeHand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ct val="100000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high_card_point_count(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SimSun"/>
              <a:cs typeface="SimSun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10" b="1">
                <a:latin typeface="Trebuchet MS"/>
                <a:cs typeface="Trebuchet MS"/>
              </a:rPr>
              <a:t>Specialization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261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829752"/>
            <a:ext cx="4572000" cy="721360"/>
            <a:chOff x="914400" y="1829752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829752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83133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27025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584257"/>
            <a:ext cx="4572000" cy="289560"/>
            <a:chOff x="914400" y="3584257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58425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5858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16115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14400" y="685800"/>
            <a:ext cx="4572000" cy="647700"/>
          </a:xfrm>
          <a:prstGeom prst="rect">
            <a:avLst/>
          </a:prstGeom>
          <a:solidFill>
            <a:srgbClr val="D9D9D9"/>
          </a:solidFill>
        </p:spPr>
        <p:txBody>
          <a:bodyPr wrap="square" lIns="0" tIns="0" rIns="0" bIns="0" rtlCol="0" vert="horz">
            <a:spAutoFit/>
          </a:bodyPr>
          <a:lstStyle/>
          <a:p>
            <a:pPr marL="458470">
              <a:lnSpc>
                <a:spcPts val="79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4584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74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rank_names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674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BridgeHand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hcp_dict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rank_name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584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644" y="1397742"/>
            <a:ext cx="4598035" cy="6496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cards—a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bridge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thirteen,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50">
                <a:latin typeface="Palatino Linotype"/>
                <a:cs typeface="Palatino Linotype"/>
              </a:rPr>
              <a:t>s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BridgeHand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'player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2'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25437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shuffle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move_cards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5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39370" marR="3794125">
              <a:lnSpc>
                <a:spcPts val="85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4 of </a:t>
            </a:r>
            <a:r>
              <a:rPr dirty="0" sz="850" spc="-10">
                <a:latin typeface="SimSun"/>
                <a:cs typeface="SimSun"/>
              </a:rPr>
              <a:t>Diamonds </a:t>
            </a:r>
            <a:r>
              <a:rPr dirty="0" sz="850">
                <a:latin typeface="SimSun"/>
                <a:cs typeface="SimSun"/>
              </a:rPr>
              <a:t>King of </a:t>
            </a:r>
            <a:r>
              <a:rPr dirty="0" sz="850" spc="-10">
                <a:latin typeface="SimSun"/>
                <a:cs typeface="SimSun"/>
              </a:rPr>
              <a:t>Hearts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10 of </a:t>
            </a:r>
            <a:r>
              <a:rPr dirty="0" sz="850" spc="-10">
                <a:latin typeface="SimSun"/>
                <a:cs typeface="SimSun"/>
              </a:rPr>
              <a:t>Hearts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10 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Queen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total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Queen:</a:t>
            </a:r>
            <a:endParaRPr sz="1050">
              <a:latin typeface="Palatino Linotype"/>
              <a:cs typeface="Palatino Linotype"/>
            </a:endParaRPr>
          </a:p>
          <a:p>
            <a:pPr marL="39370" marR="30384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high_card_point_count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50">
                <a:latin typeface="SimSun"/>
                <a:cs typeface="SimSun"/>
              </a:rPr>
              <a:t>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00" spc="-20">
                <a:latin typeface="SimSun"/>
                <a:cs typeface="SimSun"/>
              </a:rPr>
              <a:t>BridgeHand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inherits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Hand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specific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bridge.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speciali‐ </a:t>
            </a:r>
            <a:r>
              <a:rPr dirty="0" sz="1050" spc="-35" b="1">
                <a:latin typeface="Palatino Linotype"/>
                <a:cs typeface="Palatino Linotype"/>
              </a:rPr>
              <a:t>zation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is </a:t>
            </a:r>
            <a:r>
              <a:rPr dirty="0" sz="1050" spc="-55">
                <a:latin typeface="Palatino Linotype"/>
                <a:cs typeface="Palatino Linotype"/>
              </a:rPr>
              <a:t>specialized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particular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play‐ </a:t>
            </a:r>
            <a:r>
              <a:rPr dirty="0" sz="1050" spc="-60">
                <a:latin typeface="Palatino Linotype"/>
                <a:cs typeface="Palatino Linotype"/>
              </a:rPr>
              <a:t>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bridge.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Inheritance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useful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feature.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Some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programs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would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repetitive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without </a:t>
            </a:r>
            <a:r>
              <a:rPr dirty="0" sz="1050" spc="-45">
                <a:latin typeface="Palatino Linotype"/>
                <a:cs typeface="Palatino Linotype"/>
              </a:rPr>
              <a:t>inheritance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concisely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Also,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inheritance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facilitate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 </a:t>
            </a:r>
            <a:r>
              <a:rPr dirty="0" sz="1050" spc="-55">
                <a:latin typeface="Palatino Linotype"/>
                <a:cs typeface="Palatino Linotype"/>
              </a:rPr>
              <a:t>reuse,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customize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behavior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parent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mod‐ </a:t>
            </a:r>
            <a:r>
              <a:rPr dirty="0" sz="1050">
                <a:latin typeface="Palatino Linotype"/>
                <a:cs typeface="Palatino Linotype"/>
              </a:rPr>
              <a:t>ify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some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cases,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inheritance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structure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reflects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natural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structure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55">
                <a:latin typeface="Palatino Linotype"/>
                <a:cs typeface="Palatino Linotype"/>
              </a:rPr>
              <a:t>problem,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design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easier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understand.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latin typeface="Palatino Linotype"/>
                <a:cs typeface="Palatino Linotype"/>
              </a:rPr>
              <a:t>On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inheritance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difficult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read.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65">
                <a:latin typeface="Palatino Linotype"/>
                <a:cs typeface="Palatino Linotype"/>
              </a:rPr>
              <a:t>voked,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sometimes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clear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definition—the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releva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spread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across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several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3099"/>
              </a:lnSpc>
              <a:spcBef>
                <a:spcPts val="560"/>
              </a:spcBef>
            </a:pP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unsure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flow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execution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sim‐ </a:t>
            </a:r>
            <a:r>
              <a:rPr dirty="0" sz="1050" spc="-55">
                <a:latin typeface="Palatino Linotype"/>
                <a:cs typeface="Palatino Linotype"/>
              </a:rPr>
              <a:t>plest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print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releva</a:t>
            </a:r>
            <a:r>
              <a:rPr dirty="0" sz="1050" spc="-9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 </a:t>
            </a:r>
            <a:r>
              <a:rPr dirty="0" sz="1000" spc="-5">
                <a:latin typeface="SimSun"/>
                <a:cs typeface="SimSun"/>
              </a:rPr>
              <a:t>Deck.shuffle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pri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message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Running</a:t>
            </a:r>
            <a:r>
              <a:rPr dirty="0" sz="1000" spc="-5"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Deck.shuffle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then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traces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flow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execution.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1">
                <a:latin typeface="Trebuchet MS"/>
                <a:cs typeface="Trebuchet MS"/>
              </a:rPr>
              <a:t>262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4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2060"/>
            <a:ext cx="4572000" cy="937260"/>
            <a:chOff x="914400" y="1242060"/>
            <a:chExt cx="4572000" cy="9372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2060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436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414138"/>
            <a:ext cx="4572000" cy="397510"/>
            <a:chOff x="914400" y="3414138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41413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4157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0989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901643" y="650030"/>
            <a:ext cx="4598035" cy="7244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alternative,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the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3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name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string)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definition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method: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find_defining_class(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obj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method_name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typ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type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obj</a:t>
            </a:r>
            <a:r>
              <a:rPr dirty="0" sz="850" spc="-10">
                <a:latin typeface="SimSun"/>
                <a:cs typeface="SimSun"/>
              </a:rPr>
              <a:t>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mro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method_name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vars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typ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typ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'Method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method_name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5">
                <a:solidFill>
                  <a:srgbClr val="AA0000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not</a:t>
            </a:r>
            <a:r>
              <a:rPr dirty="0" sz="850" spc="5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found.'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20">
                <a:latin typeface="SimSun"/>
                <a:cs typeface="SimSun"/>
              </a:rPr>
              <a:t>find_defining_class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SimSun"/>
                <a:cs typeface="SimSun"/>
              </a:rPr>
              <a:t>mro</a:t>
            </a:r>
            <a:r>
              <a:rPr dirty="0" sz="1000" spc="-7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class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(types)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60">
                <a:latin typeface="Palatino Linotype"/>
                <a:cs typeface="Palatino Linotype"/>
              </a:rPr>
              <a:t>will</a:t>
            </a:r>
            <a:r>
              <a:rPr dirty="0" sz="1050" spc="-10">
                <a:latin typeface="Palatino Linotype"/>
                <a:cs typeface="Palatino Linotype"/>
              </a:rPr>
              <a:t> 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“MRO”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stands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“method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resolution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order,”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55">
                <a:latin typeface="Palatino Linotype"/>
                <a:cs typeface="Palatino Linotype"/>
              </a:rPr>
              <a:t>classes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searches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“resolve”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name—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is,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20">
                <a:latin typeface="Palatino Linotype"/>
                <a:cs typeface="Palatino Linotype"/>
              </a:rPr>
              <a:t>find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example,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let’s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instantiate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BridgeHand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find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defining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class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shuffle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6066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BridgeHand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'player </a:t>
            </a:r>
            <a:r>
              <a:rPr dirty="0" sz="850" spc="-25">
                <a:solidFill>
                  <a:srgbClr val="7E0610"/>
                </a:solidFill>
                <a:latin typeface="SimSun"/>
                <a:cs typeface="SimSun"/>
              </a:rPr>
              <a:t>3'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find_defining_class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'shuffle'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.Deck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shuffle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BridgeHand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 spc="-35" b="1">
                <a:latin typeface="Palatino Linotype"/>
                <a:cs typeface="Palatino Linotype"/>
              </a:rPr>
              <a:t>inheritance: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ability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class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modified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previ‐ </a:t>
            </a:r>
            <a:r>
              <a:rPr dirty="0" sz="1050" spc="-75">
                <a:latin typeface="Palatino Linotype"/>
                <a:cs typeface="Palatino Linotype"/>
              </a:rPr>
              <a:t>ously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35" b="1">
                <a:latin typeface="Palatino Linotype"/>
                <a:cs typeface="Palatino Linotype"/>
              </a:rPr>
              <a:t>encode: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represent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constructing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75">
                <a:latin typeface="Palatino Linotype"/>
                <a:cs typeface="Palatino Linotype"/>
              </a:rPr>
              <a:t>mapping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between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them.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5" b="1">
                <a:latin typeface="Palatino Linotype"/>
                <a:cs typeface="Palatino Linotype"/>
              </a:rPr>
              <a:t>class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variable:</a:t>
            </a:r>
            <a:r>
              <a:rPr dirty="0" sz="1050" spc="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variable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method.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latin typeface="Palatino Linotype"/>
                <a:cs typeface="Palatino Linotype"/>
              </a:rPr>
              <a:t>totally</a:t>
            </a:r>
            <a:r>
              <a:rPr dirty="0" sz="1050" spc="10" b="1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ordered:</a:t>
            </a:r>
            <a:r>
              <a:rPr dirty="0" sz="1050" spc="2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totally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ordered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any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ele‐ </a:t>
            </a:r>
            <a:r>
              <a:rPr dirty="0" sz="1050" spc="-55">
                <a:latin typeface="Palatino Linotype"/>
                <a:cs typeface="Palatino Linotype"/>
              </a:rPr>
              <a:t>ments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consistent.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delegation:</a:t>
            </a:r>
            <a:r>
              <a:rPr dirty="0" sz="1050" b="1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responsibility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or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work.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parent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class: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inherited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from.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child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class: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specialization:</a:t>
            </a:r>
            <a:r>
              <a:rPr dirty="0" sz="1050" spc="-30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55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inheritance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create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75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is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specialized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existing</a:t>
            </a:r>
            <a:r>
              <a:rPr dirty="0" sz="1050" spc="-10">
                <a:latin typeface="Palatino Linotype"/>
                <a:cs typeface="Palatino Linotype"/>
              </a:rPr>
              <a:t> class.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9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25" b="1">
                <a:latin typeface="Trebuchet MS"/>
                <a:cs typeface="Trebuchet MS"/>
              </a:rPr>
              <a:t>263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4444812"/>
            <a:ext cx="4572000" cy="397510"/>
            <a:chOff x="914400" y="4444812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444481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44464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818318"/>
            <a:ext cx="4572000" cy="829310"/>
            <a:chOff x="914400" y="5818318"/>
            <a:chExt cx="4572000" cy="8293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81831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09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8199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725881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7321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315"/>
              <a:t>Exercises</a:t>
            </a:r>
            <a:endParaRPr sz="1900"/>
          </a:p>
        </p:txBody>
      </p:sp>
      <p:sp>
        <p:nvSpPr>
          <p:cNvPr id="10" name="object 10" descr=""/>
          <p:cNvSpPr txBox="1"/>
          <p:nvPr/>
        </p:nvSpPr>
        <p:spPr>
          <a:xfrm>
            <a:off x="901637" y="909185"/>
            <a:ext cx="4598035" cy="625665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59"/>
              </a:spcBef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well,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40">
                <a:latin typeface="Palatino Linotype"/>
                <a:cs typeface="Palatino Linotype"/>
              </a:rPr>
              <a:t>oriented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readable, </a:t>
            </a:r>
            <a:r>
              <a:rPr dirty="0" sz="1050" spc="-45">
                <a:latin typeface="Palatino Linotype"/>
                <a:cs typeface="Palatino Linotype"/>
              </a:rPr>
              <a:t>testable,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reusable.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complicated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main‐ </a:t>
            </a:r>
            <a:r>
              <a:rPr dirty="0" sz="1050" spc="-25">
                <a:latin typeface="Palatino Linotype"/>
                <a:cs typeface="Palatino Linotype"/>
              </a:rPr>
              <a:t>tain.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result,</a:t>
            </a:r>
            <a:r>
              <a:rPr dirty="0" sz="1050" spc="-10">
                <a:latin typeface="Palatino Linotype"/>
                <a:cs typeface="Palatino Linotype"/>
              </a:rPr>
              <a:t> OOP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topic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controversy—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people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peo‐ </a:t>
            </a:r>
            <a:r>
              <a:rPr dirty="0" sz="1050" spc="-70">
                <a:latin typeface="Palatino Linotype"/>
                <a:cs typeface="Palatino Linotype"/>
              </a:rPr>
              <a:t>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don’t.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learn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topic,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45">
                <a:latin typeface="Palatino Linotype"/>
                <a:cs typeface="Palatino Linotype"/>
              </a:rPr>
              <a:t>oriented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programming?”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people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say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‘favor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composition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over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inheritance’?”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Liskov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substitution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principle?”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object-</a:t>
            </a:r>
            <a:r>
              <a:rPr dirty="0" sz="1050" spc="-45">
                <a:latin typeface="Palatino Linotype"/>
                <a:cs typeface="Palatino Linotype"/>
              </a:rPr>
              <a:t>oriented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language?”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requirements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totally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ordered?”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1000"/>
              </a:spcBef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always,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help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exercises.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05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tract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bridge,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50">
                <a:latin typeface="Palatino Linotype"/>
                <a:cs typeface="Palatino Linotype"/>
              </a:rPr>
              <a:t>“</a:t>
            </a:r>
            <a:r>
              <a:rPr dirty="0" sz="1050" spc="-30">
                <a:latin typeface="Palatino Linotype"/>
                <a:cs typeface="Palatino Linotype"/>
              </a:rPr>
              <a:t>tric</a:t>
            </a:r>
            <a:r>
              <a:rPr dirty="0" sz="1050" spc="-90">
                <a:latin typeface="Palatino Linotype"/>
                <a:cs typeface="Palatino Linotype"/>
              </a:rPr>
              <a:t>k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round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yers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one </a:t>
            </a:r>
            <a:r>
              <a:rPr dirty="0" sz="1050" spc="-45">
                <a:latin typeface="Palatino Linotype"/>
                <a:cs typeface="Palatino Linotype"/>
              </a:rPr>
              <a:t>card.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those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Deck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Trick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trick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contract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bridge."""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2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8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trick,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yer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leads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3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Dia‐ </a:t>
            </a:r>
            <a:r>
              <a:rPr dirty="0" sz="1050" spc="-55">
                <a:latin typeface="Palatino Linotype"/>
                <a:cs typeface="Palatino Linotype"/>
              </a:rPr>
              <a:t>monds,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Diamonds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“led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suit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third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yers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60">
                <a:latin typeface="Palatino Linotype"/>
                <a:cs typeface="Palatino Linotype"/>
              </a:rPr>
              <a:t>follow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suit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suit.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fourth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yer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0">
                <a:latin typeface="Palatino Linotype"/>
                <a:cs typeface="Palatino Linotype"/>
              </a:rPr>
              <a:t>card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suit,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cannot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trick.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winner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 </a:t>
            </a:r>
            <a:r>
              <a:rPr dirty="0" sz="1050" spc="-35">
                <a:latin typeface="Palatino Linotype"/>
                <a:cs typeface="Palatino Linotype"/>
              </a:rPr>
              <a:t>trick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ye</a:t>
            </a:r>
            <a:r>
              <a:rPr dirty="0" sz="1050" spc="-125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highest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suit:</a:t>
            </a:r>
            <a:endParaRPr sz="1050">
              <a:latin typeface="Palatino Linotype"/>
              <a:cs typeface="Palatino Linotype"/>
            </a:endParaRPr>
          </a:p>
          <a:p>
            <a:pPr algn="r" marR="3470275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),</a:t>
            </a:r>
            <a:endParaRPr sz="850">
              <a:latin typeface="SimSun"/>
              <a:cs typeface="SimSun"/>
            </a:endParaRPr>
          </a:p>
          <a:p>
            <a:pPr algn="r" marR="34163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20">
                <a:latin typeface="SimSun"/>
                <a:cs typeface="SimSun"/>
              </a:rPr>
              <a:t>),</a:t>
            </a:r>
            <a:endParaRPr sz="850">
              <a:latin typeface="SimSun"/>
              <a:cs typeface="SimSun"/>
            </a:endParaRPr>
          </a:p>
          <a:p>
            <a:pPr algn="r" marR="34163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12</a:t>
            </a:r>
            <a:r>
              <a:rPr dirty="0" sz="850" spc="-20">
                <a:latin typeface="SimSun"/>
                <a:cs typeface="SimSun"/>
              </a:rPr>
              <a:t>),</a:t>
            </a:r>
            <a:endParaRPr sz="850">
              <a:latin typeface="SimSun"/>
              <a:cs typeface="SimSun"/>
            </a:endParaRPr>
          </a:p>
          <a:p>
            <a:pPr algn="r" marR="34163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13</a:t>
            </a:r>
            <a:r>
              <a:rPr dirty="0" sz="850" spc="-20">
                <a:latin typeface="SimSun"/>
                <a:cs typeface="SimSun"/>
              </a:rPr>
              <a:t>)]</a:t>
            </a:r>
            <a:endParaRPr sz="850">
              <a:latin typeface="SimSun"/>
              <a:cs typeface="SimSun"/>
            </a:endParaRPr>
          </a:p>
          <a:p>
            <a:pPr marL="39370" marR="3470275">
              <a:lnSpc>
                <a:spcPts val="850"/>
              </a:lnSpc>
              <a:spcBef>
                <a:spcPts val="8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trick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Trick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trick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3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 marL="39370" marR="3632200">
              <a:lnSpc>
                <a:spcPts val="850"/>
              </a:lnSpc>
              <a:spcBef>
                <a:spcPts val="85"/>
              </a:spcBef>
            </a:pPr>
            <a:r>
              <a:rPr dirty="0" sz="850">
                <a:latin typeface="SimSun"/>
                <a:cs typeface="SimSun"/>
              </a:rPr>
              <a:t>10 of </a:t>
            </a:r>
            <a:r>
              <a:rPr dirty="0" sz="850" spc="-10">
                <a:latin typeface="SimSun"/>
                <a:cs typeface="SimSun"/>
              </a:rPr>
              <a:t>Diamonds </a:t>
            </a:r>
            <a:r>
              <a:rPr dirty="0" sz="850">
                <a:latin typeface="SimSun"/>
                <a:cs typeface="SimSun"/>
              </a:rPr>
              <a:t>Queen of </a:t>
            </a:r>
            <a:r>
              <a:rPr dirty="0" sz="850" spc="-10">
                <a:latin typeface="SimSun"/>
                <a:cs typeface="SimSun"/>
              </a:rPr>
              <a:t>Diamonds </a:t>
            </a:r>
            <a:r>
              <a:rPr dirty="0" sz="850">
                <a:latin typeface="SimSun"/>
                <a:cs typeface="SimSun"/>
              </a:rPr>
              <a:t>King of </a:t>
            </a:r>
            <a:r>
              <a:rPr dirty="0" sz="850" spc="-10">
                <a:latin typeface="SimSun"/>
                <a:cs typeface="SimSun"/>
              </a:rPr>
              <a:t>Hearts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708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264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153862"/>
            <a:ext cx="4572000" cy="1908810"/>
            <a:chOff x="914400" y="2153862"/>
            <a:chExt cx="4572000" cy="19088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153862"/>
              <a:ext cx="4572000" cy="1908810"/>
            </a:xfrm>
            <a:custGeom>
              <a:avLst/>
              <a:gdLst/>
              <a:ahLst/>
              <a:cxnLst/>
              <a:rect l="l" t="t" r="r" b="b"/>
              <a:pathLst>
                <a:path w="4572000" h="1908810">
                  <a:moveTo>
                    <a:pt x="4572000" y="1908492"/>
                  </a:moveTo>
                  <a:lnTo>
                    <a:pt x="0" y="19084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9084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1554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901640" y="657564"/>
            <a:ext cx="4598035" cy="665924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Trick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find_winner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Trick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wins.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previous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index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5">
                <a:latin typeface="Palatino Linotype"/>
                <a:cs typeface="Palatino Linotype"/>
              </a:rPr>
              <a:t>winning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2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next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few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functions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poker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hands.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familiar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poker,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I’ll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explain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know.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We’ll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following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represent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poker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hands: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PokerHand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just"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poker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hand."""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4711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get_suit_counts(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687070" marR="28765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get_rank_counts(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687070" marR="28765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rank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get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00" spc="-10">
                <a:latin typeface="SimSun"/>
                <a:cs typeface="SimSun"/>
              </a:rPr>
              <a:t>PokerHand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help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exercises: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dirty="0" sz="1000" spc="-10">
                <a:latin typeface="SimSun"/>
                <a:cs typeface="SimSun"/>
              </a:rPr>
              <a:t>get_suit_counts</a:t>
            </a:r>
            <a:endParaRPr sz="1000">
              <a:latin typeface="SimSun"/>
              <a:cs typeface="SimSun"/>
            </a:endParaRPr>
          </a:p>
          <a:p>
            <a:pPr algn="just" marL="241300" marR="5080">
              <a:lnSpc>
                <a:spcPct val="100000"/>
              </a:lnSpc>
              <a:spcBef>
                <a:spcPts val="70"/>
              </a:spcBef>
            </a:pPr>
            <a:r>
              <a:rPr dirty="0" sz="1050" spc="-50">
                <a:latin typeface="Palatino Linotype"/>
                <a:cs typeface="Palatino Linotype"/>
              </a:rPr>
              <a:t>Loops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through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cards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PokerHand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counts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cards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each suit, 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returns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maps</a:t>
            </a:r>
            <a:r>
              <a:rPr dirty="0" sz="1050" spc="-10">
                <a:latin typeface="Palatino Linotype"/>
                <a:cs typeface="Palatino Linotype"/>
              </a:rPr>
              <a:t> 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each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appears.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0">
                <a:latin typeface="SimSun"/>
                <a:cs typeface="SimSun"/>
              </a:rPr>
              <a:t>get_rank_counts</a:t>
            </a:r>
            <a:endParaRPr sz="1000">
              <a:latin typeface="SimSun"/>
              <a:cs typeface="SimSun"/>
            </a:endParaRPr>
          </a:p>
          <a:p>
            <a:pPr algn="just" marL="241300" marR="5080" indent="-635">
              <a:lnSpc>
                <a:spcPct val="100000"/>
              </a:lnSpc>
              <a:spcBef>
                <a:spcPts val="10"/>
              </a:spcBef>
            </a:pPr>
            <a:r>
              <a:rPr dirty="0" sz="1050" spc="-50">
                <a:latin typeface="Palatino Linotype"/>
                <a:cs typeface="Palatino Linotype"/>
              </a:rPr>
              <a:t>Does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ps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ppears.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All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</a:t>
            </a:r>
            <a:r>
              <a:rPr dirty="0" sz="1050" spc="-20">
                <a:latin typeface="Palatino Linotype"/>
                <a:cs typeface="Palatino Linotype"/>
              </a:rPr>
              <a:t> that </a:t>
            </a:r>
            <a:r>
              <a:rPr dirty="0" sz="1050" spc="-45">
                <a:latin typeface="Palatino Linotype"/>
                <a:cs typeface="Palatino Linotype"/>
              </a:rPr>
              <a:t>follow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only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features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have </a:t>
            </a:r>
            <a:r>
              <a:rPr dirty="0" sz="1050" spc="-50">
                <a:latin typeface="Palatino Linotype"/>
                <a:cs typeface="Palatino Linotype"/>
              </a:rPr>
              <a:t>learned</a:t>
            </a:r>
            <a:r>
              <a:rPr dirty="0" sz="1050" spc="-20">
                <a:latin typeface="Palatino Linotype"/>
                <a:cs typeface="Palatino Linotype"/>
              </a:rPr>
              <a:t> 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far,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difficult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exerci‐ </a:t>
            </a:r>
            <a:r>
              <a:rPr dirty="0" sz="1050" spc="-60">
                <a:latin typeface="Palatino Linotype"/>
                <a:cs typeface="Palatino Linotype"/>
              </a:rPr>
              <a:t>ses.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encourage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help.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problems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often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well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advice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strategies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algorithms.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Then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either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yourself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 ask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code,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might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relevant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class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prompt.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7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first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we’ll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has_flush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hand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“flush”—</a:t>
            </a:r>
            <a:r>
              <a:rPr dirty="0" sz="1050" spc="-6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least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five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suit.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745016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265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5006168"/>
            <a:ext cx="4572000" cy="505459"/>
            <a:chOff x="914400" y="5006168"/>
            <a:chExt cx="4572000" cy="505459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500616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500775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633871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6416503"/>
            <a:ext cx="4572000" cy="289560"/>
            <a:chOff x="914400" y="641650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64165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64180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69934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01642" y="650030"/>
            <a:ext cx="4598035" cy="6250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most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varieties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poke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either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five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seven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exotic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vari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tions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cards.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regardless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make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5"/>
              </a:spcBef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has_straight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whether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straight, </a:t>
            </a:r>
            <a:r>
              <a:rPr dirty="0" sz="1050" spc="-50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consecutive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ranks.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contains </a:t>
            </a:r>
            <a:r>
              <a:rPr dirty="0" sz="1050" spc="-60">
                <a:latin typeface="Palatino Linotype"/>
                <a:cs typeface="Palatino Linotype"/>
              </a:rPr>
              <a:t>ranks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5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6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7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8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9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straight.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2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after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King,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Ace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2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4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5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10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00" spc="-5">
                <a:latin typeface="SimSun"/>
                <a:cs typeface="SimSun"/>
              </a:rPr>
              <a:t>Jack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Queen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King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Ace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cannot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“wr</a:t>
            </a: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p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around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King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Ace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2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4</a:t>
            </a:r>
            <a:r>
              <a:rPr dirty="0" sz="1000" spc="-16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2400"/>
              </a:lnSpc>
              <a:spcBef>
                <a:spcPts val="434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flush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five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flush—th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consecutive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PokerHand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straig</a:t>
            </a:r>
            <a:r>
              <a:rPr dirty="0" sz="1050" spc="-85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flush.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050" spc="-10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poker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rank.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PokerHand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pair.</a:t>
            </a:r>
            <a:endParaRPr sz="1050">
              <a:latin typeface="Palatino Linotype"/>
              <a:cs typeface="Palatino Linotype"/>
            </a:endParaRPr>
          </a:p>
          <a:p>
            <a:pPr marL="12700" marR="1936750">
              <a:lnSpc>
                <a:spcPct val="1476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outline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started. </a:t>
            </a: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pair: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pair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deepcopy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bad_hand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put_card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))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147320" indent="-108585">
              <a:lnSpc>
                <a:spcPts val="935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Hearts</a:t>
            </a:r>
            <a:endParaRPr sz="850">
              <a:latin typeface="SimSun"/>
              <a:cs typeface="SimSun"/>
            </a:endParaRPr>
          </a:p>
          <a:p>
            <a:pPr marL="147320" indent="-108585">
              <a:lnSpc>
                <a:spcPts val="850"/>
              </a:lnSpc>
              <a:buAutoNum type="arabicPlain" startAt="2"/>
              <a:tabLst>
                <a:tab pos="147955" algn="l"/>
              </a:tabLst>
            </a:pPr>
            <a:r>
              <a:rPr dirty="0" sz="850">
                <a:latin typeface="SimSun"/>
                <a:cs typeface="SimSun"/>
              </a:rPr>
              <a:t>of </a:t>
            </a:r>
            <a:r>
              <a:rPr dirty="0" sz="850" spc="-10">
                <a:latin typeface="SimSun"/>
                <a:cs typeface="SimSun"/>
              </a:rPr>
              <a:t>Spades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7 of </a:t>
            </a:r>
            <a:r>
              <a:rPr dirty="0" sz="850" spc="-10">
                <a:latin typeface="SimSun"/>
                <a:cs typeface="SimSun"/>
              </a:rPr>
              <a:t>Clubs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2 of </a:t>
            </a:r>
            <a:r>
              <a:rPr dirty="0" sz="850" spc="-10">
                <a:latin typeface="SimSun"/>
                <a:cs typeface="SimSun"/>
              </a:rPr>
              <a:t>Diamonds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tabLst>
                <a:tab pos="1064895" algn="l"/>
              </a:tabLst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pair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has_pair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should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return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1683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266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340485"/>
            <a:ext cx="4572000" cy="289560"/>
            <a:chOff x="914400" y="1340485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34048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3420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191738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476133"/>
            <a:ext cx="4572000" cy="3096260"/>
            <a:chOff x="914400" y="3476133"/>
            <a:chExt cx="4572000" cy="30962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476133"/>
              <a:ext cx="4572000" cy="3096260"/>
            </a:xfrm>
            <a:custGeom>
              <a:avLst/>
              <a:gdLst/>
              <a:ahLst/>
              <a:cxnLst/>
              <a:rect l="l" t="t" r="r" b="b"/>
              <a:pathLst>
                <a:path w="4572000" h="3096259">
                  <a:moveTo>
                    <a:pt x="4572000" y="3095942"/>
                  </a:moveTo>
                  <a:lnTo>
                    <a:pt x="0" y="3095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095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4777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901648" y="728091"/>
            <a:ext cx="4598035" cy="6604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  <a:tabLst>
                <a:tab pos="1280795" algn="l"/>
              </a:tabLst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bad_hand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has_pair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should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return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tabLst>
                <a:tab pos="1280795" algn="l"/>
              </a:tabLst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good_hand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has_pair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should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return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False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False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405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full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house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three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 </a:t>
            </a:r>
            <a:r>
              <a:rPr dirty="0" sz="1050" spc="-45">
                <a:latin typeface="Palatino Linotype"/>
                <a:cs typeface="Palatino Linotype"/>
              </a:rPr>
              <a:t>rank.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</a:t>
            </a:r>
            <a:r>
              <a:rPr dirty="0" sz="1050" spc="-35">
                <a:latin typeface="Palatino Linotype"/>
                <a:cs typeface="Palatino Linotype"/>
              </a:rPr>
              <a:t>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PokerHand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full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house.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5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utiona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difficult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debug. </a:t>
            </a:r>
            <a:r>
              <a:rPr dirty="0" sz="1050" spc="-50">
                <a:latin typeface="Palatino Linotype"/>
                <a:cs typeface="Palatino Linotype"/>
              </a:rPr>
              <a:t>Consider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Kangaroo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"""A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Kangaroo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0" i="1">
                <a:solidFill>
                  <a:srgbClr val="7F2604"/>
                </a:solidFill>
                <a:latin typeface="Courier New"/>
                <a:cs typeface="Courier New"/>
              </a:rPr>
              <a:t>marsupial."""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latin typeface="SimSun"/>
                <a:cs typeface="SimSun"/>
              </a:rPr>
              <a:t>[]):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"""Initialize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pouch</a:t>
            </a:r>
            <a:r>
              <a:rPr dirty="0" sz="850" spc="-5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contents.</a:t>
            </a:r>
            <a:endParaRPr sz="850">
              <a:latin typeface="Courier New"/>
              <a:cs typeface="Courier New"/>
            </a:endParaRPr>
          </a:p>
          <a:p>
            <a:pPr marL="471170">
              <a:lnSpc>
                <a:spcPts val="935"/>
              </a:lnSpc>
              <a:spcBef>
                <a:spcPts val="680"/>
              </a:spcBef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name: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string</a:t>
            </a:r>
            <a:endParaRPr sz="850">
              <a:latin typeface="Courier New"/>
              <a:cs typeface="Courier New"/>
            </a:endParaRPr>
          </a:p>
          <a:p>
            <a:pPr marL="471170" marR="2336800">
              <a:lnSpc>
                <a:spcPts val="850"/>
              </a:lnSpc>
              <a:spcBef>
                <a:spcPts val="85"/>
              </a:spcBef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contents: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initial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pouch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contents.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471170" marR="2822575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name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contents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1365250">
              <a:lnSpc>
                <a:spcPts val="850"/>
              </a:lnSpc>
              <a:spcBef>
                <a:spcPts val="85"/>
              </a:spcBef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"""Return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string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representation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this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Kangaroo.</a:t>
            </a:r>
            <a:r>
              <a:rPr dirty="0" sz="850" spc="-8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4711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[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has pouch contents:' </a:t>
            </a:r>
            <a:r>
              <a:rPr dirty="0" sz="850" spc="-5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obj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174875">
              <a:lnSpc>
                <a:spcPts val="850"/>
              </a:lnSpc>
              <a:spcBef>
                <a:spcPts val="85"/>
              </a:spcBef>
              <a:tabLst>
                <a:tab pos="1172845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	'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object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obj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put_in_pouch(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"""Adds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new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item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pouch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contents.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471170" marR="2822575">
              <a:lnSpc>
                <a:spcPts val="850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item: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object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to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be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added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471170">
              <a:lnSpc>
                <a:spcPts val="850"/>
              </a:lnSpc>
            </a:pP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item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00" spc="-5">
                <a:latin typeface="SimSun"/>
                <a:cs typeface="SimSun"/>
              </a:rPr>
              <a:t>init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24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parameters: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name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contents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optional—if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 </a:t>
            </a:r>
            <a:r>
              <a:rPr dirty="0" sz="1050" spc="-60">
                <a:latin typeface="Palatino Linotype"/>
                <a:cs typeface="Palatino Linotype"/>
              </a:rPr>
              <a:t>provided,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def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pty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str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2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te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pouch.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put_in_pouch</a:t>
            </a:r>
            <a:r>
              <a:rPr dirty="0" sz="1000" spc="-22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ppends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contents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45019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267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397510"/>
            <a:chOff x="914400" y="108957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822999"/>
            <a:ext cx="4572000" cy="505459"/>
            <a:chOff x="914400" y="1822999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82299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8245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2671908"/>
            <a:ext cx="4572000" cy="289560"/>
            <a:chOff x="914400" y="2671908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26719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26734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35726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3894197"/>
            <a:ext cx="4572000" cy="289560"/>
            <a:chOff x="914400" y="3894197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389419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389578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479494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655" y="657564"/>
            <a:ext cx="4598035" cy="4776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10">
                <a:latin typeface="Palatino Linotype"/>
                <a:cs typeface="Palatino Linotype"/>
              </a:rPr>
              <a:t>Now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let’s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works.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create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two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Kangaroo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names </a:t>
            </a:r>
            <a:r>
              <a:rPr dirty="0" sz="1050" spc="-75">
                <a:latin typeface="Palatino Linotype"/>
                <a:cs typeface="Palatino Linotype"/>
              </a:rPr>
              <a:t>Kanga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Roo: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2004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kanga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Kangaroo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'Kanga'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roo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Kangaroo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'Roo'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Kanga’s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pouch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we’ll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strings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Roo: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2930525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kanga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put_in_pouch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'wallet'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kanga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put_in_pouch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'car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keys'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kanga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put_in_pouch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roo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kanga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seems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everything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worked: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kanga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50">
              <a:latin typeface="SimSun"/>
              <a:cs typeface="SimSun"/>
            </a:endParaRPr>
          </a:p>
          <a:p>
            <a:pPr marL="255270" marR="3200400" indent="-2159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Kanga has pouch </a:t>
            </a:r>
            <a:r>
              <a:rPr dirty="0" sz="850" spc="-10">
                <a:latin typeface="SimSun"/>
                <a:cs typeface="SimSun"/>
              </a:rPr>
              <a:t>contents: 'wallet'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'car </a:t>
            </a:r>
            <a:r>
              <a:rPr dirty="0" sz="850" spc="-10">
                <a:latin typeface="SimSun"/>
                <a:cs typeface="SimSun"/>
              </a:rPr>
              <a:t>keys'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&lt;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.Kangaroo object at </a:t>
            </a:r>
            <a:r>
              <a:rPr dirty="0" sz="850" spc="-10">
                <a:latin typeface="SimSun"/>
                <a:cs typeface="SimSun"/>
              </a:rPr>
              <a:t>0x7f1f4f1a1330&gt;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print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roo</a:t>
            </a:r>
            <a:r>
              <a:rPr dirty="0" sz="1050" spc="-20">
                <a:latin typeface="Palatino Linotype"/>
                <a:cs typeface="Palatino Linotype"/>
              </a:rPr>
              <a:t>?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roo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marL="255270" marR="3308350" indent="-21590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Roo has pouch </a:t>
            </a:r>
            <a:r>
              <a:rPr dirty="0" sz="850" spc="-10">
                <a:latin typeface="SimSun"/>
                <a:cs typeface="SimSun"/>
              </a:rPr>
              <a:t>contents: 'wallet'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>
                <a:latin typeface="SimSun"/>
                <a:cs typeface="SimSun"/>
              </a:rPr>
              <a:t>'car </a:t>
            </a:r>
            <a:r>
              <a:rPr dirty="0" sz="850" spc="-10">
                <a:latin typeface="SimSun"/>
                <a:cs typeface="SimSun"/>
              </a:rPr>
              <a:t>keys'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&lt;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.Kangaroo object at </a:t>
            </a:r>
            <a:r>
              <a:rPr dirty="0" sz="850" spc="-10">
                <a:latin typeface="SimSun"/>
                <a:cs typeface="SimSun"/>
              </a:rPr>
              <a:t>0x7f1f4f1a1330&gt;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5">
                <a:latin typeface="Palatino Linotype"/>
                <a:cs typeface="Palatino Linotype"/>
              </a:rPr>
              <a:t>Roo’s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pouch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contents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Kanga’s,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reference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roo</a:t>
            </a:r>
            <a:r>
              <a:rPr dirty="0" sz="1050" spc="-20">
                <a:latin typeface="Palatino Linotype"/>
                <a:cs typeface="Palatino Linotype"/>
              </a:rPr>
              <a:t>!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4700"/>
              </a:lnSpc>
              <a:spcBef>
                <a:spcPts val="545"/>
              </a:spcBef>
            </a:pPr>
            <a:r>
              <a:rPr dirty="0" sz="1050" spc="-10">
                <a:latin typeface="Palatino Linotype"/>
                <a:cs typeface="Palatino Linotype"/>
              </a:rPr>
              <a:t>See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figure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what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went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wrong.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Then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ask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virtual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assistant,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“What’s </a:t>
            </a:r>
            <a:r>
              <a:rPr dirty="0" sz="1050" spc="-75">
                <a:latin typeface="Palatino Linotype"/>
                <a:cs typeface="Palatino Linotype"/>
              </a:rPr>
              <a:t>wrong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program?”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paste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definition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Kangaroo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59" y="7731125"/>
            <a:ext cx="1301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268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17: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Inheritance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14400" y="5155713"/>
            <a:ext cx="4572000" cy="397510"/>
            <a:chOff x="914400" y="5155713"/>
            <a:chExt cx="4572000" cy="397510"/>
          </a:xfrm>
        </p:grpSpPr>
        <p:sp>
          <p:nvSpPr>
            <p:cNvPr id="4" name="object 4" descr=""/>
            <p:cNvSpPr/>
            <p:nvPr/>
          </p:nvSpPr>
          <p:spPr>
            <a:xfrm>
              <a:off x="914400" y="515571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4400" y="515730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914400" y="584056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" name="object 7" descr=""/>
          <p:cNvGrpSpPr/>
          <p:nvPr/>
        </p:nvGrpSpPr>
        <p:grpSpPr>
          <a:xfrm>
            <a:off x="914400" y="6162102"/>
            <a:ext cx="4572000" cy="505459"/>
            <a:chOff x="914400" y="6162102"/>
            <a:chExt cx="4572000" cy="505459"/>
          </a:xfrm>
        </p:grpSpPr>
        <p:sp>
          <p:nvSpPr>
            <p:cNvPr id="8" name="object 8" descr=""/>
            <p:cNvSpPr/>
            <p:nvPr/>
          </p:nvSpPr>
          <p:spPr>
            <a:xfrm>
              <a:off x="914400" y="616210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59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914400" y="61636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/>
          <p:nvPr/>
        </p:nvSpPr>
        <p:spPr>
          <a:xfrm>
            <a:off x="914400" y="695489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18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022108" y="1212513"/>
            <a:ext cx="1477010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70"/>
              <a:t>Python</a:t>
            </a:r>
            <a:r>
              <a:rPr dirty="0" spc="-340"/>
              <a:t> </a:t>
            </a:r>
            <a:r>
              <a:rPr dirty="0" spc="-390"/>
              <a:t>Extras</a:t>
            </a:r>
          </a:p>
        </p:txBody>
      </p:sp>
      <p:sp>
        <p:nvSpPr>
          <p:cNvPr id="13" name="object 13" descr=""/>
          <p:cNvSpPr txBox="1"/>
          <p:nvPr/>
        </p:nvSpPr>
        <p:spPr>
          <a:xfrm>
            <a:off x="901602" y="3044843"/>
            <a:ext cx="4598035" cy="3816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goals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book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teach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little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Python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possible. </a:t>
            </a:r>
            <a:r>
              <a:rPr dirty="0" sz="1050" spc="-20">
                <a:latin typeface="Palatino Linotype"/>
                <a:cs typeface="Palatino Linotype"/>
              </a:rPr>
              <a:t>When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ways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something,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picked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avoided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mentioning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other.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second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exercise.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40">
                <a:latin typeface="Palatino Linotype"/>
                <a:cs typeface="Palatino Linotype"/>
              </a:rPr>
              <a:t>Now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want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go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good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bits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left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behind.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provides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60">
                <a:latin typeface="Palatino Linotype"/>
                <a:cs typeface="Palatino Linotype"/>
              </a:rPr>
              <a:t>features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really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necessary—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without </a:t>
            </a:r>
            <a:r>
              <a:rPr dirty="0" sz="1050" spc="-70">
                <a:latin typeface="Palatino Linotype"/>
                <a:cs typeface="Palatino Linotype"/>
              </a:rPr>
              <a:t>them—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code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that’s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concise,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readable,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efficient,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three.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85" b="1">
                <a:latin typeface="Trebuchet MS"/>
                <a:cs typeface="Trebuchet MS"/>
              </a:rPr>
              <a:t>Sets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SimSun"/>
                <a:cs typeface="SimSun"/>
              </a:rPr>
              <a:t>set</a:t>
            </a:r>
            <a:r>
              <a:rPr dirty="0" sz="1000" spc="-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collection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unique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empty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function: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01002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set()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elements: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3956050">
              <a:lnSpc>
                <a:spcPts val="850"/>
              </a:lnSpc>
              <a:spcBef>
                <a:spcPts val="8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{'a', </a:t>
            </a:r>
            <a:r>
              <a:rPr dirty="0" sz="850" spc="-20">
                <a:latin typeface="SimSun"/>
                <a:cs typeface="SimSun"/>
              </a:rPr>
              <a:t>'b'}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333759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269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397510"/>
            <a:chOff x="914400" y="929554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144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095963"/>
            <a:ext cx="4572000" cy="397510"/>
            <a:chOff x="914400" y="2095963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09596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09755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78081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254838"/>
            <a:ext cx="4572000" cy="289560"/>
            <a:chOff x="914400" y="3254838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25483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2564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83173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4465783"/>
            <a:ext cx="4572000" cy="721360"/>
            <a:chOff x="914400" y="4465783"/>
            <a:chExt cx="4572000" cy="7213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4465783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44673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914400" y="5850632"/>
            <a:ext cx="4572000" cy="505459"/>
            <a:chOff x="914400" y="5850632"/>
            <a:chExt cx="4572000" cy="505459"/>
          </a:xfrm>
        </p:grpSpPr>
        <p:sp>
          <p:nvSpPr>
            <p:cNvPr id="18" name="object 18" descr=""/>
            <p:cNvSpPr/>
            <p:nvPr/>
          </p:nvSpPr>
          <p:spPr>
            <a:xfrm>
              <a:off x="914400" y="5850632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14400" y="58522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01636" y="657564"/>
            <a:ext cx="4598035" cy="6290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pass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set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401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'acd'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{'a', 'c', </a:t>
            </a:r>
            <a:r>
              <a:rPr dirty="0" sz="850" spc="-20">
                <a:latin typeface="SimSun"/>
                <a:cs typeface="SimSun"/>
              </a:rPr>
              <a:t>'d'}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set</a:t>
            </a:r>
            <a:r>
              <a:rPr dirty="0" sz="1050">
                <a:latin typeface="Palatino Linotype"/>
                <a:cs typeface="Palatino Linotype"/>
              </a:rPr>
              <a:t>. 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add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that’s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already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there,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effect: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95605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{'a', </a:t>
            </a:r>
            <a:r>
              <a:rPr dirty="0" sz="850" spc="-20">
                <a:latin typeface="SimSun"/>
                <a:cs typeface="SimSun"/>
              </a:rPr>
              <a:t>'b'}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6985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 </a:t>
            </a:r>
            <a:r>
              <a:rPr dirty="0" sz="1050" spc="-55">
                <a:latin typeface="Palatino Linotype"/>
                <a:cs typeface="Palatino Linotype"/>
              </a:rPr>
              <a:t>unique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{'a', 'b', </a:t>
            </a:r>
            <a:r>
              <a:rPr dirty="0" sz="850" spc="-20">
                <a:latin typeface="SimSun"/>
                <a:cs typeface="SimSun"/>
              </a:rPr>
              <a:t>'n'}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done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concisely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efficie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tly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sets.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0">
                <a:latin typeface="Palatino Linotype"/>
                <a:cs typeface="Palatino Linotype"/>
              </a:rPr>
              <a:t>or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a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pter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11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362325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has_duplicates(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version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adds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8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then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fewer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U</a:t>
            </a:r>
            <a:r>
              <a:rPr dirty="0" sz="1050" spc="-55">
                <a:latin typeface="Palatino Linotype"/>
                <a:cs typeface="Palatino Linotype"/>
              </a:rPr>
              <a:t>sing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sets,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like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3623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has_duplicates(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65">
                <a:latin typeface="Palatino Linotype"/>
                <a:cs typeface="Palatino Linotype"/>
              </a:rPr>
              <a:t>An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once,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than </a:t>
            </a:r>
            <a:r>
              <a:rPr dirty="0" sz="1050" spc="-40">
                <a:latin typeface="Palatino Linotype"/>
                <a:cs typeface="Palatino Linotype"/>
              </a:rPr>
              <a:t>once,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duplic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tes,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same </a:t>
            </a:r>
            <a:r>
              <a:rPr dirty="0" sz="1050" spc="-60">
                <a:latin typeface="Palatino Linotype"/>
                <a:cs typeface="Palatino Linotype"/>
              </a:rPr>
              <a:t>size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1733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270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49594"/>
            <a:ext cx="4572000" cy="289560"/>
            <a:chOff x="914400" y="124959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4959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5118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2649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68073"/>
            <a:ext cx="4572000" cy="289560"/>
            <a:chOff x="914400" y="2468073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6807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696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04497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839038"/>
            <a:ext cx="4572000" cy="829310"/>
            <a:chOff x="914400" y="3839038"/>
            <a:chExt cx="4572000" cy="8293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83903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84062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5339372"/>
            <a:ext cx="4572000" cy="289560"/>
            <a:chOff x="914400" y="5339372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33937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34095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6528641"/>
            <a:ext cx="4572000" cy="289560"/>
            <a:chOff x="914400" y="6528641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652864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653022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710553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37" y="657564"/>
            <a:ext cx="4598035" cy="6354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imSun"/>
                <a:cs typeface="SimSun"/>
              </a:rPr>
              <a:t>set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methods</a:t>
            </a:r>
            <a:r>
              <a:rPr dirty="0" sz="1050" spc="-20">
                <a:latin typeface="Palatino Linotype"/>
                <a:cs typeface="Palatino Linotype"/>
              </a:rPr>
              <a:t> that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perform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set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operations.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union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com‐ </a:t>
            </a:r>
            <a:r>
              <a:rPr dirty="0" sz="1050" spc="-60">
                <a:latin typeface="Palatino Linotype"/>
                <a:cs typeface="Palatino Linotype"/>
              </a:rPr>
              <a:t>putes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appear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either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s1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union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{'a', 'b', 'c', </a:t>
            </a:r>
            <a:r>
              <a:rPr dirty="0" sz="850" spc="-20">
                <a:latin typeface="SimSun"/>
                <a:cs typeface="SimSun"/>
              </a:rPr>
              <a:t>'d'}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Some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arithmetic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tors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sets.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-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performs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 </a:t>
            </a:r>
            <a:r>
              <a:rPr dirty="0" sz="1050" spc="-40">
                <a:latin typeface="Palatino Linotype"/>
                <a:cs typeface="Palatino Linotype"/>
              </a:rPr>
              <a:t>subtraction</a:t>
            </a:r>
            <a:r>
              <a:rPr dirty="0" sz="1050" spc="-55">
                <a:latin typeface="Palatino Linotype"/>
                <a:cs typeface="Palatino Linotype"/>
              </a:rPr>
              <a:t>—the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t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 i="1">
                <a:latin typeface="Palatino Linotype"/>
                <a:cs typeface="Palatino Linotype"/>
              </a:rPr>
              <a:t>n</a:t>
            </a:r>
            <a:r>
              <a:rPr dirty="0" sz="1050" spc="10" i="1">
                <a:latin typeface="Palatino Linotype"/>
                <a:cs typeface="Palatino Linotype"/>
              </a:rPr>
              <a:t>o</a:t>
            </a:r>
            <a:r>
              <a:rPr dirty="0" sz="1050" spc="-30" i="1">
                <a:latin typeface="Palatino Linotype"/>
                <a:cs typeface="Palatino Linotype"/>
              </a:rPr>
              <a:t>t</a:t>
            </a:r>
            <a:r>
              <a:rPr dirty="0" sz="1050" spc="-25" i="1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s1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s2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{'b'}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“Dictionary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Subtraction”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177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document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which </a:t>
            </a:r>
            <a:r>
              <a:rPr dirty="0" sz="1050" spc="-55">
                <a:latin typeface="Palatino Linotype"/>
                <a:cs typeface="Palatino Linotype"/>
              </a:rPr>
              <a:t>takes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90">
                <a:latin typeface="Palatino Linotype"/>
                <a:cs typeface="Palatino Linotype"/>
              </a:rPr>
              <a:t>new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second: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4163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subtract(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d2</a:t>
            </a:r>
            <a:r>
              <a:rPr dirty="0" sz="850" spc="-2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d1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 marR="293052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d2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d1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sets,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we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ourselves.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word_counter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dictio‐ </a:t>
            </a:r>
            <a:r>
              <a:rPr dirty="0" sz="1050" spc="-50">
                <a:latin typeface="Palatino Linotype"/>
                <a:cs typeface="Palatino Linotype"/>
              </a:rPr>
              <a:t>nary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unique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words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document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word_list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valid </a:t>
            </a:r>
            <a:r>
              <a:rPr dirty="0" sz="1050" spc="-70">
                <a:latin typeface="Palatino Linotype"/>
                <a:cs typeface="Palatino Linotype"/>
              </a:rPr>
              <a:t>words,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difference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word_counter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set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contains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document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appear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90">
                <a:latin typeface="Palatino Linotype"/>
                <a:cs typeface="Palatino Linotype"/>
              </a:rPr>
              <a:t>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comparison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operators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sets.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SimSun"/>
                <a:cs typeface="SimSun"/>
              </a:rPr>
              <a:t>&lt;=</a:t>
            </a:r>
            <a:r>
              <a:rPr dirty="0" sz="1000" spc="-2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checks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subset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another,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including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possibility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equal:</a:t>
            </a:r>
            <a:endParaRPr sz="1050">
              <a:latin typeface="Palatino Linotype"/>
              <a:cs typeface="Palatino Linotype"/>
            </a:endParaRPr>
          </a:p>
          <a:p>
            <a:pPr marL="39370" marR="3308350">
              <a:lnSpc>
                <a:spcPts val="2250"/>
              </a:lnSpc>
              <a:spcBef>
                <a:spcPts val="9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'ab'</a:t>
            </a:r>
            <a:r>
              <a:rPr dirty="0" sz="85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'abc'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24899" y="7731125"/>
            <a:ext cx="5746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5" b="1">
                <a:latin typeface="Trebuchet MS"/>
                <a:cs typeface="Trebuchet MS"/>
              </a:rPr>
              <a:t>Sets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271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89574"/>
            <a:ext cx="4572000" cy="721360"/>
            <a:chOff x="914400" y="1089574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8957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116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14403"/>
            <a:ext cx="4572000" cy="397510"/>
            <a:chOff x="914400" y="2314403"/>
            <a:chExt cx="4572000" cy="3975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1440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1599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4756825"/>
            <a:ext cx="4572000" cy="613410"/>
            <a:chOff x="914400" y="4756825"/>
            <a:chExt cx="4572000" cy="6134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4756825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475841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565757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5735359"/>
            <a:ext cx="4572000" cy="721360"/>
            <a:chOff x="914400" y="5735359"/>
            <a:chExt cx="4572000" cy="7213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735359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73694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67440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1643" y="650030"/>
            <a:ext cx="4598035" cy="648906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20">
                <a:latin typeface="Palatino Linotype"/>
                <a:cs typeface="Palatino Linotype"/>
              </a:rPr>
              <a:t>With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exercises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7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uses_only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uses_only(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 marR="3254375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False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>
              <a:lnSpc>
                <a:spcPct val="100000"/>
              </a:lnSpc>
              <a:spcBef>
                <a:spcPts val="580"/>
              </a:spcBef>
            </a:pPr>
            <a:r>
              <a:rPr dirty="0" sz="1000" spc="-10">
                <a:latin typeface="SimSun"/>
                <a:cs typeface="SimSun"/>
              </a:rPr>
              <a:t>uses_only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checks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whether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letters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word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available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With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sets,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 </a:t>
            </a:r>
            <a:r>
              <a:rPr dirty="0" sz="1050" spc="-55">
                <a:latin typeface="Palatino Linotype"/>
                <a:cs typeface="Palatino Linotype"/>
              </a:rPr>
              <a:t>rewrite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10">
                <a:latin typeface="Palatino Linotype"/>
                <a:cs typeface="Palatino Linotype"/>
              </a:rPr>
              <a:t> 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uses_only(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&lt;=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set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available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word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subset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available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word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uses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available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20" b="1">
                <a:latin typeface="Trebuchet MS"/>
                <a:cs typeface="Trebuchet MS"/>
              </a:rPr>
              <a:t>Counters</a:t>
            </a:r>
            <a:endParaRPr sz="190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65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except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ppears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once,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 </a:t>
            </a:r>
            <a:r>
              <a:rPr dirty="0" sz="1050" spc="-65">
                <a:latin typeface="Palatino Linotype"/>
                <a:cs typeface="Palatino Linotype"/>
              </a:rPr>
              <a:t>keeps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track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how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ppears.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familiar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tical </a:t>
            </a:r>
            <a:r>
              <a:rPr dirty="0" sz="1050" spc="-60">
                <a:latin typeface="Palatino Linotype"/>
                <a:cs typeface="Palatino Linotype"/>
              </a:rPr>
              <a:t>idea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5">
                <a:latin typeface="Palatino Linotype"/>
                <a:cs typeface="Palatino Linotype"/>
              </a:rPr>
              <a:t>“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5">
                <a:latin typeface="Palatino Linotype"/>
                <a:cs typeface="Palatino Linotype"/>
              </a:rPr>
              <a:t>ultiset</a:t>
            </a:r>
            <a:r>
              <a:rPr dirty="0" sz="1050" spc="-170">
                <a:latin typeface="Palatino Linotype"/>
                <a:cs typeface="Palatino Linotype"/>
              </a:rPr>
              <a:t>,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tural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5">
                <a:latin typeface="Palatino Linotype"/>
                <a:cs typeface="Palatino Linotype"/>
              </a:rPr>
              <a:t>ultiset.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standard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collections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5">
                <a:latin typeface="Palatino Linotype"/>
                <a:cs typeface="Palatino Linotype"/>
              </a:rPr>
              <a:t>port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pass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string,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kind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collections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39370" marR="3092450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'banana'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Counter({'a': 3, 'n': 2, 'b': </a:t>
            </a:r>
            <a:r>
              <a:rPr dirty="0" sz="850" spc="-25">
                <a:latin typeface="SimSun"/>
                <a:cs typeface="SimSun"/>
              </a:rPr>
              <a:t>1})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SimSun"/>
              <a:cs typeface="SimSun"/>
            </a:endParaRPr>
          </a:p>
          <a:p>
            <a:pPr marL="39370" marR="2876550">
              <a:lnSpc>
                <a:spcPct val="16670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collections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34702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Counter({1: 3, 2: 2, 3: </a:t>
            </a:r>
            <a:r>
              <a:rPr dirty="0" sz="850" spc="-25">
                <a:latin typeface="SimSun"/>
                <a:cs typeface="SimSun"/>
              </a:rPr>
              <a:t>1})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5">
                <a:latin typeface="Palatino Linotype"/>
                <a:cs typeface="Palatino Linotype"/>
              </a:rPr>
              <a:t>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times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ppears.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hashable.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59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272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289560"/>
            <a:chOff x="914400" y="1097108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67400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559342"/>
            <a:ext cx="4572000" cy="397510"/>
            <a:chOff x="914400" y="2559342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559342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56092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864095"/>
            <a:ext cx="4572000" cy="289560"/>
            <a:chOff x="914400" y="3864095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86409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86568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44099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5661437"/>
            <a:ext cx="4572000" cy="397510"/>
            <a:chOff x="914400" y="5661437"/>
            <a:chExt cx="4572000" cy="39751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661437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66302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634628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01633" y="657564"/>
            <a:ext cx="4598035" cy="608393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 indent="-635">
              <a:lnSpc>
                <a:spcPct val="104700"/>
              </a:lnSpc>
              <a:spcBef>
                <a:spcPts val="40"/>
              </a:spcBef>
            </a:pPr>
            <a:r>
              <a:rPr dirty="0" sz="1050" spc="-60">
                <a:latin typeface="Palatino Linotype"/>
                <a:cs typeface="Palatino Linotype"/>
              </a:rPr>
              <a:t>Unlike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Counter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don’t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exception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access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element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doesn’t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appear.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Instead,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return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0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3902075">
              <a:lnSpc>
                <a:spcPts val="2250"/>
              </a:lnSpc>
              <a:spcBef>
                <a:spcPts val="26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'd'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50"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50">
                <a:latin typeface="Palatino Linotype"/>
                <a:cs typeface="Palatino Linotype"/>
              </a:rPr>
              <a:t>We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Counter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solve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10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asks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two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checks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anagrams—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is,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rearranged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solution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Counter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is_anagram(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word2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word1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word2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anagrams,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contain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counts,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Counter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objects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equivalent.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00" spc="-25">
                <a:latin typeface="SimSun"/>
                <a:cs typeface="SimSun"/>
              </a:rPr>
              <a:t>Counter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most_common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list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value-</a:t>
            </a:r>
            <a:r>
              <a:rPr dirty="0" sz="1050" spc="-45">
                <a:latin typeface="Palatino Linotype"/>
                <a:cs typeface="Palatino Linotype"/>
              </a:rPr>
              <a:t>frequency </a:t>
            </a:r>
            <a:r>
              <a:rPr dirty="0" sz="1050" spc="-50">
                <a:latin typeface="Palatino Linotype"/>
                <a:cs typeface="Palatino Linotype"/>
              </a:rPr>
              <a:t>pairs,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sorted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least: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most_common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[('a', 3), ('n', 2), ('b', </a:t>
            </a:r>
            <a:r>
              <a:rPr dirty="0" sz="850" spc="-25">
                <a:latin typeface="SimSun"/>
                <a:cs typeface="SimSun"/>
              </a:rPr>
              <a:t>1)]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55">
                <a:latin typeface="Palatino Linotype"/>
                <a:cs typeface="Palatino Linotype"/>
              </a:rPr>
              <a:t>They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tors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perform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set-like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tions,</a:t>
            </a:r>
            <a:r>
              <a:rPr dirty="0" sz="1050" spc="10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including </a:t>
            </a:r>
            <a:r>
              <a:rPr dirty="0" sz="1050" spc="-50">
                <a:latin typeface="Palatino Linotype"/>
                <a:cs typeface="Palatino Linotype"/>
              </a:rPr>
              <a:t>addition,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subtraction,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union,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0">
                <a:latin typeface="Palatino Linotype"/>
                <a:cs typeface="Palatino Linotype"/>
              </a:rPr>
              <a:t>tersection.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+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combines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sums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cou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test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Counter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 letters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'bans'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45">
                <a:latin typeface="Palatino Linotype"/>
                <a:cs typeface="Palatino Linotype"/>
              </a:rPr>
              <a:t>letters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'banana'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1464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counter2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'bans'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counter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counter2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Counter({'a': 4, 'n': 3, 'b': 2, 's': </a:t>
            </a:r>
            <a:r>
              <a:rPr dirty="0" sz="850" spc="-25">
                <a:latin typeface="SimSun"/>
                <a:cs typeface="SimSun"/>
              </a:rPr>
              <a:t>1})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55">
                <a:latin typeface="Palatino Linotype"/>
                <a:cs typeface="Palatino Linotype"/>
              </a:rPr>
              <a:t>o</a:t>
            </a:r>
            <a:r>
              <a:rPr dirty="0" sz="1050" spc="-90">
                <a:latin typeface="Palatino Linotype"/>
                <a:cs typeface="Palatino Linotype"/>
              </a:rPr>
              <a:t>u</a:t>
            </a:r>
            <a:r>
              <a:rPr dirty="0" sz="1050" spc="-45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explore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Counter</a:t>
            </a:r>
            <a:r>
              <a:rPr dirty="0" sz="1000" spc="-254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tions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exercises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pte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47615" y="7731125"/>
            <a:ext cx="751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Counters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273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371137"/>
            <a:ext cx="4572000" cy="613410"/>
            <a:chOff x="914400" y="2371137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371137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3727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327188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3913466"/>
            <a:ext cx="4572000" cy="397510"/>
            <a:chOff x="914400" y="3913466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391346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391505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459831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5087410"/>
            <a:ext cx="4572000" cy="397510"/>
            <a:chOff x="914400" y="5087410"/>
            <a:chExt cx="4572000" cy="3975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5087410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508899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577225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97255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80"/>
              <a:t>defaultdict</a:t>
            </a:r>
            <a:endParaRPr sz="1900"/>
          </a:p>
        </p:txBody>
      </p:sp>
      <p:sp>
        <p:nvSpPr>
          <p:cNvPr id="15" name="object 15" descr=""/>
          <p:cNvSpPr txBox="1"/>
          <p:nvPr/>
        </p:nvSpPr>
        <p:spPr>
          <a:xfrm>
            <a:off x="901635" y="971559"/>
            <a:ext cx="4598035" cy="5927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collections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module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also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provides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defaultdict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which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dictionary </a:t>
            </a:r>
            <a:r>
              <a:rPr dirty="0" sz="1050">
                <a:latin typeface="Palatino Linotype"/>
                <a:cs typeface="Palatino Linotype"/>
              </a:rPr>
              <a:t>except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you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access</a:t>
            </a:r>
            <a:r>
              <a:rPr dirty="0" sz="1050" spc="1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key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18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doesn’t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exist,</a:t>
            </a:r>
            <a:r>
              <a:rPr dirty="0" sz="1050" spc="1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generates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8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new</a:t>
            </a:r>
            <a:r>
              <a:rPr dirty="0" sz="1050" spc="1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value </a:t>
            </a:r>
            <a:r>
              <a:rPr dirty="0" sz="1050" spc="-1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utomatically.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45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defaultdict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val‐ </a:t>
            </a:r>
            <a:r>
              <a:rPr dirty="0" sz="1050" spc="-55">
                <a:latin typeface="Palatino Linotype"/>
                <a:cs typeface="Palatino Linotype"/>
              </a:rPr>
              <a:t>ues.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sometimes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 b="1">
                <a:latin typeface="Palatino Linotype"/>
                <a:cs typeface="Palatino Linotype"/>
              </a:rPr>
              <a:t>f</a:t>
            </a:r>
            <a:r>
              <a:rPr dirty="0" sz="1050" spc="-35" b="1">
                <a:latin typeface="Palatino Linotype"/>
                <a:cs typeface="Palatino Linotype"/>
              </a:rPr>
              <a:t>a</a:t>
            </a:r>
            <a:r>
              <a:rPr dirty="0" sz="1050" spc="-25" b="1">
                <a:latin typeface="Palatino Linotype"/>
                <a:cs typeface="Palatino Linotype"/>
              </a:rPr>
              <a:t>c</a:t>
            </a:r>
            <a:r>
              <a:rPr dirty="0" sz="1050" spc="-10" b="1">
                <a:latin typeface="Palatino Linotype"/>
                <a:cs typeface="Palatino Linotype"/>
              </a:rPr>
              <a:t>t</a:t>
            </a:r>
            <a:r>
              <a:rPr dirty="0" sz="1050" spc="-50" b="1">
                <a:latin typeface="Palatino Linotype"/>
                <a:cs typeface="Palatino Linotype"/>
              </a:rPr>
              <a:t>o</a:t>
            </a:r>
            <a:r>
              <a:rPr dirty="0" sz="1050" spc="45" b="1">
                <a:latin typeface="Palatino Linotype"/>
                <a:cs typeface="Palatino Linotype"/>
              </a:rPr>
              <a:t>r</a:t>
            </a:r>
            <a:r>
              <a:rPr dirty="0" sz="1050" spc="-100" b="1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built-in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func‐ </a:t>
            </a:r>
            <a:r>
              <a:rPr dirty="0" sz="1050" spc="-40">
                <a:latin typeface="Palatino Linotype"/>
                <a:cs typeface="Palatino Linotype"/>
              </a:rPr>
              <a:t>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sets,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types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factories.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55"/>
              </a:spcBef>
            </a:pP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defaultdict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list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needed:</a:t>
            </a:r>
            <a:endParaRPr sz="1050">
              <a:latin typeface="Palatino Linotype"/>
              <a:cs typeface="Palatino Linotype"/>
            </a:endParaRPr>
          </a:p>
          <a:p>
            <a:pPr marL="39370" marR="2660650">
              <a:lnSpc>
                <a:spcPct val="166700"/>
              </a:lnSpc>
              <a:spcBef>
                <a:spcPts val="53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collections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defaultdict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defaultdict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defaultdict(list, </a:t>
            </a:r>
            <a:r>
              <a:rPr dirty="0" sz="850" spc="-25">
                <a:latin typeface="SimSun"/>
                <a:cs typeface="SimSun"/>
              </a:rPr>
              <a:t>{})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otice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list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list()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func‐ 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facto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unless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we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exist: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686175">
              <a:lnSpc>
                <a:spcPts val="850"/>
              </a:lnSpc>
              <a:spcBef>
                <a:spcPts val="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'new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key'</a:t>
            </a:r>
            <a:r>
              <a:rPr dirty="0" sz="850" spc="-10">
                <a:latin typeface="SimSun"/>
                <a:cs typeface="SimSun"/>
              </a:rPr>
              <a:t>]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list,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we’re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also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dictionary.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modify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change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appears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41630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'new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value'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'new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key'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['new </a:t>
            </a:r>
            <a:r>
              <a:rPr dirty="0" sz="850" spc="-10">
                <a:latin typeface="SimSun"/>
                <a:cs typeface="SimSun"/>
              </a:rPr>
              <a:t>value']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making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dictionary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lists,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you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often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write</a:t>
            </a:r>
            <a:r>
              <a:rPr dirty="0" sz="1050" spc="1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simpler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code</a:t>
            </a:r>
            <a:r>
              <a:rPr dirty="0" sz="1050" spc="10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using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defaultdict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3099"/>
              </a:lnSpc>
              <a:spcBef>
                <a:spcPts val="560"/>
              </a:spcBef>
            </a:pPr>
            <a:r>
              <a:rPr dirty="0" sz="1050">
                <a:latin typeface="Palatino Linotype"/>
                <a:cs typeface="Palatino Linotype"/>
              </a:rPr>
              <a:t>In one 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11</a:t>
            </a:r>
            <a:r>
              <a:rPr dirty="0" sz="1050">
                <a:latin typeface="Palatino Linotype"/>
                <a:cs typeface="Palatino Linotype"/>
              </a:rPr>
              <a:t>, 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made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0">
                <a:latin typeface="Palatino Linotype"/>
                <a:cs typeface="Palatino Linotype"/>
              </a:rPr>
              <a:t>dictionary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maps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5">
                <a:latin typeface="Palatino Linotype"/>
                <a:cs typeface="Palatino Linotype"/>
              </a:rPr>
              <a:t>sorted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spelled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string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'opst'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maps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['opts',</a:t>
            </a:r>
            <a:r>
              <a:rPr dirty="0" sz="1000" spc="5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'post',</a:t>
            </a:r>
            <a:r>
              <a:rPr dirty="0" sz="1000" spc="5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'pots',</a:t>
            </a:r>
            <a:r>
              <a:rPr dirty="0" sz="1000" spc="55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'spot',</a:t>
            </a:r>
            <a:r>
              <a:rPr dirty="0" sz="1000" spc="50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'stop', 'tops']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01747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274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1261110"/>
            <a:chOff x="914400" y="922019"/>
            <a:chExt cx="4572000" cy="12611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1261110"/>
            </a:xfrm>
            <a:custGeom>
              <a:avLst/>
              <a:gdLst/>
              <a:ahLst/>
              <a:cxnLst/>
              <a:rect l="l" t="t" r="r" b="b"/>
              <a:pathLst>
                <a:path w="4572000" h="1261110">
                  <a:moveTo>
                    <a:pt x="4572000" y="1260792"/>
                  </a:moveTo>
                  <a:lnTo>
                    <a:pt x="0" y="12607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2607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526579"/>
            <a:ext cx="4572000" cy="937260"/>
            <a:chOff x="914400" y="2526579"/>
            <a:chExt cx="4572000" cy="9372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526579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5281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967308"/>
            <a:ext cx="4572000" cy="829310"/>
            <a:chOff x="914400" y="3967308"/>
            <a:chExt cx="4572000" cy="8293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967308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9688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50839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5796748"/>
            <a:ext cx="4572000" cy="613410"/>
            <a:chOff x="914400" y="5796748"/>
            <a:chExt cx="4572000" cy="61341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79674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7983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01662" y="650030"/>
            <a:ext cx="4598035" cy="6352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original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code: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0924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all_anagrams(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{}</a:t>
            </a:r>
            <a:endParaRPr sz="850">
              <a:latin typeface="SimSun"/>
              <a:cs typeface="SimSun"/>
            </a:endParaRPr>
          </a:p>
          <a:p>
            <a:pPr marL="471170" marR="26606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signature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687070" marR="32004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25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 algn="ctr" marR="3376929">
              <a:lnSpc>
                <a:spcPts val="765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687070">
              <a:lnSpc>
                <a:spcPts val="850"/>
              </a:lnSpc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simpler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defaultdict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0924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all_anagrams(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defaultdict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 marR="26606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filename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signature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exercises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end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chapter,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you’ll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have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chance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practice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using</a:t>
            </a:r>
            <a:endParaRPr sz="1050">
              <a:latin typeface="Palatino Linotype"/>
              <a:cs typeface="Palatino Linotype"/>
            </a:endParaRPr>
          </a:p>
          <a:p>
            <a:pPr algn="ctr" marR="3434079">
              <a:lnSpc>
                <a:spcPct val="100000"/>
              </a:lnSpc>
              <a:spcBef>
                <a:spcPts val="60"/>
              </a:spcBef>
            </a:pPr>
            <a:r>
              <a:rPr dirty="0" sz="1000" spc="-10">
                <a:latin typeface="SimSun"/>
                <a:cs typeface="SimSun"/>
              </a:rPr>
              <a:t>defaultdict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objects:</a:t>
            </a:r>
            <a:endParaRPr sz="1050">
              <a:latin typeface="Palatino Linotype"/>
              <a:cs typeface="Palatino Linotype"/>
            </a:endParaRPr>
          </a:p>
          <a:p>
            <a:pPr marL="39370" marR="2660650">
              <a:lnSpc>
                <a:spcPct val="166700"/>
              </a:lnSpc>
              <a:spcBef>
                <a:spcPts val="53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collections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defaultdict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defaultdict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list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76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key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'into'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'the'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 marR="3362325">
              <a:lnSpc>
                <a:spcPts val="850"/>
              </a:lnSpc>
              <a:spcBef>
                <a:spcPts val="8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'woods'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key</a:t>
            </a:r>
            <a:r>
              <a:rPr dirty="0" sz="850" spc="-1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SimSun"/>
                <a:cs typeface="SimSun"/>
              </a:rPr>
              <a:t>['woods']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900" spc="-270" b="1">
                <a:latin typeface="Trebuchet MS"/>
                <a:cs typeface="Trebuchet MS"/>
              </a:rPr>
              <a:t>Conditional</a:t>
            </a:r>
            <a:r>
              <a:rPr dirty="0" sz="1900" spc="-240" b="1">
                <a:latin typeface="Trebuchet MS"/>
                <a:cs typeface="Trebuchet MS"/>
              </a:rPr>
              <a:t> </a:t>
            </a:r>
            <a:r>
              <a:rPr dirty="0" sz="1900" spc="-305" b="1">
                <a:latin typeface="Trebuchet MS"/>
                <a:cs typeface="Trebuchet MS"/>
              </a:rPr>
              <a:t>Expressions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50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statements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choose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log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float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'nan'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4700"/>
              </a:lnSpc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teme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positive.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</a:t>
            </a:r>
            <a:r>
              <a:rPr dirty="0" sz="1050" spc="-9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putes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logarithm.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not, </a:t>
            </a:r>
            <a:r>
              <a:rPr dirty="0" sz="1000" spc="-5">
                <a:latin typeface="SimSun"/>
                <a:cs typeface="SimSun"/>
              </a:rPr>
              <a:t>math.log</a:t>
            </a:r>
            <a:r>
              <a:rPr dirty="0" sz="1000" spc="-150">
                <a:latin typeface="SimSun"/>
                <a:cs typeface="SimSun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would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raise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ValueError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void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stopping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00" spc="-5">
                <a:latin typeface="SimSun"/>
                <a:cs typeface="SimSun"/>
              </a:rPr>
              <a:t>NaN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ting-poi</a:t>
            </a:r>
            <a:r>
              <a:rPr dirty="0" sz="1050" spc="-7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represe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“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30">
                <a:latin typeface="Palatino Linotype"/>
                <a:cs typeface="Palatino Linotype"/>
              </a:rPr>
              <a:t>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35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umbe</a:t>
            </a:r>
            <a:r>
              <a:rPr dirty="0" sz="1050" spc="-110">
                <a:latin typeface="Palatino Linotype"/>
                <a:cs typeface="Palatino Linotype"/>
              </a:rPr>
              <a:t>r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193231" y="7731125"/>
            <a:ext cx="13061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Conditional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Expressions</a:t>
            </a:r>
            <a:r>
              <a:rPr dirty="0" sz="900" spc="13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25" b="1">
                <a:latin typeface="Trebuchet MS"/>
                <a:cs typeface="Trebuchet MS"/>
              </a:rPr>
              <a:t>275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126358"/>
            <a:ext cx="4572000" cy="721360"/>
            <a:chOff x="914400" y="2126358"/>
            <a:chExt cx="4572000" cy="7213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126358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12794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183633"/>
            <a:ext cx="4572000" cy="397510"/>
            <a:chOff x="914400" y="3183633"/>
            <a:chExt cx="4572000" cy="3975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183633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18522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4244632"/>
            <a:ext cx="4572000" cy="829310"/>
            <a:chOff x="914400" y="4244632"/>
            <a:chExt cx="4572000" cy="8293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4244632"/>
              <a:ext cx="4572000" cy="829310"/>
            </a:xfrm>
            <a:custGeom>
              <a:avLst/>
              <a:gdLst/>
              <a:ahLst/>
              <a:cxnLst/>
              <a:rect l="l" t="t" r="r" b="b"/>
              <a:pathLst>
                <a:path w="4572000" h="829310">
                  <a:moveTo>
                    <a:pt x="4572000" y="828992"/>
                  </a:moveTo>
                  <a:lnTo>
                    <a:pt x="0" y="8289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8289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424621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 descr=""/>
          <p:cNvGrpSpPr/>
          <p:nvPr/>
        </p:nvGrpSpPr>
        <p:grpSpPr>
          <a:xfrm>
            <a:off x="914400" y="5409857"/>
            <a:ext cx="4572000" cy="505459"/>
            <a:chOff x="914400" y="5409857"/>
            <a:chExt cx="4572000" cy="505459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409857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41144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901638" y="650030"/>
            <a:ext cx="4598035" cy="5674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concisely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conditional</a:t>
            </a:r>
            <a:r>
              <a:rPr dirty="0" sz="1050" spc="-10" b="1">
                <a:latin typeface="Palatino Linotype"/>
                <a:cs typeface="Palatino Linotype"/>
              </a:rPr>
              <a:t> expression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math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log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&gt;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5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float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'nan'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60">
                <a:latin typeface="Palatino Linotype"/>
                <a:cs typeface="Palatino Linotype"/>
              </a:rPr>
              <a:t>ou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almost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line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English: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log-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18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gre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0;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other‐ </a:t>
            </a:r>
            <a:r>
              <a:rPr dirty="0" sz="1050" spc="-65">
                <a:latin typeface="Palatino Linotype"/>
                <a:cs typeface="Palatino Linotype"/>
              </a:rPr>
              <a:t>wise,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NaN</a:t>
            </a:r>
            <a:r>
              <a:rPr dirty="0" sz="1050" spc="-170">
                <a:latin typeface="Palatino Linotype"/>
                <a:cs typeface="Palatino Linotype"/>
              </a:rPr>
              <a:t>.</a:t>
            </a:r>
            <a:r>
              <a:rPr dirty="0" sz="1050" spc="-105">
                <a:latin typeface="Palatino Linotype"/>
                <a:cs typeface="Palatino Linotype"/>
              </a:rPr>
              <a:t>”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40">
                <a:latin typeface="Palatino Linotype"/>
                <a:cs typeface="Palatino Linotype"/>
              </a:rPr>
              <a:t>Recursive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sometimes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written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concisely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conditional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expres‐ </a:t>
            </a:r>
            <a:r>
              <a:rPr dirty="0" sz="1050" spc="-45">
                <a:latin typeface="Palatino Linotype"/>
                <a:cs typeface="Palatino Linotype"/>
              </a:rPr>
              <a:t>sions.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factorial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statement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ctr" marR="3592829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854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10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8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expression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ctr" marR="3592829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factorial(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10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10">
                <a:solidFill>
                  <a:srgbClr val="006C2C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factorial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 spc="-50">
                <a:latin typeface="Palatino Linotype"/>
                <a:cs typeface="Palatino Linotype"/>
              </a:rPr>
              <a:t>Another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handling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optional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example, </a:t>
            </a:r>
            <a:r>
              <a:rPr dirty="0" sz="1050" spc="-60">
                <a:latin typeface="Palatino Linotype"/>
                <a:cs typeface="Palatino Linotype"/>
              </a:rPr>
              <a:t>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definition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 </a:t>
            </a:r>
            <a:r>
              <a:rPr dirty="0" u="sng" sz="1050" spc="21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init</a:t>
            </a:r>
            <a:r>
              <a:rPr dirty="0" u="sng" sz="1000" spc="10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0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statement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5">
                <a:latin typeface="Palatino Linotype"/>
                <a:cs typeface="Palatino Linotype"/>
              </a:rPr>
              <a:t>check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default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value: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Kangaroo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 marR="2174875" indent="-215900">
              <a:lnSpc>
                <a:spcPts val="850"/>
              </a:lnSpc>
              <a:spcBef>
                <a:spcPts val="85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3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-3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3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3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endParaRPr sz="850">
              <a:latin typeface="SimSun"/>
              <a:cs typeface="SimSun"/>
            </a:endParaRPr>
          </a:p>
          <a:p>
            <a:pPr marL="687070" marR="303847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8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80">
                <a:latin typeface="SimSun"/>
                <a:cs typeface="SimSun"/>
              </a:rPr>
              <a:t>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contents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contents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 spc="-10">
                <a:latin typeface="Palatino Linotype"/>
                <a:cs typeface="Palatino Linotype"/>
              </a:rPr>
              <a:t> expression: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390775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3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-3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30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3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1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[]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is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None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else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contents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general,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replace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50">
                <a:latin typeface="Palatino Linotype"/>
                <a:cs typeface="Palatino Linotype"/>
              </a:rPr>
              <a:t>both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branches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contain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single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expression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statements.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1740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276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563589"/>
            <a:ext cx="4572000" cy="289560"/>
            <a:chOff x="914400" y="156358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56358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5651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49084"/>
            <a:ext cx="4572000" cy="721360"/>
            <a:chOff x="914400" y="2349084"/>
            <a:chExt cx="4572000" cy="7213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49084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5067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335778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3671789"/>
            <a:ext cx="4572000" cy="505459"/>
            <a:chOff x="914400" y="3671789"/>
            <a:chExt cx="4572000" cy="505459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67178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6733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44645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914400" y="6066202"/>
            <a:ext cx="4572000" cy="721360"/>
            <a:chOff x="914400" y="6066202"/>
            <a:chExt cx="4572000" cy="7213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6066202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59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60677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914400" y="7123478"/>
            <a:ext cx="4572000" cy="289560"/>
            <a:chOff x="914400" y="7123478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7123478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712506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1656714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54"/>
              <a:t>List</a:t>
            </a:r>
            <a:r>
              <a:rPr dirty="0" sz="1900" spc="-245"/>
              <a:t> </a:t>
            </a:r>
            <a:r>
              <a:rPr dirty="0" sz="1900" spc="-325"/>
              <a:t>Comprehensions</a:t>
            </a:r>
            <a:endParaRPr sz="1900"/>
          </a:p>
        </p:txBody>
      </p:sp>
      <p:sp>
        <p:nvSpPr>
          <p:cNvPr id="20" name="object 20" descr=""/>
          <p:cNvSpPr txBox="1"/>
          <p:nvPr/>
        </p:nvSpPr>
        <p:spPr>
          <a:xfrm>
            <a:off x="901634" y="964024"/>
            <a:ext cx="4598035" cy="635698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400"/>
              </a:lnSpc>
              <a:spcBef>
                <a:spcPts val="7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previous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45">
                <a:latin typeface="Palatino Linotype"/>
                <a:cs typeface="Palatino Linotype"/>
              </a:rPr>
              <a:t>pters,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45">
                <a:latin typeface="Palatino Linotype"/>
                <a:cs typeface="Palatino Linotype"/>
              </a:rPr>
              <a:t>e</a:t>
            </a:r>
            <a:r>
              <a:rPr dirty="0" sz="1050" spc="-95">
                <a:latin typeface="Palatino Linotype"/>
                <a:cs typeface="Palatino Linotype"/>
              </a:rPr>
              <a:t>’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start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pty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 </a:t>
            </a:r>
            <a:r>
              <a:rPr dirty="0" sz="1050" spc="-80">
                <a:latin typeface="Palatino Linotype"/>
                <a:cs typeface="Palatino Linotype"/>
              </a:rPr>
              <a:t>add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time,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append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suppose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ve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tains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title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movie,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pitalize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words: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title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'monty python and the holy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grail'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split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through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strings,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capitalize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85">
                <a:latin typeface="Palatino Linotype"/>
                <a:cs typeface="Palatino Linotype"/>
              </a:rPr>
              <a:t>append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255270" marR="287655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title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capitalize</a:t>
            </a:r>
            <a:r>
              <a:rPr dirty="0" sz="850" spc="-10">
                <a:latin typeface="SimSun"/>
                <a:cs typeface="SimSun"/>
              </a:rPr>
              <a:t>())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'Monty Python And The Holy </a:t>
            </a:r>
            <a:r>
              <a:rPr dirty="0" sz="850" spc="-10">
                <a:latin typeface="SimSun"/>
                <a:cs typeface="SimSun"/>
              </a:rPr>
              <a:t>Grail'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concisely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 b="1">
                <a:latin typeface="Palatino Linotype"/>
                <a:cs typeface="Palatino Linotype"/>
              </a:rPr>
              <a:t>list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comprehension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 marR="1905000">
              <a:lnSpc>
                <a:spcPct val="166700"/>
              </a:lnSpc>
              <a:spcBef>
                <a:spcPts val="53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capitalize</a:t>
            </a:r>
            <a:r>
              <a:rPr dirty="0" sz="850">
                <a:latin typeface="SimSun"/>
                <a:cs typeface="SimSun"/>
              </a:rPr>
              <a:t>()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title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split</a:t>
            </a:r>
            <a:r>
              <a:rPr dirty="0" sz="850" spc="-10">
                <a:latin typeface="SimSun"/>
                <a:cs typeface="SimSun"/>
              </a:rPr>
              <a:t>()]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'Monty Python And The Holy </a:t>
            </a:r>
            <a:r>
              <a:rPr dirty="0" sz="850" spc="-10">
                <a:latin typeface="SimSun"/>
                <a:cs typeface="SimSun"/>
              </a:rPr>
              <a:t>Grail'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bracket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indicate</a:t>
            </a:r>
            <a:r>
              <a:rPr dirty="0" sz="1050" spc="-10">
                <a:latin typeface="Palatino Linotype"/>
                <a:cs typeface="Palatino Linotype"/>
              </a:rPr>
              <a:t> 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constructing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list.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expression </a:t>
            </a:r>
            <a:r>
              <a:rPr dirty="0" sz="1050" spc="-50">
                <a:latin typeface="Palatino Linotype"/>
                <a:cs typeface="Palatino Linotype"/>
              </a:rPr>
              <a:t>inside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brackets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specifies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SimSun"/>
                <a:cs typeface="SimSun"/>
              </a:rPr>
              <a:t>for</a:t>
            </a:r>
            <a:r>
              <a:rPr dirty="0" sz="1000" spc="-6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clause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indicates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what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looping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through.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57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syntax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comprehension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seem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strange,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because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variable— </a:t>
            </a:r>
            <a:r>
              <a:rPr dirty="0" sz="1000" spc="-25">
                <a:latin typeface="SimSun"/>
                <a:cs typeface="SimSun"/>
              </a:rPr>
              <a:t>word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example—</a:t>
            </a:r>
            <a:r>
              <a:rPr dirty="0" sz="1050" spc="-55">
                <a:latin typeface="Palatino Linotype"/>
                <a:cs typeface="Palatino Linotype"/>
              </a:rPr>
              <a:t>appears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before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definition.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“Making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a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Word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List”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on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131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read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append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2552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 spc="-10">
                <a:latin typeface="SimSun"/>
                <a:cs typeface="SimSun"/>
              </a:rPr>
              <a:t>()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comprehension: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strip</a:t>
            </a:r>
            <a:r>
              <a:rPr dirty="0" sz="850">
                <a:latin typeface="SimSun"/>
                <a:cs typeface="SimSun"/>
              </a:rPr>
              <a:t>()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line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open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'words.txt'</a:t>
            </a:r>
            <a:r>
              <a:rPr dirty="0" sz="850" spc="-10">
                <a:latin typeface="SimSun"/>
                <a:cs typeface="SimSun"/>
              </a:rPr>
              <a:t>)]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305284" y="7731125"/>
            <a:ext cx="11938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5" b="1">
                <a:latin typeface="Trebuchet MS"/>
                <a:cs typeface="Trebuchet MS"/>
              </a:rPr>
              <a:t>List</a:t>
            </a:r>
            <a:r>
              <a:rPr dirty="0" sz="900" spc="-130" b="1">
                <a:latin typeface="Trebuchet MS"/>
                <a:cs typeface="Trebuchet MS"/>
              </a:rPr>
              <a:t> Comprehensions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45" b="1">
                <a:latin typeface="Trebuchet MS"/>
                <a:cs typeface="Trebuchet MS"/>
              </a:rPr>
              <a:t>277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264662"/>
            <a:ext cx="4572000" cy="721360"/>
            <a:chOff x="914400" y="1264662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264662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26625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321937"/>
            <a:ext cx="4572000" cy="289560"/>
            <a:chOff x="914400" y="2321937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32193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32352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3289042"/>
            <a:ext cx="4572000" cy="289560"/>
            <a:chOff x="914400" y="3289042"/>
            <a:chExt cx="4572000" cy="2895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328904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32906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386594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4179947"/>
            <a:ext cx="4572000" cy="289560"/>
            <a:chOff x="914400" y="4179947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417994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41815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4756844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787338" y="657564"/>
            <a:ext cx="4826635" cy="610235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0" marR="119380">
              <a:lnSpc>
                <a:spcPct val="104700"/>
              </a:lnSpc>
              <a:spcBef>
                <a:spcPts val="40"/>
              </a:spcBef>
            </a:pP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comprehension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also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SimSun"/>
                <a:cs typeface="SimSun"/>
              </a:rPr>
              <a:t>if</a:t>
            </a:r>
            <a:r>
              <a:rPr dirty="0" sz="1000" spc="-3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determines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50">
                <a:latin typeface="Palatino Linotype"/>
                <a:cs typeface="Palatino Linotype"/>
              </a:rPr>
              <a:t>included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list.</a:t>
            </a:r>
            <a:r>
              <a:rPr dirty="0" sz="1050" spc="-10">
                <a:latin typeface="Palatino Linotype"/>
                <a:cs typeface="Palatino Linotype"/>
              </a:rPr>
              <a:t> 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SimSun"/>
                <a:cs typeface="SimSun"/>
              </a:rPr>
              <a:t>for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loop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“Accumulating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a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List”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144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only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word_list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palindromes:</a:t>
            </a:r>
            <a:endParaRPr sz="1050">
              <a:latin typeface="Palatino Linotype"/>
              <a:cs typeface="Palatino Linotype"/>
            </a:endParaRPr>
          </a:p>
          <a:p>
            <a:pPr marL="1536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palindromes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1536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585470" marR="2936875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is_palindrome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palindromes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comprehension:</a:t>
            </a:r>
            <a:endParaRPr sz="1050">
              <a:latin typeface="Palatino Linotype"/>
              <a:cs typeface="Palatino Linotype"/>
            </a:endParaRPr>
          </a:p>
          <a:p>
            <a:pPr marL="1536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palindromes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word_list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is_palindrome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SimSun"/>
              <a:cs typeface="SimSun"/>
            </a:endParaRPr>
          </a:p>
          <a:p>
            <a:pPr algn="just" marL="127000" marR="119380">
              <a:lnSpc>
                <a:spcPct val="113500"/>
              </a:lnSpc>
              <a:spcBef>
                <a:spcPts val="5"/>
              </a:spcBef>
            </a:pPr>
            <a:r>
              <a:rPr dirty="0" sz="1050" spc="-30">
                <a:latin typeface="Palatino Linotype"/>
                <a:cs typeface="Palatino Linotype"/>
              </a:rPr>
              <a:t>When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comprehension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5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omit </a:t>
            </a:r>
            <a:r>
              <a:rPr dirty="0" sz="1050" spc="-3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brackets.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suppose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want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add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up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1/2</a:t>
            </a:r>
            <a:r>
              <a:rPr dirty="0" baseline="31250" sz="1200" i="1">
                <a:latin typeface="Palatino Linotype"/>
                <a:cs typeface="Palatino Linotype"/>
              </a:rPr>
              <a:t>n</a:t>
            </a:r>
            <a:r>
              <a:rPr dirty="0" baseline="31250" sz="1200" spc="104" i="1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n</a:t>
            </a:r>
            <a:r>
              <a:rPr dirty="0" sz="1050" spc="5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0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</a:t>
            </a:r>
            <a:endParaRPr sz="1050">
              <a:latin typeface="Palatino Linotype"/>
              <a:cs typeface="Palatino Linotype"/>
            </a:endParaRPr>
          </a:p>
          <a:p>
            <a:pPr marL="127000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9.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comprehension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153670" marR="2936875">
              <a:lnSpc>
                <a:spcPts val="2250"/>
              </a:lnSpc>
              <a:spcBef>
                <a:spcPts val="260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>
                <a:latin typeface="SimSun"/>
                <a:cs typeface="SimSun"/>
              </a:rPr>
              <a:t>([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10">
                <a:latin typeface="SimSun"/>
                <a:cs typeface="SimSun"/>
              </a:rPr>
              <a:t>)]) 1.998046875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0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leave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brackets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153670" marR="304482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 spc="-10">
                <a:latin typeface="SimSun"/>
                <a:cs typeface="SimSun"/>
              </a:rPr>
              <a:t>)) 1.998046875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0" marR="118745" indent="-635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technically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 b="1">
                <a:latin typeface="Palatino Linotype"/>
                <a:cs typeface="Palatino Linotype"/>
              </a:rPr>
              <a:t>generator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expression</a:t>
            </a:r>
            <a:r>
              <a:rPr dirty="0" sz="1050" spc="-4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com‐ </a:t>
            </a:r>
            <a:r>
              <a:rPr dirty="0" sz="1050" spc="-45">
                <a:latin typeface="Palatino Linotype"/>
                <a:cs typeface="Palatino Linotype"/>
              </a:rPr>
              <a:t>prehension,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it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never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actually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makes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behavior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same.</a:t>
            </a:r>
            <a:endParaRPr sz="1050">
              <a:latin typeface="Palatino Linotype"/>
              <a:cs typeface="Palatino Linotype"/>
            </a:endParaRPr>
          </a:p>
          <a:p>
            <a:pPr algn="just" marL="127000" marR="120014">
              <a:lnSpc>
                <a:spcPct val="101600"/>
              </a:lnSpc>
              <a:spcBef>
                <a:spcPts val="580"/>
              </a:spcBef>
            </a:pPr>
            <a:r>
              <a:rPr dirty="0" sz="1050" spc="-30">
                <a:latin typeface="Palatino Linotype"/>
                <a:cs typeface="Palatino Linotype"/>
              </a:rPr>
              <a:t>List </a:t>
            </a:r>
            <a:r>
              <a:rPr dirty="0" sz="1050" spc="-50">
                <a:latin typeface="Palatino Linotype"/>
                <a:cs typeface="Palatino Linotype"/>
              </a:rPr>
              <a:t>comprehensions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generator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concise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easy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read,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least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simple</a:t>
            </a:r>
            <a:r>
              <a:rPr dirty="0" sz="1050" spc="-35">
                <a:latin typeface="Palatino Linotype"/>
                <a:cs typeface="Palatino Linotype"/>
              </a:rPr>
              <a:t> expressions.</a:t>
            </a:r>
            <a:r>
              <a:rPr dirty="0" sz="1050" spc="-10">
                <a:latin typeface="Palatino Linotype"/>
                <a:cs typeface="Palatino Linotype"/>
              </a:rPr>
              <a:t> 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are </a:t>
            </a:r>
            <a:r>
              <a:rPr dirty="0" sz="1050" spc="-45">
                <a:latin typeface="Palatino Linotype"/>
                <a:cs typeface="Palatino Linotype"/>
              </a:rPr>
              <a:t>usually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faster</a:t>
            </a:r>
            <a:r>
              <a:rPr dirty="0" sz="1050">
                <a:latin typeface="Palatino Linotype"/>
                <a:cs typeface="Palatino Linotype"/>
              </a:rPr>
              <a:t> than 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equivalent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loops, </a:t>
            </a:r>
            <a:r>
              <a:rPr dirty="0" sz="1050" spc="-45">
                <a:latin typeface="Palatino Linotype"/>
                <a:cs typeface="Palatino Linotype"/>
              </a:rPr>
              <a:t>sometimes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much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faster.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mad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me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mentioning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earlier,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 </a:t>
            </a:r>
            <a:r>
              <a:rPr dirty="0" sz="1050" spc="-10">
                <a:latin typeface="Palatino Linotype"/>
                <a:cs typeface="Palatino Linotype"/>
              </a:rPr>
              <a:t>understand.</a:t>
            </a:r>
            <a:endParaRPr sz="1050">
              <a:latin typeface="Palatino Linotype"/>
              <a:cs typeface="Palatino Linotype"/>
            </a:endParaRPr>
          </a:p>
          <a:p>
            <a:pPr algn="just" marL="127000" marR="118745">
              <a:lnSpc>
                <a:spcPct val="103099"/>
              </a:lnSpc>
              <a:spcBef>
                <a:spcPts val="560"/>
              </a:spcBef>
            </a:pPr>
            <a:r>
              <a:rPr dirty="0" sz="1050" spc="-20">
                <a:latin typeface="Palatino Linotype"/>
                <a:cs typeface="Palatino Linotype"/>
              </a:rPr>
              <a:t>But,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95">
                <a:latin typeface="Palatino Linotype"/>
                <a:cs typeface="Palatino Linotype"/>
              </a:rPr>
              <a:t>my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defense,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comprehensions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harder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70">
                <a:latin typeface="Palatino Linotype"/>
                <a:cs typeface="Palatino Linotype"/>
              </a:rPr>
              <a:t>debug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can’t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00" spc="-20">
                <a:latin typeface="SimSun"/>
                <a:cs typeface="SimSun"/>
              </a:rPr>
              <a:t>print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statement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inside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loop.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suggest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only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computation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is </a:t>
            </a:r>
            <a:r>
              <a:rPr dirty="0" sz="1050" spc="-70">
                <a:latin typeface="Palatino Linotype"/>
                <a:cs typeface="Palatino Linotype"/>
              </a:rPr>
              <a:t>simple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enough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likely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get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right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first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time.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consider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writing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75">
                <a:latin typeface="Palatino Linotype"/>
                <a:cs typeface="Palatino Linotype"/>
              </a:rPr>
              <a:t>debugging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converting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comprehension.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1687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278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411103"/>
            <a:ext cx="4572000" cy="289560"/>
            <a:chOff x="914400" y="1411103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411103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41269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98800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309542"/>
            <a:ext cx="4572000" cy="289560"/>
            <a:chOff x="914400" y="2309542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30954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31113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88644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543090"/>
            <a:ext cx="4572000" cy="505459"/>
            <a:chOff x="914400" y="3543090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543090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5446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5298435"/>
            <a:ext cx="4572000" cy="505459"/>
            <a:chOff x="914400" y="5298435"/>
            <a:chExt cx="4572000" cy="505459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5298435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530002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901700" y="607021"/>
            <a:ext cx="887730" cy="314325"/>
          </a:xfrm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900" spc="-295"/>
              <a:t>any</a:t>
            </a:r>
            <a:r>
              <a:rPr dirty="0" sz="1900" spc="-270"/>
              <a:t> </a:t>
            </a:r>
            <a:r>
              <a:rPr dirty="0" sz="1900" spc="-295"/>
              <a:t>and</a:t>
            </a:r>
            <a:r>
              <a:rPr dirty="0" sz="1900" spc="-270"/>
              <a:t> </a:t>
            </a:r>
            <a:r>
              <a:rPr dirty="0" sz="1900" spc="-180"/>
              <a:t>all</a:t>
            </a:r>
            <a:endParaRPr sz="1900"/>
          </a:p>
        </p:txBody>
      </p:sp>
      <p:sp>
        <p:nvSpPr>
          <p:cNvPr id="17" name="object 17" descr=""/>
          <p:cNvSpPr txBox="1"/>
          <p:nvPr/>
        </p:nvSpPr>
        <p:spPr>
          <a:xfrm>
            <a:off x="901593" y="971559"/>
            <a:ext cx="4598035" cy="606742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sequence</a:t>
            </a:r>
            <a:r>
              <a:rPr dirty="0" sz="1050" spc="-10">
                <a:latin typeface="Palatino Linotype"/>
                <a:cs typeface="Palatino Linotype"/>
              </a:rPr>
              <a:t> of </a:t>
            </a:r>
            <a:r>
              <a:rPr dirty="0" sz="1050" spc="-45">
                <a:latin typeface="Palatino Linotype"/>
                <a:cs typeface="Palatino Linotype"/>
              </a:rPr>
              <a:t>boolean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5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35">
                <a:solidFill>
                  <a:srgbClr val="006C2C"/>
                </a:solidFill>
                <a:latin typeface="SimSun"/>
                <a:cs typeface="SimSun"/>
              </a:rPr>
              <a:t>any</a:t>
            </a:r>
            <a:r>
              <a:rPr dirty="0" sz="850" spc="-35">
                <a:latin typeface="SimSun"/>
                <a:cs typeface="SimSun"/>
              </a:rPr>
              <a:t>([</a:t>
            </a:r>
            <a:r>
              <a:rPr dirty="0" sz="850" spc="-35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r>
              <a:rPr dirty="0" sz="850" spc="-35">
                <a:latin typeface="SimSun"/>
                <a:cs typeface="SimSun"/>
              </a:rPr>
              <a:t>, </a:t>
            </a:r>
            <a:r>
              <a:rPr dirty="0" sz="850" spc="-7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r>
              <a:rPr dirty="0" sz="850" spc="-70">
                <a:latin typeface="SimSun"/>
                <a:cs typeface="SimSun"/>
              </a:rPr>
              <a:t>,</a:t>
            </a:r>
            <a:r>
              <a:rPr dirty="0" sz="850" spc="-30">
                <a:latin typeface="SimSun"/>
                <a:cs typeface="SimSun"/>
              </a:rPr>
              <a:t> 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r>
              <a:rPr dirty="0" sz="850" spc="-10">
                <a:latin typeface="SimSun"/>
                <a:cs typeface="SimSun"/>
              </a:rPr>
              <a:t>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any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generator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expressions:</a:t>
            </a:r>
            <a:endParaRPr sz="1050">
              <a:latin typeface="Palatino Linotype"/>
              <a:cs typeface="Palatino Linotype"/>
            </a:endParaRPr>
          </a:p>
          <a:p>
            <a:pPr marL="39370" marR="23907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any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't'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'monty'</a:t>
            </a:r>
            <a:r>
              <a:rPr dirty="0" sz="850" spc="-10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isn’t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very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useful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because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same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SimSun"/>
                <a:cs typeface="SimSun"/>
              </a:rPr>
              <a:t>in</a:t>
            </a:r>
            <a:r>
              <a:rPr dirty="0" sz="1000" spc="-3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But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SimSun"/>
                <a:cs typeface="SimSun"/>
              </a:rPr>
              <a:t>any</a:t>
            </a:r>
            <a:r>
              <a:rPr dirty="0" sz="1000" spc="-6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concise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solutions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7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uses_none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uses_none(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avoids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forbidden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not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any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10">
                <a:latin typeface="Palatino Linotype"/>
                <a:cs typeface="Palatino Linotype"/>
              </a:rPr>
              <a:t>This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through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letters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00" spc="-30">
                <a:latin typeface="SimSun"/>
                <a:cs typeface="SimSun"/>
              </a:rPr>
              <a:t>word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checks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</a:t>
            </a:r>
            <a:r>
              <a:rPr dirty="0" sz="1050" spc="-40">
                <a:latin typeface="Palatino Linotype"/>
                <a:cs typeface="Palatino Linotype"/>
              </a:rPr>
              <a:t>them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forbidden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Using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any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with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generator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expression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efficient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because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stops </a:t>
            </a:r>
            <a:r>
              <a:rPr dirty="0" sz="1050" spc="-50">
                <a:latin typeface="Palatino Linotype"/>
                <a:cs typeface="Palatino Linotype"/>
              </a:rPr>
              <a:t>immediately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finds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True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value,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doesn’t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have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loop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through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whole </a:t>
            </a:r>
            <a:r>
              <a:rPr dirty="0" sz="1050" spc="-10">
                <a:latin typeface="Palatino Linotype"/>
                <a:cs typeface="Palatino Linotype"/>
              </a:rPr>
              <a:t>sequence.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another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True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every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True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uses_all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uses_all(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required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"""Check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whether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word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uses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all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required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letters."""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all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required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Expressions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any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all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efficient,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easy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read.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30" b="1">
                <a:latin typeface="Trebuchet MS"/>
                <a:cs typeface="Trebuchet MS"/>
              </a:rPr>
              <a:t>Named</a:t>
            </a:r>
            <a:r>
              <a:rPr dirty="0" sz="1900" spc="-275" b="1">
                <a:latin typeface="Trebuchet MS"/>
                <a:cs typeface="Trebuchet MS"/>
              </a:rPr>
              <a:t> </a:t>
            </a:r>
            <a:r>
              <a:rPr dirty="0" sz="1900" spc="-315" b="1">
                <a:latin typeface="Trebuchet MS"/>
                <a:cs typeface="Trebuchet MS"/>
              </a:rPr>
              <a:t>Tuples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collections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module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namedtuple</a:t>
            </a:r>
            <a:r>
              <a:rPr dirty="0" sz="1000" spc="-20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used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si</a:t>
            </a:r>
            <a:r>
              <a:rPr dirty="0" sz="1050" spc="-105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classes.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“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Cre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a</a:t>
            </a:r>
            <a:r>
              <a:rPr dirty="0" sz="1050" spc="-4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ting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a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8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P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oi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n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t</a:t>
            </a:r>
            <a:r>
              <a:rPr dirty="0" sz="1050" spc="-10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”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on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page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233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only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two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548516" y="7731125"/>
            <a:ext cx="95059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5" b="1">
                <a:latin typeface="Trebuchet MS"/>
                <a:cs typeface="Trebuchet MS"/>
              </a:rPr>
              <a:t>Named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00" b="1">
                <a:latin typeface="Trebuchet MS"/>
                <a:cs typeface="Trebuchet MS"/>
              </a:rPr>
              <a:t>Tuples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2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279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1153160"/>
            <a:chOff x="914400" y="922019"/>
            <a:chExt cx="4572000" cy="11531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1153160"/>
            </a:xfrm>
            <a:custGeom>
              <a:avLst/>
              <a:gdLst/>
              <a:ahLst/>
              <a:cxnLst/>
              <a:rect l="l" t="t" r="r" b="b"/>
              <a:pathLst>
                <a:path w="4572000" h="1153160">
                  <a:moveTo>
                    <a:pt x="4572000" y="1152842"/>
                  </a:moveTo>
                  <a:lnTo>
                    <a:pt x="0" y="11528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1528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2578649"/>
            <a:ext cx="4572000" cy="505459"/>
            <a:chOff x="914400" y="2578649"/>
            <a:chExt cx="4572000" cy="505459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2578649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25802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4326461"/>
            <a:ext cx="4572000" cy="397510"/>
            <a:chOff x="914400" y="4326461"/>
            <a:chExt cx="4572000" cy="39751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4326461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432804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914400" y="501130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914400" y="5492870"/>
            <a:ext cx="4572000" cy="289560"/>
            <a:chOff x="914400" y="5492870"/>
            <a:chExt cx="4572000" cy="289560"/>
          </a:xfrm>
        </p:grpSpPr>
        <p:sp>
          <p:nvSpPr>
            <p:cNvPr id="13" name="object 13" descr=""/>
            <p:cNvSpPr/>
            <p:nvPr/>
          </p:nvSpPr>
          <p:spPr>
            <a:xfrm>
              <a:off x="914400" y="549287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14400" y="549445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914400" y="606976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914400" y="6383775"/>
            <a:ext cx="4572000" cy="289560"/>
            <a:chOff x="914400" y="6383775"/>
            <a:chExt cx="4572000" cy="289560"/>
          </a:xfrm>
        </p:grpSpPr>
        <p:sp>
          <p:nvSpPr>
            <p:cNvPr id="17" name="object 17" descr=""/>
            <p:cNvSpPr/>
            <p:nvPr/>
          </p:nvSpPr>
          <p:spPr>
            <a:xfrm>
              <a:off x="914400" y="6383775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14400" y="638536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914400" y="696067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01639" y="650030"/>
            <a:ext cx="4598035" cy="6217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defined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Point</a:t>
            </a:r>
            <a:r>
              <a:rPr dirty="0" sz="850" spc="-10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"""Represents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point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2-D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space."""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471170" marR="2984500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54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init</a:t>
            </a:r>
            <a:r>
              <a:rPr dirty="0" u="sng" sz="850" spc="35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3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4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5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f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'(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,</a:t>
            </a:r>
            <a:r>
              <a:rPr dirty="0" sz="850" spc="10">
                <a:solidFill>
                  <a:srgbClr val="7E0610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{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10">
                <a:solidFill>
                  <a:srgbClr val="AA0000"/>
                </a:solidFill>
                <a:latin typeface="SimSun"/>
                <a:cs typeface="SimSun"/>
              </a:rPr>
              <a:t>}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)'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That’s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convey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small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amount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information.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namedtuple</a:t>
            </a:r>
            <a:r>
              <a:rPr dirty="0" sz="1000" spc="-21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 marR="2444750">
              <a:lnSpc>
                <a:spcPct val="166700"/>
              </a:lnSpc>
              <a:spcBef>
                <a:spcPts val="53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collections</a:t>
            </a:r>
            <a:r>
              <a:rPr dirty="0" sz="850" spc="-60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0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namedtuple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namedtuple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'Point'</a:t>
            </a:r>
            <a:r>
              <a:rPr dirty="0" sz="850">
                <a:latin typeface="SimSun"/>
                <a:cs typeface="SimSun"/>
              </a:rPr>
              <a:t>, 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'x'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'y'</a:t>
            </a:r>
            <a:r>
              <a:rPr dirty="0" sz="850" spc="-10">
                <a:latin typeface="SimSun"/>
                <a:cs typeface="SimSun"/>
              </a:rPr>
              <a:t>])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first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wa</a:t>
            </a:r>
            <a:r>
              <a:rPr dirty="0" sz="1050" spc="-100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te.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Point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ve.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</a:t>
            </a:r>
            <a:r>
              <a:rPr dirty="0" sz="1050" spc="-110">
                <a:latin typeface="Palatino Linotype"/>
                <a:cs typeface="Palatino Linotype"/>
              </a:rPr>
              <a:t>h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55">
                <a:latin typeface="Palatino Linotype"/>
                <a:cs typeface="Palatino Linotype"/>
              </a:rPr>
              <a:t>pitalized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variable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namedtuple</a:t>
            </a:r>
            <a:r>
              <a:rPr dirty="0" sz="1000" spc="-21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init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2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assigns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values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ttributes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105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str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u="sng" sz="1000" spc="-5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readable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form.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displ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Point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7401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p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Point(x=1, </a:t>
            </a:r>
            <a:r>
              <a:rPr dirty="0" sz="850" spc="-20">
                <a:latin typeface="SimSun"/>
                <a:cs typeface="SimSun"/>
              </a:rPr>
              <a:t>y=2)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marL="12700" marR="5080">
              <a:lnSpc>
                <a:spcPct val="100000"/>
              </a:lnSpc>
            </a:pP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provides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u="sng" sz="1050" spc="1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eq</a:t>
            </a:r>
            <a:r>
              <a:rPr dirty="0" u="sng" sz="1000" spc="1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40">
                <a:latin typeface="Palatino Linotype"/>
                <a:cs typeface="Palatino Linotype"/>
              </a:rPr>
              <a:t>method</a:t>
            </a:r>
            <a:r>
              <a:rPr dirty="0" sz="1050" spc="8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checks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whether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two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Point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are </a:t>
            </a:r>
            <a:r>
              <a:rPr dirty="0" sz="1050" spc="-70">
                <a:latin typeface="Palatino Linotype"/>
                <a:cs typeface="Palatino Linotype"/>
              </a:rPr>
              <a:t>equivale</a:t>
            </a:r>
            <a:r>
              <a:rPr dirty="0" sz="1050" spc="-70">
                <a:latin typeface="Palatino Linotype"/>
                <a:cs typeface="Palatino Linotype"/>
              </a:rPr>
              <a:t>nt—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attributes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same:</a:t>
            </a:r>
            <a:endParaRPr sz="1050">
              <a:latin typeface="Palatino Linotype"/>
              <a:cs typeface="Palatino Linotype"/>
            </a:endParaRPr>
          </a:p>
          <a:p>
            <a:pPr marL="39370" marR="3686175">
              <a:lnSpc>
                <a:spcPts val="2250"/>
              </a:lnSpc>
              <a:spcBef>
                <a:spcPts val="26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 spc="-20">
                <a:latin typeface="SimSun"/>
                <a:cs typeface="SimSun"/>
              </a:rPr>
              <a:t>True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access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elements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index: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p</a:t>
            </a:r>
            <a:r>
              <a:rPr dirty="0" sz="850" spc="-25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1684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280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685800"/>
            <a:ext cx="4572000" cy="289560"/>
            <a:chOff x="914400" y="685800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68580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687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26269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576705"/>
            <a:ext cx="4572000" cy="397510"/>
            <a:chOff x="914400" y="1576705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576705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57829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26155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743114"/>
            <a:ext cx="4572000" cy="289560"/>
            <a:chOff x="914400" y="2743114"/>
            <a:chExt cx="4572000" cy="28956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74311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74470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3320012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3397799"/>
            <a:ext cx="4572000" cy="289560"/>
            <a:chOff x="914400" y="3397799"/>
            <a:chExt cx="4572000" cy="2895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339779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339938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914400" y="397469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4776298"/>
            <a:ext cx="4572000" cy="397510"/>
            <a:chOff x="914400" y="4776298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477629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477788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914400" y="6304748"/>
            <a:ext cx="4572000" cy="397510"/>
            <a:chOff x="914400" y="6304748"/>
            <a:chExt cx="4572000" cy="39751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30474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30633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901636" y="728091"/>
            <a:ext cx="4598035" cy="5882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],</a:t>
            </a:r>
            <a:r>
              <a:rPr dirty="0" sz="850" spc="-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p</a:t>
            </a:r>
            <a:r>
              <a:rPr dirty="0" sz="850" spc="-20">
                <a:latin typeface="SimSun"/>
                <a:cs typeface="SimSun"/>
              </a:rPr>
              <a:t>[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0">
                <a:latin typeface="SimSun"/>
                <a:cs typeface="SimSun"/>
              </a:rPr>
              <a:t>]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treat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tuple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tuple,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assignment: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411797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y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p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(1, </a:t>
            </a:r>
            <a:r>
              <a:rPr dirty="0" sz="850" spc="-25">
                <a:latin typeface="SimSun"/>
                <a:cs typeface="SimSun"/>
              </a:rPr>
              <a:t>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But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namedtuple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objects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immutable.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After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attributes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initialized,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can’t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changed: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]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'Point' object does not support item </a:t>
            </a:r>
            <a:r>
              <a:rPr dirty="0" sz="850" spc="-10">
                <a:latin typeface="SimSun"/>
                <a:cs typeface="SimSun"/>
              </a:rPr>
              <a:t>assignment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AttributeError: can't set </a:t>
            </a:r>
            <a:r>
              <a:rPr dirty="0" sz="850" spc="-10">
                <a:latin typeface="SimSun"/>
                <a:cs typeface="SimSun"/>
              </a:rPr>
              <a:t>attribute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20">
                <a:latin typeface="SimSun"/>
                <a:cs typeface="SimSun"/>
              </a:rPr>
              <a:t>namedtuple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quick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30">
                <a:latin typeface="Palatino Linotype"/>
                <a:cs typeface="Palatino Linotype"/>
              </a:rPr>
              <a:t>way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simple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classes.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drawback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sim‐ </a:t>
            </a:r>
            <a:r>
              <a:rPr dirty="0" sz="1050">
                <a:latin typeface="Palatino Linotype"/>
                <a:cs typeface="Palatino Linotype"/>
              </a:rPr>
              <a:t>ple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classes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don’t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always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simple.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decide</a:t>
            </a:r>
            <a:r>
              <a:rPr dirty="0" sz="1050" spc="-10">
                <a:latin typeface="Palatino Linotype"/>
                <a:cs typeface="Palatino Linotype"/>
              </a:rPr>
              <a:t> later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add </a:t>
            </a:r>
            <a:r>
              <a:rPr dirty="0" sz="1050" spc="-55">
                <a:latin typeface="Palatino Linotype"/>
                <a:cs typeface="Palatino Linotype"/>
              </a:rPr>
              <a:t>methods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tuple.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new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class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named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solidFill>
                  <a:srgbClr val="074487"/>
                </a:solidFill>
                <a:latin typeface="Courier New"/>
                <a:cs typeface="Courier New"/>
              </a:rPr>
              <a:t>Pointier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"""This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class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inherits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from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Point"""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35">
                <a:latin typeface="Palatino Linotype"/>
                <a:cs typeface="Palatino Linotype"/>
              </a:rPr>
              <a:t>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point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switch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conventional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definition.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275" b="1">
                <a:latin typeface="Trebuchet MS"/>
                <a:cs typeface="Trebuchet MS"/>
              </a:rPr>
              <a:t>Packing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35" b="1">
                <a:latin typeface="Trebuchet MS"/>
                <a:cs typeface="Trebuchet MS"/>
              </a:rPr>
              <a:t>Keyword</a:t>
            </a:r>
            <a:r>
              <a:rPr dirty="0" sz="1900" spc="-254" b="1">
                <a:latin typeface="Trebuchet MS"/>
                <a:cs typeface="Trebuchet MS"/>
              </a:rPr>
              <a:t> </a:t>
            </a:r>
            <a:r>
              <a:rPr dirty="0" sz="1900" spc="-310" b="1">
                <a:latin typeface="Trebuchet MS"/>
                <a:cs typeface="Trebuchet MS"/>
              </a:rPr>
              <a:t>Arguments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“Argument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Packing”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159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wrote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packs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arguments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tuple: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mean(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00482" y="7731125"/>
            <a:ext cx="14992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5" b="1">
                <a:latin typeface="Trebuchet MS"/>
                <a:cs typeface="Trebuchet MS"/>
              </a:rPr>
              <a:t>Packing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Keyword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14" b="1">
                <a:latin typeface="Trebuchet MS"/>
                <a:cs typeface="Trebuchet MS"/>
              </a:rPr>
              <a:t>Arguments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50" b="1">
                <a:latin typeface="Trebuchet MS"/>
                <a:cs typeface="Trebuchet MS"/>
              </a:rPr>
              <a:t>  </a:t>
            </a:r>
            <a:r>
              <a:rPr dirty="0" sz="900" spc="-125" b="1">
                <a:latin typeface="Trebuchet MS"/>
                <a:cs typeface="Trebuchet MS"/>
              </a:rPr>
              <a:t>281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289560"/>
            <a:chOff x="914400" y="922019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4989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1980479"/>
            <a:ext cx="4572000" cy="289560"/>
            <a:chOff x="914400" y="1980479"/>
            <a:chExt cx="4572000" cy="2895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198047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19820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255737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2878918"/>
            <a:ext cx="4572000" cy="505459"/>
            <a:chOff x="914400" y="2878918"/>
            <a:chExt cx="4572000" cy="505459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2878918"/>
              <a:ext cx="4572000" cy="505459"/>
            </a:xfrm>
            <a:custGeom>
              <a:avLst/>
              <a:gdLst/>
              <a:ahLst/>
              <a:cxnLst/>
              <a:rect l="l" t="t" r="r" b="b"/>
              <a:pathLst>
                <a:path w="4572000" h="505460">
                  <a:moveTo>
                    <a:pt x="4572000" y="505142"/>
                  </a:moveTo>
                  <a:lnTo>
                    <a:pt x="0" y="5051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5051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288050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914400" y="3887847"/>
            <a:ext cx="4572000" cy="289560"/>
            <a:chOff x="914400" y="3887847"/>
            <a:chExt cx="4572000" cy="289560"/>
          </a:xfrm>
        </p:grpSpPr>
        <p:sp>
          <p:nvSpPr>
            <p:cNvPr id="14" name="object 14" descr=""/>
            <p:cNvSpPr/>
            <p:nvPr/>
          </p:nvSpPr>
          <p:spPr>
            <a:xfrm>
              <a:off x="914400" y="3887847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14400" y="388943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914400" y="446474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914400" y="4760020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914400" y="5660424"/>
            <a:ext cx="4572000" cy="397510"/>
            <a:chOff x="914400" y="5660424"/>
            <a:chExt cx="4572000" cy="397510"/>
          </a:xfrm>
        </p:grpSpPr>
        <p:sp>
          <p:nvSpPr>
            <p:cNvPr id="19" name="object 19" descr=""/>
            <p:cNvSpPr/>
            <p:nvPr/>
          </p:nvSpPr>
          <p:spPr>
            <a:xfrm>
              <a:off x="914400" y="5660424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14400" y="566201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914400" y="6736491"/>
            <a:ext cx="4572000" cy="289560"/>
            <a:chOff x="914400" y="6736491"/>
            <a:chExt cx="4572000" cy="289560"/>
          </a:xfrm>
        </p:grpSpPr>
        <p:sp>
          <p:nvSpPr>
            <p:cNvPr id="22" name="object 22" descr=""/>
            <p:cNvSpPr/>
            <p:nvPr/>
          </p:nvSpPr>
          <p:spPr>
            <a:xfrm>
              <a:off x="914400" y="6736491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14400" y="67380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914400" y="731338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901637" y="650030"/>
            <a:ext cx="4598035" cy="6570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positional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2.0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*</a:t>
            </a:r>
            <a:r>
              <a:rPr dirty="0" sz="1000" spc="-15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does</a:t>
            </a:r>
            <a:r>
              <a:rPr dirty="0" sz="1050" spc="-15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’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pack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ts.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calling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8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erro</a:t>
            </a:r>
            <a:r>
              <a:rPr dirty="0" sz="1050" spc="-1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mean() got an unexpected keyword argument </a:t>
            </a:r>
            <a:r>
              <a:rPr dirty="0" sz="850" spc="-10">
                <a:latin typeface="SimSun"/>
                <a:cs typeface="SimSun"/>
              </a:rPr>
              <a:t>'start'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pack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**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operator: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31464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mean(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kwargs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kwargs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keyword-packing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name,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kwargs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common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choice.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75">
                <a:latin typeface="Palatino Linotype"/>
                <a:cs typeface="Palatino Linotype"/>
              </a:rPr>
              <a:t>ps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keywords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values: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{'start': </a:t>
            </a:r>
            <a:r>
              <a:rPr dirty="0" sz="850" spc="-25">
                <a:latin typeface="SimSun"/>
                <a:cs typeface="SimSun"/>
              </a:rPr>
              <a:t>3}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1.5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value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kwargs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printed,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otherwise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effect.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SimSun"/>
                <a:cs typeface="SimSun"/>
              </a:rPr>
              <a:t>**</a:t>
            </a:r>
            <a:r>
              <a:rPr dirty="0" sz="1000" spc="-4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operator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can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also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used</a:t>
            </a:r>
            <a:r>
              <a:rPr dirty="0" sz="1050">
                <a:latin typeface="Palatino Linotype"/>
                <a:cs typeface="Palatino Linotype"/>
              </a:rPr>
              <a:t> in an </a:t>
            </a:r>
            <a:r>
              <a:rPr dirty="0" sz="1050" spc="-60">
                <a:latin typeface="Palatino Linotype"/>
                <a:cs typeface="Palatino Linotype"/>
              </a:rPr>
              <a:t>argument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65">
                <a:latin typeface="Palatino Linotype"/>
                <a:cs typeface="Palatino Linotype"/>
              </a:rPr>
              <a:t>unpack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50">
                <a:latin typeface="Palatino Linotype"/>
                <a:cs typeface="Palatino Linotype"/>
              </a:rPr>
              <a:t>dictionary.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mean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that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packs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gets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then </a:t>
            </a:r>
            <a:r>
              <a:rPr dirty="0" sz="1050" spc="-65">
                <a:latin typeface="Palatino Linotype"/>
                <a:cs typeface="Palatino Linotype"/>
              </a:rPr>
              <a:t>unpacks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sum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mean(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kwargs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sum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kwargs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/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len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args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  <a:spcBef>
                <a:spcPts val="5"/>
              </a:spcBef>
            </a:pPr>
            <a:r>
              <a:rPr dirty="0" sz="1050" spc="-105">
                <a:latin typeface="Palatino Linotype"/>
                <a:cs typeface="Palatino Linotype"/>
              </a:rPr>
              <a:t>Now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we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call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mean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start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keyword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argument,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gets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along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sum</a:t>
            </a:r>
            <a:r>
              <a:rPr dirty="0" sz="1050" spc="-20">
                <a:latin typeface="Palatino Linotype"/>
                <a:cs typeface="Palatino Linotype"/>
              </a:rPr>
              <a:t>, </a:t>
            </a:r>
            <a:r>
              <a:rPr dirty="0" sz="1050" spc="-50">
                <a:latin typeface="Palatino Linotype"/>
                <a:cs typeface="Palatino Linotype"/>
              </a:rPr>
              <a:t>which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uses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point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summation.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next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start=3 </a:t>
            </a:r>
            <a:r>
              <a:rPr dirty="0" sz="1050" spc="-85">
                <a:latin typeface="Palatino Linotype"/>
                <a:cs typeface="Palatino Linotype"/>
              </a:rPr>
              <a:t>adds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3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sum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before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mean,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sum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6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result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3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mean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start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3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3.0</a:t>
            </a:r>
            <a:endParaRPr sz="850">
              <a:latin typeface="SimSun"/>
              <a:cs typeface="SimSu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1735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282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097108"/>
            <a:ext cx="4572000" cy="397510"/>
            <a:chOff x="914400" y="1097108"/>
            <a:chExt cx="4572000" cy="3975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097108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09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09869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781955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38606"/>
            <a:ext cx="4572000" cy="397510"/>
            <a:chOff x="914400" y="2438606"/>
            <a:chExt cx="4572000" cy="39751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38606"/>
              <a:ext cx="4572000" cy="397510"/>
            </a:xfrm>
            <a:custGeom>
              <a:avLst/>
              <a:gdLst/>
              <a:ahLst/>
              <a:cxnLst/>
              <a:rect l="l" t="t" r="r" b="b"/>
              <a:pathLst>
                <a:path w="4572000" h="397510">
                  <a:moveTo>
                    <a:pt x="4572000" y="397192"/>
                  </a:moveTo>
                  <a:lnTo>
                    <a:pt x="0" y="3971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3971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40193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914400" y="3123453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914400" y="3757501"/>
            <a:ext cx="4572000" cy="613410"/>
            <a:chOff x="914400" y="3757501"/>
            <a:chExt cx="4572000" cy="613410"/>
          </a:xfrm>
        </p:grpSpPr>
        <p:sp>
          <p:nvSpPr>
            <p:cNvPr id="11" name="object 11" descr=""/>
            <p:cNvSpPr/>
            <p:nvPr/>
          </p:nvSpPr>
          <p:spPr>
            <a:xfrm>
              <a:off x="914400" y="3757501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14400" y="3759089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/>
          <p:nvPr/>
        </p:nvSpPr>
        <p:spPr>
          <a:xfrm>
            <a:off x="914400" y="4658248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914400" y="5713683"/>
            <a:ext cx="4572000" cy="937260"/>
            <a:chOff x="914400" y="5713683"/>
            <a:chExt cx="4572000" cy="937260"/>
          </a:xfrm>
        </p:grpSpPr>
        <p:sp>
          <p:nvSpPr>
            <p:cNvPr id="15" name="object 15" descr=""/>
            <p:cNvSpPr/>
            <p:nvPr/>
          </p:nvSpPr>
          <p:spPr>
            <a:xfrm>
              <a:off x="914400" y="5713683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59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14400" y="571527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901637" y="657564"/>
            <a:ext cx="4598035" cy="590105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12700" marR="5080">
              <a:lnSpc>
                <a:spcPct val="104700"/>
              </a:lnSpc>
              <a:spcBef>
                <a:spcPts val="40"/>
              </a:spcBef>
            </a:pP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</a:t>
            </a:r>
            <a:r>
              <a:rPr dirty="0" sz="1050" spc="-11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ple,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</a:t>
            </a:r>
            <a:r>
              <a:rPr dirty="0" sz="1050" spc="-5">
                <a:latin typeface="Palatino Linotype"/>
                <a:cs typeface="Palatino Linotype"/>
              </a:rPr>
              <a:t>r</a:t>
            </a:r>
            <a:r>
              <a:rPr dirty="0" sz="1050" spc="-105">
                <a:latin typeface="Palatino Linotype"/>
                <a:cs typeface="Palatino Linotype"/>
              </a:rPr>
              <a:t>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keys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00" spc="-22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u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pack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Point</a:t>
            </a:r>
            <a:r>
              <a:rPr dirty="0" sz="1000" spc="-26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Point(x=1, </a:t>
            </a:r>
            <a:r>
              <a:rPr dirty="0" sz="850" spc="-20">
                <a:latin typeface="SimSun"/>
                <a:cs typeface="SimSun"/>
              </a:rPr>
              <a:t>y=2)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>
              <a:lnSpc>
                <a:spcPct val="104700"/>
              </a:lnSpc>
            </a:pPr>
            <a:r>
              <a:rPr dirty="0" sz="1050" spc="-80">
                <a:latin typeface="Palatino Linotype"/>
                <a:cs typeface="Palatino Linotype"/>
              </a:rPr>
              <a:t>W</a:t>
            </a:r>
            <a:r>
              <a:rPr dirty="0" sz="1050" spc="-40">
                <a:latin typeface="Palatino Linotype"/>
                <a:cs typeface="Palatino Linotype"/>
              </a:rPr>
              <a:t>ithout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60">
                <a:latin typeface="Palatino Linotype"/>
                <a:cs typeface="Palatino Linotype"/>
              </a:rPr>
              <a:t>pack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oper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d</a:t>
            </a:r>
            <a:r>
              <a:rPr dirty="0" sz="1000" spc="-16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tre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ted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single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positional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t,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7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gets </a:t>
            </a:r>
            <a:r>
              <a:rPr dirty="0" sz="1050" spc="-65">
                <a:latin typeface="Palatino Linotype"/>
                <a:cs typeface="Palatino Linotype"/>
              </a:rPr>
              <a:t>assigned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x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TypeError</a:t>
            </a:r>
            <a:r>
              <a:rPr dirty="0" sz="1000" spc="-18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ther</a:t>
            </a:r>
            <a:r>
              <a:rPr dirty="0" sz="1050" spc="-110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second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assign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9370" marR="3578225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dict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x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y</a:t>
            </a:r>
            <a:r>
              <a:rPr dirty="0" sz="850" spc="-2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0">
                <a:latin typeface="SimSun"/>
                <a:cs typeface="SimSun"/>
              </a:rPr>
              <a:t>)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</a:pPr>
            <a:r>
              <a:rPr dirty="0" sz="850">
                <a:latin typeface="SimSun"/>
                <a:cs typeface="SimSun"/>
              </a:rPr>
              <a:t>TypeError: Point.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new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() missing 1 required positional argument: </a:t>
            </a:r>
            <a:r>
              <a:rPr dirty="0" sz="850" spc="-25">
                <a:latin typeface="SimSun"/>
                <a:cs typeface="SimSun"/>
              </a:rPr>
              <a:t>'y'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50" spc="-10">
                <a:latin typeface="Palatino Linotype"/>
                <a:cs typeface="Palatino Linotype"/>
              </a:rPr>
              <a:t>When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working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large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keyword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argu‐ </a:t>
            </a:r>
            <a:r>
              <a:rPr dirty="0" sz="1050" spc="-45">
                <a:latin typeface="Palatino Linotype"/>
                <a:cs typeface="Palatino Linotype"/>
              </a:rPr>
              <a:t>me</a:t>
            </a:r>
            <a:r>
              <a:rPr dirty="0" sz="1050" spc="-45">
                <a:latin typeface="Palatino Linotype"/>
                <a:cs typeface="Palatino Linotype"/>
              </a:rPr>
              <a:t>nts,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often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around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dictionaries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specify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frequently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options: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55270" marR="2984500" indent="-215900">
              <a:lnSpc>
                <a:spcPts val="850"/>
              </a:lnSpc>
              <a:spcBef>
                <a:spcPts val="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pack_and_print(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**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kwargs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print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kwargs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pack_and_print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-10">
                <a:latin typeface="SimSun"/>
                <a:cs typeface="SimSun"/>
              </a:rPr>
              <a:t>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r>
              <a:rPr dirty="0" sz="850" spc="-2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SimSun"/>
                <a:cs typeface="SimSun"/>
              </a:rPr>
              <a:t>{'a': 1, 'b': </a:t>
            </a:r>
            <a:r>
              <a:rPr dirty="0" sz="850" spc="-25">
                <a:latin typeface="SimSun"/>
                <a:cs typeface="SimSun"/>
              </a:rPr>
              <a:t>2}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560"/>
              </a:spcBef>
            </a:pPr>
            <a:r>
              <a:rPr dirty="0" sz="1900" spc="-265" b="1">
                <a:latin typeface="Trebuchet MS"/>
                <a:cs typeface="Trebuchet MS"/>
              </a:rPr>
              <a:t>Debugging</a:t>
            </a:r>
            <a:endParaRPr sz="1900">
              <a:latin typeface="Trebuchet MS"/>
              <a:cs typeface="Trebuchet MS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previous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we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doctest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here’s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>
                <a:latin typeface="Palatino Linotype"/>
                <a:cs typeface="Palatino Linotype"/>
              </a:rPr>
              <a:t>tion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called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add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numbers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returns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their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sum.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5">
                <a:latin typeface="Palatino Linotype"/>
                <a:cs typeface="Palatino Linotype"/>
              </a:rPr>
              <a:t>includes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5">
                <a:latin typeface="Palatino Linotype"/>
                <a:cs typeface="Palatino Linotype"/>
              </a:rPr>
              <a:t>doctest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2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>
                <a:latin typeface="SimSun"/>
                <a:cs typeface="SimSun"/>
              </a:rPr>
              <a:t>+</a:t>
            </a:r>
            <a:r>
              <a:rPr dirty="0" sz="1000" spc="30">
                <a:latin typeface="SimSun"/>
                <a:cs typeface="SimSun"/>
              </a:rPr>
              <a:t> </a:t>
            </a:r>
            <a:r>
              <a:rPr dirty="0" sz="1000" spc="-10">
                <a:latin typeface="SimSun"/>
                <a:cs typeface="SimSun"/>
              </a:rPr>
              <a:t>2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4</a:t>
            </a:r>
            <a:r>
              <a:rPr dirty="0" sz="1050" spc="-25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add(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b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'''Add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two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numbers.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&gt;&gt;&gt;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add(2,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2)</a:t>
            </a:r>
            <a:endParaRPr sz="850">
              <a:latin typeface="Courier New"/>
              <a:cs typeface="Courier New"/>
            </a:endParaRPr>
          </a:p>
          <a:p>
            <a:pPr marL="255270" marR="4171950">
              <a:lnSpc>
                <a:spcPts val="850"/>
              </a:lnSpc>
              <a:spcBef>
                <a:spcPts val="85"/>
              </a:spcBef>
            </a:pP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4</a:t>
            </a:r>
            <a:r>
              <a:rPr dirty="0" sz="850" spc="-5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5" i="1">
                <a:solidFill>
                  <a:srgbClr val="7F2604"/>
                </a:solidFill>
                <a:latin typeface="Courier New"/>
                <a:cs typeface="Courier New"/>
              </a:rPr>
              <a:t>'''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b</a:t>
            </a:r>
            <a:endParaRPr sz="850">
              <a:latin typeface="SimSun"/>
              <a:cs typeface="SimSu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66207" y="7731125"/>
            <a:ext cx="833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0" b="1">
                <a:latin typeface="Trebuchet MS"/>
                <a:cs typeface="Trebuchet MS"/>
              </a:rPr>
              <a:t>Debugging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35" b="1">
                <a:latin typeface="Trebuchet MS"/>
                <a:cs typeface="Trebuchet MS"/>
              </a:rPr>
              <a:t>283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2019"/>
            <a:ext cx="4572000" cy="613410"/>
            <a:chOff x="914400" y="922019"/>
            <a:chExt cx="4572000" cy="6134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2019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236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1878879"/>
            <a:ext cx="4572000" cy="289560"/>
            <a:chOff x="914400" y="1878879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1878879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188046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14400" y="2908128"/>
            <a:ext cx="4572000" cy="937260"/>
            <a:chOff x="914400" y="2908128"/>
            <a:chExt cx="4572000" cy="937260"/>
          </a:xfrm>
        </p:grpSpPr>
        <p:sp>
          <p:nvSpPr>
            <p:cNvPr id="9" name="object 9" descr=""/>
            <p:cNvSpPr/>
            <p:nvPr/>
          </p:nvSpPr>
          <p:spPr>
            <a:xfrm>
              <a:off x="914400" y="2908128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14400" y="290971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914400" y="5819088"/>
            <a:ext cx="4572000" cy="613410"/>
            <a:chOff x="914400" y="5819088"/>
            <a:chExt cx="4572000" cy="613410"/>
          </a:xfrm>
        </p:grpSpPr>
        <p:sp>
          <p:nvSpPr>
            <p:cNvPr id="12" name="object 12" descr=""/>
            <p:cNvSpPr/>
            <p:nvPr/>
          </p:nvSpPr>
          <p:spPr>
            <a:xfrm>
              <a:off x="914400" y="5819088"/>
              <a:ext cx="4572000" cy="613410"/>
            </a:xfrm>
            <a:custGeom>
              <a:avLst/>
              <a:gdLst/>
              <a:ahLst/>
              <a:cxnLst/>
              <a:rect l="l" t="t" r="r" b="b"/>
              <a:pathLst>
                <a:path w="4572000" h="613410">
                  <a:moveTo>
                    <a:pt x="4572000" y="613092"/>
                  </a:moveTo>
                  <a:lnTo>
                    <a:pt x="0" y="6130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6130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14400" y="5820676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901637" y="650030"/>
            <a:ext cx="4598035" cy="6367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takes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object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its</a:t>
            </a:r>
            <a:r>
              <a:rPr dirty="0" sz="1050" spc="-10">
                <a:latin typeface="Palatino Linotype"/>
                <a:cs typeface="Palatino Linotype"/>
              </a:rPr>
              <a:t> doctests: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doctest</a:t>
            </a:r>
            <a:r>
              <a:rPr dirty="0" sz="850" spc="-65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run_docstring_examples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run_doctests(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func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run_docstring_examples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func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globals</a:t>
            </a:r>
            <a:r>
              <a:rPr dirty="0" sz="850">
                <a:latin typeface="SimSun"/>
                <a:cs typeface="SimSun"/>
              </a:rPr>
              <a:t>(),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name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func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name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5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So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add</a:t>
            </a:r>
            <a:r>
              <a:rPr dirty="0" sz="1000" spc="-250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like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this: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run_doctests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70">
                <a:latin typeface="Palatino Linotype"/>
                <a:cs typeface="Palatino Linotype"/>
              </a:rPr>
              <a:t>There’s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no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output,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means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passed.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60"/>
              </a:spcBef>
            </a:pP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provides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tool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running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automated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tests,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unittest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lit‐ </a:t>
            </a:r>
            <a:r>
              <a:rPr dirty="0" sz="1050" spc="-45">
                <a:latin typeface="Palatino Linotype"/>
                <a:cs typeface="Palatino Linotype"/>
              </a:rPr>
              <a:t>tle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complicated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example: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from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90" b="1">
                <a:latin typeface="Courier New"/>
                <a:cs typeface="Courier New"/>
              </a:rPr>
              <a:t>unittest</a:t>
            </a:r>
            <a:r>
              <a:rPr dirty="0" sz="850" spc="-65" b="1">
                <a:latin typeface="Courier New"/>
                <a:cs typeface="Courier New"/>
              </a:rPr>
              <a:t> </a:t>
            </a: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6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TestCase</a:t>
            </a:r>
            <a:endParaRPr sz="850">
              <a:latin typeface="SimSun"/>
              <a:cs typeface="SimSun"/>
            </a:endParaRPr>
          </a:p>
          <a:p>
            <a:pPr marL="255270" marR="3038475" indent="-215900">
              <a:lnSpc>
                <a:spcPct val="16670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class</a:t>
            </a:r>
            <a:r>
              <a:rPr dirty="0" sz="850" spc="-5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 b="1">
                <a:solidFill>
                  <a:srgbClr val="074487"/>
                </a:solidFill>
                <a:latin typeface="Courier New"/>
                <a:cs typeface="Courier New"/>
              </a:rPr>
              <a:t>TestExample</a:t>
            </a:r>
            <a:r>
              <a:rPr dirty="0" sz="850" spc="-50">
                <a:latin typeface="SimSun"/>
                <a:cs typeface="SimSun"/>
              </a:rPr>
              <a:t>(</a:t>
            </a:r>
            <a:r>
              <a:rPr dirty="0" sz="850" spc="-50">
                <a:solidFill>
                  <a:srgbClr val="074487"/>
                </a:solidFill>
                <a:latin typeface="SimSun"/>
                <a:cs typeface="SimSun"/>
              </a:rPr>
              <a:t>TestCase</a:t>
            </a:r>
            <a:r>
              <a:rPr dirty="0" sz="850" spc="-50">
                <a:latin typeface="SimSun"/>
                <a:cs typeface="SimSun"/>
              </a:rPr>
              <a:t>): </a:t>
            </a: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test_add(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471170" marR="266065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 </a:t>
            </a: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assertEqual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3099"/>
              </a:lnSpc>
            </a:pPr>
            <a:r>
              <a:rPr dirty="0" sz="1050" spc="-35">
                <a:latin typeface="Palatino Linotype"/>
                <a:cs typeface="Palatino Linotype"/>
              </a:rPr>
              <a:t>First,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45">
                <a:latin typeface="Palatino Linotype"/>
                <a:cs typeface="Palatino Linotype"/>
              </a:rPr>
              <a:t>port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TestCase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unittest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module.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T</a:t>
            </a:r>
            <a:r>
              <a:rPr dirty="0" sz="1050" spc="-40">
                <a:latin typeface="Palatino Linotype"/>
                <a:cs typeface="Palatino Linotype"/>
              </a:rPr>
              <a:t>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70">
                <a:latin typeface="Palatino Linotype"/>
                <a:cs typeface="Palatino Linotype"/>
              </a:rPr>
              <a:t>ve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define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class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inherits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TestCase</a:t>
            </a:r>
            <a:r>
              <a:rPr dirty="0" sz="1000" spc="-3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provides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test </a:t>
            </a:r>
            <a:r>
              <a:rPr dirty="0" sz="1050" spc="-50">
                <a:latin typeface="Palatino Linotype"/>
                <a:cs typeface="Palatino Linotype"/>
              </a:rPr>
              <a:t>method.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ust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begin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test</a:t>
            </a:r>
            <a:r>
              <a:rPr dirty="0" sz="1000" spc="-8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indic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te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tests.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example,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test_add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tests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SimSun"/>
                <a:cs typeface="SimSun"/>
              </a:rPr>
              <a:t>add</a:t>
            </a:r>
            <a:r>
              <a:rPr dirty="0" sz="1000" spc="-9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by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saving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result,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40">
                <a:latin typeface="Palatino Linotype"/>
                <a:cs typeface="Palatino Linotype"/>
              </a:rPr>
              <a:t>invoking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assertEqual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which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inherited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TestCase</a:t>
            </a:r>
            <a:r>
              <a:rPr dirty="0" sz="1050">
                <a:latin typeface="Palatino Linotype"/>
                <a:cs typeface="Palatino Linotype"/>
              </a:rPr>
              <a:t>.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assertEqual</a:t>
            </a:r>
            <a:r>
              <a:rPr dirty="0" sz="1000" spc="-125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takes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two </a:t>
            </a:r>
            <a:r>
              <a:rPr dirty="0" sz="1050" spc="-60">
                <a:latin typeface="Palatino Linotype"/>
                <a:cs typeface="Palatino Linotype"/>
              </a:rPr>
              <a:t>argume</a:t>
            </a:r>
            <a:r>
              <a:rPr dirty="0" sz="1050" spc="-60">
                <a:latin typeface="Palatino Linotype"/>
                <a:cs typeface="Palatino Linotype"/>
              </a:rPr>
              <a:t>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checks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equal.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6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order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method,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have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unittest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main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provide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several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keyword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arguments.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following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shows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details—</a:t>
            </a:r>
            <a:r>
              <a:rPr dirty="0" sz="1050" spc="-25">
                <a:latin typeface="Palatino Linotype"/>
                <a:cs typeface="Palatino Linotype"/>
              </a:rPr>
              <a:t>if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curious,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explain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works: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90" b="1">
                <a:solidFill>
                  <a:srgbClr val="006699"/>
                </a:solidFill>
                <a:latin typeface="Courier New"/>
                <a:cs typeface="Courier New"/>
              </a:rPr>
              <a:t>import</a:t>
            </a:r>
            <a:r>
              <a:rPr dirty="0" sz="850" spc="-75" b="1">
                <a:solidFill>
                  <a:srgbClr val="006699"/>
                </a:solidFill>
                <a:latin typeface="Courier New"/>
                <a:cs typeface="Courier New"/>
              </a:rPr>
              <a:t> </a:t>
            </a:r>
            <a:r>
              <a:rPr dirty="0" sz="850" spc="-10" b="1">
                <a:latin typeface="Courier New"/>
                <a:cs typeface="Courier New"/>
              </a:rPr>
              <a:t>unittest</a:t>
            </a:r>
            <a:endParaRPr sz="850">
              <a:latin typeface="Courier New"/>
              <a:cs typeface="Courier New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run_unittest():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unittest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main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argv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latin typeface="SimSun"/>
                <a:cs typeface="SimSun"/>
              </a:rPr>
              <a:t>[</a:t>
            </a:r>
            <a:r>
              <a:rPr dirty="0" sz="850">
                <a:solidFill>
                  <a:srgbClr val="7E0610"/>
                </a:solidFill>
                <a:latin typeface="SimSun"/>
                <a:cs typeface="SimSun"/>
              </a:rPr>
              <a:t>''</a:t>
            </a:r>
            <a:r>
              <a:rPr dirty="0" sz="850">
                <a:latin typeface="SimSun"/>
                <a:cs typeface="SimSun"/>
              </a:rPr>
              <a:t>],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verbosity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exit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=</a:t>
            </a:r>
            <a:r>
              <a:rPr dirty="0" sz="850" spc="-10" b="1">
                <a:solidFill>
                  <a:srgbClr val="006699"/>
                </a:solidFill>
                <a:latin typeface="Courier New"/>
                <a:cs typeface="Courier New"/>
              </a:rPr>
              <a:t>False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5"/>
              </a:spcBef>
            </a:pPr>
            <a:r>
              <a:rPr dirty="0" sz="1000" spc="-10">
                <a:latin typeface="SimSun"/>
                <a:cs typeface="SimSun"/>
              </a:rPr>
              <a:t>run_unittest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does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take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TestExample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argument—</a:t>
            </a:r>
            <a:r>
              <a:rPr dirty="0" sz="1050" spc="-30">
                <a:latin typeface="Palatino Linotype"/>
                <a:cs typeface="Palatino Linotype"/>
              </a:rPr>
              <a:t>instead,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searches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55">
                <a:latin typeface="Palatino Linotype"/>
                <a:cs typeface="Palatino Linotype"/>
              </a:rPr>
              <a:t>classes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inherit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TestCase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Then</a:t>
            </a:r>
            <a:r>
              <a:rPr dirty="0" sz="1050">
                <a:latin typeface="Palatino Linotype"/>
                <a:cs typeface="Palatino Linotype"/>
              </a:rPr>
              <a:t> it </a:t>
            </a:r>
            <a:r>
              <a:rPr dirty="0" sz="1050" spc="-55">
                <a:latin typeface="Palatino Linotype"/>
                <a:cs typeface="Palatino Linotype"/>
              </a:rPr>
              <a:t>searches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begin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test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runs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 b="1">
                <a:latin typeface="Palatino Linotype"/>
                <a:cs typeface="Palatino Linotype"/>
              </a:rPr>
              <a:t>test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10" b="1">
                <a:latin typeface="Palatino Linotype"/>
                <a:cs typeface="Palatino Linotype"/>
              </a:rPr>
              <a:t>discovery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1691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284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929554"/>
            <a:ext cx="4572000" cy="289560"/>
            <a:chOff x="914400" y="929554"/>
            <a:chExt cx="4572000" cy="2895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929554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59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93114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/>
          <p:nvPr/>
        </p:nvSpPr>
        <p:spPr>
          <a:xfrm>
            <a:off x="914400" y="183030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914400" y="2479417"/>
            <a:ext cx="4572000" cy="721360"/>
            <a:chOff x="914400" y="2479417"/>
            <a:chExt cx="4572000" cy="721360"/>
          </a:xfrm>
        </p:grpSpPr>
        <p:sp>
          <p:nvSpPr>
            <p:cNvPr id="7" name="object 7" descr=""/>
            <p:cNvSpPr/>
            <p:nvPr/>
          </p:nvSpPr>
          <p:spPr>
            <a:xfrm>
              <a:off x="914400" y="2479417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60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14400" y="2481005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914400" y="3536692"/>
            <a:ext cx="4572000" cy="289560"/>
            <a:chOff x="914400" y="3536692"/>
            <a:chExt cx="4572000" cy="2895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3536692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3538280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914400" y="530103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901649" y="657564"/>
            <a:ext cx="4598035" cy="6702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call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run_unittest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run_unittest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---------------------------------------------------------------------</a:t>
            </a:r>
            <a:r>
              <a:rPr dirty="0" sz="850" spc="-50">
                <a:latin typeface="SimSun"/>
                <a:cs typeface="SimSun"/>
              </a:rPr>
              <a:t>-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Ran 1 test in </a:t>
            </a:r>
            <a:r>
              <a:rPr dirty="0" sz="850" spc="-10">
                <a:latin typeface="SimSun"/>
                <a:cs typeface="SimSun"/>
              </a:rPr>
              <a:t>0.000s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 spc="-25">
                <a:latin typeface="SimSun"/>
                <a:cs typeface="SimSun"/>
              </a:rPr>
              <a:t>OK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SimSun"/>
              <a:cs typeface="SimSun"/>
            </a:endParaRPr>
          </a:p>
          <a:p>
            <a:pPr algn="just" marL="12700" marR="5080">
              <a:lnSpc>
                <a:spcPct val="102400"/>
              </a:lnSpc>
            </a:pPr>
            <a:r>
              <a:rPr dirty="0" sz="1000" spc="-20">
                <a:latin typeface="SimSun"/>
                <a:cs typeface="SimSun"/>
              </a:rPr>
              <a:t>unittest.main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reports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number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results.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this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case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SimSun"/>
                <a:cs typeface="SimSun"/>
              </a:rPr>
              <a:t>OK</a:t>
            </a:r>
            <a:r>
              <a:rPr dirty="0" sz="100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indi‐ </a:t>
            </a:r>
            <a:r>
              <a:rPr dirty="0" sz="1050" spc="-45">
                <a:latin typeface="Palatino Linotype"/>
                <a:cs typeface="Palatino Linotype"/>
              </a:rPr>
              <a:t>c</a:t>
            </a:r>
            <a:r>
              <a:rPr dirty="0" sz="1050" spc="-45">
                <a:latin typeface="Palatino Linotype"/>
                <a:cs typeface="Palatino Linotype"/>
              </a:rPr>
              <a:t>ates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tests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passed.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20">
                <a:latin typeface="Palatino Linotype"/>
                <a:cs typeface="Palatino Linotype"/>
              </a:rPr>
              <a:t>test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fails,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we’ll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incor‐ </a:t>
            </a:r>
            <a:r>
              <a:rPr dirty="0" sz="1050" spc="-40">
                <a:latin typeface="Palatino Linotype"/>
                <a:cs typeface="Palatino Linotype"/>
              </a:rPr>
              <a:t>rect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TestExample</a:t>
            </a:r>
            <a:r>
              <a:rPr dirty="0" sz="1050" spc="-1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TestExample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2930525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test_add_broken(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assertEqual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result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0">
                <a:solidFill>
                  <a:srgbClr val="006C2C"/>
                </a:solidFill>
                <a:latin typeface="SimSun"/>
                <a:cs typeface="SimSun"/>
              </a:rPr>
              <a:t>100</a:t>
            </a:r>
            <a:r>
              <a:rPr dirty="0" sz="850" spc="-2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happens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tests: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run_unittest</a:t>
            </a:r>
            <a:r>
              <a:rPr dirty="0" sz="850" spc="-10">
                <a:latin typeface="SimSun"/>
                <a:cs typeface="SimSun"/>
              </a:rPr>
              <a:t>()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 spc="-10">
                <a:latin typeface="SimSun"/>
                <a:cs typeface="SimSun"/>
              </a:rPr>
              <a:t>======================================================================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FAIL: test_add_broken (</a:t>
            </a:r>
            <a:r>
              <a:rPr dirty="0" u="sng" sz="850" spc="4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>
                <a:latin typeface="SimSun"/>
                <a:cs typeface="SimSun"/>
              </a:rPr>
              <a:t>main</a:t>
            </a:r>
            <a:r>
              <a:rPr dirty="0" u="sng" sz="850" spc="425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.TestExample)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---------------------------------------------------------------------</a:t>
            </a:r>
            <a:r>
              <a:rPr dirty="0" sz="850" spc="-50">
                <a:latin typeface="SimSun"/>
                <a:cs typeface="SimSun"/>
              </a:rPr>
              <a:t>-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Traceback (most recent call </a:t>
            </a:r>
            <a:r>
              <a:rPr dirty="0" sz="850" spc="-10">
                <a:latin typeface="SimSun"/>
                <a:cs typeface="SimSun"/>
              </a:rPr>
              <a:t>last):</a:t>
            </a:r>
            <a:endParaRPr sz="850">
              <a:latin typeface="SimSun"/>
              <a:cs typeface="SimSun"/>
            </a:endParaRPr>
          </a:p>
          <a:p>
            <a:pPr marL="255270" marR="717550" indent="-107950">
              <a:lnSpc>
                <a:spcPts val="850"/>
              </a:lnSpc>
              <a:spcBef>
                <a:spcPts val="85"/>
              </a:spcBef>
            </a:pPr>
            <a:r>
              <a:rPr dirty="0" sz="850">
                <a:latin typeface="SimSun"/>
                <a:cs typeface="SimSun"/>
              </a:rPr>
              <a:t>File "/tmp/ipykernel_29273/3833266738.py", line 3, in </a:t>
            </a:r>
            <a:r>
              <a:rPr dirty="0" sz="850" spc="-10">
                <a:latin typeface="SimSun"/>
                <a:cs typeface="SimSun"/>
              </a:rPr>
              <a:t>test_add_broken </a:t>
            </a:r>
            <a:r>
              <a:rPr dirty="0" sz="850">
                <a:latin typeface="SimSun"/>
                <a:cs typeface="SimSun"/>
              </a:rPr>
              <a:t>self.assertEqual(result,</a:t>
            </a:r>
            <a:r>
              <a:rPr dirty="0" sz="850" spc="-10">
                <a:latin typeface="SimSun"/>
                <a:cs typeface="SimSun"/>
              </a:rPr>
              <a:t> </a:t>
            </a:r>
            <a:r>
              <a:rPr dirty="0" sz="850" spc="-20">
                <a:latin typeface="SimSun"/>
                <a:cs typeface="SimSun"/>
              </a:rPr>
              <a:t>100)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850"/>
              </a:lnSpc>
            </a:pPr>
            <a:r>
              <a:rPr dirty="0" sz="850">
                <a:latin typeface="SimSun"/>
                <a:cs typeface="SimSun"/>
              </a:rPr>
              <a:t>AssertionError: 4 != </a:t>
            </a:r>
            <a:r>
              <a:rPr dirty="0" sz="850" spc="-25">
                <a:latin typeface="SimSun"/>
                <a:cs typeface="SimSun"/>
              </a:rPr>
              <a:t>100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  <a:spcBef>
                <a:spcPts val="680"/>
              </a:spcBef>
            </a:pPr>
            <a:r>
              <a:rPr dirty="0" sz="850">
                <a:latin typeface="SimSun"/>
                <a:cs typeface="SimSun"/>
              </a:rPr>
              <a:t>---------------------------------------------------------------------</a:t>
            </a:r>
            <a:r>
              <a:rPr dirty="0" sz="850" spc="-50">
                <a:latin typeface="SimSun"/>
                <a:cs typeface="SimSun"/>
              </a:rPr>
              <a:t>-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ts val="935"/>
              </a:lnSpc>
            </a:pPr>
            <a:r>
              <a:rPr dirty="0" sz="850">
                <a:latin typeface="SimSun"/>
                <a:cs typeface="SimSun"/>
              </a:rPr>
              <a:t>Ran 2 tests in </a:t>
            </a:r>
            <a:r>
              <a:rPr dirty="0" sz="850" spc="-10">
                <a:latin typeface="SimSun"/>
                <a:cs typeface="SimSun"/>
              </a:rPr>
              <a:t>0.000s</a:t>
            </a:r>
            <a:endParaRPr sz="850">
              <a:latin typeface="SimSun"/>
              <a:cs typeface="SimSun"/>
            </a:endParaRPr>
          </a:p>
          <a:p>
            <a:pPr marL="39370">
              <a:lnSpc>
                <a:spcPct val="100000"/>
              </a:lnSpc>
              <a:spcBef>
                <a:spcPts val="680"/>
              </a:spcBef>
            </a:pPr>
            <a:r>
              <a:rPr dirty="0" sz="850">
                <a:latin typeface="SimSun"/>
                <a:cs typeface="SimSun"/>
              </a:rPr>
              <a:t>FAILED </a:t>
            </a:r>
            <a:r>
              <a:rPr dirty="0" sz="850" spc="-10">
                <a:latin typeface="SimSun"/>
                <a:cs typeface="SimSun"/>
              </a:rPr>
              <a:t>(failures=1)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SimSun"/>
              <a:cs typeface="SimSun"/>
            </a:endParaRPr>
          </a:p>
          <a:p>
            <a:pPr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1050" spc="-20">
                <a:latin typeface="Palatino Linotype"/>
                <a:cs typeface="Palatino Linotype"/>
              </a:rPr>
              <a:t>The </a:t>
            </a:r>
            <a:r>
              <a:rPr dirty="0" sz="1050" spc="-40">
                <a:latin typeface="Palatino Linotype"/>
                <a:cs typeface="Palatino Linotype"/>
              </a:rPr>
              <a:t>report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includes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method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failed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error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message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showing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where.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summary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indicates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tests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failed.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540"/>
              </a:spcBef>
            </a:pPr>
            <a:r>
              <a:rPr dirty="0" sz="1050" spc="-2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</a:t>
            </a:r>
            <a:r>
              <a:rPr dirty="0" sz="1050" spc="-10">
                <a:latin typeface="Palatino Linotype"/>
                <a:cs typeface="Palatino Linotype"/>
              </a:rPr>
              <a:t>’</a:t>
            </a:r>
            <a:r>
              <a:rPr dirty="0" sz="1050" spc="-40">
                <a:latin typeface="Palatino Linotype"/>
                <a:cs typeface="Palatino Linotype"/>
              </a:rPr>
              <a:t>ll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suggest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assis‐ </a:t>
            </a:r>
            <a:r>
              <a:rPr dirty="0" sz="1050" spc="-40">
                <a:latin typeface="Palatino Linotype"/>
                <a:cs typeface="Palatino Linotype"/>
              </a:rPr>
              <a:t>ta</a:t>
            </a:r>
            <a:r>
              <a:rPr dirty="0" sz="1050" spc="-7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inform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about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SimSun"/>
                <a:cs typeface="SimSun"/>
              </a:rPr>
              <a:t>unittest</a:t>
            </a:r>
            <a:r>
              <a:rPr dirty="0" sz="1050" spc="-25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00" b="1">
                <a:latin typeface="Trebuchet MS"/>
                <a:cs typeface="Trebuchet MS"/>
              </a:rPr>
              <a:t>Glossary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30" b="1">
                <a:latin typeface="Palatino Linotype"/>
                <a:cs typeface="Palatino Linotype"/>
              </a:rPr>
              <a:t>factory: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objects,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passed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parameter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function.</a:t>
            </a:r>
            <a:endParaRPr sz="1050">
              <a:latin typeface="Palatino Linotype"/>
              <a:cs typeface="Palatino Linotype"/>
            </a:endParaRPr>
          </a:p>
          <a:p>
            <a:pPr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conditional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expression:</a:t>
            </a:r>
            <a:r>
              <a:rPr dirty="0" sz="1050" spc="3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expression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uses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conditional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select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two </a:t>
            </a:r>
            <a:r>
              <a:rPr dirty="0" sz="1050" spc="-10">
                <a:latin typeface="Palatino Linotype"/>
                <a:cs typeface="Palatino Linotype"/>
              </a:rPr>
              <a:t>values.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 b="1">
                <a:latin typeface="Palatino Linotype"/>
                <a:cs typeface="Palatino Linotype"/>
              </a:rPr>
              <a:t>list</a:t>
            </a:r>
            <a:r>
              <a:rPr dirty="0" sz="1050" spc="-15" b="1">
                <a:latin typeface="Palatino Linotype"/>
                <a:cs typeface="Palatino Linotype"/>
              </a:rPr>
              <a:t> </a:t>
            </a:r>
            <a:r>
              <a:rPr dirty="0" sz="1050" spc="-55" b="1">
                <a:latin typeface="Palatino Linotype"/>
                <a:cs typeface="Palatino Linotype"/>
              </a:rPr>
              <a:t>comprehension:</a:t>
            </a:r>
            <a:r>
              <a:rPr dirty="0" sz="1050" spc="-5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concise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loop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through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sequence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create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9009" y="7731125"/>
            <a:ext cx="7302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0" b="1">
                <a:latin typeface="Trebuchet MS"/>
                <a:cs typeface="Trebuchet MS"/>
              </a:rPr>
              <a:t>Glossary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0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285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5938616"/>
            <a:ext cx="4572000" cy="721360"/>
            <a:chOff x="914400" y="5938616"/>
            <a:chExt cx="4572000" cy="7213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5938616"/>
              <a:ext cx="4572000" cy="721360"/>
            </a:xfrm>
            <a:custGeom>
              <a:avLst/>
              <a:gdLst/>
              <a:ahLst/>
              <a:cxnLst/>
              <a:rect l="l" t="t" r="r" b="b"/>
              <a:pathLst>
                <a:path w="4572000" h="721359">
                  <a:moveTo>
                    <a:pt x="4572000" y="721042"/>
                  </a:moveTo>
                  <a:lnTo>
                    <a:pt x="0" y="7210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7210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594020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901587" y="650030"/>
            <a:ext cx="4598035" cy="6427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generator</a:t>
            </a:r>
            <a:r>
              <a:rPr dirty="0" sz="1050" spc="-3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expression:</a:t>
            </a:r>
            <a:r>
              <a:rPr dirty="0" sz="1050" spc="-20" b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Similar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list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comprehension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except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create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10">
                <a:latin typeface="Palatino Linotype"/>
                <a:cs typeface="Palatino Linotype"/>
              </a:rPr>
              <a:t>list.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 b="1">
                <a:latin typeface="Palatino Linotype"/>
                <a:cs typeface="Palatino Linotype"/>
              </a:rPr>
              <a:t>test</a:t>
            </a:r>
            <a:r>
              <a:rPr dirty="0" sz="1050" spc="-25" b="1">
                <a:latin typeface="Palatino Linotype"/>
                <a:cs typeface="Palatino Linotype"/>
              </a:rPr>
              <a:t> </a:t>
            </a:r>
            <a:r>
              <a:rPr dirty="0" sz="1050" spc="-45" b="1">
                <a:latin typeface="Palatino Linotype"/>
                <a:cs typeface="Palatino Linotype"/>
              </a:rPr>
              <a:t>discovery: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process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find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run</a:t>
            </a:r>
            <a:r>
              <a:rPr dirty="0" sz="1050" spc="-10">
                <a:latin typeface="Palatino Linotype"/>
                <a:cs typeface="Palatino Linotype"/>
              </a:rPr>
              <a:t> tests.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900" spc="-315" b="1">
                <a:latin typeface="Trebuchet MS"/>
                <a:cs typeface="Trebuchet MS"/>
              </a:rPr>
              <a:t>Exercises</a:t>
            </a:r>
            <a:endParaRPr sz="1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550" spc="-240" b="1">
                <a:latin typeface="Trebuchet MS"/>
                <a:cs typeface="Trebuchet MS"/>
              </a:rPr>
              <a:t>Ask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5" b="1">
                <a:latin typeface="Trebuchet MS"/>
                <a:cs typeface="Trebuchet MS"/>
              </a:rPr>
              <a:t>a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210" b="1">
                <a:latin typeface="Trebuchet MS"/>
                <a:cs typeface="Trebuchet MS"/>
              </a:rPr>
              <a:t>Virtual</a:t>
            </a:r>
            <a:r>
              <a:rPr dirty="0" sz="1550" spc="-195" b="1">
                <a:latin typeface="Trebuchet MS"/>
                <a:cs typeface="Trebuchet MS"/>
              </a:rPr>
              <a:t> </a:t>
            </a:r>
            <a:r>
              <a:rPr dirty="0" sz="1550" spc="-85" b="1">
                <a:latin typeface="Trebuchet MS"/>
                <a:cs typeface="Trebuchet MS"/>
              </a:rPr>
              <a:t>Assistant</a:t>
            </a:r>
            <a:endParaRPr sz="15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465"/>
              </a:spcBef>
            </a:pPr>
            <a:r>
              <a:rPr dirty="0" sz="1050" spc="-25">
                <a:latin typeface="Palatino Linotype"/>
                <a:cs typeface="Palatino Linotype"/>
              </a:rPr>
              <a:t>There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few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topics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chapter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learn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about.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some </a:t>
            </a:r>
            <a:r>
              <a:rPr dirty="0" sz="1050" spc="-50">
                <a:latin typeface="Palatino Linotype"/>
                <a:cs typeface="Palatino Linotype"/>
              </a:rPr>
              <a:t>questions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assistant: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6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Python’s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methods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operators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Python’s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counter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class?”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45">
                <a:latin typeface="Palatino Linotype"/>
                <a:cs typeface="Palatino Linotype"/>
              </a:rPr>
              <a:t>“What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difference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between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list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comprehension</a:t>
            </a:r>
            <a:r>
              <a:rPr dirty="0" sz="1050" spc="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generator </a:t>
            </a:r>
            <a:r>
              <a:rPr dirty="0" sz="1050" spc="-10">
                <a:latin typeface="Palatino Linotype"/>
                <a:cs typeface="Palatino Linotype"/>
              </a:rPr>
              <a:t>expression?”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5"/>
              </a:spcBef>
              <a:buChar char="•"/>
              <a:tabLst>
                <a:tab pos="241935" algn="l"/>
              </a:tabLst>
            </a:pPr>
            <a:r>
              <a:rPr dirty="0" sz="1050" spc="-60">
                <a:latin typeface="Palatino Linotype"/>
                <a:cs typeface="Palatino Linotype"/>
              </a:rPr>
              <a:t>“When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should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Python’s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namedtuple</a:t>
            </a:r>
            <a:r>
              <a:rPr dirty="0" sz="1000" spc="-24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rather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define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class?”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some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uses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packing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unpacking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keyword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arguments?”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110">
                <a:latin typeface="Palatino Linotype"/>
                <a:cs typeface="Palatino Linotype"/>
              </a:rPr>
              <a:t>“How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unittest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discovery?”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4700"/>
              </a:lnSpc>
              <a:spcBef>
                <a:spcPts val="400"/>
              </a:spcBef>
              <a:buChar char="•"/>
              <a:tabLst>
                <a:tab pos="241935" algn="l"/>
              </a:tabLst>
            </a:pPr>
            <a:r>
              <a:rPr dirty="0" sz="1050" spc="-95">
                <a:latin typeface="Palatino Linotype"/>
                <a:cs typeface="Palatino Linotype"/>
              </a:rPr>
              <a:t>“Along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assertequal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what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are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most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commonly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unit </a:t>
            </a:r>
            <a:r>
              <a:rPr dirty="0" sz="1000" spc="-10">
                <a:latin typeface="SimSun"/>
                <a:cs typeface="SimSun"/>
              </a:rPr>
              <a:t>test.TestCase</a:t>
            </a:r>
            <a:r>
              <a:rPr dirty="0" sz="1050" spc="-10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59"/>
              </a:spcBef>
              <a:buChar char="•"/>
              <a:tabLst>
                <a:tab pos="241935" algn="l"/>
              </a:tabLst>
            </a:pPr>
            <a:r>
              <a:rPr dirty="0" sz="1050" spc="-70">
                <a:latin typeface="Palatino Linotype"/>
                <a:cs typeface="Palatino Linotype"/>
              </a:rPr>
              <a:t>“What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doctest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unittest</a:t>
            </a:r>
            <a:r>
              <a:rPr dirty="0" sz="1050" spc="-10">
                <a:latin typeface="Palatino Linotype"/>
                <a:cs typeface="Palatino Linotype"/>
              </a:rPr>
              <a:t>?”</a:t>
            </a:r>
            <a:endParaRPr sz="105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consider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asking</a:t>
            </a:r>
            <a:r>
              <a:rPr dirty="0" sz="1050">
                <a:latin typeface="Palatino Linotype"/>
                <a:cs typeface="Palatino Linotype"/>
              </a:rPr>
              <a:t> 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always, </a:t>
            </a:r>
            <a:r>
              <a:rPr dirty="0" sz="1050" spc="-55">
                <a:latin typeface="Palatino Linotype"/>
                <a:cs typeface="Palatino Linotype"/>
              </a:rPr>
              <a:t>remember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test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results.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0"/>
              </a:spcBef>
            </a:pP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exercises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7 </a:t>
            </a:r>
            <a:r>
              <a:rPr dirty="0" sz="1050" spc="-35">
                <a:latin typeface="Palatino Linotype"/>
                <a:cs typeface="Palatino Linotype"/>
              </a:rPr>
              <a:t>asks</a:t>
            </a:r>
            <a:r>
              <a:rPr dirty="0" sz="1050">
                <a:latin typeface="Palatino Linotype"/>
                <a:cs typeface="Palatino Linotype"/>
              </a:rPr>
              <a:t> for a </a:t>
            </a:r>
            <a:r>
              <a:rPr dirty="0" sz="1050" spc="-25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uses_none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takes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forbidden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letters,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True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word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any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solution:</a:t>
            </a:r>
            <a:endParaRPr sz="1050">
              <a:latin typeface="Palatino Linotype"/>
              <a:cs typeface="Palatino Linotype"/>
            </a:endParaRPr>
          </a:p>
          <a:p>
            <a:pPr algn="r" marR="287655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uses_none(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r" marR="287655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word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letter</a:t>
            </a:r>
            <a:r>
              <a:rPr dirty="0" sz="850" spc="10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80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forbidden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lower</a:t>
            </a:r>
            <a:r>
              <a:rPr dirty="0" sz="850" spc="-10">
                <a:latin typeface="SimSun"/>
                <a:cs typeface="SimSun"/>
              </a:rPr>
              <a:t>():</a:t>
            </a:r>
            <a:endParaRPr sz="850">
              <a:latin typeface="SimSun"/>
              <a:cs typeface="SimSun"/>
            </a:endParaRPr>
          </a:p>
          <a:p>
            <a:pPr marL="255270" marR="3254375" indent="431800">
              <a:lnSpc>
                <a:spcPts val="850"/>
              </a:lnSpc>
              <a:spcBef>
                <a:spcPts val="85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95" b="1">
                <a:solidFill>
                  <a:srgbClr val="006699"/>
                </a:solidFill>
                <a:latin typeface="Courier New"/>
                <a:cs typeface="Courier New"/>
              </a:rPr>
              <a:t>False </a:t>
            </a: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20" b="1">
                <a:solidFill>
                  <a:srgbClr val="006699"/>
                </a:solidFill>
                <a:latin typeface="Courier New"/>
                <a:cs typeface="Courier New"/>
              </a:rPr>
              <a:t>True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ct val="100000"/>
              </a:lnSpc>
              <a:spcBef>
                <a:spcPts val="585"/>
              </a:spcBef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set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operations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instead</a:t>
            </a:r>
            <a:r>
              <a:rPr dirty="0" sz="1050">
                <a:latin typeface="Palatino Linotype"/>
                <a:cs typeface="Palatino Linotype"/>
              </a:rPr>
              <a:t> of a </a:t>
            </a:r>
            <a:r>
              <a:rPr dirty="0" sz="1000" spc="-10">
                <a:latin typeface="SimSun"/>
                <a:cs typeface="SimSun"/>
              </a:rPr>
              <a:t>for</a:t>
            </a:r>
            <a:r>
              <a:rPr dirty="0" sz="1000" spc="-19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loop.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Hint: </a:t>
            </a:r>
            <a:r>
              <a:rPr dirty="0" sz="1050" spc="-75">
                <a:latin typeface="Palatino Linotype"/>
                <a:cs typeface="Palatino Linotype"/>
              </a:rPr>
              <a:t>ask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“How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intersection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sets?”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733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286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2831636"/>
            <a:ext cx="4572000" cy="1261110"/>
            <a:chOff x="914400" y="2831636"/>
            <a:chExt cx="4572000" cy="126111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2831636"/>
              <a:ext cx="4572000" cy="1261110"/>
            </a:xfrm>
            <a:custGeom>
              <a:avLst/>
              <a:gdLst/>
              <a:ahLst/>
              <a:cxnLst/>
              <a:rect l="l" t="t" r="r" b="b"/>
              <a:pathLst>
                <a:path w="4572000" h="1261110">
                  <a:moveTo>
                    <a:pt x="4572000" y="1260792"/>
                  </a:moveTo>
                  <a:lnTo>
                    <a:pt x="0" y="12607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2607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2833224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5012890"/>
            <a:ext cx="4572000" cy="1045210"/>
            <a:chOff x="914400" y="5012890"/>
            <a:chExt cx="4572000" cy="104521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5012890"/>
              <a:ext cx="4572000" cy="1045210"/>
            </a:xfrm>
            <a:custGeom>
              <a:avLst/>
              <a:gdLst/>
              <a:ahLst/>
              <a:cxnLst/>
              <a:rect l="l" t="t" r="r" b="b"/>
              <a:pathLst>
                <a:path w="4572000" h="1045210">
                  <a:moveTo>
                    <a:pt x="4572000" y="1044892"/>
                  </a:moveTo>
                  <a:lnTo>
                    <a:pt x="0" y="104489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04489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5014478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01635" y="530706"/>
            <a:ext cx="4598035" cy="594487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4700"/>
              </a:lnSpc>
              <a:spcBef>
                <a:spcPts val="400"/>
              </a:spcBef>
            </a:pPr>
            <a:r>
              <a:rPr dirty="0" sz="1050" spc="-40">
                <a:latin typeface="Palatino Linotype"/>
                <a:cs typeface="Palatino Linotype"/>
              </a:rPr>
              <a:t>Scrabble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board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35">
                <a:latin typeface="Palatino Linotype"/>
                <a:cs typeface="Palatino Linotype"/>
              </a:rPr>
              <a:t>objective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letter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tiles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spell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words.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For </a:t>
            </a:r>
            <a:r>
              <a:rPr dirty="0" sz="1050" spc="-60">
                <a:latin typeface="Palatino Linotype"/>
                <a:cs typeface="Palatino Linotype"/>
              </a:rPr>
              <a:t>example,</a:t>
            </a:r>
            <a:r>
              <a:rPr dirty="0" sz="1050" spc="-10">
                <a:latin typeface="Palatino Linotype"/>
                <a:cs typeface="Palatino Linotype"/>
              </a:rPr>
              <a:t> if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tiles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T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A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B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L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SimSun"/>
                <a:cs typeface="SimSun"/>
              </a:rPr>
              <a:t>E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160">
                <a:latin typeface="Palatino Linotype"/>
                <a:cs typeface="Palatino Linotype"/>
              </a:rPr>
              <a:t>we</a:t>
            </a:r>
            <a:r>
              <a:rPr dirty="0" sz="1050" spc="9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can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spell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BELT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SimSun"/>
                <a:cs typeface="SimSun"/>
              </a:rPr>
              <a:t>LATE</a:t>
            </a:r>
            <a:r>
              <a:rPr dirty="0" sz="1000" spc="-7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using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subset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tiles—</a:t>
            </a:r>
            <a:r>
              <a:rPr dirty="0" sz="1050" spc="-6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can’t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BEET</a:t>
            </a:r>
            <a:r>
              <a:rPr dirty="0" sz="1000" spc="-240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because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20">
                <a:latin typeface="Palatino Linotype"/>
                <a:cs typeface="Palatino Linotype"/>
              </a:rPr>
              <a:t>we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have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two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E</a:t>
            </a:r>
            <a:r>
              <a:rPr dirty="0" sz="1050" spc="-25">
                <a:latin typeface="Palatino Linotype"/>
                <a:cs typeface="Palatino Linotype"/>
              </a:rPr>
              <a:t>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takes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string</a:t>
            </a:r>
            <a:r>
              <a:rPr dirty="0" sz="1050" spc="-10">
                <a:latin typeface="Palatino Linotype"/>
                <a:cs typeface="Palatino Linotype"/>
              </a:rPr>
              <a:t> of </a:t>
            </a:r>
            <a:r>
              <a:rPr dirty="0" sz="1050" spc="-40">
                <a:latin typeface="Palatino Linotype"/>
                <a:cs typeface="Palatino Linotype"/>
              </a:rPr>
              <a:t>letters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checks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whether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let‐ </a:t>
            </a:r>
            <a:r>
              <a:rPr dirty="0" sz="1050" spc="-50">
                <a:latin typeface="Palatino Linotype"/>
                <a:cs typeface="Palatino Linotype"/>
              </a:rPr>
              <a:t>ters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spell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taking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account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many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times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each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letter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appears.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2400"/>
              </a:lnSpc>
              <a:spcBef>
                <a:spcPts val="49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exercises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from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Chapter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17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25">
                <a:latin typeface="Palatino Linotype"/>
                <a:cs typeface="Palatino Linotype"/>
              </a:rPr>
              <a:t>my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solution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has_straightflush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60">
                <a:latin typeface="Palatino Linotype"/>
                <a:cs typeface="Palatino Linotype"/>
              </a:rPr>
              <a:t>following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method,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partitions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PokerHand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into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four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hands,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each </a:t>
            </a:r>
            <a:r>
              <a:rPr dirty="0" sz="1050" spc="-65">
                <a:latin typeface="Palatino Linotype"/>
                <a:cs typeface="Palatino Linotype"/>
              </a:rPr>
              <a:t>hand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contains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cards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same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suit:</a:t>
            </a:r>
            <a:endParaRPr sz="1050">
              <a:latin typeface="Palatino Linotype"/>
              <a:cs typeface="Palatino Linotype"/>
            </a:endParaRPr>
          </a:p>
          <a:p>
            <a:pPr algn="just"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partition(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"""Make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a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list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four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hands,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each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containing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only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one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suit."""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850"/>
              </a:lnSpc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hands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471170" marR="2768600" indent="-215900">
              <a:lnSpc>
                <a:spcPts val="850"/>
              </a:lnSpc>
              <a:spcBef>
                <a:spcPts val="8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i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range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PokerHand</a:t>
            </a:r>
            <a:r>
              <a:rPr dirty="0" sz="850" spc="-10">
                <a:latin typeface="SimSun"/>
                <a:cs typeface="SimSun"/>
              </a:rPr>
              <a:t>())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SimSun"/>
              <a:cs typeface="SimSun"/>
            </a:endParaRPr>
          </a:p>
          <a:p>
            <a:pPr marL="471170" marR="244475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hands</a:t>
            </a:r>
            <a:r>
              <a:rPr dirty="0" sz="850" spc="-10">
                <a:latin typeface="SimSun"/>
                <a:cs typeface="SimSun"/>
              </a:rPr>
              <a:t>[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suit</a:t>
            </a:r>
            <a:r>
              <a:rPr dirty="0" sz="850" spc="-10">
                <a:latin typeface="SimSun"/>
                <a:cs typeface="SimSun"/>
              </a:rPr>
              <a:t>]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add_card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ct val="100000"/>
              </a:lnSpc>
              <a:spcBef>
                <a:spcPts val="680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hands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simplified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defaultdict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Chapter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11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Fibonacci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numbers:</a:t>
            </a:r>
            <a:endParaRPr sz="1050">
              <a:latin typeface="Palatino Linotype"/>
              <a:cs typeface="Palatino Linotype"/>
            </a:endParaRPr>
          </a:p>
          <a:p>
            <a:pPr algn="ctr" marR="3592829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7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latin typeface="SimSun"/>
                <a:cs typeface="SimSun"/>
              </a:rPr>
              <a:t>fibonacci(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-10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algn="ctr" marR="3538854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algn="ctr" marR="3538854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ct val="100000"/>
              </a:lnSpc>
              <a:spcBef>
                <a:spcPts val="680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fibonacci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2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45">
                <a:latin typeface="Palatino Linotype"/>
                <a:cs typeface="Palatino Linotype"/>
              </a:rPr>
              <a:t>Write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single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return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statement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two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condi‐ </a:t>
            </a:r>
            <a:r>
              <a:rPr dirty="0" sz="1050" spc="-40">
                <a:latin typeface="Palatino Linotype"/>
                <a:cs typeface="Palatino Linotype"/>
              </a:rPr>
              <a:t>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expressions,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one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nested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inside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other.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45000" y="7731125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14" b="1">
                <a:latin typeface="Trebuchet MS"/>
                <a:cs typeface="Trebuchet MS"/>
              </a:rPr>
              <a:t>Exercises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5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287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914400" y="1188485"/>
            <a:ext cx="4572000" cy="1800860"/>
            <a:chOff x="914400" y="1188485"/>
            <a:chExt cx="4572000" cy="1800860"/>
          </a:xfrm>
        </p:grpSpPr>
        <p:sp>
          <p:nvSpPr>
            <p:cNvPr id="3" name="object 3" descr=""/>
            <p:cNvSpPr/>
            <p:nvPr/>
          </p:nvSpPr>
          <p:spPr>
            <a:xfrm>
              <a:off x="914400" y="1188485"/>
              <a:ext cx="4572000" cy="1800860"/>
            </a:xfrm>
            <a:custGeom>
              <a:avLst/>
              <a:gdLst/>
              <a:ahLst/>
              <a:cxnLst/>
              <a:rect l="l" t="t" r="r" b="b"/>
              <a:pathLst>
                <a:path w="4572000" h="1800860">
                  <a:moveTo>
                    <a:pt x="4572000" y="1800542"/>
                  </a:moveTo>
                  <a:lnTo>
                    <a:pt x="0" y="18005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18005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914400" y="1190072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914400" y="3881520"/>
            <a:ext cx="4572000" cy="289560"/>
            <a:chOff x="914400" y="3881520"/>
            <a:chExt cx="4572000" cy="289560"/>
          </a:xfrm>
        </p:grpSpPr>
        <p:sp>
          <p:nvSpPr>
            <p:cNvPr id="6" name="object 6" descr=""/>
            <p:cNvSpPr/>
            <p:nvPr/>
          </p:nvSpPr>
          <p:spPr>
            <a:xfrm>
              <a:off x="914400" y="3881520"/>
              <a:ext cx="4572000" cy="289560"/>
            </a:xfrm>
            <a:custGeom>
              <a:avLst/>
              <a:gdLst/>
              <a:ahLst/>
              <a:cxnLst/>
              <a:rect l="l" t="t" r="r" b="b"/>
              <a:pathLst>
                <a:path w="4572000" h="289560">
                  <a:moveTo>
                    <a:pt x="4572000" y="289242"/>
                  </a:moveTo>
                  <a:lnTo>
                    <a:pt x="0" y="2892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2892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14400" y="3883107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914400" y="4458417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914400" y="5120433"/>
            <a:ext cx="4572000" cy="937260"/>
            <a:chOff x="914400" y="5120433"/>
            <a:chExt cx="4572000" cy="937260"/>
          </a:xfrm>
        </p:grpSpPr>
        <p:sp>
          <p:nvSpPr>
            <p:cNvPr id="10" name="object 10" descr=""/>
            <p:cNvSpPr/>
            <p:nvPr/>
          </p:nvSpPr>
          <p:spPr>
            <a:xfrm>
              <a:off x="914400" y="5120433"/>
              <a:ext cx="4572000" cy="937260"/>
            </a:xfrm>
            <a:custGeom>
              <a:avLst/>
              <a:gdLst/>
              <a:ahLst/>
              <a:cxnLst/>
              <a:rect l="l" t="t" r="r" b="b"/>
              <a:pathLst>
                <a:path w="4572000" h="937260">
                  <a:moveTo>
                    <a:pt x="4572000" y="936942"/>
                  </a:moveTo>
                  <a:lnTo>
                    <a:pt x="0" y="936942"/>
                  </a:lnTo>
                  <a:lnTo>
                    <a:pt x="0" y="0"/>
                  </a:lnTo>
                  <a:lnTo>
                    <a:pt x="4572000" y="0"/>
                  </a:lnTo>
                  <a:lnTo>
                    <a:pt x="4572000" y="936942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14400" y="5122021"/>
              <a:ext cx="4572000" cy="0"/>
            </a:xfrm>
            <a:custGeom>
              <a:avLst/>
              <a:gdLst/>
              <a:ahLst/>
              <a:cxnLst/>
              <a:rect l="l" t="t" r="r" b="b"/>
              <a:pathLst>
                <a:path w="4572000" h="0">
                  <a:moveTo>
                    <a:pt x="0" y="0"/>
                  </a:moveTo>
                  <a:lnTo>
                    <a:pt x="4572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901635" y="530706"/>
            <a:ext cx="4598035" cy="593661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following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recursively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computes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binomial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coefficient: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ts val="935"/>
              </a:lnSpc>
              <a:spcBef>
                <a:spcPts val="1215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binomial_coeff(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10"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74487"/>
                </a:solidFill>
                <a:latin typeface="SimSun"/>
                <a:cs typeface="SimSun"/>
              </a:rPr>
              <a:t>k</a:t>
            </a:r>
            <a:r>
              <a:rPr dirty="0" sz="850" spc="-25">
                <a:latin typeface="SimSun"/>
                <a:cs typeface="SimSun"/>
              </a:rPr>
              <a:t>):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"""Compute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the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binomial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coefficient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"n</a:t>
            </a:r>
            <a:r>
              <a:rPr dirty="0" sz="850" spc="-6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choose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k".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n: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number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trials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935"/>
              </a:lnSpc>
            </a:pP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k: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number</a:t>
            </a:r>
            <a:r>
              <a:rPr dirty="0" sz="850" spc="-7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of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10" i="1">
                <a:solidFill>
                  <a:srgbClr val="7F2604"/>
                </a:solidFill>
                <a:latin typeface="Courier New"/>
                <a:cs typeface="Courier New"/>
              </a:rPr>
              <a:t>successes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750">
              <a:latin typeface="Courier New"/>
              <a:cs typeface="Courier New"/>
            </a:endParaRPr>
          </a:p>
          <a:p>
            <a:pPr marL="255270" marR="3686175">
              <a:lnSpc>
                <a:spcPts val="850"/>
              </a:lnSpc>
            </a:pP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returns:</a:t>
            </a:r>
            <a:r>
              <a:rPr dirty="0" sz="850" spc="-6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int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"""</a:t>
            </a:r>
            <a:endParaRPr sz="850">
              <a:latin typeface="Courier New"/>
              <a:cs typeface="Courier New"/>
            </a:endParaRPr>
          </a:p>
          <a:p>
            <a:pPr marL="255270">
              <a:lnSpc>
                <a:spcPts val="765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ts val="935"/>
              </a:lnSpc>
              <a:spcBef>
                <a:spcPts val="680"/>
              </a:spcBef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if</a:t>
            </a:r>
            <a:r>
              <a:rPr dirty="0" sz="850" spc="-8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 spc="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==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0</a:t>
            </a:r>
            <a:r>
              <a:rPr dirty="0" sz="850" spc="-25">
                <a:latin typeface="SimSun"/>
                <a:cs typeface="SimSun"/>
              </a:rPr>
              <a:t>: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935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50">
                <a:solidFill>
                  <a:srgbClr val="006C2C"/>
                </a:solidFill>
                <a:latin typeface="SimSun"/>
                <a:cs typeface="SimSun"/>
              </a:rPr>
              <a:t>0</a:t>
            </a:r>
            <a:endParaRPr sz="850">
              <a:latin typeface="SimSun"/>
              <a:cs typeface="SimSun"/>
            </a:endParaRPr>
          </a:p>
          <a:p>
            <a:pPr marL="255270">
              <a:lnSpc>
                <a:spcPct val="100000"/>
              </a:lnSpc>
              <a:spcBef>
                <a:spcPts val="680"/>
              </a:spcBef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binomial_coeff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</a:t>
            </a:r>
            <a:r>
              <a:rPr dirty="0" sz="850">
                <a:latin typeface="SimSun"/>
                <a:cs typeface="SimSun"/>
              </a:rPr>
              <a:t>)</a:t>
            </a:r>
            <a:r>
              <a:rPr dirty="0" sz="850" spc="5"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+</a:t>
            </a:r>
            <a:r>
              <a:rPr dirty="0" sz="850" spc="5">
                <a:solidFill>
                  <a:srgbClr val="52268E"/>
                </a:solidFill>
                <a:latin typeface="SimSun"/>
                <a:cs typeface="SimSun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binomial_coeff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n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k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-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1</a:t>
            </a:r>
            <a:r>
              <a:rPr dirty="0" sz="850" spc="-25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Rewrite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body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nested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conditional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expressions.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function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not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very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efficient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60">
                <a:latin typeface="Palatino Linotype"/>
                <a:cs typeface="Palatino Linotype"/>
              </a:rPr>
              <a:t>ends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up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computing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same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values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over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over.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25">
                <a:latin typeface="Palatino Linotype"/>
                <a:cs typeface="Palatino Linotype"/>
              </a:rPr>
              <a:t>more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efficient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memoizing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it, </a:t>
            </a:r>
            <a:r>
              <a:rPr dirty="0" sz="1050" spc="-1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described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9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“Memos”</a:t>
            </a:r>
            <a:r>
              <a:rPr dirty="0" sz="1050" spc="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on 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page</a:t>
            </a:r>
            <a:r>
              <a:rPr dirty="0" sz="1050" spc="-4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146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  <a:tabLst>
                <a:tab pos="1388745" algn="l"/>
              </a:tabLst>
            </a:pP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binomial_coeff</a:t>
            </a:r>
            <a:r>
              <a:rPr dirty="0" sz="850">
                <a:latin typeface="SimSun"/>
                <a:cs typeface="SimSun"/>
              </a:rPr>
              <a:t>(</a:t>
            </a:r>
            <a:r>
              <a:rPr dirty="0" sz="850">
                <a:solidFill>
                  <a:srgbClr val="006C2C"/>
                </a:solidFill>
                <a:latin typeface="SimSun"/>
                <a:cs typeface="SimSun"/>
              </a:rPr>
              <a:t>10</a:t>
            </a:r>
            <a:r>
              <a:rPr dirty="0" sz="850">
                <a:latin typeface="SimSun"/>
                <a:cs typeface="SimSun"/>
              </a:rPr>
              <a:t>, </a:t>
            </a:r>
            <a:r>
              <a:rPr dirty="0" sz="850" spc="-25">
                <a:solidFill>
                  <a:srgbClr val="006C2C"/>
                </a:solidFill>
                <a:latin typeface="SimSun"/>
                <a:cs typeface="SimSun"/>
              </a:rPr>
              <a:t>4</a:t>
            </a:r>
            <a:r>
              <a:rPr dirty="0" sz="850" spc="-25">
                <a:latin typeface="SimSun"/>
                <a:cs typeface="SimSun"/>
              </a:rPr>
              <a:t>)</a:t>
            </a:r>
            <a:r>
              <a:rPr dirty="0" sz="850">
                <a:latin typeface="SimSun"/>
                <a:cs typeface="SimSun"/>
              </a:rPr>
              <a:t>	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#</a:t>
            </a:r>
            <a:r>
              <a:rPr dirty="0" sz="850" spc="-80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0" i="1">
                <a:solidFill>
                  <a:srgbClr val="7F2604"/>
                </a:solidFill>
                <a:latin typeface="Courier New"/>
                <a:cs typeface="Courier New"/>
              </a:rPr>
              <a:t>should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95" i="1">
                <a:solidFill>
                  <a:srgbClr val="7F2604"/>
                </a:solidFill>
                <a:latin typeface="Courier New"/>
                <a:cs typeface="Courier New"/>
              </a:rPr>
              <a:t>be</a:t>
            </a:r>
            <a:r>
              <a:rPr dirty="0" sz="850" spc="-75" i="1">
                <a:solidFill>
                  <a:srgbClr val="7F2604"/>
                </a:solidFill>
                <a:latin typeface="Courier New"/>
                <a:cs typeface="Courier New"/>
              </a:rPr>
              <a:t> </a:t>
            </a:r>
            <a:r>
              <a:rPr dirty="0" sz="850" spc="-25" i="1">
                <a:solidFill>
                  <a:srgbClr val="7F2604"/>
                </a:solidFill>
                <a:latin typeface="Courier New"/>
                <a:cs typeface="Courier New"/>
              </a:rPr>
              <a:t>210</a:t>
            </a:r>
            <a:endParaRPr sz="8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Courier New"/>
              <a:cs typeface="Courier New"/>
            </a:endParaRPr>
          </a:p>
          <a:p>
            <a:pPr marL="39370">
              <a:lnSpc>
                <a:spcPct val="100000"/>
              </a:lnSpc>
            </a:pPr>
            <a:r>
              <a:rPr dirty="0" sz="850" spc="-25">
                <a:latin typeface="SimSun"/>
                <a:cs typeface="SimSun"/>
              </a:rPr>
              <a:t>210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</a:pPr>
            <a:endParaRPr sz="800">
              <a:latin typeface="SimSun"/>
              <a:cs typeface="SimSu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550" spc="-135" b="1">
                <a:latin typeface="Trebuchet MS"/>
                <a:cs typeface="Trebuchet MS"/>
              </a:rPr>
              <a:t>Exercise</a:t>
            </a:r>
            <a:endParaRPr sz="15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90">
                <a:latin typeface="Palatino Linotype"/>
                <a:cs typeface="Palatino Linotype"/>
              </a:rPr>
              <a:t>Here’s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u="sng" sz="1050" spc="2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1000">
                <a:latin typeface="SimSun"/>
                <a:cs typeface="SimSun"/>
              </a:rPr>
              <a:t>str</a:t>
            </a:r>
            <a:r>
              <a:rPr dirty="0" u="sng" sz="1000" spc="13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 </a:t>
            </a:r>
            <a:r>
              <a:rPr dirty="0" sz="1050" spc="-55">
                <a:latin typeface="Palatino Linotype"/>
                <a:cs typeface="Palatino Linotype"/>
              </a:rPr>
              <a:t>method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Deck</a:t>
            </a:r>
            <a:r>
              <a:rPr dirty="0" sz="1000" spc="-26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class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“Printing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the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Deck”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on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page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256</a:t>
            </a:r>
            <a:r>
              <a:rPr dirty="0" sz="1050" spc="-20">
                <a:latin typeface="Palatino Linotype"/>
                <a:cs typeface="Palatino Linotype"/>
              </a:rPr>
              <a:t>:</a:t>
            </a:r>
            <a:endParaRPr sz="1050">
              <a:latin typeface="Palatino Linotype"/>
              <a:cs typeface="Palatino Linotype"/>
            </a:endParaRPr>
          </a:p>
          <a:p>
            <a:pPr marL="39370">
              <a:lnSpc>
                <a:spcPct val="100000"/>
              </a:lnSpc>
              <a:spcBef>
                <a:spcPts val="1215"/>
              </a:spcBef>
            </a:pP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%%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add_method_to </a:t>
            </a:r>
            <a:r>
              <a:rPr dirty="0" sz="850" spc="-20">
                <a:solidFill>
                  <a:srgbClr val="074487"/>
                </a:solidFill>
                <a:latin typeface="SimSun"/>
                <a:cs typeface="SimSun"/>
              </a:rPr>
              <a:t>Deck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SimSun"/>
              <a:cs typeface="SimSun"/>
            </a:endParaRPr>
          </a:p>
          <a:p>
            <a:pPr marL="471170" marR="3362325" indent="-215900">
              <a:lnSpc>
                <a:spcPts val="850"/>
              </a:lnSpc>
            </a:pPr>
            <a:r>
              <a:rPr dirty="0" sz="850" b="1">
                <a:solidFill>
                  <a:srgbClr val="006C2C"/>
                </a:solidFill>
                <a:latin typeface="Courier New"/>
                <a:cs typeface="Courier New"/>
              </a:rPr>
              <a:t>def</a:t>
            </a:r>
            <a:r>
              <a:rPr dirty="0" sz="850" spc="-13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u="sng" sz="850" spc="210" b="1">
                <a:solidFill>
                  <a:srgbClr val="006C2C"/>
                </a:solidFill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 </a:t>
            </a:r>
            <a:r>
              <a:rPr dirty="0" sz="850">
                <a:latin typeface="SimSun"/>
                <a:cs typeface="SimSun"/>
              </a:rPr>
              <a:t>str</a:t>
            </a:r>
            <a:r>
              <a:rPr dirty="0" u="sng" sz="850" spc="320">
                <a:uFill>
                  <a:solidFill>
                    <a:srgbClr val="000000"/>
                  </a:solidFill>
                </a:uFill>
                <a:latin typeface="SimSun"/>
                <a:cs typeface="SimSun"/>
              </a:rPr>
              <a:t> 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latin typeface="SimSun"/>
                <a:cs typeface="SimSun"/>
              </a:rPr>
              <a:t>):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res </a:t>
            </a:r>
            <a:r>
              <a:rPr dirty="0" sz="850">
                <a:solidFill>
                  <a:srgbClr val="52268E"/>
                </a:solidFill>
                <a:latin typeface="SimSun"/>
                <a:cs typeface="SimSun"/>
              </a:rPr>
              <a:t>= </a:t>
            </a:r>
            <a:r>
              <a:rPr dirty="0" sz="850" spc="-25">
                <a:latin typeface="SimSun"/>
                <a:cs typeface="SimSun"/>
              </a:rPr>
              <a:t>[]</a:t>
            </a:r>
            <a:endParaRPr sz="850">
              <a:latin typeface="SimSun"/>
              <a:cs typeface="SimSun"/>
            </a:endParaRPr>
          </a:p>
          <a:p>
            <a:pPr marL="687070" marR="2768600" indent="-215900">
              <a:lnSpc>
                <a:spcPts val="850"/>
              </a:lnSpc>
            </a:pPr>
            <a:r>
              <a:rPr dirty="0" sz="850" spc="-95" b="1">
                <a:solidFill>
                  <a:srgbClr val="006C2C"/>
                </a:solidFill>
                <a:latin typeface="Courier New"/>
                <a:cs typeface="Courier New"/>
              </a:rPr>
              <a:t>for</a:t>
            </a:r>
            <a:r>
              <a:rPr dirty="0" sz="850" spc="-80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15">
                <a:solidFill>
                  <a:srgbClr val="074487"/>
                </a:solidFill>
                <a:latin typeface="SimSun"/>
                <a:cs typeface="SimSun"/>
              </a:rPr>
              <a:t> </a:t>
            </a:r>
            <a:r>
              <a:rPr dirty="0" sz="850" spc="-95" b="1">
                <a:latin typeface="Courier New"/>
                <a:cs typeface="Courier New"/>
              </a:rPr>
              <a:t>in</a:t>
            </a:r>
            <a:r>
              <a:rPr dirty="0" sz="850" spc="-75" b="1"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336666"/>
                </a:solidFill>
                <a:latin typeface="SimSun"/>
                <a:cs typeface="SimSun"/>
              </a:rPr>
              <a:t>self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cards</a:t>
            </a:r>
            <a:r>
              <a:rPr dirty="0" sz="850" spc="-10">
                <a:latin typeface="SimSun"/>
                <a:cs typeface="SimSun"/>
              </a:rPr>
              <a:t>: 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append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06C2C"/>
                </a:solidFill>
                <a:latin typeface="SimSun"/>
                <a:cs typeface="SimSun"/>
              </a:rPr>
              <a:t>str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card</a:t>
            </a:r>
            <a:r>
              <a:rPr dirty="0" sz="850" spc="-10">
                <a:latin typeface="SimSun"/>
                <a:cs typeface="SimSun"/>
              </a:rPr>
              <a:t>))</a:t>
            </a:r>
            <a:endParaRPr sz="850">
              <a:latin typeface="SimSun"/>
              <a:cs typeface="SimSun"/>
            </a:endParaRPr>
          </a:p>
          <a:p>
            <a:pPr marL="471170">
              <a:lnSpc>
                <a:spcPts val="850"/>
              </a:lnSpc>
            </a:pPr>
            <a:r>
              <a:rPr dirty="0" sz="850" spc="-90" b="1">
                <a:solidFill>
                  <a:srgbClr val="006C2C"/>
                </a:solidFill>
                <a:latin typeface="Courier New"/>
                <a:cs typeface="Courier New"/>
              </a:rPr>
              <a:t>return</a:t>
            </a:r>
            <a:r>
              <a:rPr dirty="0" sz="850" spc="-75" b="1">
                <a:solidFill>
                  <a:srgbClr val="006C2C"/>
                </a:solidFill>
                <a:latin typeface="Courier New"/>
                <a:cs typeface="Courier New"/>
              </a:rPr>
              <a:t> 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 b="1">
                <a:solidFill>
                  <a:srgbClr val="CC3300"/>
                </a:solidFill>
                <a:latin typeface="Courier New"/>
                <a:cs typeface="Courier New"/>
              </a:rPr>
              <a:t>\n</a:t>
            </a:r>
            <a:r>
              <a:rPr dirty="0" sz="850" spc="-10">
                <a:solidFill>
                  <a:srgbClr val="7E0610"/>
                </a:solidFill>
                <a:latin typeface="SimSun"/>
                <a:cs typeface="SimSun"/>
              </a:rPr>
              <a:t>'</a:t>
            </a:r>
            <a:r>
              <a:rPr dirty="0" sz="850" spc="-10">
                <a:solidFill>
                  <a:srgbClr val="52268E"/>
                </a:solidFill>
                <a:latin typeface="SimSun"/>
                <a:cs typeface="SimSun"/>
              </a:rPr>
              <a:t>.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join</a:t>
            </a:r>
            <a:r>
              <a:rPr dirty="0" sz="850" spc="-10">
                <a:latin typeface="SimSun"/>
                <a:cs typeface="SimSun"/>
              </a:rPr>
              <a:t>(</a:t>
            </a:r>
            <a:r>
              <a:rPr dirty="0" sz="850" spc="-10">
                <a:solidFill>
                  <a:srgbClr val="074487"/>
                </a:solidFill>
                <a:latin typeface="SimSun"/>
                <a:cs typeface="SimSun"/>
              </a:rPr>
              <a:t>res</a:t>
            </a:r>
            <a:r>
              <a:rPr dirty="0" sz="850" spc="-10">
                <a:latin typeface="SimSun"/>
                <a:cs typeface="SimSun"/>
              </a:rPr>
              <a:t>)</a:t>
            </a:r>
            <a:endParaRPr sz="850">
              <a:latin typeface="SimSun"/>
              <a:cs typeface="SimSu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SimSun"/>
              <a:cs typeface="SimSun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50">
                <a:latin typeface="Palatino Linotype"/>
                <a:cs typeface="Palatino Linotype"/>
              </a:rPr>
              <a:t>Write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more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concise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version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method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list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comprehension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generator </a:t>
            </a:r>
            <a:r>
              <a:rPr dirty="0" sz="1050" spc="-10">
                <a:latin typeface="Palatino Linotype"/>
                <a:cs typeface="Palatino Linotype"/>
              </a:rPr>
              <a:t>expression.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1688" y="7731125"/>
            <a:ext cx="13868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288</a:t>
            </a:r>
            <a:r>
              <a:rPr dirty="0" sz="900" spc="51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40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18: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45" b="1">
                <a:latin typeface="Trebuchet MS"/>
                <a:cs typeface="Trebuchet MS"/>
              </a:rPr>
              <a:t>Python</a:t>
            </a:r>
            <a:r>
              <a:rPr dirty="0" sz="900" spc="-13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Extras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265986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635245" y="939348"/>
            <a:ext cx="86423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-315" b="1">
                <a:latin typeface="Trebuchet MS"/>
                <a:cs typeface="Trebuchet MS"/>
              </a:rPr>
              <a:t>CHAPTER</a:t>
            </a:r>
            <a:r>
              <a:rPr dirty="0" sz="1650" spc="-235" b="1">
                <a:latin typeface="Trebuchet MS"/>
                <a:cs typeface="Trebuchet MS"/>
              </a:rPr>
              <a:t> </a:t>
            </a:r>
            <a:r>
              <a:rPr dirty="0" sz="1650" spc="-315" b="1">
                <a:latin typeface="Trebuchet MS"/>
                <a:cs typeface="Trebuchet MS"/>
              </a:rPr>
              <a:t>19</a:t>
            </a:r>
            <a:endParaRPr sz="165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912247" y="1212513"/>
            <a:ext cx="1586865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45"/>
              <a:t>Final</a:t>
            </a:r>
            <a:r>
              <a:rPr dirty="0" spc="-355"/>
              <a:t> </a:t>
            </a:r>
            <a:r>
              <a:rPr dirty="0" spc="-375"/>
              <a:t>Thoughts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901642" y="3044843"/>
            <a:ext cx="4598035" cy="484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latin typeface="Palatino Linotype"/>
                <a:cs typeface="Palatino Linotype"/>
              </a:rPr>
              <a:t>Learning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not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eas</a:t>
            </a:r>
            <a:r>
              <a:rPr dirty="0" sz="1050" spc="-16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made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fa</a:t>
            </a:r>
            <a:r>
              <a:rPr dirty="0" sz="1050" spc="-114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start. </a:t>
            </a:r>
            <a:r>
              <a:rPr dirty="0" sz="1050" spc="-125">
                <a:latin typeface="Palatino Linotype"/>
                <a:cs typeface="Palatino Linotype"/>
              </a:rPr>
              <a:t>N</a:t>
            </a:r>
            <a:r>
              <a:rPr dirty="0" sz="1050" spc="-100">
                <a:latin typeface="Palatino Linotype"/>
                <a:cs typeface="Palatino Linotype"/>
              </a:rPr>
              <a:t>ow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suggestions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140">
                <a:latin typeface="Palatino Linotype"/>
                <a:cs typeface="Palatino Linotype"/>
              </a:rPr>
              <a:t>w</a:t>
            </a:r>
            <a:r>
              <a:rPr dirty="0" sz="1050" spc="-10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ys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keep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learning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80">
                <a:latin typeface="Palatino Linotype"/>
                <a:cs typeface="Palatino Linotype"/>
              </a:rPr>
              <a:t>pply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105">
                <a:latin typeface="Palatino Linotype"/>
                <a:cs typeface="Palatino Linotype"/>
              </a:rPr>
              <a:t>wh</a:t>
            </a:r>
            <a:r>
              <a:rPr dirty="0" sz="1050" spc="-9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1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learned.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meant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general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introduction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not </a:t>
            </a:r>
            <a:r>
              <a:rPr dirty="0" sz="1050" spc="-50">
                <a:latin typeface="Palatino Linotype"/>
                <a:cs typeface="Palatino Linotype"/>
              </a:rPr>
              <a:t>focused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 </a:t>
            </a:r>
            <a:r>
              <a:rPr dirty="0" sz="1050" spc="-40">
                <a:latin typeface="Palatino Linotype"/>
                <a:cs typeface="Palatino Linotype"/>
              </a:rPr>
              <a:t>specific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applications.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Depending</a:t>
            </a:r>
            <a:r>
              <a:rPr dirty="0" sz="1050">
                <a:latin typeface="Palatino Linotype"/>
                <a:cs typeface="Palatino Linotype"/>
              </a:rPr>
              <a:t> 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interests,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number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where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apply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skills.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interested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data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science,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three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mine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20" i="1">
                <a:latin typeface="Palatino Linotype"/>
                <a:cs typeface="Palatino Linotype"/>
              </a:rPr>
              <a:t>Think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40" i="1">
                <a:latin typeface="Palatino Linotype"/>
                <a:cs typeface="Palatino Linotype"/>
              </a:rPr>
              <a:t>Stats: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Exploratory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Data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45" i="1">
                <a:latin typeface="Palatino Linotype"/>
                <a:cs typeface="Palatino Linotype"/>
              </a:rPr>
              <a:t>Analysis</a:t>
            </a:r>
            <a:r>
              <a:rPr dirty="0" sz="1050" i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(O’Reilly,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2014)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20" i="1">
                <a:latin typeface="Palatino Linotype"/>
                <a:cs typeface="Palatino Linotype"/>
              </a:rPr>
              <a:t>Think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Bayes: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Bayesian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40" i="1">
                <a:latin typeface="Palatino Linotype"/>
                <a:cs typeface="Palatino Linotype"/>
              </a:rPr>
              <a:t>Statistics</a:t>
            </a:r>
            <a:r>
              <a:rPr dirty="0" sz="1050" spc="-10" i="1">
                <a:latin typeface="Palatino Linotype"/>
                <a:cs typeface="Palatino Linotype"/>
              </a:rPr>
              <a:t> in</a:t>
            </a:r>
            <a:r>
              <a:rPr dirty="0" sz="1050" spc="-15" i="1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Python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(O’Reilly,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2021)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4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20" i="1">
                <a:latin typeface="Palatino Linotype"/>
                <a:cs typeface="Palatino Linotype"/>
              </a:rPr>
              <a:t>Think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70" i="1">
                <a:latin typeface="Palatino Linotype"/>
                <a:cs typeface="Palatino Linotype"/>
              </a:rPr>
              <a:t>DSP: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Digital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50" i="1">
                <a:latin typeface="Palatino Linotype"/>
                <a:cs typeface="Palatino Linotype"/>
              </a:rPr>
              <a:t>Signal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45" i="1">
                <a:latin typeface="Palatino Linotype"/>
                <a:cs typeface="Palatino Linotype"/>
              </a:rPr>
              <a:t>Processing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in </a:t>
            </a:r>
            <a:r>
              <a:rPr dirty="0" sz="1050" spc="-30" i="1">
                <a:latin typeface="Palatino Linotype"/>
                <a:cs typeface="Palatino Linotype"/>
              </a:rPr>
              <a:t>Python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(O’Reilly,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2016)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1000"/>
              </a:spcBef>
            </a:pP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interested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physical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modeling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complex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systems,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like:</a:t>
            </a:r>
            <a:endParaRPr sz="1050">
              <a:latin typeface="Palatino Linotype"/>
              <a:cs typeface="Palatino Linotype"/>
            </a:endParaRPr>
          </a:p>
          <a:p>
            <a:pPr marL="241300" indent="-119380">
              <a:lnSpc>
                <a:spcPct val="100000"/>
              </a:lnSpc>
              <a:spcBef>
                <a:spcPts val="10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spc="-30" i="1">
                <a:latin typeface="Palatino Linotype"/>
                <a:cs typeface="Palatino Linotype"/>
              </a:rPr>
              <a:t>Modeling</a:t>
            </a:r>
            <a:r>
              <a:rPr dirty="0" sz="1050" spc="3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Simulation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in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Python:</a:t>
            </a:r>
            <a:r>
              <a:rPr dirty="0" sz="1050" spc="3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Introduction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for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spc="-35" i="1">
                <a:latin typeface="Palatino Linotype"/>
                <a:cs typeface="Palatino Linotype"/>
              </a:rPr>
              <a:t>Scientists</a:t>
            </a:r>
            <a:r>
              <a:rPr dirty="0" sz="1050" spc="30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3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Engineers</a:t>
            </a:r>
            <a:endParaRPr sz="1050">
              <a:latin typeface="Palatino Linotype"/>
              <a:cs typeface="Palatino Linotype"/>
            </a:endParaRPr>
          </a:p>
          <a:p>
            <a:pPr marL="241300">
              <a:lnSpc>
                <a:spcPct val="100000"/>
              </a:lnSpc>
            </a:pPr>
            <a:r>
              <a:rPr dirty="0" sz="1050" spc="-60">
                <a:latin typeface="Palatino Linotype"/>
                <a:cs typeface="Palatino Linotype"/>
              </a:rPr>
              <a:t>(No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Starch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Press,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2023)</a:t>
            </a:r>
            <a:endParaRPr sz="1050">
              <a:latin typeface="Palatino Linotype"/>
              <a:cs typeface="Palatino Linotype"/>
            </a:endParaRPr>
          </a:p>
          <a:p>
            <a:pPr marL="241300" marR="5080" indent="-118745">
              <a:lnSpc>
                <a:spcPct val="100000"/>
              </a:lnSpc>
              <a:spcBef>
                <a:spcPts val="400"/>
              </a:spcBef>
              <a:buFont typeface="Palatino Linotype"/>
              <a:buChar char="•"/>
              <a:tabLst>
                <a:tab pos="241935" algn="l"/>
              </a:tabLst>
            </a:pPr>
            <a:r>
              <a:rPr dirty="0" sz="1050" i="1">
                <a:latin typeface="Palatino Linotype"/>
                <a:cs typeface="Palatino Linotype"/>
              </a:rPr>
              <a:t>Think</a:t>
            </a:r>
            <a:r>
              <a:rPr dirty="0" sz="1050" spc="15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Complexity:</a:t>
            </a:r>
            <a:r>
              <a:rPr dirty="0" sz="1050" spc="15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Complexity</a:t>
            </a:r>
            <a:r>
              <a:rPr dirty="0" sz="1050" spc="160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Science</a:t>
            </a:r>
            <a:r>
              <a:rPr dirty="0" sz="1050" spc="15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15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Computational</a:t>
            </a:r>
            <a:r>
              <a:rPr dirty="0" sz="1050" spc="160" i="1">
                <a:latin typeface="Palatino Linotype"/>
                <a:cs typeface="Palatino Linotype"/>
              </a:rPr>
              <a:t> </a:t>
            </a:r>
            <a:r>
              <a:rPr dirty="0" sz="1050" spc="-25" i="1">
                <a:latin typeface="Palatino Linotype"/>
                <a:cs typeface="Palatino Linotype"/>
              </a:rPr>
              <a:t>Modeling</a:t>
            </a:r>
            <a:r>
              <a:rPr dirty="0" sz="1050" spc="150" i="1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(O’Reilly, </a:t>
            </a:r>
            <a:r>
              <a:rPr dirty="0" sz="1050" spc="-10">
                <a:latin typeface="Palatino Linotype"/>
                <a:cs typeface="Palatino Linotype"/>
              </a:rPr>
              <a:t>2018)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1000"/>
              </a:spcBef>
            </a:pP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NumPy,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SciPy,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pandas,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libraries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for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data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science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sci‐ </a:t>
            </a:r>
            <a:r>
              <a:rPr dirty="0" sz="1050" spc="-40">
                <a:latin typeface="Palatino Linotype"/>
                <a:cs typeface="Palatino Linotype"/>
              </a:rPr>
              <a:t>entific</a:t>
            </a:r>
            <a:r>
              <a:rPr dirty="0" sz="1050" spc="-10">
                <a:latin typeface="Palatino Linotype"/>
                <a:cs typeface="Palatino Linotype"/>
              </a:rPr>
              <a:t> computing.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book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tries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find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balance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between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general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principles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35">
                <a:latin typeface="Palatino Linotype"/>
                <a:cs typeface="Palatino Linotype"/>
              </a:rPr>
              <a:t>details</a:t>
            </a:r>
            <a:r>
              <a:rPr dirty="0" sz="1050">
                <a:latin typeface="Palatino Linotype"/>
                <a:cs typeface="Palatino Linotype"/>
              </a:rPr>
              <a:t> of </a:t>
            </a:r>
            <a:r>
              <a:rPr dirty="0" sz="1050" spc="-30">
                <a:latin typeface="Palatino Linotype"/>
                <a:cs typeface="Palatino Linotype"/>
              </a:rPr>
              <a:t>Python.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 a </a:t>
            </a:r>
            <a:r>
              <a:rPr dirty="0" sz="1050" spc="-25">
                <a:latin typeface="Palatino Linotype"/>
                <a:cs typeface="Palatino Linotype"/>
              </a:rPr>
              <a:t>result,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 </a:t>
            </a:r>
            <a:r>
              <a:rPr dirty="0" sz="1050" spc="-25">
                <a:latin typeface="Palatino Linotype"/>
                <a:cs typeface="Palatino Linotype"/>
              </a:rPr>
              <a:t>does</a:t>
            </a:r>
            <a:r>
              <a:rPr dirty="0" sz="1050">
                <a:latin typeface="Palatino Linotype"/>
                <a:cs typeface="Palatino Linotype"/>
              </a:rPr>
              <a:t> 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include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every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feature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 the </a:t>
            </a:r>
            <a:r>
              <a:rPr dirty="0" sz="1050" spc="-25">
                <a:latin typeface="Palatino Linotype"/>
                <a:cs typeface="Palatino Linotype"/>
              </a:rPr>
              <a:t>Python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lan‐ </a:t>
            </a:r>
            <a:r>
              <a:rPr dirty="0" sz="1050" spc="-65">
                <a:latin typeface="Palatino Linotype"/>
                <a:cs typeface="Palatino Linotype"/>
              </a:rPr>
              <a:t>guage.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 </a:t>
            </a:r>
            <a:r>
              <a:rPr dirty="0" sz="1050" spc="-20">
                <a:latin typeface="Palatino Linotype"/>
                <a:cs typeface="Palatino Linotype"/>
              </a:rPr>
              <a:t>more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Python,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advice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about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how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use</a:t>
            </a:r>
            <a:r>
              <a:rPr dirty="0" sz="1050">
                <a:latin typeface="Palatino Linotype"/>
                <a:cs typeface="Palatino Linotype"/>
              </a:rPr>
              <a:t> it,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 </a:t>
            </a:r>
            <a:r>
              <a:rPr dirty="0" sz="1050" spc="-45">
                <a:latin typeface="Palatino Linotype"/>
                <a:cs typeface="Palatino Linotype"/>
              </a:rPr>
              <a:t>recommend </a:t>
            </a:r>
            <a:r>
              <a:rPr dirty="0" sz="1050" spc="-20" i="1">
                <a:latin typeface="Palatino Linotype"/>
                <a:cs typeface="Palatino Linotype"/>
              </a:rPr>
              <a:t>Fluent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Python: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Clear,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Concise, </a:t>
            </a:r>
            <a:r>
              <a:rPr dirty="0" sz="1050" i="1">
                <a:latin typeface="Palatino Linotype"/>
                <a:cs typeface="Palatino Linotype"/>
              </a:rPr>
              <a:t>and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Effective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30" i="1">
                <a:latin typeface="Palatino Linotype"/>
                <a:cs typeface="Palatino Linotype"/>
              </a:rPr>
              <a:t>Programming</a:t>
            </a:r>
            <a:r>
              <a:rPr dirty="0" sz="1050" spc="-30">
                <a:latin typeface="Palatino Linotype"/>
                <a:cs typeface="Palatino Linotype"/>
              </a:rPr>
              <a:t>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second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edition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Luciano </a:t>
            </a:r>
            <a:r>
              <a:rPr dirty="0" sz="1050" spc="-65">
                <a:latin typeface="Palatino Linotype"/>
                <a:cs typeface="Palatino Linotype"/>
              </a:rPr>
              <a:t>Ramalho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(O’Reilly,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2022).</a:t>
            </a:r>
            <a:endParaRPr sz="10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</a:pPr>
            <a:r>
              <a:rPr dirty="0" sz="900" spc="-25" b="1">
                <a:latin typeface="Trebuchet MS"/>
                <a:cs typeface="Trebuchet MS"/>
              </a:rPr>
              <a:t>289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2" y="650030"/>
            <a:ext cx="4598035" cy="6753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latin typeface="Palatino Linotype"/>
                <a:cs typeface="Palatino Linotype"/>
              </a:rPr>
              <a:t>After</a:t>
            </a:r>
            <a:r>
              <a:rPr dirty="0" sz="1050">
                <a:latin typeface="Palatino Linotype"/>
                <a:cs typeface="Palatino Linotype"/>
              </a:rPr>
              <a:t> an </a:t>
            </a:r>
            <a:r>
              <a:rPr dirty="0" sz="1050" spc="-35">
                <a:latin typeface="Palatino Linotype"/>
                <a:cs typeface="Palatino Linotype"/>
              </a:rPr>
              <a:t>introduction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programming,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25">
                <a:latin typeface="Palatino Linotype"/>
                <a:cs typeface="Palatino Linotype"/>
              </a:rPr>
              <a:t>common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next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step</a:t>
            </a:r>
            <a:r>
              <a:rPr dirty="0" sz="1050">
                <a:latin typeface="Palatino Linotype"/>
                <a:cs typeface="Palatino Linotype"/>
              </a:rPr>
              <a:t> is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learn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data </a:t>
            </a:r>
            <a:r>
              <a:rPr dirty="0" sz="1050" spc="-45">
                <a:latin typeface="Palatino Linotype"/>
                <a:cs typeface="Palatino Linotype"/>
              </a:rPr>
              <a:t>structures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algorithms.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have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70">
                <a:latin typeface="Palatino Linotype"/>
                <a:cs typeface="Palatino Linotype"/>
              </a:rPr>
              <a:t>work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60">
                <a:latin typeface="Palatino Linotype"/>
                <a:cs typeface="Palatino Linotype"/>
              </a:rPr>
              <a:t>progress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topic,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called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Data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Struc‐</a:t>
            </a:r>
            <a:r>
              <a:rPr dirty="0" sz="1050" spc="-10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tures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and </a:t>
            </a:r>
            <a:r>
              <a:rPr dirty="0" sz="1050" spc="-10" i="1">
                <a:latin typeface="Palatino Linotype"/>
                <a:cs typeface="Palatino Linotype"/>
              </a:rPr>
              <a:t>Information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Retrieval</a:t>
            </a:r>
            <a:r>
              <a:rPr dirty="0" sz="1050" i="1">
                <a:latin typeface="Palatino Linotype"/>
                <a:cs typeface="Palatino Linotype"/>
              </a:rPr>
              <a:t> in</a:t>
            </a:r>
            <a:r>
              <a:rPr dirty="0" sz="1050" spc="-5" i="1">
                <a:latin typeface="Palatino Linotype"/>
                <a:cs typeface="Palatino Linotype"/>
              </a:rPr>
              <a:t> </a:t>
            </a:r>
            <a:r>
              <a:rPr dirty="0" sz="1050" spc="-20" i="1">
                <a:latin typeface="Palatino Linotype"/>
                <a:cs typeface="Palatino Linotype"/>
              </a:rPr>
              <a:t>Python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35">
                <a:latin typeface="Palatino Linotype"/>
                <a:cs typeface="Palatino Linotype"/>
              </a:rPr>
              <a:t>free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electronic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version</a:t>
            </a:r>
            <a:r>
              <a:rPr dirty="0" sz="1050">
                <a:latin typeface="Palatino Linotype"/>
                <a:cs typeface="Palatino Linotype"/>
              </a:rPr>
              <a:t> 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available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from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Green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Tea</a:t>
            </a:r>
            <a:r>
              <a:rPr dirty="0" sz="1050" spc="15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 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2"/>
              </a:rPr>
              <a:t>Press</a:t>
            </a:r>
            <a:r>
              <a:rPr dirty="0" sz="1050" spc="-1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work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complex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programs,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will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encounter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new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challenges.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 might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helpful</a:t>
            </a:r>
            <a:r>
              <a:rPr dirty="0" sz="1050">
                <a:latin typeface="Palatino Linotype"/>
                <a:cs typeface="Palatino Linotype"/>
              </a:rPr>
              <a:t> to </a:t>
            </a:r>
            <a:r>
              <a:rPr dirty="0" sz="1050" spc="-80">
                <a:latin typeface="Palatino Linotype"/>
                <a:cs typeface="Palatino Linotype"/>
              </a:rPr>
              <a:t>review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sections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30">
                <a:latin typeface="Palatino Linotype"/>
                <a:cs typeface="Palatino Linotype"/>
              </a:rPr>
              <a:t>this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about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particu‐ </a:t>
            </a:r>
            <a:r>
              <a:rPr dirty="0" sz="1050" spc="-50">
                <a:latin typeface="Palatino Linotype"/>
                <a:cs typeface="Palatino Linotype"/>
              </a:rPr>
              <a:t>lar,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remember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six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from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“Debugging”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on</a:t>
            </a:r>
            <a:r>
              <a:rPr dirty="0" sz="1050" spc="-1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 spc="-7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page</a:t>
            </a:r>
            <a:r>
              <a:rPr dirty="0" sz="1050" spc="1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186</a:t>
            </a:r>
            <a:r>
              <a:rPr dirty="0" sz="1050">
                <a:latin typeface="Palatino Linotype"/>
                <a:cs typeface="Palatino Linotype"/>
              </a:rPr>
              <a:t>: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reading,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run‐ </a:t>
            </a:r>
            <a:r>
              <a:rPr dirty="0" sz="1050" spc="-50">
                <a:latin typeface="Palatino Linotype"/>
                <a:cs typeface="Palatino Linotype"/>
              </a:rPr>
              <a:t>ning,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ruminating,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rubberducking,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retreating,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resting.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700"/>
              </a:lnSpc>
              <a:spcBef>
                <a:spcPts val="600"/>
              </a:spcBef>
            </a:pPr>
            <a:r>
              <a:rPr dirty="0" sz="1050" spc="-25">
                <a:latin typeface="Palatino Linotype"/>
                <a:cs typeface="Palatino Linotype"/>
              </a:rPr>
              <a:t>This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book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suggests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tools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help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including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SimSun"/>
                <a:cs typeface="SimSun"/>
              </a:rPr>
              <a:t>print</a:t>
            </a:r>
            <a:r>
              <a:rPr dirty="0" sz="1000" spc="-90">
                <a:latin typeface="SimSun"/>
                <a:cs typeface="SimSun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SimSun"/>
                <a:cs typeface="SimSun"/>
              </a:rPr>
              <a:t>repr</a:t>
            </a:r>
            <a:r>
              <a:rPr dirty="0" sz="1000" spc="-85">
                <a:latin typeface="SimSun"/>
                <a:cs typeface="SimSun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25">
                <a:latin typeface="Palatino Linotype"/>
                <a:cs typeface="Palatino Linotype"/>
              </a:rPr>
              <a:t>tions,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structshape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“Debugging”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on </a:t>
            </a:r>
            <a:r>
              <a:rPr dirty="0" sz="1050" spc="-7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page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166</a:t>
            </a:r>
            <a:r>
              <a:rPr dirty="0" sz="1050">
                <a:latin typeface="Palatino Linotype"/>
                <a:cs typeface="Palatino Linotype"/>
              </a:rPr>
              <a:t>, </a:t>
            </a:r>
            <a:r>
              <a:rPr dirty="0" sz="1050" spc="-4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built-</a:t>
            </a:r>
            <a:r>
              <a:rPr dirty="0" sz="1050">
                <a:latin typeface="Palatino Linotype"/>
                <a:cs typeface="Palatino Linotype"/>
              </a:rPr>
              <a:t>in </a:t>
            </a:r>
            <a:r>
              <a:rPr dirty="0" sz="1050" spc="-10">
                <a:latin typeface="Palatino Linotype"/>
                <a:cs typeface="Palatino Linotype"/>
              </a:rPr>
              <a:t>func‐ </a:t>
            </a:r>
            <a:r>
              <a:rPr dirty="0" sz="1050" spc="-45">
                <a:latin typeface="Palatino Linotype"/>
                <a:cs typeface="Palatino Linotype"/>
              </a:rPr>
              <a:t>tions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isinstance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hasattr</a:t>
            </a:r>
            <a:r>
              <a:rPr dirty="0" sz="1050" spc="-1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vars</a:t>
            </a:r>
            <a:r>
              <a:rPr dirty="0" sz="1000" spc="-235">
                <a:latin typeface="SimSun"/>
                <a:cs typeface="SimSun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“Debugging”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page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219</a:t>
            </a:r>
            <a:r>
              <a:rPr dirty="0" sz="1050" spc="-20">
                <a:latin typeface="Palatino Linotype"/>
                <a:cs typeface="Palatino Linotype"/>
              </a:rPr>
              <a:t>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2400"/>
              </a:lnSpc>
              <a:spcBef>
                <a:spcPts val="630"/>
              </a:spcBef>
            </a:pPr>
            <a:r>
              <a:rPr dirty="0" sz="1050">
                <a:latin typeface="Palatino Linotype"/>
                <a:cs typeface="Palatino Linotype"/>
              </a:rPr>
              <a:t>It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also</a:t>
            </a:r>
            <a:r>
              <a:rPr dirty="0" sz="1050" spc="-4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suggests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tools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testing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programs,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including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SimSun"/>
                <a:cs typeface="SimSun"/>
              </a:rPr>
              <a:t>assert</a:t>
            </a:r>
            <a:r>
              <a:rPr dirty="0" sz="1000" spc="-114">
                <a:latin typeface="SimSun"/>
                <a:cs typeface="SimSun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statement,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imSun"/>
                <a:cs typeface="SimSun"/>
              </a:rPr>
              <a:t>doc test</a:t>
            </a:r>
            <a:r>
              <a:rPr dirty="0" sz="1000" spc="-100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module,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</a:t>
            </a:r>
            <a:r>
              <a:rPr dirty="0" sz="105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SimSun"/>
                <a:cs typeface="SimSun"/>
              </a:rPr>
              <a:t>unittest</a:t>
            </a:r>
            <a:r>
              <a:rPr dirty="0" sz="1000" spc="-105">
                <a:latin typeface="SimSun"/>
                <a:cs typeface="SimSun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module.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Including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tests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your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programs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one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best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10">
                <a:latin typeface="Palatino Linotype"/>
                <a:cs typeface="Palatino Linotype"/>
              </a:rPr>
              <a:t>ways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prevent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detect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errors,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save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time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debugging.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latin typeface="Palatino Linotype"/>
                <a:cs typeface="Palatino Linotype"/>
              </a:rPr>
              <a:t>But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best</a:t>
            </a:r>
            <a:r>
              <a:rPr dirty="0" sz="1050" spc="-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debugging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kind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don’t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have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do.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</a:t>
            </a:r>
            <a:r>
              <a:rPr dirty="0" sz="1050" spc="-10">
                <a:latin typeface="Palatino Linotype"/>
                <a:cs typeface="Palatino Linotype"/>
              </a:rPr>
              <a:t> an incre‐ </a:t>
            </a:r>
            <a:r>
              <a:rPr dirty="0" sz="1050" spc="-60">
                <a:latin typeface="Palatino Linotype"/>
                <a:cs typeface="Palatino Linotype"/>
              </a:rPr>
              <a:t>mental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development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process,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described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“Incremental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6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Development”</a:t>
            </a:r>
            <a:r>
              <a:rPr dirty="0" sz="1050" spc="3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3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8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page</a:t>
            </a:r>
            <a:r>
              <a:rPr dirty="0" sz="1050" spc="2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 </a:t>
            </a:r>
            <a:r>
              <a:rPr dirty="0" sz="105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77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test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go,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you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will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fewer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errors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them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more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quickly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when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 </a:t>
            </a:r>
            <a:r>
              <a:rPr dirty="0" sz="1050" spc="-50">
                <a:latin typeface="Palatino Linotype"/>
                <a:cs typeface="Palatino Linotype"/>
              </a:rPr>
              <a:t>do.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Also,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remember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encapsulation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generalization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from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“Encapsulation</a:t>
            </a:r>
            <a:r>
              <a:rPr dirty="0" sz="1050" spc="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5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and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Gen‐</a:t>
            </a:r>
            <a:r>
              <a:rPr dirty="0" sz="1050" spc="-2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1050" spc="-6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eralization”</a:t>
            </a:r>
            <a:r>
              <a:rPr dirty="0" sz="1050" spc="-1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 on</a:t>
            </a:r>
            <a:r>
              <a:rPr dirty="0" sz="1050" spc="-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 spc="-8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page</a:t>
            </a:r>
            <a:r>
              <a:rPr dirty="0" sz="1050" spc="1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 </a:t>
            </a:r>
            <a:r>
              <a:rPr dirty="0" sz="105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42</a:t>
            </a:r>
            <a:r>
              <a:rPr dirty="0" sz="1050">
                <a:latin typeface="Palatino Linotype"/>
                <a:cs typeface="Palatino Linotype"/>
              </a:rPr>
              <a:t>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particularly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useful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when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developing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 spc="-60">
                <a:latin typeface="Palatino Linotype"/>
                <a:cs typeface="Palatino Linotype"/>
              </a:rPr>
              <a:t>Jupyter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notebooks.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latin typeface="Palatino Linotype"/>
                <a:cs typeface="Palatino Linotype"/>
              </a:rPr>
              <a:t>Throughout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book,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I’ve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suggested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14">
                <a:latin typeface="Palatino Linotype"/>
                <a:cs typeface="Palatino Linotype"/>
              </a:rPr>
              <a:t>ways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virtual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assistants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help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learn, </a:t>
            </a:r>
            <a:r>
              <a:rPr dirty="0" sz="1050" spc="-55">
                <a:latin typeface="Palatino Linotype"/>
                <a:cs typeface="Palatino Linotype"/>
              </a:rPr>
              <a:t>program,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hope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tools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useful.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addition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virtual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assistants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like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ChatGPT,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tool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like </a:t>
            </a:r>
            <a:r>
              <a:rPr dirty="0" sz="1050" spc="-40">
                <a:latin typeface="Palatino Linotype"/>
                <a:cs typeface="Palatino Linotype"/>
              </a:rPr>
              <a:t>Copilot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that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autocompletes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code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type.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did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recommend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using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these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tools, </a:t>
            </a:r>
            <a:r>
              <a:rPr dirty="0" sz="1050" spc="-35">
                <a:latin typeface="Palatino Linotype"/>
                <a:cs typeface="Palatino Linotype"/>
              </a:rPr>
              <a:t>initially,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because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they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can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overwhelming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beginners.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might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to </a:t>
            </a:r>
            <a:r>
              <a:rPr dirty="0" sz="1050" spc="-50">
                <a:latin typeface="Palatino Linotype"/>
                <a:cs typeface="Palatino Linotype"/>
              </a:rPr>
              <a:t>explore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them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now.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5">
                <a:latin typeface="Palatino Linotype"/>
                <a:cs typeface="Palatino Linotype"/>
              </a:rPr>
              <a:t>U</a:t>
            </a:r>
            <a:r>
              <a:rPr dirty="0" sz="1050" spc="-55">
                <a:latin typeface="Palatino Linotype"/>
                <a:cs typeface="Palatino Linotype"/>
              </a:rPr>
              <a:t>sing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tools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effectively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requires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some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experime</a:t>
            </a:r>
            <a:r>
              <a:rPr dirty="0" sz="1050" spc="-80">
                <a:latin typeface="Palatino Linotype"/>
                <a:cs typeface="Palatino Linotype"/>
              </a:rPr>
              <a:t>n</a:t>
            </a:r>
            <a:r>
              <a:rPr dirty="0" sz="1050" spc="-35">
                <a:latin typeface="Palatino Linotype"/>
                <a:cs typeface="Palatino Linotype"/>
              </a:rPr>
              <a:t>t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35">
                <a:latin typeface="Palatino Linotype"/>
                <a:cs typeface="Palatino Linotype"/>
              </a:rPr>
              <a:t>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reflection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find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flow </a:t>
            </a:r>
            <a:r>
              <a:rPr dirty="0" sz="1050" spc="-45">
                <a:latin typeface="Palatino Linotype"/>
                <a:cs typeface="Palatino Linotype"/>
              </a:rPr>
              <a:t>th</a:t>
            </a:r>
            <a:r>
              <a:rPr dirty="0" sz="1050" spc="-70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works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you.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think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55">
                <a:latin typeface="Palatino Linotype"/>
                <a:cs typeface="Palatino Linotype"/>
              </a:rPr>
              <a:t>t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</a:t>
            </a:r>
            <a:r>
              <a:rPr dirty="0" sz="1050" spc="-50">
                <a:latin typeface="Palatino Linotype"/>
                <a:cs typeface="Palatino Linotype"/>
              </a:rPr>
              <a:t>uisance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copy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Ch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tGPT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J</a:t>
            </a:r>
            <a:r>
              <a:rPr dirty="0" sz="1050" spc="-65">
                <a:latin typeface="Palatino Linotype"/>
                <a:cs typeface="Palatino Linotype"/>
              </a:rPr>
              <a:t>upyte</a:t>
            </a:r>
            <a:r>
              <a:rPr dirty="0" sz="1050" spc="-120">
                <a:latin typeface="Palatino Linotype"/>
                <a:cs typeface="Palatino Linotype"/>
              </a:rPr>
              <a:t>r</a:t>
            </a:r>
            <a:r>
              <a:rPr dirty="0" sz="1050" spc="-25">
                <a:latin typeface="Palatino Linotype"/>
                <a:cs typeface="Palatino Linotype"/>
              </a:rPr>
              <a:t>,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</a:t>
            </a:r>
            <a:r>
              <a:rPr dirty="0" sz="1050" spc="-80">
                <a:latin typeface="Palatino Linotype"/>
                <a:cs typeface="Palatino Linotype"/>
              </a:rPr>
              <a:t>h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prefer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something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Copilot.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But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cognitive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you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</a:t>
            </a:r>
            <a:r>
              <a:rPr dirty="0" sz="1050" spc="-80">
                <a:latin typeface="Palatino Linotype"/>
                <a:cs typeface="Palatino Linotype"/>
              </a:rPr>
              <a:t>m</a:t>
            </a:r>
            <a:r>
              <a:rPr dirty="0" sz="1050" spc="-60">
                <a:latin typeface="Palatino Linotype"/>
                <a:cs typeface="Palatino Linotype"/>
              </a:rPr>
              <a:t>pose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5">
                <a:latin typeface="Palatino Linotype"/>
                <a:cs typeface="Palatino Linotype"/>
              </a:rPr>
              <a:t>pro</a:t>
            </a:r>
            <a:r>
              <a:rPr dirty="0" sz="1050" spc="-100">
                <a:latin typeface="Palatino Linotype"/>
                <a:cs typeface="Palatino Linotype"/>
              </a:rPr>
              <a:t>m</a:t>
            </a:r>
            <a:r>
              <a:rPr dirty="0" sz="1050" spc="-55">
                <a:latin typeface="Palatino Linotype"/>
                <a:cs typeface="Palatino Linotype"/>
              </a:rPr>
              <a:t>pt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</a:t>
            </a:r>
            <a:r>
              <a:rPr dirty="0" sz="1050" spc="-65">
                <a:latin typeface="Palatino Linotype"/>
                <a:cs typeface="Palatino Linotype"/>
              </a:rPr>
              <a:t>n</a:t>
            </a:r>
            <a:r>
              <a:rPr dirty="0" sz="1050" spc="-45">
                <a:latin typeface="Palatino Linotype"/>
                <a:cs typeface="Palatino Linotype"/>
              </a:rPr>
              <a:t>terpret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response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valuable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code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tool</a:t>
            </a:r>
            <a:r>
              <a:rPr dirty="0" sz="1050" spc="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gener</a:t>
            </a:r>
            <a:r>
              <a:rPr dirty="0" sz="1050" spc="-80">
                <a:latin typeface="Palatino Linotype"/>
                <a:cs typeface="Palatino Linotype"/>
              </a:rPr>
              <a:t>a</a:t>
            </a:r>
            <a:r>
              <a:rPr dirty="0" sz="1050" spc="-40">
                <a:latin typeface="Palatino Linotype"/>
                <a:cs typeface="Palatino Linotype"/>
              </a:rPr>
              <a:t>tes,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same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vein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rubber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duck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debugging.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85">
                <a:latin typeface="Palatino Linotype"/>
                <a:cs typeface="Palatino Linotype"/>
              </a:rPr>
              <a:t>As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gain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experience,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might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want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explore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development </a:t>
            </a:r>
            <a:r>
              <a:rPr dirty="0" sz="1050" spc="-50">
                <a:latin typeface="Palatino Linotype"/>
                <a:cs typeface="Palatino Linotype"/>
              </a:rPr>
              <a:t>environments.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think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Jupyter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notebooks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 </a:t>
            </a:r>
            <a:r>
              <a:rPr dirty="0" sz="1050" spc="-55">
                <a:latin typeface="Palatino Linotype"/>
                <a:cs typeface="Palatino Linotype"/>
              </a:rPr>
              <a:t>good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place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start,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but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rela‐ </a:t>
            </a:r>
            <a:r>
              <a:rPr dirty="0" sz="1050" spc="-45">
                <a:latin typeface="Palatino Linotype"/>
                <a:cs typeface="Palatino Linotype"/>
              </a:rPr>
              <a:t>tively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new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widely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used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conventional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integrated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development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environ‐ </a:t>
            </a:r>
            <a:r>
              <a:rPr dirty="0" sz="1050" spc="-25">
                <a:latin typeface="Palatino Linotype"/>
                <a:cs typeface="Palatino Linotype"/>
              </a:rPr>
              <a:t>ments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(IDEs).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Python,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most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popular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IDEs</a:t>
            </a:r>
            <a:r>
              <a:rPr dirty="0" sz="1050" spc="-30">
                <a:latin typeface="Palatino Linotype"/>
                <a:cs typeface="Palatino Linotype"/>
              </a:rPr>
              <a:t> include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PyCharm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and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Spyder—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Thonny,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which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often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recommended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beginners.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Other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IDEs,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like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Visual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Stu‐ </a:t>
            </a:r>
            <a:r>
              <a:rPr dirty="0" sz="1050" spc="-40">
                <a:latin typeface="Palatino Linotype"/>
                <a:cs typeface="Palatino Linotype"/>
              </a:rPr>
              <a:t>dio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Eclipse,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work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languages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well.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Or,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as</a:t>
            </a:r>
            <a:r>
              <a:rPr dirty="0" sz="1050">
                <a:latin typeface="Palatino Linotype"/>
                <a:cs typeface="Palatino Linotype"/>
              </a:rPr>
              <a:t> a </a:t>
            </a:r>
            <a:r>
              <a:rPr dirty="0" sz="1050" spc="-20">
                <a:latin typeface="Palatino Linotype"/>
                <a:cs typeface="Palatino Linotype"/>
              </a:rPr>
              <a:t>sim‐ </a:t>
            </a:r>
            <a:r>
              <a:rPr dirty="0" sz="1050" spc="-60">
                <a:latin typeface="Palatino Linotype"/>
                <a:cs typeface="Palatino Linotype"/>
              </a:rPr>
              <a:t>pler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alternative,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can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write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programs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using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any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text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editor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like.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709" y="7731125"/>
            <a:ext cx="14255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290</a:t>
            </a:r>
            <a:r>
              <a:rPr dirty="0" sz="900" spc="50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135" b="1">
                <a:latin typeface="Trebuchet MS"/>
                <a:cs typeface="Trebuchet MS"/>
              </a:rPr>
              <a:t>  </a:t>
            </a:r>
            <a:r>
              <a:rPr dirty="0" sz="900" spc="-155" b="1">
                <a:latin typeface="Trebuchet MS"/>
                <a:cs typeface="Trebuchet MS"/>
              </a:rPr>
              <a:t>Chapter</a:t>
            </a:r>
            <a:r>
              <a:rPr dirty="0" sz="900" spc="-125" b="1">
                <a:latin typeface="Trebuchet MS"/>
                <a:cs typeface="Trebuchet MS"/>
              </a:rPr>
              <a:t> </a:t>
            </a:r>
            <a:r>
              <a:rPr dirty="0" sz="900" spc="-160" b="1">
                <a:latin typeface="Trebuchet MS"/>
                <a:cs typeface="Trebuchet MS"/>
              </a:rPr>
              <a:t>19:</a:t>
            </a:r>
            <a:r>
              <a:rPr dirty="0" sz="900" spc="-130" b="1">
                <a:latin typeface="Trebuchet MS"/>
                <a:cs typeface="Trebuchet MS"/>
              </a:rPr>
              <a:t> Final </a:t>
            </a:r>
            <a:r>
              <a:rPr dirty="0" sz="900" spc="-125" b="1">
                <a:latin typeface="Trebuchet MS"/>
                <a:cs typeface="Trebuchet MS"/>
              </a:rPr>
              <a:t>Thoughts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44" y="650030"/>
            <a:ext cx="4598035" cy="1938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latin typeface="Palatino Linotype"/>
                <a:cs typeface="Palatino Linotype"/>
              </a:rPr>
              <a:t>As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continue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programming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journey,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don’t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95">
                <a:latin typeface="Palatino Linotype"/>
                <a:cs typeface="Palatino Linotype"/>
              </a:rPr>
              <a:t>have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to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90">
                <a:latin typeface="Palatino Linotype"/>
                <a:cs typeface="Palatino Linotype"/>
              </a:rPr>
              <a:t>go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alone!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you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live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in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-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near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city,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there’s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good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chance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there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is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Python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user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group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you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can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join.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These </a:t>
            </a:r>
            <a:r>
              <a:rPr dirty="0" sz="1050" spc="-65">
                <a:latin typeface="Palatino Linotype"/>
                <a:cs typeface="Palatino Linotype"/>
              </a:rPr>
              <a:t>groups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usually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friendly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beginners,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so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don’t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be </a:t>
            </a:r>
            <a:r>
              <a:rPr dirty="0" sz="1050" spc="-40">
                <a:latin typeface="Palatino Linotype"/>
                <a:cs typeface="Palatino Linotype"/>
              </a:rPr>
              <a:t>afraid.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If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there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no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group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near </a:t>
            </a:r>
            <a:r>
              <a:rPr dirty="0" sz="1050" spc="-25">
                <a:latin typeface="Palatino Linotype"/>
                <a:cs typeface="Palatino Linotype"/>
              </a:rPr>
              <a:t>you,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might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be</a:t>
            </a:r>
            <a:r>
              <a:rPr dirty="0" sz="1050" spc="-10">
                <a:latin typeface="Palatino Linotype"/>
                <a:cs typeface="Palatino Linotype"/>
              </a:rPr>
              <a:t> able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join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events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remotely.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Also,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keep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eye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out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regional </a:t>
            </a:r>
            <a:r>
              <a:rPr dirty="0" sz="1050" spc="-60">
                <a:latin typeface="Palatino Linotype"/>
                <a:cs typeface="Palatino Linotype"/>
              </a:rPr>
              <a:t>Python</a:t>
            </a:r>
            <a:r>
              <a:rPr dirty="0" sz="1050" spc="3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conferences.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One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best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ways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improve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your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programming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skills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learn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another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lan‐ </a:t>
            </a:r>
            <a:r>
              <a:rPr dirty="0" sz="1050" spc="-70">
                <a:latin typeface="Palatino Linotype"/>
                <a:cs typeface="Palatino Linotype"/>
              </a:rPr>
              <a:t>guage.</a:t>
            </a:r>
            <a:r>
              <a:rPr dirty="0" sz="1050">
                <a:latin typeface="Palatino Linotype"/>
                <a:cs typeface="Palatino Linotype"/>
              </a:rPr>
              <a:t> If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are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interested</a:t>
            </a:r>
            <a:r>
              <a:rPr dirty="0" sz="1050">
                <a:latin typeface="Palatino Linotype"/>
                <a:cs typeface="Palatino Linotype"/>
              </a:rPr>
              <a:t> in </a:t>
            </a:r>
            <a:r>
              <a:rPr dirty="0" sz="1050" spc="-40">
                <a:latin typeface="Palatino Linotype"/>
                <a:cs typeface="Palatino Linotype"/>
              </a:rPr>
              <a:t>statistics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data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science,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you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might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want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 </a:t>
            </a:r>
            <a:r>
              <a:rPr dirty="0" sz="1050" spc="-35">
                <a:latin typeface="Palatino Linotype"/>
                <a:cs typeface="Palatino Linotype"/>
              </a:rPr>
              <a:t>learn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R. </a:t>
            </a:r>
            <a:r>
              <a:rPr dirty="0" sz="1050">
                <a:latin typeface="Palatino Linotype"/>
                <a:cs typeface="Palatino Linotype"/>
              </a:rPr>
              <a:t>But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particularly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recommend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learning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functional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language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like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Racket</a:t>
            </a:r>
            <a:r>
              <a:rPr dirty="0" sz="1050" spc="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or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Elixir. </a:t>
            </a:r>
            <a:r>
              <a:rPr dirty="0" sz="1050" spc="-30">
                <a:latin typeface="Palatino Linotype"/>
                <a:cs typeface="Palatino Linotype"/>
              </a:rPr>
              <a:t>Functional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programming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requires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different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kind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thinking,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which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changes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25">
                <a:latin typeface="Palatino Linotype"/>
                <a:cs typeface="Palatino Linotype"/>
              </a:rPr>
              <a:t>way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85">
                <a:latin typeface="Palatino Linotype"/>
                <a:cs typeface="Palatino Linotype"/>
              </a:rPr>
              <a:t>you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think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about</a:t>
            </a:r>
            <a:r>
              <a:rPr dirty="0" sz="1050" spc="-10">
                <a:latin typeface="Palatino Linotype"/>
                <a:cs typeface="Palatino Linotype"/>
              </a:rPr>
              <a:t> programs.</a:t>
            </a:r>
            <a:endParaRPr sz="10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latin typeface="Palatino Linotype"/>
                <a:cs typeface="Palatino Linotype"/>
              </a:rPr>
              <a:t>Good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luck!</a:t>
            </a:r>
            <a:endParaRPr sz="10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523925" y="7731125"/>
            <a:ext cx="975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30" b="1">
                <a:latin typeface="Trebuchet MS"/>
                <a:cs typeface="Trebuchet MS"/>
              </a:rPr>
              <a:t>Final </a:t>
            </a:r>
            <a:r>
              <a:rPr dirty="0" sz="900" spc="-105" b="1">
                <a:latin typeface="Trebuchet MS"/>
                <a:cs typeface="Trebuchet MS"/>
              </a:rPr>
              <a:t>Thoughts</a:t>
            </a:r>
            <a:r>
              <a:rPr dirty="0" sz="900" spc="509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53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291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881352" y="862514"/>
            <a:ext cx="617855" cy="410209"/>
          </a:xfrm>
          <a:prstGeom prst="rect"/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pc="-375"/>
              <a:t>Index</a:t>
            </a:r>
          </a:p>
        </p:txBody>
      </p:sp>
      <p:sp>
        <p:nvSpPr>
          <p:cNvPr id="3" name="object 3" descr=""/>
          <p:cNvSpPr txBox="1">
            <a:spLocks noGrp="1"/>
          </p:cNvSpPr>
          <p:nvPr>
            <p:ph idx="2" sz="half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620"/>
              </a:lnSpc>
              <a:spcBef>
                <a:spcPts val="100"/>
              </a:spcBef>
            </a:pPr>
            <a:r>
              <a:rPr dirty="0" spc="-260"/>
              <a:t>A</a:t>
            </a:r>
          </a:p>
          <a:p>
            <a:pPr marL="12700">
              <a:lnSpc>
                <a:spcPts val="1019"/>
              </a:lnSpc>
            </a:pPr>
            <a:r>
              <a:rPr dirty="0" sz="900" spc="-60" b="0">
                <a:latin typeface="Palatino Linotype"/>
                <a:cs typeface="Palatino Linotype"/>
              </a:rPr>
              <a:t>abs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absolute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paths,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192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accumulators,</a:t>
            </a:r>
            <a:r>
              <a:rPr dirty="0" sz="900" spc="3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145</a:t>
            </a:r>
            <a:endParaRPr sz="900">
              <a:latin typeface="Palatino Linotype"/>
              <a:cs typeface="Palatino Linotype"/>
            </a:endParaRPr>
          </a:p>
          <a:p>
            <a:pPr marL="167640" marR="208915" indent="-155575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Ackermann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55" b="0">
                <a:latin typeface="Palatino Linotype"/>
                <a:cs typeface="Palatino Linotype"/>
              </a:rPr>
              <a:t>writing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latin typeface="Palatino Linotype"/>
                <a:cs typeface="Palatino Linotype"/>
              </a:rPr>
              <a:t>that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60" b="0">
                <a:latin typeface="Palatino Linotype"/>
                <a:cs typeface="Palatino Linotype"/>
              </a:rPr>
              <a:t>evaluates,</a:t>
            </a:r>
            <a:r>
              <a:rPr dirty="0" sz="900" spc="3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88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80" b="0">
                <a:latin typeface="Palatino Linotype"/>
                <a:cs typeface="Palatino Linotype"/>
              </a:rPr>
              <a:t>add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method,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269</a:t>
            </a:r>
            <a:endParaRPr sz="900">
              <a:latin typeface="Palatino Linotype"/>
              <a:cs typeface="Palatino Linotype"/>
            </a:endParaRPr>
          </a:p>
          <a:p>
            <a:pPr marL="12700" marR="1090295">
              <a:lnSpc>
                <a:spcPct val="100000"/>
              </a:lnSpc>
            </a:pPr>
            <a:r>
              <a:rPr dirty="0" u="sng" sz="900" spc="170" b="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b="0">
                <a:latin typeface="Palatino Linotype"/>
                <a:cs typeface="Palatino Linotype"/>
              </a:rPr>
              <a:t>add</a:t>
            </a:r>
            <a:r>
              <a:rPr dirty="0" u="sng" sz="900" spc="265" b="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 b="0">
                <a:latin typeface="Palatino Linotype"/>
                <a:cs typeface="Palatino Linotype"/>
              </a:rPr>
              <a:t>method,</a:t>
            </a:r>
            <a:r>
              <a:rPr dirty="0" sz="900" spc="-2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229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addition</a:t>
            </a:r>
            <a:r>
              <a:rPr dirty="0" sz="900" spc="10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operator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b="0">
                <a:latin typeface="Palatino Linotype"/>
                <a:cs typeface="Palatino Linotype"/>
              </a:rPr>
              <a:t>(+),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overloading,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229</a:t>
            </a:r>
            <a:endParaRPr sz="900">
              <a:latin typeface="Palatino Linotype"/>
              <a:cs typeface="Palatino Linotype"/>
            </a:endParaRPr>
          </a:p>
          <a:p>
            <a:pPr marL="12700" marR="730250">
              <a:lnSpc>
                <a:spcPct val="100000"/>
              </a:lnSpc>
            </a:pPr>
            <a:r>
              <a:rPr dirty="0" sz="900" spc="-45" b="0">
                <a:latin typeface="Palatino Linotype"/>
                <a:cs typeface="Palatino Linotype"/>
              </a:rPr>
              <a:t>addition,</a:t>
            </a:r>
            <a:r>
              <a:rPr dirty="0" sz="900" spc="10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Counter</a:t>
            </a:r>
            <a:r>
              <a:rPr dirty="0" sz="900" spc="1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objects,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273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add_method_to</a:t>
            </a:r>
            <a:r>
              <a:rPr dirty="0" sz="900" spc="2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command,</a:t>
            </a:r>
            <a:r>
              <a:rPr dirty="0" sz="900" spc="2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225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aliasing,</a:t>
            </a:r>
            <a:r>
              <a:rPr dirty="0" sz="900" spc="2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130</a:t>
            </a:r>
            <a:endParaRPr sz="900">
              <a:latin typeface="Palatino Linotype"/>
              <a:cs typeface="Palatino Linotype"/>
            </a:endParaRPr>
          </a:p>
          <a:p>
            <a:pPr marL="323215" marR="194945" indent="-155575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created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70" b="0">
                <a:latin typeface="Palatino Linotype"/>
                <a:cs typeface="Palatino Linotype"/>
              </a:rPr>
              <a:t>by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55" b="0">
                <a:latin typeface="Palatino Linotype"/>
                <a:cs typeface="Palatino Linotype"/>
              </a:rPr>
              <a:t>passing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40" b="0">
                <a:latin typeface="Palatino Linotype"/>
                <a:cs typeface="Palatino Linotype"/>
              </a:rPr>
              <a:t>reference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to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object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as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argument,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131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all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279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anagrams,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199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anagram_map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40" b="0">
                <a:latin typeface="Palatino Linotype"/>
                <a:cs typeface="Palatino Linotype"/>
              </a:rPr>
              <a:t>shelf,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199</a:t>
            </a:r>
            <a:endParaRPr sz="900">
              <a:latin typeface="Palatino Linotype"/>
              <a:cs typeface="Palatino Linotype"/>
            </a:endParaRPr>
          </a:p>
          <a:p>
            <a:pPr marL="167640" marR="154305">
              <a:lnSpc>
                <a:spcPct val="100000"/>
              </a:lnSpc>
            </a:pPr>
            <a:r>
              <a:rPr dirty="0" sz="900" spc="-45" b="0">
                <a:latin typeface="Palatino Linotype"/>
                <a:cs typeface="Palatino Linotype"/>
              </a:rPr>
              <a:t>checking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for,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55" b="0">
                <a:latin typeface="Palatino Linotype"/>
                <a:cs typeface="Palatino Linotype"/>
              </a:rPr>
              <a:t>using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Counter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object,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273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defining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all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60" b="0">
                <a:latin typeface="Palatino Linotype"/>
                <a:cs typeface="Palatino Linotype"/>
              </a:rPr>
              <a:t>derived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40" b="0">
                <a:latin typeface="Palatino Linotype"/>
                <a:cs typeface="Palatino Linotype"/>
              </a:rPr>
              <a:t>from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60" b="0">
                <a:latin typeface="Palatino Linotype"/>
                <a:cs typeface="Palatino Linotype"/>
              </a:rPr>
              <a:t>group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40" b="0">
                <a:latin typeface="Palatino Linotype"/>
                <a:cs typeface="Palatino Linotype"/>
              </a:rPr>
              <a:t>of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letters</a:t>
            </a:r>
            <a:endParaRPr sz="900">
              <a:latin typeface="Palatino Linotype"/>
              <a:cs typeface="Palatino Linotype"/>
            </a:endParaRPr>
          </a:p>
          <a:p>
            <a:pPr marL="167640" marR="720090" indent="15494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using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defaultdict,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274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 b="0">
                <a:latin typeface="Palatino Linotype"/>
                <a:cs typeface="Palatino Linotype"/>
              </a:rPr>
              <a:t>writing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to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40" b="0">
                <a:latin typeface="Palatino Linotype"/>
                <a:cs typeface="Palatino Linotype"/>
              </a:rPr>
              <a:t>find,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134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 b="0">
                <a:latin typeface="Palatino Linotype"/>
                <a:cs typeface="Palatino Linotype"/>
              </a:rPr>
              <a:t>anaspeptic,</a:t>
            </a:r>
            <a:r>
              <a:rPr dirty="0" sz="900" spc="3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132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 b="0">
                <a:latin typeface="Palatino Linotype"/>
                <a:cs typeface="Palatino Linotype"/>
              </a:rPr>
              <a:t>and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40" b="0">
                <a:latin typeface="Palatino Linotype"/>
                <a:cs typeface="Palatino Linotype"/>
              </a:rPr>
              <a:t>operator,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20" b="0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58</a:t>
            </a:r>
            <a:r>
              <a:rPr dirty="0" sz="900" spc="-20" b="0">
                <a:latin typeface="Palatino Linotype"/>
                <a:cs typeface="Palatino Linotype"/>
              </a:rPr>
              <a:t>,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61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75" b="0">
                <a:latin typeface="Palatino Linotype"/>
                <a:cs typeface="Palatino Linotype"/>
              </a:rPr>
              <a:t>any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279</a:t>
            </a:r>
            <a:endParaRPr sz="900">
              <a:latin typeface="Palatino Linotype"/>
              <a:cs typeface="Palatino Linotype"/>
            </a:endParaRPr>
          </a:p>
          <a:p>
            <a:pPr marL="12700" marR="79629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apostrophe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b="0">
                <a:latin typeface="Palatino Linotype"/>
                <a:cs typeface="Palatino Linotype"/>
              </a:rPr>
              <a:t>(') </a:t>
            </a:r>
            <a:r>
              <a:rPr dirty="0" sz="900" spc="-45" b="0">
                <a:latin typeface="Palatino Linotype"/>
                <a:cs typeface="Palatino Linotype"/>
              </a:rPr>
              <a:t>inside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strings,</a:t>
            </a:r>
            <a:r>
              <a:rPr dirty="0" sz="900" spc="-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5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 b="0">
                <a:latin typeface="Palatino Linotype"/>
                <a:cs typeface="Palatino Linotype"/>
              </a:rPr>
              <a:t>append</a:t>
            </a:r>
            <a:r>
              <a:rPr dirty="0" sz="900" spc="-20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method,</a:t>
            </a:r>
            <a:r>
              <a:rPr dirty="0" sz="900" spc="-20" b="0">
                <a:latin typeface="Palatino Linotype"/>
                <a:cs typeface="Palatino Linotype"/>
              </a:rPr>
              <a:t> </a:t>
            </a:r>
            <a:r>
              <a:rPr dirty="0" sz="900" spc="-20" b="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125</a:t>
            </a:r>
            <a:r>
              <a:rPr dirty="0" sz="900" spc="-20" b="0">
                <a:latin typeface="Palatino Linotype"/>
                <a:cs typeface="Palatino Linotype"/>
              </a:rPr>
              <a:t>,</a:t>
            </a:r>
            <a:r>
              <a:rPr dirty="0" sz="900" spc="-15" b="0">
                <a:latin typeface="Palatino Linotype"/>
                <a:cs typeface="Palatino Linotype"/>
              </a:rPr>
              <a:t> </a:t>
            </a:r>
            <a:r>
              <a:rPr dirty="0" sz="900" spc="-20" b="0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132</a:t>
            </a:r>
            <a:r>
              <a:rPr dirty="0" sz="900" spc="-20" b="0">
                <a:latin typeface="Palatino Linotype"/>
                <a:cs typeface="Palatino Linotype"/>
              </a:rPr>
              <a:t>,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258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 b="0">
                <a:latin typeface="Palatino Linotype"/>
                <a:cs typeface="Palatino Linotype"/>
              </a:rPr>
              <a:t>arc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45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argument</a:t>
            </a:r>
            <a:r>
              <a:rPr dirty="0" sz="900" spc="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packing,</a:t>
            </a:r>
            <a:r>
              <a:rPr dirty="0" sz="900" spc="10" b="0">
                <a:latin typeface="Palatino Linotype"/>
                <a:cs typeface="Palatino Linotype"/>
              </a:rPr>
              <a:t> </a:t>
            </a:r>
            <a:r>
              <a:rPr dirty="0" sz="900" spc="-10" b="0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159</a:t>
            </a:r>
            <a:r>
              <a:rPr dirty="0" sz="900" spc="-10" b="0">
                <a:latin typeface="Palatino Linotype"/>
                <a:cs typeface="Palatino Linotype"/>
              </a:rPr>
              <a:t>-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160</a:t>
            </a:r>
            <a:endParaRPr sz="900">
              <a:latin typeface="Palatino Linotype"/>
              <a:cs typeface="Palatino Linotype"/>
            </a:endParaRPr>
          </a:p>
          <a:p>
            <a:pPr marL="12700" marR="506095" indent="15494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packing</a:t>
            </a:r>
            <a:r>
              <a:rPr dirty="0" sz="900" spc="5" b="0">
                <a:latin typeface="Palatino Linotype"/>
                <a:cs typeface="Palatino Linotype"/>
              </a:rPr>
              <a:t> </a:t>
            </a:r>
            <a:r>
              <a:rPr dirty="0" sz="900" spc="-70" b="0">
                <a:latin typeface="Palatino Linotype"/>
                <a:cs typeface="Palatino Linotype"/>
              </a:rPr>
              <a:t>keyword</a:t>
            </a:r>
            <a:r>
              <a:rPr dirty="0" sz="900" spc="5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arguments,</a:t>
            </a:r>
            <a:r>
              <a:rPr dirty="0" sz="900" spc="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281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arguments,</a:t>
            </a:r>
            <a:r>
              <a:rPr dirty="0" sz="900" spc="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20</a:t>
            </a:r>
            <a:endParaRPr sz="900">
              <a:latin typeface="Palatino Linotype"/>
              <a:cs typeface="Palatino Linotype"/>
            </a:endParaRPr>
          </a:p>
          <a:p>
            <a:pPr marL="167640" marR="5080">
              <a:lnSpc>
                <a:spcPct val="100000"/>
              </a:lnSpc>
            </a:pPr>
            <a:r>
              <a:rPr dirty="0" sz="900" spc="-55" b="0">
                <a:latin typeface="Palatino Linotype"/>
                <a:cs typeface="Palatino Linotype"/>
              </a:rPr>
              <a:t>assignment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to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parameter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0" b="0">
                <a:latin typeface="Palatino Linotype"/>
                <a:cs typeface="Palatino Linotype"/>
              </a:rPr>
              <a:t>in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function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call,</a:t>
            </a:r>
            <a:r>
              <a:rPr dirty="0" sz="90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28</a:t>
            </a:r>
            <a:r>
              <a:rPr dirty="0" sz="900" b="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 b="0">
                <a:latin typeface="Palatino Linotype"/>
                <a:cs typeface="Palatino Linotype"/>
              </a:rPr>
              <a:t>checking</a:t>
            </a:r>
            <a:r>
              <a:rPr dirty="0" sz="900" spc="10" b="0">
                <a:latin typeface="Palatino Linotype"/>
                <a:cs typeface="Palatino Linotype"/>
              </a:rPr>
              <a:t> </a:t>
            </a:r>
            <a:r>
              <a:rPr dirty="0" sz="900" spc="-65" b="0">
                <a:latin typeface="Palatino Linotype"/>
                <a:cs typeface="Palatino Linotype"/>
              </a:rPr>
              <a:t>types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for,</a:t>
            </a:r>
            <a:r>
              <a:rPr dirty="0" sz="900" spc="15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84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 b="0">
                <a:latin typeface="Palatino Linotype"/>
                <a:cs typeface="Palatino Linotype"/>
              </a:rPr>
              <a:t>extend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method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taking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35" b="0">
                <a:latin typeface="Palatino Linotype"/>
                <a:cs typeface="Palatino Linotype"/>
              </a:rPr>
              <a:t>list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50" b="0">
                <a:latin typeface="Palatino Linotype"/>
                <a:cs typeface="Palatino Linotype"/>
              </a:rPr>
              <a:t>as,</a:t>
            </a:r>
            <a:r>
              <a:rPr dirty="0" sz="900" spc="-10" b="0">
                <a:latin typeface="Palatino Linotype"/>
                <a:cs typeface="Palatino Linotype"/>
              </a:rPr>
              <a:t> </a:t>
            </a:r>
            <a:r>
              <a:rPr dirty="0" sz="900" spc="-25" b="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125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idx="3" sz="half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pc="-65"/>
              <a:t>keyword,</a:t>
            </a:r>
            <a:r>
              <a:rPr dirty="0"/>
              <a:t> </a:t>
            </a:r>
            <a:r>
              <a:rPr dirty="0" spc="-25">
                <a:solidFill>
                  <a:srgbClr val="990000"/>
                </a:solidFill>
                <a:hlinkClick r:id="rId30" action="ppaction://hlinksldjump"/>
              </a:rPr>
              <a:t>44</a:t>
            </a:r>
          </a:p>
          <a:p>
            <a:pPr marL="167640">
              <a:lnSpc>
                <a:spcPct val="100000"/>
              </a:lnSpc>
            </a:pPr>
            <a:r>
              <a:rPr dirty="0" spc="-35"/>
              <a:t>list,</a:t>
            </a:r>
            <a:r>
              <a:rPr dirty="0" spc="-10"/>
              <a:t> </a:t>
            </a:r>
            <a:r>
              <a:rPr dirty="0" spc="-25">
                <a:solidFill>
                  <a:srgbClr val="990000"/>
                </a:solidFill>
                <a:hlinkClick r:id="rId12" action="ppaction://hlinksldjump"/>
              </a:rPr>
              <a:t>131</a:t>
            </a:r>
          </a:p>
          <a:p>
            <a:pPr marL="323215" marR="19685" indent="-155575">
              <a:lnSpc>
                <a:spcPct val="100000"/>
              </a:lnSpc>
            </a:pPr>
            <a:r>
              <a:rPr dirty="0" spc="-35"/>
              <a:t>list</a:t>
            </a:r>
            <a:r>
              <a:rPr dirty="0" spc="-5"/>
              <a:t> </a:t>
            </a:r>
            <a:r>
              <a:rPr dirty="0" spc="-45"/>
              <a:t>comprehension</a:t>
            </a:r>
            <a:r>
              <a:rPr dirty="0" spc="-5"/>
              <a:t> </a:t>
            </a:r>
            <a:r>
              <a:rPr dirty="0" spc="-70"/>
              <a:t>used</a:t>
            </a:r>
            <a:r>
              <a:rPr dirty="0"/>
              <a:t> </a:t>
            </a:r>
            <a:r>
              <a:rPr dirty="0" spc="-60"/>
              <a:t>as</a:t>
            </a:r>
            <a:r>
              <a:rPr dirty="0" spc="-5"/>
              <a:t> </a:t>
            </a:r>
            <a:r>
              <a:rPr dirty="0" spc="-35"/>
              <a:t>function</a:t>
            </a:r>
            <a:r>
              <a:rPr dirty="0"/>
              <a:t> </a:t>
            </a:r>
            <a:r>
              <a:rPr dirty="0" spc="-40"/>
              <a:t>argu‐</a:t>
            </a:r>
            <a:r>
              <a:rPr dirty="0"/>
              <a:t> </a:t>
            </a:r>
            <a:r>
              <a:rPr dirty="0" spc="-50"/>
              <a:t>ment,</a:t>
            </a:r>
            <a:r>
              <a:rPr dirty="0" spc="20"/>
              <a:t> </a:t>
            </a:r>
            <a:r>
              <a:rPr dirty="0" spc="-25">
                <a:solidFill>
                  <a:srgbClr val="990000"/>
                </a:solidFill>
                <a:hlinkClick r:id="rId31" action="ppaction://hlinksldjump"/>
              </a:rPr>
              <a:t>278</a:t>
            </a:r>
          </a:p>
          <a:p>
            <a:pPr marL="167640">
              <a:lnSpc>
                <a:spcPct val="100000"/>
              </a:lnSpc>
            </a:pPr>
            <a:r>
              <a:rPr dirty="0" spc="-55"/>
              <a:t>passing</a:t>
            </a:r>
            <a:r>
              <a:rPr dirty="0" spc="-10"/>
              <a:t> </a:t>
            </a:r>
            <a:r>
              <a:rPr dirty="0" spc="-30"/>
              <a:t>object</a:t>
            </a:r>
            <a:r>
              <a:rPr dirty="0" spc="-5"/>
              <a:t> </a:t>
            </a:r>
            <a:r>
              <a:rPr dirty="0" spc="-60"/>
              <a:t>as</a:t>
            </a:r>
            <a:r>
              <a:rPr dirty="0" spc="-5"/>
              <a:t> </a:t>
            </a:r>
            <a:r>
              <a:rPr dirty="0" spc="-50"/>
              <a:t>argument,</a:t>
            </a:r>
            <a:r>
              <a:rPr dirty="0" spc="-5"/>
              <a:t> </a:t>
            </a:r>
            <a:r>
              <a:rPr dirty="0" spc="-25">
                <a:solidFill>
                  <a:srgbClr val="990000"/>
                </a:solidFill>
                <a:hlinkClick r:id="rId32" action="ppaction://hlinksldjump"/>
              </a:rPr>
              <a:t>211</a:t>
            </a:r>
          </a:p>
          <a:p>
            <a:pPr marL="323215" marR="5080" indent="-155575">
              <a:lnSpc>
                <a:spcPct val="100000"/>
              </a:lnSpc>
            </a:pPr>
            <a:r>
              <a:rPr dirty="0" spc="-55"/>
              <a:t>providing</a:t>
            </a:r>
            <a:r>
              <a:rPr dirty="0" spc="-15"/>
              <a:t> </a:t>
            </a:r>
            <a:r>
              <a:rPr dirty="0" spc="-35"/>
              <a:t>too</a:t>
            </a:r>
            <a:r>
              <a:rPr dirty="0" spc="-15"/>
              <a:t> </a:t>
            </a:r>
            <a:r>
              <a:rPr dirty="0" spc="-70"/>
              <a:t>many</a:t>
            </a:r>
            <a:r>
              <a:rPr dirty="0" spc="-15"/>
              <a:t> </a:t>
            </a:r>
            <a:r>
              <a:rPr dirty="0" spc="-30"/>
              <a:t>or</a:t>
            </a:r>
            <a:r>
              <a:rPr dirty="0" spc="-15"/>
              <a:t> </a:t>
            </a:r>
            <a:r>
              <a:rPr dirty="0" spc="-35"/>
              <a:t>too</a:t>
            </a:r>
            <a:r>
              <a:rPr dirty="0" spc="-15"/>
              <a:t> </a:t>
            </a:r>
            <a:r>
              <a:rPr dirty="0" spc="-80"/>
              <a:t>few</a:t>
            </a:r>
            <a:r>
              <a:rPr dirty="0" spc="-10"/>
              <a:t> </a:t>
            </a:r>
            <a:r>
              <a:rPr dirty="0" spc="-30"/>
              <a:t>in</a:t>
            </a:r>
            <a:r>
              <a:rPr dirty="0" spc="-15"/>
              <a:t> </a:t>
            </a:r>
            <a:r>
              <a:rPr dirty="0" spc="-30"/>
              <a:t>function</a:t>
            </a:r>
            <a:r>
              <a:rPr dirty="0"/>
              <a:t> </a:t>
            </a:r>
            <a:r>
              <a:rPr dirty="0" spc="-45"/>
              <a:t>call,</a:t>
            </a:r>
            <a:r>
              <a:rPr dirty="0" spc="20"/>
              <a:t> </a:t>
            </a:r>
            <a:r>
              <a:rPr dirty="0" spc="-25">
                <a:solidFill>
                  <a:srgbClr val="990000"/>
                </a:solidFill>
                <a:hlinkClick r:id="rId33" action="ppaction://hlinksldjump"/>
              </a:rPr>
              <a:t>21</a:t>
            </a:r>
          </a:p>
          <a:p>
            <a:pPr marL="12700" marR="1066800" indent="154940">
              <a:lnSpc>
                <a:spcPct val="100000"/>
              </a:lnSpc>
            </a:pPr>
            <a:r>
              <a:rPr dirty="0" spc="-40"/>
              <a:t>of</a:t>
            </a:r>
            <a:r>
              <a:rPr dirty="0" spc="-15"/>
              <a:t> </a:t>
            </a:r>
            <a:r>
              <a:rPr dirty="0" spc="-65"/>
              <a:t>wrong</a:t>
            </a:r>
            <a:r>
              <a:rPr dirty="0" spc="-15"/>
              <a:t> </a:t>
            </a:r>
            <a:r>
              <a:rPr dirty="0" spc="-55"/>
              <a:t>type,</a:t>
            </a:r>
            <a:r>
              <a:rPr dirty="0" spc="-10"/>
              <a:t> </a:t>
            </a:r>
            <a:r>
              <a:rPr dirty="0" spc="-25">
                <a:solidFill>
                  <a:srgbClr val="990000"/>
                </a:solidFill>
                <a:hlinkClick r:id="rId33" action="ppaction://hlinksldjump"/>
              </a:rPr>
              <a:t>21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35"/>
              <a:t>arithmetic</a:t>
            </a:r>
            <a:r>
              <a:rPr dirty="0" spc="-5"/>
              <a:t> </a:t>
            </a:r>
            <a:r>
              <a:rPr dirty="0" spc="-55"/>
              <a:t>expressions</a:t>
            </a:r>
          </a:p>
          <a:p>
            <a:pPr marL="167640" marR="969644">
              <a:lnSpc>
                <a:spcPct val="100000"/>
              </a:lnSpc>
            </a:pPr>
            <a:r>
              <a:rPr dirty="0" spc="-40"/>
              <a:t>practice</a:t>
            </a:r>
            <a:r>
              <a:rPr dirty="0" spc="-5"/>
              <a:t> </a:t>
            </a:r>
            <a:r>
              <a:rPr dirty="0" spc="-45"/>
              <a:t>writing,</a:t>
            </a:r>
            <a:r>
              <a:rPr dirty="0"/>
              <a:t> </a:t>
            </a:r>
            <a:r>
              <a:rPr dirty="0" spc="-25">
                <a:solidFill>
                  <a:srgbClr val="990000"/>
                </a:solidFill>
                <a:hlinkClick r:id="rId34" action="ppaction://hlinksldjump"/>
              </a:rPr>
              <a:t>13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50"/>
              <a:t>variable</a:t>
            </a:r>
            <a:r>
              <a:rPr dirty="0" spc="-5"/>
              <a:t> </a:t>
            </a:r>
            <a:r>
              <a:rPr dirty="0" spc="-60"/>
              <a:t>as</a:t>
            </a:r>
            <a:r>
              <a:rPr dirty="0"/>
              <a:t> </a:t>
            </a:r>
            <a:r>
              <a:rPr dirty="0" spc="-55"/>
              <a:t>part</a:t>
            </a:r>
            <a:r>
              <a:rPr dirty="0"/>
              <a:t> </a:t>
            </a:r>
            <a:r>
              <a:rPr dirty="0" spc="-40"/>
              <a:t>of,</a:t>
            </a:r>
            <a:r>
              <a:rPr dirty="0" spc="-5"/>
              <a:t> </a:t>
            </a:r>
            <a:r>
              <a:rPr dirty="0" spc="-25">
                <a:solidFill>
                  <a:srgbClr val="990000"/>
                </a:solidFill>
                <a:hlinkClick r:id="rId35" action="ppaction://hlinksldjump"/>
              </a:rPr>
              <a:t>16</a:t>
            </a:r>
          </a:p>
          <a:p>
            <a:pPr marL="12700">
              <a:lnSpc>
                <a:spcPct val="100000"/>
              </a:lnSpc>
            </a:pPr>
            <a:r>
              <a:rPr dirty="0" spc="-35"/>
              <a:t>arithmetic</a:t>
            </a:r>
            <a:r>
              <a:rPr dirty="0" spc="20"/>
              <a:t> </a:t>
            </a:r>
            <a:r>
              <a:rPr dirty="0" spc="-40"/>
              <a:t>functions,</a:t>
            </a:r>
            <a:r>
              <a:rPr dirty="0" spc="15"/>
              <a:t> </a:t>
            </a:r>
            <a:r>
              <a:rPr dirty="0" spc="-10">
                <a:solidFill>
                  <a:srgbClr val="990000"/>
                </a:solidFill>
                <a:hlinkClick r:id="rId2" action="ppaction://hlinksldjump"/>
              </a:rPr>
              <a:t>4</a:t>
            </a:r>
            <a:r>
              <a:rPr dirty="0" spc="-10"/>
              <a:t>-</a:t>
            </a:r>
            <a:r>
              <a:rPr dirty="0" spc="-50">
                <a:solidFill>
                  <a:srgbClr val="990000"/>
                </a:solidFill>
                <a:hlinkClick r:id="rId20" action="ppaction://hlinksldjump"/>
              </a:rPr>
              <a:t>5</a:t>
            </a:r>
          </a:p>
          <a:p>
            <a:pPr marL="167640" marR="798195" indent="-155575">
              <a:lnSpc>
                <a:spcPct val="100000"/>
              </a:lnSpc>
            </a:pPr>
            <a:r>
              <a:rPr dirty="0" spc="-35"/>
              <a:t>arithmetic</a:t>
            </a:r>
            <a:r>
              <a:rPr dirty="0" spc="-5"/>
              <a:t> </a:t>
            </a:r>
            <a:r>
              <a:rPr dirty="0" spc="-45"/>
              <a:t>operators,</a:t>
            </a:r>
            <a:r>
              <a:rPr dirty="0"/>
              <a:t> </a:t>
            </a:r>
            <a:r>
              <a:rPr dirty="0" spc="-10">
                <a:solidFill>
                  <a:srgbClr val="990000"/>
                </a:solidFill>
                <a:hlinkClick r:id="rId8" action="ppaction://hlinksldjump"/>
              </a:rPr>
              <a:t>1</a:t>
            </a:r>
            <a:r>
              <a:rPr dirty="0" spc="-10"/>
              <a:t>-</a:t>
            </a:r>
            <a:r>
              <a:rPr dirty="0" spc="-10">
                <a:solidFill>
                  <a:srgbClr val="990000"/>
                </a:solidFill>
                <a:hlinkClick r:id="rId36" action="ppaction://hlinksldjump"/>
              </a:rPr>
              <a:t>3</a:t>
            </a:r>
            <a:r>
              <a:rPr dirty="0" spc="-10"/>
              <a:t>,</a:t>
            </a:r>
            <a:r>
              <a:rPr dirty="0"/>
              <a:t> </a:t>
            </a:r>
            <a:r>
              <a:rPr dirty="0" spc="-25">
                <a:solidFill>
                  <a:srgbClr val="990000"/>
                </a:solidFill>
                <a:hlinkClick r:id="rId37" action="ppaction://hlinksldjump"/>
              </a:rPr>
              <a:t>10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65"/>
              <a:t>use</a:t>
            </a:r>
            <a:r>
              <a:rPr dirty="0" spc="-5"/>
              <a:t> </a:t>
            </a:r>
            <a:r>
              <a:rPr dirty="0" spc="-55"/>
              <a:t>with</a:t>
            </a:r>
            <a:r>
              <a:rPr dirty="0" spc="-5"/>
              <a:t> </a:t>
            </a:r>
            <a:r>
              <a:rPr dirty="0" spc="-50"/>
              <a:t>sets,</a:t>
            </a:r>
            <a:r>
              <a:rPr dirty="0" spc="-5"/>
              <a:t> </a:t>
            </a:r>
            <a:r>
              <a:rPr dirty="0" spc="-25">
                <a:solidFill>
                  <a:srgbClr val="990000"/>
                </a:solidFill>
                <a:hlinkClick r:id="rId38" action="ppaction://hlinksldjump"/>
              </a:rPr>
              <a:t>271</a:t>
            </a:r>
          </a:p>
          <a:p>
            <a:pPr marL="12700">
              <a:lnSpc>
                <a:spcPct val="100000"/>
              </a:lnSpc>
            </a:pPr>
            <a:r>
              <a:rPr dirty="0" spc="-45"/>
              <a:t>assert</a:t>
            </a:r>
            <a:r>
              <a:rPr dirty="0" spc="15"/>
              <a:t> </a:t>
            </a:r>
            <a:r>
              <a:rPr dirty="0" spc="-50"/>
              <a:t>statements,</a:t>
            </a:r>
            <a:r>
              <a:rPr dirty="0" spc="15"/>
              <a:t> </a:t>
            </a:r>
            <a:r>
              <a:rPr dirty="0" spc="-25">
                <a:solidFill>
                  <a:srgbClr val="990000"/>
                </a:solidFill>
                <a:hlinkClick r:id="rId39" action="ppaction://hlinksldjump"/>
              </a:rPr>
              <a:t>231</a:t>
            </a:r>
          </a:p>
          <a:p>
            <a:pPr marL="12700">
              <a:lnSpc>
                <a:spcPct val="100000"/>
              </a:lnSpc>
            </a:pPr>
            <a:r>
              <a:rPr dirty="0" spc="-50"/>
              <a:t>assertEqual</a:t>
            </a:r>
            <a:r>
              <a:rPr dirty="0" spc="5"/>
              <a:t> </a:t>
            </a:r>
            <a:r>
              <a:rPr dirty="0" spc="-45"/>
              <a:t>method,</a:t>
            </a:r>
            <a:r>
              <a:rPr dirty="0" spc="5"/>
              <a:t> </a:t>
            </a:r>
            <a:r>
              <a:rPr dirty="0" spc="-25">
                <a:solidFill>
                  <a:srgbClr val="990000"/>
                </a:solidFill>
                <a:hlinkClick r:id="rId40" action="ppaction://hlinksldjump"/>
              </a:rPr>
              <a:t>284</a:t>
            </a:r>
          </a:p>
          <a:p>
            <a:pPr marL="12700" marR="828675">
              <a:lnSpc>
                <a:spcPct val="100000"/>
              </a:lnSpc>
            </a:pPr>
            <a:r>
              <a:rPr dirty="0" spc="-40"/>
              <a:t>AssertionError,</a:t>
            </a:r>
            <a:r>
              <a:rPr dirty="0" spc="20"/>
              <a:t> </a:t>
            </a:r>
            <a:r>
              <a:rPr dirty="0" spc="-25">
                <a:solidFill>
                  <a:srgbClr val="990000"/>
                </a:solidFill>
                <a:hlinkClick r:id="rId39" action="ppaction://hlinksldjump"/>
              </a:rPr>
              <a:t>231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55"/>
              <a:t>assignment</a:t>
            </a:r>
            <a:r>
              <a:rPr dirty="0" spc="20"/>
              <a:t> </a:t>
            </a:r>
            <a:r>
              <a:rPr dirty="0" spc="-45"/>
              <a:t>operator</a:t>
            </a:r>
            <a:r>
              <a:rPr dirty="0" spc="20"/>
              <a:t> </a:t>
            </a:r>
            <a:r>
              <a:rPr dirty="0"/>
              <a:t>(=),</a:t>
            </a:r>
            <a:r>
              <a:rPr dirty="0" spc="20"/>
              <a:t> </a:t>
            </a:r>
            <a:r>
              <a:rPr dirty="0" spc="-25">
                <a:solidFill>
                  <a:srgbClr val="990000"/>
                </a:solidFill>
                <a:hlinkClick r:id="rId30" action="ppaction://hlinksldjump"/>
              </a:rPr>
              <a:t>44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55"/>
              <a:t>assignment</a:t>
            </a:r>
            <a:r>
              <a:rPr dirty="0" spc="25"/>
              <a:t> </a:t>
            </a:r>
            <a:r>
              <a:rPr dirty="0" spc="-50"/>
              <a:t>statements,</a:t>
            </a:r>
            <a:r>
              <a:rPr dirty="0" spc="25"/>
              <a:t> </a:t>
            </a:r>
            <a:r>
              <a:rPr dirty="0" spc="-25">
                <a:solidFill>
                  <a:srgbClr val="990000"/>
                </a:solidFill>
                <a:hlinkClick r:id="rId41" action="ppaction://hlinksldjump"/>
              </a:rPr>
              <a:t>15</a:t>
            </a:r>
          </a:p>
          <a:p>
            <a:pPr marL="12700" marR="525145" indent="154940">
              <a:lnSpc>
                <a:spcPct val="100000"/>
              </a:lnSpc>
            </a:pPr>
            <a:r>
              <a:rPr dirty="0" spc="-50"/>
              <a:t>variable</a:t>
            </a:r>
            <a:r>
              <a:rPr dirty="0"/>
              <a:t> </a:t>
            </a:r>
            <a:r>
              <a:rPr dirty="0" spc="-50"/>
              <a:t>created</a:t>
            </a:r>
            <a:r>
              <a:rPr dirty="0"/>
              <a:t> </a:t>
            </a:r>
            <a:r>
              <a:rPr dirty="0" spc="-70"/>
              <a:t>by</a:t>
            </a:r>
            <a:r>
              <a:rPr dirty="0"/>
              <a:t> </a:t>
            </a:r>
            <a:r>
              <a:rPr dirty="0" spc="-45"/>
              <a:t>running,</a:t>
            </a:r>
            <a:r>
              <a:rPr dirty="0"/>
              <a:t> </a:t>
            </a:r>
            <a:r>
              <a:rPr dirty="0" spc="-25">
                <a:solidFill>
                  <a:srgbClr val="990000"/>
                </a:solidFill>
                <a:hlinkClick r:id="rId41" action="ppaction://hlinksldjump"/>
              </a:rPr>
              <a:t>15</a:t>
            </a:r>
            <a:r>
              <a:rPr dirty="0" spc="-10">
                <a:solidFill>
                  <a:srgbClr val="990000"/>
                </a:solidFill>
              </a:rPr>
              <a:t> </a:t>
            </a:r>
            <a:r>
              <a:rPr dirty="0" spc="-10"/>
              <a:t>assignments</a:t>
            </a:r>
          </a:p>
          <a:p>
            <a:pPr marL="167640" marR="626745">
              <a:lnSpc>
                <a:spcPct val="100000"/>
              </a:lnSpc>
            </a:pPr>
            <a:r>
              <a:rPr dirty="0" spc="-40"/>
              <a:t>initializing</a:t>
            </a:r>
            <a:r>
              <a:rPr dirty="0" spc="-5"/>
              <a:t> </a:t>
            </a:r>
            <a:r>
              <a:rPr dirty="0" spc="-50"/>
              <a:t>variables</a:t>
            </a:r>
            <a:r>
              <a:rPr dirty="0"/>
              <a:t> </a:t>
            </a:r>
            <a:r>
              <a:rPr dirty="0" spc="-50"/>
              <a:t>with,</a:t>
            </a:r>
            <a:r>
              <a:rPr dirty="0"/>
              <a:t> </a:t>
            </a:r>
            <a:r>
              <a:rPr dirty="0" spc="-25">
                <a:solidFill>
                  <a:srgbClr val="990000"/>
                </a:solidFill>
                <a:hlinkClick r:id="rId42" action="ppaction://hlinksldjump"/>
              </a:rPr>
              <a:t>95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35"/>
              <a:t>list</a:t>
            </a:r>
            <a:r>
              <a:rPr dirty="0" spc="5"/>
              <a:t> </a:t>
            </a:r>
            <a:r>
              <a:rPr dirty="0" spc="-50"/>
              <a:t>elements,</a:t>
            </a:r>
            <a:r>
              <a:rPr dirty="0" spc="5"/>
              <a:t> </a:t>
            </a:r>
            <a:r>
              <a:rPr dirty="0" spc="-25">
                <a:solidFill>
                  <a:srgbClr val="990000"/>
                </a:solidFill>
                <a:hlinkClick r:id="rId43" action="ppaction://hlinksldjump"/>
              </a:rPr>
              <a:t>122</a:t>
            </a:r>
          </a:p>
          <a:p>
            <a:pPr marL="167640" marR="709930">
              <a:lnSpc>
                <a:spcPct val="100000"/>
              </a:lnSpc>
            </a:pPr>
            <a:r>
              <a:rPr dirty="0" spc="-40"/>
              <a:t>of</a:t>
            </a:r>
            <a:r>
              <a:rPr dirty="0" spc="-5"/>
              <a:t> </a:t>
            </a:r>
            <a:r>
              <a:rPr dirty="0" spc="-50"/>
              <a:t>tuples,</a:t>
            </a:r>
            <a:r>
              <a:rPr dirty="0" spc="-5"/>
              <a:t> </a:t>
            </a:r>
            <a:r>
              <a:rPr dirty="0" spc="-10">
                <a:solidFill>
                  <a:srgbClr val="990000"/>
                </a:solidFill>
                <a:hlinkClick r:id="rId44" action="ppaction://hlinksldjump"/>
              </a:rPr>
              <a:t>156</a:t>
            </a:r>
            <a:r>
              <a:rPr dirty="0" spc="-10"/>
              <a:t>-</a:t>
            </a:r>
            <a:r>
              <a:rPr dirty="0" spc="-25">
                <a:solidFill>
                  <a:srgbClr val="990000"/>
                </a:solidFill>
                <a:hlinkClick r:id="rId45" action="ppaction://hlinksldjump"/>
              </a:rPr>
              <a:t>158</a:t>
            </a:r>
            <a:r>
              <a:rPr dirty="0" spc="200">
                <a:solidFill>
                  <a:srgbClr val="990000"/>
                </a:solidFill>
              </a:rPr>
              <a:t> </a:t>
            </a:r>
            <a:r>
              <a:rPr dirty="0" spc="-60"/>
              <a:t>updating</a:t>
            </a:r>
            <a:r>
              <a:rPr dirty="0" spc="-10"/>
              <a:t> </a:t>
            </a:r>
            <a:r>
              <a:rPr dirty="0" spc="-50"/>
              <a:t>variables</a:t>
            </a:r>
            <a:r>
              <a:rPr dirty="0" spc="-5"/>
              <a:t> </a:t>
            </a:r>
            <a:r>
              <a:rPr dirty="0" spc="-50"/>
              <a:t>with,</a:t>
            </a:r>
            <a:r>
              <a:rPr dirty="0" spc="-10"/>
              <a:t> </a:t>
            </a:r>
            <a:r>
              <a:rPr dirty="0" spc="-25">
                <a:solidFill>
                  <a:srgbClr val="990000"/>
                </a:solidFill>
                <a:hlinkClick r:id="rId46" action="ppaction://hlinksldjump"/>
              </a:rPr>
              <a:t>94</a:t>
            </a:r>
          </a:p>
          <a:p>
            <a:pPr marL="12700">
              <a:lnSpc>
                <a:spcPct val="100000"/>
              </a:lnSpc>
            </a:pPr>
            <a:r>
              <a:rPr dirty="0" spc="-45"/>
              <a:t>asterisk</a:t>
            </a:r>
            <a:r>
              <a:rPr dirty="0" spc="-5"/>
              <a:t> </a:t>
            </a:r>
            <a:r>
              <a:rPr dirty="0"/>
              <a:t>(*) </a:t>
            </a:r>
            <a:r>
              <a:rPr dirty="0" spc="-40"/>
              <a:t>operator,</a:t>
            </a:r>
            <a:r>
              <a:rPr dirty="0" spc="-5"/>
              <a:t> </a:t>
            </a:r>
            <a:r>
              <a:rPr dirty="0" spc="-50">
                <a:solidFill>
                  <a:srgbClr val="990000"/>
                </a:solidFill>
                <a:hlinkClick r:id="rId47" action="ppaction://hlinksldjump"/>
              </a:rPr>
              <a:t>2</a:t>
            </a:r>
          </a:p>
          <a:p>
            <a:pPr marL="167640" marR="74930">
              <a:lnSpc>
                <a:spcPct val="100000"/>
              </a:lnSpc>
            </a:pPr>
            <a:r>
              <a:rPr dirty="0" spc="-35"/>
              <a:t>(see</a:t>
            </a:r>
            <a:r>
              <a:rPr dirty="0" spc="-5"/>
              <a:t> </a:t>
            </a:r>
            <a:r>
              <a:rPr dirty="0" spc="-45"/>
              <a:t>also</a:t>
            </a:r>
            <a:r>
              <a:rPr dirty="0" spc="-5"/>
              <a:t> </a:t>
            </a:r>
            <a:r>
              <a:rPr dirty="0" spc="-45"/>
              <a:t>multiplication</a:t>
            </a:r>
            <a:r>
              <a:rPr dirty="0" spc="-5"/>
              <a:t> </a:t>
            </a:r>
            <a:r>
              <a:rPr dirty="0" spc="-10"/>
              <a:t>operator) </a:t>
            </a:r>
            <a:r>
              <a:rPr dirty="0" spc="-55"/>
              <a:t>packing</a:t>
            </a:r>
            <a:r>
              <a:rPr dirty="0" spc="5"/>
              <a:t> </a:t>
            </a:r>
            <a:r>
              <a:rPr dirty="0" spc="-65"/>
              <a:t>and</a:t>
            </a:r>
            <a:r>
              <a:rPr dirty="0" spc="5"/>
              <a:t> </a:t>
            </a:r>
            <a:r>
              <a:rPr dirty="0" spc="-55"/>
              <a:t>unpacking</a:t>
            </a:r>
            <a:r>
              <a:rPr dirty="0" spc="5"/>
              <a:t> </a:t>
            </a:r>
            <a:r>
              <a:rPr dirty="0" spc="-55"/>
              <a:t>arguments</a:t>
            </a:r>
            <a:r>
              <a:rPr dirty="0" spc="5"/>
              <a:t> </a:t>
            </a:r>
            <a:r>
              <a:rPr dirty="0" spc="-40"/>
              <a:t>into</a:t>
            </a:r>
            <a:r>
              <a:rPr dirty="0" spc="5"/>
              <a:t> </a:t>
            </a:r>
            <a:r>
              <a:rPr dirty="0" spc="-50"/>
              <a:t>a</a:t>
            </a:r>
          </a:p>
          <a:p>
            <a:pPr marL="167640" marR="1058545" indent="154940">
              <a:lnSpc>
                <a:spcPct val="100000"/>
              </a:lnSpc>
            </a:pPr>
            <a:r>
              <a:rPr dirty="0" spc="-50"/>
              <a:t>tuple,</a:t>
            </a:r>
            <a:r>
              <a:rPr dirty="0" spc="-5"/>
              <a:t> </a:t>
            </a:r>
            <a:r>
              <a:rPr dirty="0" spc="-25">
                <a:solidFill>
                  <a:srgbClr val="990000"/>
                </a:solidFill>
                <a:hlinkClick r:id="rId24" action="ppaction://hlinksldjump"/>
              </a:rPr>
              <a:t>159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55"/>
              <a:t>repeating</a:t>
            </a:r>
            <a:r>
              <a:rPr dirty="0" spc="-5"/>
              <a:t> </a:t>
            </a:r>
            <a:r>
              <a:rPr dirty="0" spc="-60"/>
              <a:t>a</a:t>
            </a:r>
            <a:r>
              <a:rPr dirty="0"/>
              <a:t> </a:t>
            </a:r>
            <a:r>
              <a:rPr dirty="0" spc="-35"/>
              <a:t>list,</a:t>
            </a:r>
            <a:r>
              <a:rPr dirty="0"/>
              <a:t> </a:t>
            </a:r>
            <a:r>
              <a:rPr dirty="0" spc="-25">
                <a:solidFill>
                  <a:srgbClr val="990000"/>
                </a:solidFill>
                <a:hlinkClick r:id="rId48" action="ppaction://hlinksldjump"/>
              </a:rPr>
              <a:t>124</a:t>
            </a:r>
          </a:p>
          <a:p>
            <a:pPr marL="12700" marR="63500" indent="154940">
              <a:lnSpc>
                <a:spcPct val="100000"/>
              </a:lnSpc>
            </a:pPr>
            <a:r>
              <a:rPr dirty="0" spc="-55"/>
              <a:t>using</a:t>
            </a:r>
            <a:r>
              <a:rPr dirty="0" spc="-5"/>
              <a:t> </a:t>
            </a:r>
            <a:r>
              <a:rPr dirty="0"/>
              <a:t>**</a:t>
            </a:r>
            <a:r>
              <a:rPr dirty="0" spc="-5"/>
              <a:t> </a:t>
            </a:r>
            <a:r>
              <a:rPr dirty="0" spc="-30"/>
              <a:t>to</a:t>
            </a:r>
            <a:r>
              <a:rPr dirty="0" spc="-5"/>
              <a:t> </a:t>
            </a:r>
            <a:r>
              <a:rPr dirty="0" spc="-60"/>
              <a:t>pack</a:t>
            </a:r>
            <a:r>
              <a:rPr dirty="0" spc="-5"/>
              <a:t> </a:t>
            </a:r>
            <a:r>
              <a:rPr dirty="0" spc="-70"/>
              <a:t>keyword</a:t>
            </a:r>
            <a:r>
              <a:rPr dirty="0" spc="-5"/>
              <a:t> </a:t>
            </a:r>
            <a:r>
              <a:rPr dirty="0" spc="-50"/>
              <a:t>arguments,</a:t>
            </a:r>
            <a:r>
              <a:rPr dirty="0" spc="-5"/>
              <a:t> </a:t>
            </a:r>
            <a:r>
              <a:rPr dirty="0" spc="-25">
                <a:solidFill>
                  <a:srgbClr val="990000"/>
                </a:solidFill>
                <a:hlinkClick r:id="rId49" action="ppaction://hlinksldjump"/>
              </a:rPr>
              <a:t>282</a:t>
            </a:r>
            <a:r>
              <a:rPr dirty="0">
                <a:solidFill>
                  <a:srgbClr val="990000"/>
                </a:solidFill>
              </a:rPr>
              <a:t> </a:t>
            </a:r>
            <a:r>
              <a:rPr dirty="0" spc="-40"/>
              <a:t>AttributeError,</a:t>
            </a:r>
            <a:r>
              <a:rPr dirty="0" spc="25"/>
              <a:t> </a:t>
            </a:r>
            <a:r>
              <a:rPr dirty="0" spc="-25">
                <a:solidFill>
                  <a:srgbClr val="990000"/>
                </a:solidFill>
                <a:hlinkClick r:id="rId44" action="ppaction://hlinksldjump"/>
              </a:rPr>
              <a:t>156</a:t>
            </a:r>
          </a:p>
          <a:p>
            <a:pPr marL="12700">
              <a:lnSpc>
                <a:spcPct val="100000"/>
              </a:lnSpc>
            </a:pPr>
            <a:r>
              <a:rPr dirty="0" spc="-45"/>
              <a:t>attributes,</a:t>
            </a:r>
            <a:r>
              <a:rPr dirty="0" spc="5"/>
              <a:t> </a:t>
            </a:r>
            <a:r>
              <a:rPr dirty="0" spc="-20">
                <a:solidFill>
                  <a:srgbClr val="990000"/>
                </a:solidFill>
                <a:hlinkClick r:id="rId50" action="ppaction://hlinksldjump"/>
              </a:rPr>
              <a:t>133</a:t>
            </a:r>
            <a:r>
              <a:rPr dirty="0" spc="-20"/>
              <a:t>,</a:t>
            </a:r>
            <a:r>
              <a:rPr dirty="0" spc="10"/>
              <a:t> </a:t>
            </a:r>
            <a:r>
              <a:rPr dirty="0" spc="-10">
                <a:solidFill>
                  <a:srgbClr val="990000"/>
                </a:solidFill>
                <a:hlinkClick r:id="rId51" action="ppaction://hlinksldjump"/>
              </a:rPr>
              <a:t>210</a:t>
            </a:r>
            <a:r>
              <a:rPr dirty="0" spc="-10"/>
              <a:t>-</a:t>
            </a:r>
            <a:r>
              <a:rPr dirty="0" spc="-25">
                <a:solidFill>
                  <a:srgbClr val="990000"/>
                </a:solidFill>
                <a:hlinkClick r:id="rId52" action="ppaction://hlinksldjump"/>
              </a:rPr>
              <a:t>212</a:t>
            </a:r>
          </a:p>
          <a:p>
            <a:pPr marL="167640">
              <a:lnSpc>
                <a:spcPct val="100000"/>
              </a:lnSpc>
            </a:pPr>
            <a:r>
              <a:rPr dirty="0" spc="-50"/>
              <a:t>Card</a:t>
            </a:r>
            <a:r>
              <a:rPr dirty="0" spc="-25"/>
              <a:t> </a:t>
            </a:r>
            <a:r>
              <a:rPr dirty="0" spc="-40"/>
              <a:t>class,</a:t>
            </a:r>
            <a:r>
              <a:rPr dirty="0" spc="-20"/>
              <a:t> </a:t>
            </a:r>
            <a:r>
              <a:rPr dirty="0" spc="-25">
                <a:solidFill>
                  <a:srgbClr val="990000"/>
                </a:solidFill>
                <a:hlinkClick r:id="rId53" action="ppaction://hlinksldjump"/>
              </a:rPr>
              <a:t>251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5333787" y="7731125"/>
            <a:ext cx="165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50" b="1">
                <a:latin typeface="Trebuchet MS"/>
                <a:cs typeface="Trebuchet MS"/>
              </a:rPr>
              <a:t>293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57147" y="653326"/>
            <a:ext cx="1972310" cy="711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 marR="5080" indent="-155575">
              <a:lnSpc>
                <a:spcPct val="100000"/>
              </a:lnSpc>
              <a:spcBef>
                <a:spcPts val="100"/>
              </a:spcBef>
            </a:pPr>
            <a:r>
              <a:rPr dirty="0" sz="900" spc="-45">
                <a:latin typeface="Palatino Linotype"/>
                <a:cs typeface="Palatino Linotype"/>
              </a:rPr>
              <a:t>getting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all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attributes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dictio‐ </a:t>
            </a:r>
            <a:r>
              <a:rPr dirty="0" sz="900" spc="-50">
                <a:latin typeface="Palatino Linotype"/>
                <a:cs typeface="Palatino Linotype"/>
              </a:rPr>
              <a:t>nary,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220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hasattr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220</a:t>
            </a:r>
            <a:endParaRPr sz="900">
              <a:latin typeface="Palatino Linotype"/>
              <a:cs typeface="Palatino Linotype"/>
            </a:endParaRPr>
          </a:p>
          <a:p>
            <a:pPr marL="12700" marR="66802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inheritance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260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modifying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212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1700" y="1462405"/>
            <a:ext cx="10604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00" b="1">
                <a:latin typeface="Trebuchet MS"/>
                <a:cs typeface="Trebuchet MS"/>
              </a:rPr>
              <a:t>B</a:t>
            </a:r>
            <a:endParaRPr sz="1400">
              <a:latin typeface="Trebuchet MS"/>
              <a:cs typeface="Trebuchet MS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62" y="1660435"/>
            <a:ext cx="2137410" cy="5833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 marR="82550" indent="-155575">
              <a:lnSpc>
                <a:spcPct val="100000"/>
              </a:lnSpc>
              <a:spcBef>
                <a:spcPts val="100"/>
              </a:spcBef>
            </a:pPr>
            <a:r>
              <a:rPr dirty="0" sz="900" spc="-65">
                <a:latin typeface="Palatino Linotype"/>
                <a:cs typeface="Palatino Linotype"/>
              </a:rPr>
              <a:t>backward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slash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85">
                <a:latin typeface="Palatino Linotype"/>
                <a:cs typeface="Palatino Linotype"/>
              </a:rPr>
              <a:t>(\)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Windows,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base</a:t>
            </a:r>
            <a:r>
              <a:rPr dirty="0" sz="900" spc="-20">
                <a:latin typeface="Palatino Linotype"/>
                <a:cs typeface="Palatino Linotype"/>
              </a:rPr>
              <a:t> 60,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217</a:t>
            </a:r>
            <a:endParaRPr sz="900">
              <a:latin typeface="Palatino Linotype"/>
              <a:cs typeface="Palatino Linotype"/>
            </a:endParaRPr>
          </a:p>
          <a:p>
            <a:pPr marL="12700" marR="334645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base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10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back,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219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bigrams,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181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182</a:t>
            </a:r>
            <a:endParaRPr sz="900">
              <a:latin typeface="Palatino Linotype"/>
              <a:cs typeface="Palatino Linotype"/>
            </a:endParaRPr>
          </a:p>
          <a:p>
            <a:pPr marL="12700" marR="880110" indent="15494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Markov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analysis,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183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binary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mode,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201</a:t>
            </a:r>
            <a:endParaRPr sz="900">
              <a:latin typeface="Palatino Linotype"/>
              <a:cs typeface="Palatino Linotype"/>
            </a:endParaRPr>
          </a:p>
          <a:p>
            <a:pPr marL="12700" marR="84455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bitwise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XOR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>
                <a:latin typeface="Palatino Linotype"/>
                <a:cs typeface="Palatino Linotype"/>
              </a:rPr>
              <a:t> (^),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blocks,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body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(function),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27</a:t>
            </a:r>
            <a:endParaRPr sz="900">
              <a:latin typeface="Palatino Linotype"/>
              <a:cs typeface="Palatino Linotype"/>
            </a:endParaRPr>
          </a:p>
          <a:p>
            <a:pPr marL="12700" marR="67310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running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boolean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56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58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2700" marR="353695" indent="1549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operands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logical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58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boolean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80</a:t>
            </a:r>
            <a:endParaRPr sz="900">
              <a:latin typeface="Palatino Linotype"/>
              <a:cs typeface="Palatino Linotype"/>
            </a:endParaRPr>
          </a:p>
          <a:p>
            <a:pPr marL="12700" marR="4508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is_between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(exercise),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88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boolean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97</a:t>
            </a:r>
            <a:endParaRPr sz="900">
              <a:latin typeface="Palatino Linotype"/>
              <a:cs typeface="Palatino Linotype"/>
            </a:endParaRPr>
          </a:p>
          <a:p>
            <a:pPr marL="167640" marR="65151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bracket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([]),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105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108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constructing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new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277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empty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122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121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indexing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154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looking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up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item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key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getting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corresponding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138</a:t>
            </a:r>
            <a:endParaRPr sz="900">
              <a:latin typeface="Palatino Linotype"/>
              <a:cs typeface="Palatino Linotype"/>
            </a:endParaRPr>
          </a:p>
          <a:p>
            <a:pPr marL="323215" marR="9144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omitting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comprehension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used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167640" marR="61341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122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167640" marR="38925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branches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(conditional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statements),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60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statement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branches,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61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break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111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bugs,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9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11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20" b="1">
                <a:latin typeface="Trebuchet MS"/>
                <a:cs typeface="Trebuchet MS"/>
              </a:rPr>
              <a:t>C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40">
                <a:latin typeface="Palatino Linotype"/>
                <a:cs typeface="Palatino Linotype"/>
              </a:rPr>
              <a:t>call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graph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fibonacci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146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canvas,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40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captions.dat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199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captions.dir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199</a:t>
            </a:r>
            <a:endParaRPr sz="900">
              <a:latin typeface="Palatino Linotype"/>
              <a:cs typeface="Palatino Linotype"/>
            </a:endParaRPr>
          </a:p>
          <a:p>
            <a:pPr marL="167640" marR="60833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249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251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256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cards)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accessing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250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82977" y="653326"/>
            <a:ext cx="2203450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attributes,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251</a:t>
            </a:r>
            <a:endParaRPr sz="900">
              <a:latin typeface="Palatino Linotype"/>
              <a:cs typeface="Palatino Linotype"/>
            </a:endParaRPr>
          </a:p>
          <a:p>
            <a:pPr marL="167640" marR="50736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definition,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250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252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252</a:t>
            </a:r>
            <a:endParaRPr sz="900">
              <a:latin typeface="Palatino Linotype"/>
              <a:cs typeface="Palatino Linotype"/>
            </a:endParaRPr>
          </a:p>
          <a:p>
            <a:pPr marL="12700" marR="744220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rank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suit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attributes,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249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caret</a:t>
            </a:r>
            <a:r>
              <a:rPr dirty="0" sz="900" spc="-25">
                <a:latin typeface="Palatino Linotype"/>
                <a:cs typeface="Palatino Linotype"/>
              </a:rPr>
              <a:t> (^)</a:t>
            </a:r>
            <a:endParaRPr sz="900">
              <a:latin typeface="Palatino Linotype"/>
              <a:cs typeface="Palatino Linotype"/>
            </a:endParaRPr>
          </a:p>
          <a:p>
            <a:pPr marL="323215" marR="224154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beginning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matching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regular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116</a:t>
            </a:r>
            <a:endParaRPr sz="900">
              <a:latin typeface="Palatino Linotype"/>
              <a:cs typeface="Palatino Linotype"/>
            </a:endParaRPr>
          </a:p>
          <a:p>
            <a:pPr marL="167640" marR="896619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bitwise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XOR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indicating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found,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Cartesian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coordinates,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233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category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173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chained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60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characters,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105</a:t>
            </a:r>
            <a:endParaRPr sz="900">
              <a:latin typeface="Palatino Linotype"/>
              <a:cs typeface="Palatino Linotype"/>
            </a:endParaRPr>
          </a:p>
          <a:p>
            <a:pPr marL="12700" marR="37465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deciding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whether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they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punctuation,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173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chatbots,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questions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about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Python,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11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child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260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choice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179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186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179</a:t>
            </a:r>
            <a:endParaRPr sz="900">
              <a:latin typeface="Palatino Linotype"/>
              <a:cs typeface="Palatino Linotype"/>
            </a:endParaRPr>
          </a:p>
          <a:p>
            <a:pPr marL="167640" marR="6413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choices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weights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argu‐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180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circle,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drawing,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44</a:t>
            </a:r>
            <a:endParaRPr sz="900">
              <a:latin typeface="Palatino Linotype"/>
              <a:cs typeface="Palatino Linotype"/>
            </a:endParaRPr>
          </a:p>
          <a:p>
            <a:pPr marL="167640" marR="60515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250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252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BridgeHand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example,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261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classes,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209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Card,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252</a:t>
            </a:r>
            <a:endParaRPr sz="900">
              <a:latin typeface="Palatino Linotype"/>
              <a:cs typeface="Palatino Linotype"/>
            </a:endParaRPr>
          </a:p>
          <a:p>
            <a:pPr marL="323215" marR="17208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simple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classes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namedtuple,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279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represents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85">
                <a:latin typeface="Palatino Linotype"/>
                <a:cs typeface="Palatino Linotype"/>
              </a:rPr>
              <a:t>draws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rec‐ </a:t>
            </a:r>
            <a:r>
              <a:rPr dirty="0" sz="900" spc="-50">
                <a:latin typeface="Palatino Linotype"/>
                <a:cs typeface="Palatino Linotype"/>
              </a:rPr>
              <a:t>tangles,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238</a:t>
            </a:r>
            <a:endParaRPr sz="900">
              <a:latin typeface="Palatino Linotype"/>
              <a:cs typeface="Palatino Linotype"/>
            </a:endParaRPr>
          </a:p>
          <a:p>
            <a:pPr marL="167640" marR="6375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methods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for,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223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224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234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inheritance,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259</a:t>
            </a:r>
            <a:endParaRPr sz="900">
              <a:latin typeface="Palatino Linotype"/>
              <a:cs typeface="Palatino Linotype"/>
            </a:endParaRPr>
          </a:p>
          <a:p>
            <a:pPr marL="323215" marR="66675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parent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child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260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specialization,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262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methods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endParaRPr sz="900">
              <a:latin typeface="Palatino Linotype"/>
              <a:cs typeface="Palatino Linotype"/>
            </a:endParaRPr>
          </a:p>
          <a:p>
            <a:pPr marL="323215" marR="3454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static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225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227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time_to_int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rewritten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</a:t>
            </a:r>
            <a:endParaRPr sz="900">
              <a:latin typeface="Palatino Linotype"/>
              <a:cs typeface="Palatino Linotype"/>
            </a:endParaRPr>
          </a:p>
          <a:p>
            <a:pPr marL="47879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225</a:t>
            </a:r>
            <a:endParaRPr sz="900">
              <a:latin typeface="Palatino Linotype"/>
              <a:cs typeface="Palatino Linotype"/>
            </a:endParaRPr>
          </a:p>
          <a:p>
            <a:pPr marL="12700" marR="64770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Rectangle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definition,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239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close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111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collections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272</a:t>
            </a:r>
            <a:endParaRPr sz="900">
              <a:latin typeface="Palatino Linotype"/>
              <a:cs typeface="Palatino Linotype"/>
            </a:endParaRPr>
          </a:p>
          <a:p>
            <a:pPr marL="167640" marR="8128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colon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(:),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slice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slice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operator;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sli‐ ces)</a:t>
            </a:r>
            <a:endParaRPr sz="900">
              <a:latin typeface="Palatino Linotype"/>
              <a:cs typeface="Palatino Linotype"/>
            </a:endParaRPr>
          </a:p>
          <a:p>
            <a:pPr marL="12700" marR="13652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comma-</a:t>
            </a:r>
            <a:r>
              <a:rPr dirty="0" sz="900" spc="-50">
                <a:latin typeface="Palatino Linotype"/>
                <a:cs typeface="Palatino Linotype"/>
              </a:rPr>
              <a:t>separated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153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commas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between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groups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digits,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25">
                <a:latin typeface="Palatino Linotype"/>
                <a:cs typeface="Palatino Linotype"/>
              </a:rPr>
              <a:t>TODO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163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164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730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294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89" y="653326"/>
            <a:ext cx="2028825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comparison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57</a:t>
            </a:r>
            <a:endParaRPr sz="900">
              <a:latin typeface="Palatino Linotype"/>
              <a:cs typeface="Palatino Linotype"/>
            </a:endParaRPr>
          </a:p>
          <a:p>
            <a:pPr marL="167640" marR="508634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relational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operators)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271</a:t>
            </a:r>
            <a:endParaRPr sz="900">
              <a:latin typeface="Palatino Linotype"/>
              <a:cs typeface="Palatino Linotype"/>
            </a:endParaRPr>
          </a:p>
          <a:p>
            <a:pPr marL="12700" marR="58928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compound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data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structures,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166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computer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scientists,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concatenation,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concatenation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(+),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6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36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concatenating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124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concatenating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155</a:t>
            </a:r>
            <a:endParaRPr sz="900">
              <a:latin typeface="Palatino Linotype"/>
              <a:cs typeface="Palatino Linotype"/>
            </a:endParaRPr>
          </a:p>
          <a:p>
            <a:pPr marL="167640" marR="30416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275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handling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276</a:t>
            </a:r>
            <a:endParaRPr sz="900">
              <a:latin typeface="Palatino Linotype"/>
              <a:cs typeface="Palatino Linotype"/>
            </a:endParaRPr>
          </a:p>
          <a:p>
            <a:pPr marL="167640" marR="59055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59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275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boolean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81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chained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60</a:t>
            </a:r>
            <a:endParaRPr sz="900">
              <a:latin typeface="Palatino Linotype"/>
              <a:cs typeface="Palatino Linotype"/>
            </a:endParaRPr>
          </a:p>
          <a:p>
            <a:pPr marL="167640" marR="8001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60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76</a:t>
            </a:r>
            <a:endParaRPr sz="900">
              <a:latin typeface="Palatino Linotype"/>
              <a:cs typeface="Palatino Linotype"/>
            </a:endParaRPr>
          </a:p>
          <a:p>
            <a:pPr marL="167640" marR="68707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config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195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85">
                <a:latin typeface="Palatino Linotype"/>
                <a:cs typeface="Palatino Linotype"/>
              </a:rPr>
              <a:t>YAML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configuration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data,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coordinates,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233</a:t>
            </a:r>
            <a:endParaRPr sz="900">
              <a:latin typeface="Palatino Linotype"/>
              <a:cs typeface="Palatino Linotype"/>
            </a:endParaRPr>
          </a:p>
          <a:p>
            <a:pPr marL="167640" marR="64833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copy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213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214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235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shallow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copy,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243</a:t>
            </a:r>
            <a:endParaRPr sz="900">
              <a:latin typeface="Palatino Linotype"/>
              <a:cs typeface="Palatino Linotype"/>
            </a:endParaRPr>
          </a:p>
          <a:p>
            <a:pPr marL="323215" marR="685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copy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rectangle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invoking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grow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it,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241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copy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213</a:t>
            </a:r>
            <a:endParaRPr sz="900">
              <a:latin typeface="Palatino Linotype"/>
              <a:cs typeface="Palatino Linotype"/>
            </a:endParaRPr>
          </a:p>
          <a:p>
            <a:pPr marL="12700" marR="781685" indent="1549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deepcopy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243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copying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139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count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113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counters,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96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163</a:t>
            </a:r>
            <a:r>
              <a:rPr dirty="0" sz="900" spc="-20">
                <a:latin typeface="Palatino Linotype"/>
                <a:cs typeface="Palatino Linotype"/>
              </a:rPr>
              <a:t>,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272</a:t>
            </a:r>
            <a:endParaRPr sz="900">
              <a:latin typeface="Palatino Linotype"/>
              <a:cs typeface="Palatino Linotype"/>
            </a:endParaRPr>
          </a:p>
          <a:p>
            <a:pPr marL="12700" marR="82105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dictionaries,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142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counts</a:t>
            </a:r>
            <a:endParaRPr sz="900">
              <a:latin typeface="Palatino Linotype"/>
              <a:cs typeface="Palatino Linotype"/>
            </a:endParaRPr>
          </a:p>
          <a:p>
            <a:pPr marL="167640" marR="55308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updating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for,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94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loops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increment,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curly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braces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({})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items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creation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139</a:t>
            </a:r>
            <a:endParaRPr sz="900">
              <a:latin typeface="Palatino Linotype"/>
              <a:cs typeface="Palatino Linotype"/>
            </a:endParaRPr>
          </a:p>
          <a:p>
            <a:pPr marL="12700" marR="248285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representing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empty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138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current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directory,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45" b="1">
                <a:latin typeface="Trebuchet MS"/>
                <a:cs typeface="Trebuchet MS"/>
              </a:rPr>
              <a:t>D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65">
                <a:latin typeface="Palatino Linotype"/>
                <a:cs typeface="Palatino Linotype"/>
              </a:rPr>
              <a:t>data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directory,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listing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contents,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199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data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structures,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166</a:t>
            </a:r>
            <a:endParaRPr sz="900">
              <a:latin typeface="Palatino Linotype"/>
              <a:cs typeface="Palatino Linotype"/>
            </a:endParaRPr>
          </a:p>
          <a:p>
            <a:pPr marL="12700" marR="694055" indent="1549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storing,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shelf,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199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databases,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2700" marR="62166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shelve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196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199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datasets,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large,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147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db.close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198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DbfilenameShelf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dead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code,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77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87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52" y="653326"/>
            <a:ext cx="2041525" cy="6609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9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11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35</a:t>
            </a:r>
            <a:endParaRPr sz="900">
              <a:latin typeface="Palatino Linotype"/>
              <a:cs typeface="Palatino Linotype"/>
            </a:endParaRPr>
          </a:p>
          <a:p>
            <a:pPr marL="167640" marR="40259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avoiding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modifying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245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avoiding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sharing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245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invariants,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230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data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structures,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166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testing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debugging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pro‐ </a:t>
            </a:r>
            <a:r>
              <a:rPr dirty="0" sz="900" spc="-55">
                <a:latin typeface="Palatino Linotype"/>
                <a:cs typeface="Palatino Linotype"/>
              </a:rPr>
              <a:t>grams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containing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219</a:t>
            </a:r>
            <a:endParaRPr sz="900">
              <a:latin typeface="Palatino Linotype"/>
              <a:cs typeface="Palatino Linotype"/>
            </a:endParaRPr>
          </a:p>
          <a:p>
            <a:pPr marL="167640" marR="11811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aren't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working,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85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pre-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postconditions,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49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inheritance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262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large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datasets,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147</a:t>
            </a:r>
            <a:endParaRPr sz="900">
              <a:latin typeface="Palatino Linotype"/>
              <a:cs typeface="Palatino Linotype"/>
            </a:endParaRPr>
          </a:p>
          <a:p>
            <a:pPr marL="323215" marR="55244" indent="-155575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comprehensions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more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difficult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than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loops,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calls,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133</a:t>
            </a:r>
            <a:endParaRPr sz="900">
              <a:latin typeface="Palatino Linotype"/>
              <a:cs typeface="Palatino Linotype"/>
            </a:endParaRPr>
          </a:p>
          <a:p>
            <a:pPr marL="167640" marR="3492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more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substantial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186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problems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with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whitespace,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67640" marR="41465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117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syntax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runtime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65</a:t>
            </a:r>
            <a:endParaRPr sz="900">
              <a:latin typeface="Palatino Linotype"/>
              <a:cs typeface="Palatino Linotype"/>
            </a:endParaRPr>
          </a:p>
          <a:p>
            <a:pPr marL="167640" marR="29591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testing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doctest,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283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assert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231</a:t>
            </a:r>
            <a:endParaRPr sz="900">
              <a:latin typeface="Palatino Linotype"/>
              <a:cs typeface="Palatino Linotype"/>
            </a:endParaRPr>
          </a:p>
          <a:p>
            <a:pPr marL="12700" marR="102425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unittest,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284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256</a:t>
            </a:r>
            <a:endParaRPr sz="900">
              <a:latin typeface="Palatino Linotype"/>
              <a:cs typeface="Palatino Linotype"/>
            </a:endParaRPr>
          </a:p>
          <a:p>
            <a:pPr marL="323215" marR="2159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adding,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removing,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shuffling,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sorting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257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259</a:t>
            </a:r>
            <a:endParaRPr sz="900">
              <a:latin typeface="Palatino Linotype"/>
              <a:cs typeface="Palatino Linotype"/>
            </a:endParaRPr>
          </a:p>
          <a:p>
            <a:pPr marL="167640" marR="8636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hand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versus,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259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256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decrements,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deep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copy,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242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244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deepcopy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243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def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keyword,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27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default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176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defaultdict,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274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275</a:t>
            </a:r>
            <a:endParaRPr sz="900">
              <a:latin typeface="Palatino Linotype"/>
              <a:cs typeface="Palatino Linotype"/>
            </a:endParaRPr>
          </a:p>
          <a:p>
            <a:pPr marL="12700" marR="45720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274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definition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(function),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27</a:t>
            </a:r>
            <a:endParaRPr sz="900">
              <a:latin typeface="Palatino Linotype"/>
              <a:cs typeface="Palatino Linotype"/>
            </a:endParaRPr>
          </a:p>
          <a:p>
            <a:pPr marL="12700" marR="488950">
              <a:lnSpc>
                <a:spcPct val="100000"/>
              </a:lnSpc>
            </a:pPr>
            <a:r>
              <a:rPr dirty="0" sz="900" spc="-75">
                <a:latin typeface="Palatino Linotype"/>
                <a:cs typeface="Palatino Linotype"/>
              </a:rPr>
              <a:t>delay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argument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(make_turtle),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45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delegation,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259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delimiters</a:t>
            </a:r>
            <a:endParaRPr sz="900">
              <a:latin typeface="Palatino Linotype"/>
              <a:cs typeface="Palatino Linotype"/>
            </a:endParaRPr>
          </a:p>
          <a:p>
            <a:pPr marL="167640" marR="41783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empty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127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128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boundaries,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127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deserialization,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196</a:t>
            </a:r>
            <a:endParaRPr sz="900">
              <a:latin typeface="Palatino Linotype"/>
              <a:cs typeface="Palatino Linotype"/>
            </a:endParaRPr>
          </a:p>
          <a:p>
            <a:pPr marL="12700" marR="2571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design-</a:t>
            </a:r>
            <a:r>
              <a:rPr dirty="0" sz="900" spc="-35">
                <a:latin typeface="Palatino Linotype"/>
                <a:cs typeface="Palatino Linotype"/>
              </a:rPr>
              <a:t>first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development,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217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219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deterministic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computer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178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development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plan,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47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dict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139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162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dictionaries,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137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158</a:t>
            </a:r>
            <a:endParaRPr sz="900">
              <a:latin typeface="Palatino Linotype"/>
              <a:cs typeface="Palatino Linotype"/>
            </a:endParaRPr>
          </a:p>
          <a:p>
            <a:pPr marL="167640" marR="3429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attributes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their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7" action="ppaction://hlinksldjump"/>
              </a:rPr>
              <a:t>220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139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69859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Index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295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702" y="653326"/>
            <a:ext cx="2202180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3215" marR="18415" indent="-155575">
              <a:lnSpc>
                <a:spcPct val="100000"/>
              </a:lnSpc>
              <a:spcBef>
                <a:spcPts val="100"/>
              </a:spcBef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defaultdict,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274</a:t>
            </a:r>
            <a:endParaRPr sz="900">
              <a:latin typeface="Palatino Linotype"/>
              <a:cs typeface="Palatino Linotype"/>
            </a:endParaRPr>
          </a:p>
          <a:p>
            <a:pPr marL="167640" marR="60198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zip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162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147</a:t>
            </a:r>
            <a:endParaRPr sz="900">
              <a:latin typeface="Palatino Linotype"/>
              <a:cs typeface="Palatino Linotype"/>
            </a:endParaRPr>
          </a:p>
          <a:p>
            <a:pPr marL="167640" marR="47815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structshape,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167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defaultdict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274</a:t>
            </a:r>
            <a:endParaRPr sz="900">
              <a:latin typeface="Palatino Linotype"/>
              <a:cs typeface="Palatino Linotype"/>
            </a:endParaRPr>
          </a:p>
          <a:p>
            <a:pPr marL="167640" marR="508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BridgeHand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261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mapping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keywords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val‐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282</a:t>
            </a:r>
            <a:endParaRPr sz="900">
              <a:latin typeface="Palatino Linotype"/>
              <a:cs typeface="Palatino Linotype"/>
            </a:endParaRPr>
          </a:p>
          <a:p>
            <a:pPr marL="323215" marR="7493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x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0">
                <a:latin typeface="Palatino Linotype"/>
                <a:cs typeface="Palatino Linotype"/>
              </a:rPr>
              <a:t>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keys,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unpack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create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283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expressions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323215" marR="18034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inverting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look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up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get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corre‐ </a:t>
            </a:r>
            <a:r>
              <a:rPr dirty="0" sz="900" spc="-55">
                <a:latin typeface="Palatino Linotype"/>
                <a:cs typeface="Palatino Linotype"/>
              </a:rPr>
              <a:t>sponding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key,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165</a:t>
            </a:r>
            <a:endParaRPr sz="900">
              <a:latin typeface="Palatino Linotype"/>
              <a:cs typeface="Palatino Linotype"/>
            </a:endParaRPr>
          </a:p>
          <a:p>
            <a:pPr marL="167640" marR="78232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keyword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283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144</a:t>
            </a:r>
            <a:endParaRPr sz="900">
              <a:latin typeface="Palatino Linotype"/>
              <a:cs typeface="Palatino Linotype"/>
            </a:endParaRPr>
          </a:p>
          <a:p>
            <a:pPr marL="323215" marR="148590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mapping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each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bigram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times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it </a:t>
            </a:r>
            <a:r>
              <a:rPr dirty="0" sz="900" spc="-55">
                <a:latin typeface="Palatino Linotype"/>
                <a:cs typeface="Palatino Linotype"/>
              </a:rPr>
              <a:t>appears,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182</a:t>
            </a:r>
            <a:endParaRPr sz="900">
              <a:latin typeface="Palatino Linotype"/>
              <a:cs typeface="Palatino Linotype"/>
            </a:endParaRPr>
          </a:p>
          <a:p>
            <a:pPr marL="323215" marR="158115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mapping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each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words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following,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183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mappings,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137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139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memos</a:t>
            </a:r>
            <a:r>
              <a:rPr dirty="0" sz="900" spc="-25">
                <a:latin typeface="Palatino Linotype"/>
                <a:cs typeface="Palatino Linotype"/>
              </a:rPr>
              <a:t> in,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146</a:t>
            </a:r>
            <a:endParaRPr sz="900">
              <a:latin typeface="Palatino Linotype"/>
              <a:cs typeface="Palatino Linotype"/>
            </a:endParaRPr>
          </a:p>
          <a:p>
            <a:pPr marL="323215" marR="27114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similarities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differences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Counter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272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similarity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323215" marR="55244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storing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punctuation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marks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dic‐ </a:t>
            </a:r>
            <a:r>
              <a:rPr dirty="0" sz="900" spc="-40">
                <a:latin typeface="Palatino Linotype"/>
                <a:cs typeface="Palatino Linotype"/>
              </a:rPr>
              <a:t>tionary,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173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subtraction,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271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tuples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used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156</a:t>
            </a:r>
            <a:endParaRPr sz="900">
              <a:latin typeface="Palatino Linotype"/>
              <a:cs typeface="Palatino Linotype"/>
            </a:endParaRPr>
          </a:p>
          <a:p>
            <a:pPr marL="167640" marR="4476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words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stored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key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choice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179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143</a:t>
            </a:r>
            <a:endParaRPr sz="900">
              <a:latin typeface="Palatino Linotype"/>
              <a:cs typeface="Palatino Linotype"/>
            </a:endParaRPr>
          </a:p>
          <a:p>
            <a:pPr marL="167640" marR="67056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140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142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build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144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146</a:t>
            </a:r>
            <a:endParaRPr sz="900">
              <a:latin typeface="Palatino Linotype"/>
              <a:cs typeface="Palatino Linotype"/>
            </a:endParaRPr>
          </a:p>
          <a:p>
            <a:pPr marL="323215" marR="55244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check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duplicates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sequence,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270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counters,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142</a:t>
            </a:r>
            <a:endParaRPr sz="900">
              <a:latin typeface="Palatino Linotype"/>
              <a:cs typeface="Palatino Linotype"/>
            </a:endParaRPr>
          </a:p>
          <a:p>
            <a:pPr marL="323215" marR="179070" indent="-155575">
              <a:lnSpc>
                <a:spcPct val="100000"/>
              </a:lnSpc>
            </a:pPr>
            <a:r>
              <a:rPr dirty="0" sz="900" spc="-75">
                <a:latin typeface="Palatino Linotype"/>
                <a:cs typeface="Palatino Linotype"/>
              </a:rPr>
              <a:t>words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stored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keys,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subtracting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invalid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177</a:t>
            </a:r>
            <a:endParaRPr sz="900">
              <a:latin typeface="Palatino Linotype"/>
              <a:cs typeface="Palatino Linotype"/>
            </a:endParaRPr>
          </a:p>
          <a:p>
            <a:pPr marL="12700" marR="165290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digests,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201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directories</a:t>
            </a:r>
            <a:endParaRPr sz="900">
              <a:latin typeface="Palatino Linotype"/>
              <a:cs typeface="Palatino Linotype"/>
            </a:endParaRPr>
          </a:p>
          <a:p>
            <a:pPr marL="167640" marR="22923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refers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directory,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193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current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directory,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67640" marR="995044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listing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contents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192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walking,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203</a:t>
            </a:r>
            <a:endParaRPr sz="900">
              <a:latin typeface="Palatino Linotype"/>
              <a:cs typeface="Palatino Linotype"/>
            </a:endParaRPr>
          </a:p>
          <a:p>
            <a:pPr marL="12700" marR="63944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distance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defining,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77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division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(/),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divmod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158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159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216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218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docstrings,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48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03" y="653326"/>
            <a:ext cx="2173605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405255">
              <a:lnSpc>
                <a:spcPct val="100000"/>
              </a:lnSpc>
              <a:spcBef>
                <a:spcPts val="100"/>
              </a:spcBef>
            </a:pPr>
            <a:r>
              <a:rPr dirty="0" sz="900" spc="-40">
                <a:latin typeface="Palatino Linotype"/>
                <a:cs typeface="Palatino Linotype"/>
              </a:rPr>
              <a:t>doctests,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99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283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dollar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sign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($)</a:t>
            </a:r>
            <a:endParaRPr sz="900">
              <a:latin typeface="Palatino Linotype"/>
              <a:cs typeface="Palatino Linotype"/>
            </a:endParaRPr>
          </a:p>
          <a:p>
            <a:pPr marL="323215" marR="123825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end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matching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regular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expres‐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sions,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116</a:t>
            </a:r>
            <a:endParaRPr sz="900">
              <a:latin typeface="Palatino Linotype"/>
              <a:cs typeface="Palatino Linotype"/>
            </a:endParaRPr>
          </a:p>
          <a:p>
            <a:pPr marL="167640" marR="75692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dot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(.),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18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211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attribute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creation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210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names,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110</a:t>
            </a:r>
            <a:endParaRPr sz="900">
              <a:latin typeface="Palatino Linotype"/>
              <a:cs typeface="Palatino Linotype"/>
            </a:endParaRPr>
          </a:p>
          <a:p>
            <a:pPr marL="12700" marR="471170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attribute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using,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211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double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asterisk</a:t>
            </a:r>
            <a:r>
              <a:rPr dirty="0" sz="900">
                <a:latin typeface="Palatino Linotype"/>
                <a:cs typeface="Palatino Linotype"/>
              </a:rPr>
              <a:t> (**)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282</a:t>
            </a:r>
            <a:endParaRPr sz="900">
              <a:latin typeface="Palatino Linotype"/>
              <a:cs typeface="Palatino Linotype"/>
            </a:endParaRPr>
          </a:p>
          <a:p>
            <a:pPr marL="167640" marR="50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double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underscores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</a:t>
            </a:r>
            <a:r>
              <a:rPr dirty="0" u="sng" sz="900" spc="2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)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beginning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special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names,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228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80">
                <a:latin typeface="Palatino Linotype"/>
                <a:cs typeface="Palatino Linotype"/>
              </a:rPr>
              <a:t>draw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237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240</a:t>
            </a:r>
            <a:endParaRPr sz="900">
              <a:latin typeface="Palatino Linotype"/>
              <a:cs typeface="Palatino Linotype"/>
            </a:endParaRPr>
          </a:p>
          <a:p>
            <a:pPr marL="12700" marR="64706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for,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244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dump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196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duplicates,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150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323215" marR="24384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duplicates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sequence,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270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searching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duplicate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photos,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207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70" b="1">
                <a:latin typeface="Trebuchet MS"/>
                <a:cs typeface="Trebuchet MS"/>
              </a:rPr>
              <a:t>E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0">
                <a:latin typeface="Palatino Linotype"/>
                <a:cs typeface="Palatino Linotype"/>
              </a:rPr>
              <a:t>elements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(list),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121</a:t>
            </a:r>
            <a:endParaRPr sz="900">
              <a:latin typeface="Palatino Linotype"/>
              <a:cs typeface="Palatino Linotype"/>
            </a:endParaRPr>
          </a:p>
          <a:p>
            <a:pPr marL="12700" marR="521970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single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element,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123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(set),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uniqueness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270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elif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clause,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60</a:t>
            </a:r>
            <a:endParaRPr sz="900">
              <a:latin typeface="Palatino Linotype"/>
              <a:cs typeface="Palatino Linotype"/>
            </a:endParaRPr>
          </a:p>
          <a:p>
            <a:pPr marL="12700" marR="71818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else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clause</a:t>
            </a:r>
            <a:r>
              <a:rPr dirty="0" sz="900" spc="-10">
                <a:latin typeface="Palatino Linotype"/>
                <a:cs typeface="Palatino Linotype"/>
              </a:rPr>
              <a:t> (in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statements),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59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empty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122</a:t>
            </a:r>
            <a:endParaRPr sz="900">
              <a:latin typeface="Palatino Linotype"/>
              <a:cs typeface="Palatino Linotype"/>
            </a:endParaRPr>
          </a:p>
          <a:p>
            <a:pPr marL="12700" marR="1186180" indent="1549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over,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128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empty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strings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indicated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'',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108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delimiter,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127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128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encapsulation,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42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47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encoding,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249</a:t>
            </a:r>
            <a:endParaRPr sz="900">
              <a:latin typeface="Palatino Linotype"/>
              <a:cs typeface="Palatino Linotype"/>
            </a:endParaRPr>
          </a:p>
          <a:p>
            <a:pPr marL="12700" marR="84709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end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(keyword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argument),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91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endswith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112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enumerate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162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enumerate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162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ephemeral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67640" marR="722630" indent="-155575">
              <a:lnSpc>
                <a:spcPct val="100000"/>
              </a:lnSpc>
            </a:pPr>
            <a:r>
              <a:rPr dirty="0" u="sng" sz="90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eq</a:t>
            </a:r>
            <a:r>
              <a:rPr dirty="0" u="sng" sz="900" spc="2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238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253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provided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280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equality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(==),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57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81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238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253</a:t>
            </a:r>
            <a:endParaRPr sz="900">
              <a:latin typeface="Palatino Linotype"/>
              <a:cs typeface="Palatino Linotype"/>
            </a:endParaRPr>
          </a:p>
          <a:p>
            <a:pPr marL="167640" marR="32321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overriding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with</a:t>
            </a:r>
            <a:r>
              <a:rPr dirty="0" sz="900" spc="-60">
                <a:latin typeface="Palatino Linotype"/>
                <a:cs typeface="Palatino Linotype"/>
              </a:rPr>
              <a:t> </a:t>
            </a:r>
            <a:r>
              <a:rPr dirty="0" u="sng" sz="900" spc="16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eq</a:t>
            </a:r>
            <a:r>
              <a:rPr dirty="0" u="sng" sz="900" spc="26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238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273</a:t>
            </a:r>
            <a:endParaRPr sz="900">
              <a:latin typeface="Palatino Linotype"/>
              <a:cs typeface="Palatino Linotype"/>
            </a:endParaRPr>
          </a:p>
          <a:p>
            <a:pPr marL="167640" marR="55054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comparison,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109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214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equivalence,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238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253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Counter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273</a:t>
            </a:r>
            <a:endParaRPr sz="900">
              <a:latin typeface="Palatino Linotype"/>
              <a:cs typeface="Palatino Linotype"/>
            </a:endParaRPr>
          </a:p>
          <a:p>
            <a:pPr marL="12700" marR="52451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equivalent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versus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identical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129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messages,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7" action="ppaction://hlinksldjump"/>
              </a:rPr>
              <a:t>65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54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296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63" y="653326"/>
            <a:ext cx="2171700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z="900" spc="-45">
                <a:latin typeface="Palatino Linotype"/>
                <a:cs typeface="Palatino Linotype"/>
              </a:rPr>
              <a:t>including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traceback,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34</a:t>
            </a:r>
            <a:endParaRPr sz="900">
              <a:latin typeface="Palatino Linotype"/>
              <a:cs typeface="Palatino Linotype"/>
            </a:endParaRPr>
          </a:p>
          <a:p>
            <a:pPr marL="323215" marR="1524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learning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about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deliberate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errors,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errors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recursion,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63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TypeError,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types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evaluation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19</a:t>
            </a:r>
            <a:endParaRPr sz="900">
              <a:latin typeface="Palatino Linotype"/>
              <a:cs typeface="Palatino Linotype"/>
            </a:endParaRPr>
          </a:p>
          <a:p>
            <a:pPr marL="167640" marR="20320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exclamation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point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(!)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preceding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shell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com‐ </a:t>
            </a:r>
            <a:r>
              <a:rPr dirty="0" sz="900" spc="-50">
                <a:latin typeface="Palatino Linotype"/>
                <a:cs typeface="Palatino Linotype"/>
              </a:rPr>
              <a:t>mands,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117</a:t>
            </a:r>
            <a:endParaRPr sz="900">
              <a:latin typeface="Palatino Linotype"/>
              <a:cs typeface="Palatino Linotype"/>
            </a:endParaRPr>
          </a:p>
          <a:p>
            <a:pPr marL="12700" marR="5740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execution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exponentiation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>
                <a:latin typeface="Palatino Linotype"/>
                <a:cs typeface="Palatino Linotype"/>
              </a:rPr>
              <a:t> (**),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3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3</a:t>
            </a:r>
            <a:r>
              <a:rPr dirty="0" sz="900" spc="-10">
                <a:latin typeface="Palatino Linotype"/>
                <a:cs typeface="Palatino Linotype"/>
              </a:rPr>
              <a:t>,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attributes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211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conditional,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275</a:t>
            </a:r>
            <a:endParaRPr sz="900">
              <a:latin typeface="Palatino Linotype"/>
              <a:cs typeface="Palatino Linotype"/>
            </a:endParaRPr>
          </a:p>
          <a:p>
            <a:pPr marL="167640" marR="996315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194</a:t>
            </a:r>
            <a:r>
              <a:rPr dirty="0" sz="900" spc="4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106</a:t>
            </a:r>
            <a:endParaRPr sz="900">
              <a:latin typeface="Palatino Linotype"/>
              <a:cs typeface="Palatino Linotype"/>
            </a:endParaRPr>
          </a:p>
          <a:p>
            <a:pPr marL="167640" marR="63182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evaluation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results,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15</a:t>
            </a:r>
            <a:endParaRPr sz="900">
              <a:latin typeface="Palatino Linotype"/>
              <a:cs typeface="Palatino Linotype"/>
            </a:endParaRPr>
          </a:p>
          <a:p>
            <a:pPr marL="167640" marR="44323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76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part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74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arithmetic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extend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125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extra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features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Python,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269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00" b="1">
                <a:latin typeface="Trebuchet MS"/>
                <a:cs typeface="Trebuchet MS"/>
              </a:rPr>
              <a:t>F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30">
                <a:latin typeface="Palatino Linotype"/>
                <a:cs typeface="Palatino Linotype"/>
              </a:rPr>
              <a:t>f-</a:t>
            </a:r>
            <a:r>
              <a:rPr dirty="0" sz="900" spc="-40">
                <a:latin typeface="Palatino Linotype"/>
                <a:cs typeface="Palatino Linotype"/>
              </a:rPr>
              <a:t>strings,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193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323215" marR="139065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dot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</a:t>
            </a:r>
            <a:r>
              <a:rPr dirty="0" sz="900" spc="-30">
                <a:latin typeface="Palatino Linotype"/>
                <a:cs typeface="Palatino Linotype"/>
              </a:rPr>
              <a:t>string,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211</a:t>
            </a:r>
            <a:endParaRPr sz="900">
              <a:latin typeface="Palatino Linotype"/>
              <a:cs typeface="Palatino Linotype"/>
            </a:endParaRPr>
          </a:p>
          <a:p>
            <a:pPr marL="323215" marR="15621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create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representation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line,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323215" marR="685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write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displaying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time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211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factorial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81</a:t>
            </a:r>
            <a:endParaRPr sz="900">
              <a:latin typeface="Palatino Linotype"/>
              <a:cs typeface="Palatino Linotype"/>
            </a:endParaRPr>
          </a:p>
          <a:p>
            <a:pPr marL="167640" marR="86106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checking,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85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print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86</a:t>
            </a:r>
            <a:endParaRPr sz="900">
              <a:latin typeface="Palatino Linotype"/>
              <a:cs typeface="Palatino Linotype"/>
            </a:endParaRPr>
          </a:p>
          <a:p>
            <a:pPr marL="167640" marR="14414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version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276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version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276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factory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274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fibonacci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84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146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memoized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version,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147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12700" marR="1073150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loop,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94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files</a:t>
            </a:r>
            <a:endParaRPr sz="900">
              <a:latin typeface="Palatino Linotype"/>
              <a:cs typeface="Palatino Linotype"/>
            </a:endParaRPr>
          </a:p>
          <a:p>
            <a:pPr marL="167640" marR="29337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equivalent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201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202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filenames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paths,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191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67640" marR="508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programs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191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110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112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writing,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debugging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117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27" y="653326"/>
            <a:ext cx="2190115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132</a:t>
            </a:r>
            <a:endParaRPr sz="900">
              <a:latin typeface="Palatino Linotype"/>
              <a:cs typeface="Palatino Linotype"/>
            </a:endParaRPr>
          </a:p>
          <a:p>
            <a:pPr marL="167640" marR="4826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193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195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85">
                <a:latin typeface="Palatino Linotype"/>
                <a:cs typeface="Palatino Linotype"/>
              </a:rPr>
              <a:t>YAML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storing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configuration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data,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file_object.readline</a:t>
            </a:r>
            <a:r>
              <a:rPr dirty="0" sz="900" spc="4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4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filtering,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146</a:t>
            </a:r>
            <a:endParaRPr sz="900">
              <a:latin typeface="Palatino Linotype"/>
              <a:cs typeface="Palatino Linotype"/>
            </a:endParaRPr>
          </a:p>
          <a:p>
            <a:pPr marL="12700" marR="63944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find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replace,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112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find_defining_class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263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float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7</a:t>
            </a:r>
            <a:endParaRPr sz="900">
              <a:latin typeface="Palatino Linotype"/>
              <a:cs typeface="Palatino Linotype"/>
            </a:endParaRPr>
          </a:p>
          <a:p>
            <a:pPr marL="323215" marR="13525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digits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decimal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point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floating-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float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type,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7</a:t>
            </a:r>
            <a:endParaRPr sz="900">
              <a:latin typeface="Palatino Linotype"/>
              <a:cs typeface="Palatino Linotype"/>
            </a:endParaRPr>
          </a:p>
          <a:p>
            <a:pPr marL="12700" marR="374650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variable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float,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floating-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 marR="90868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integers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rounding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off,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floor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division,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55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flow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execution,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82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262</a:t>
            </a:r>
            <a:endParaRPr sz="900">
              <a:latin typeface="Palatino Linotype"/>
              <a:cs typeface="Palatino Linotype"/>
            </a:endParaRPr>
          </a:p>
          <a:p>
            <a:pPr marL="12700" marR="144970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keyword,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loops</a:t>
            </a:r>
            <a:endParaRPr sz="900">
              <a:latin typeface="Palatino Linotype"/>
              <a:cs typeface="Palatino Linotype"/>
            </a:endParaRPr>
          </a:p>
          <a:p>
            <a:pPr algn="just"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exercise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38</a:t>
            </a:r>
            <a:endParaRPr sz="900">
              <a:latin typeface="Palatino Linotype"/>
              <a:cs typeface="Palatino Linotype"/>
            </a:endParaRPr>
          </a:p>
          <a:p>
            <a:pPr algn="just" marL="167640" marR="15875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ide</a:t>
            </a:r>
            <a:r>
              <a:rPr dirty="0" sz="900" spc="-75">
                <a:latin typeface="Palatino Linotype"/>
                <a:cs typeface="Palatino Linotype"/>
              </a:rPr>
              <a:t>n</a:t>
            </a:r>
            <a:r>
              <a:rPr dirty="0" sz="900" spc="-25">
                <a:latin typeface="Palatino Linotype"/>
                <a:cs typeface="Palatino Linotype"/>
              </a:rPr>
              <a:t>ti</a:t>
            </a:r>
            <a:r>
              <a:rPr dirty="0" sz="900" spc="-15">
                <a:latin typeface="Palatino Linotype"/>
                <a:cs typeface="Palatino Linotype"/>
              </a:rPr>
              <a:t>f</a:t>
            </a:r>
            <a:r>
              <a:rPr dirty="0" sz="900" spc="-55">
                <a:latin typeface="Palatino Linotype"/>
                <a:cs typeface="Palatino Linotype"/>
              </a:rPr>
              <a:t>ying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words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book,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174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through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keys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shelf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object,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198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through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127</a:t>
            </a:r>
            <a:endParaRPr sz="900">
              <a:latin typeface="Palatino Linotype"/>
              <a:cs typeface="Palatino Linotype"/>
            </a:endParaRPr>
          </a:p>
          <a:p>
            <a:pPr algn="just" marL="323215" marR="4254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storing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punctu</a:t>
            </a:r>
            <a:r>
              <a:rPr dirty="0" sz="900" spc="-65">
                <a:latin typeface="Palatino Linotype"/>
                <a:cs typeface="Palatino Linotype"/>
              </a:rPr>
              <a:t>a</a:t>
            </a:r>
            <a:r>
              <a:rPr dirty="0" sz="900" spc="-30">
                <a:latin typeface="Palatino Linotype"/>
                <a:cs typeface="Palatino Linotype"/>
              </a:rPr>
              <a:t>tion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marks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dic‐ </a:t>
            </a:r>
            <a:r>
              <a:rPr dirty="0" sz="900" spc="-35">
                <a:latin typeface="Palatino Linotype"/>
                <a:cs typeface="Palatino Linotype"/>
              </a:rPr>
              <a:t>tiona</a:t>
            </a:r>
            <a:r>
              <a:rPr dirty="0" sz="900" spc="-5">
                <a:latin typeface="Palatino Linotype"/>
                <a:cs typeface="Palatino Linotype"/>
              </a:rPr>
              <a:t>r</a:t>
            </a:r>
            <a:r>
              <a:rPr dirty="0" sz="900" spc="-55">
                <a:latin typeface="Palatino Linotype"/>
                <a:cs typeface="Palatino Linotype"/>
              </a:rPr>
              <a:t>y,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173</a:t>
            </a:r>
            <a:endParaRPr sz="900">
              <a:latin typeface="Palatino Linotype"/>
              <a:cs typeface="Palatino Linotype"/>
            </a:endParaRPr>
          </a:p>
          <a:p>
            <a:pPr marL="167640" marR="78232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tuple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assignment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158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94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square,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41</a:t>
            </a:r>
            <a:endParaRPr sz="900">
              <a:latin typeface="Palatino Linotype"/>
              <a:cs typeface="Palatino Linotype"/>
            </a:endParaRPr>
          </a:p>
          <a:p>
            <a:pPr marL="167640" marR="227329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instead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recursive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63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display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92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make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131</a:t>
            </a:r>
            <a:endParaRPr sz="900">
              <a:latin typeface="Palatino Linotype"/>
              <a:cs typeface="Palatino Linotype"/>
            </a:endParaRPr>
          </a:p>
          <a:p>
            <a:pPr marL="167640" marR="54038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read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lines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dictionaries,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143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31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formal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languages,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9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11</a:t>
            </a:r>
            <a:endParaRPr sz="900">
              <a:latin typeface="Palatino Linotype"/>
              <a:cs typeface="Palatino Linotype"/>
            </a:endParaRPr>
          </a:p>
          <a:p>
            <a:pPr marL="12700" marR="788670" indent="1549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versus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natural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languages,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format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specifiers,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211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forward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40</a:t>
            </a:r>
            <a:endParaRPr sz="900">
              <a:latin typeface="Palatino Linotype"/>
              <a:cs typeface="Palatino Linotype"/>
            </a:endParaRPr>
          </a:p>
          <a:p>
            <a:pPr marL="167640" marR="50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forward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slash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(/)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separating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directory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file‐ </a:t>
            </a:r>
            <a:r>
              <a:rPr dirty="0" sz="900" spc="-55">
                <a:latin typeface="Palatino Linotype"/>
                <a:cs typeface="Palatino Linotype"/>
              </a:rPr>
              <a:t>names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macOS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Unix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systems,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frames,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33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calls,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4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 marR="61976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expressions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194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16</a:t>
            </a:r>
            <a:endParaRPr sz="900">
              <a:latin typeface="Palatino Linotype"/>
              <a:cs typeface="Palatino Linotype"/>
            </a:endParaRPr>
          </a:p>
          <a:p>
            <a:pPr marL="12700" marR="75692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name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203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functional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programming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style,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215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69831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Index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297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50" y="653326"/>
            <a:ext cx="2165985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27</a:t>
            </a:r>
            <a:endParaRPr sz="900">
              <a:latin typeface="Palatino Linotype"/>
              <a:cs typeface="Palatino Linotype"/>
            </a:endParaRPr>
          </a:p>
          <a:p>
            <a:pPr marL="167640" marR="17145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adding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parameters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generalization,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43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advantages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34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20</a:t>
            </a:r>
            <a:endParaRPr sz="900">
              <a:latin typeface="Palatino Linotype"/>
              <a:cs typeface="Palatino Linotype"/>
            </a:endParaRPr>
          </a:p>
          <a:p>
            <a:pPr marL="323215" marR="4254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asking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virtual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assistant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write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debug,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36</a:t>
            </a:r>
            <a:endParaRPr sz="900">
              <a:latin typeface="Palatino Linotype"/>
              <a:cs typeface="Palatino Linotype"/>
            </a:endParaRPr>
          </a:p>
          <a:p>
            <a:pPr marL="323215" marR="123189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assuming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they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work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correctly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return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right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results,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83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boolean,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80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calling,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29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calling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other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30</a:t>
            </a:r>
            <a:endParaRPr sz="900">
              <a:latin typeface="Palatino Linotype"/>
              <a:cs typeface="Palatino Linotype"/>
            </a:endParaRPr>
          </a:p>
          <a:p>
            <a:pPr marL="167640" marR="19431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pre-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postconditions,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49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new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27</a:t>
            </a:r>
            <a:endParaRPr sz="900">
              <a:latin typeface="Palatino Linotype"/>
              <a:cs typeface="Palatino Linotype"/>
            </a:endParaRPr>
          </a:p>
          <a:p>
            <a:pPr marL="167640" marR="635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design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interface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implementation,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47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docstring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explaining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interface,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48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drawing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circle,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44</a:t>
            </a:r>
            <a:endParaRPr sz="900">
              <a:latin typeface="Palatino Linotype"/>
              <a:cs typeface="Palatino Linotype"/>
            </a:endParaRPr>
          </a:p>
          <a:p>
            <a:pPr marL="167640" marR="35496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encapsulating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code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42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encapsulating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92</a:t>
            </a:r>
            <a:endParaRPr sz="900">
              <a:latin typeface="Palatino Linotype"/>
              <a:cs typeface="Palatino Linotype"/>
            </a:endParaRPr>
          </a:p>
          <a:p>
            <a:pPr marL="167640" marR="16002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encapsulation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generalization,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47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50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inside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32</a:t>
            </a:r>
            <a:endParaRPr sz="900">
              <a:latin typeface="Palatino Linotype"/>
              <a:cs typeface="Palatino Linotype"/>
            </a:endParaRPr>
          </a:p>
          <a:p>
            <a:pPr algn="ctr" marL="167640" marR="580390" indent="-1524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having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no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75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76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having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73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75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76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values)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infinite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recursion,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63</a:t>
            </a:r>
            <a:endParaRPr sz="900">
              <a:latin typeface="Palatino Linotype"/>
              <a:cs typeface="Palatino Linotype"/>
            </a:endParaRPr>
          </a:p>
          <a:p>
            <a:pPr marL="167640" marR="32639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local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32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math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176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parameters,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pure,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214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recursive,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61</a:t>
            </a:r>
            <a:endParaRPr sz="900">
              <a:latin typeface="Palatino Linotype"/>
              <a:cs typeface="Palatino Linotype"/>
            </a:endParaRPr>
          </a:p>
          <a:p>
            <a:pPr marL="167640" marR="46926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refactoring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circle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45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repetition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stack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diagrams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33</a:t>
            </a:r>
            <a:endParaRPr sz="900">
              <a:latin typeface="Palatino Linotype"/>
              <a:cs typeface="Palatino Linotype"/>
            </a:endParaRPr>
          </a:p>
          <a:p>
            <a:pPr marL="167640" marR="151130" indent="15494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circle,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arc,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polyline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47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testing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doctest,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283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tracebacks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runtime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33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05" b="1">
                <a:latin typeface="Trebuchet MS"/>
                <a:cs typeface="Trebuchet MS"/>
              </a:rPr>
              <a:t>G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u="sng" sz="900" spc="1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ge</a:t>
            </a:r>
            <a:r>
              <a:rPr dirty="0" u="sng" sz="900" spc="28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255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generalization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(functions),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43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45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47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generator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12700" marR="666750" indent="1549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any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279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getcwd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greater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>
                <a:latin typeface="Palatino Linotype"/>
                <a:cs typeface="Palatino Linotype"/>
              </a:rPr>
              <a:t> (&gt;),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57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255</a:t>
            </a:r>
            <a:endParaRPr sz="90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greater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equal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(&gt;=),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57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greatest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common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divisor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(GCD),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func‐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for,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89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group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114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grow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240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01" y="574075"/>
            <a:ext cx="2120900" cy="691959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u="sng" sz="9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gt</a:t>
            </a:r>
            <a:r>
              <a:rPr dirty="0" u="sng" sz="900" spc="2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255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70"/>
              </a:spcBef>
            </a:pPr>
            <a:r>
              <a:rPr dirty="0" sz="1400" spc="-270" b="1">
                <a:latin typeface="Trebuchet MS"/>
                <a:cs typeface="Trebuchet MS"/>
              </a:rPr>
              <a:t>H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60">
                <a:latin typeface="Palatino Linotype"/>
                <a:cs typeface="Palatino Linotype"/>
              </a:rPr>
              <a:t>hand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259</a:t>
            </a:r>
            <a:endParaRPr sz="900">
              <a:latin typeface="Palatino Linotype"/>
              <a:cs typeface="Palatino Linotype"/>
            </a:endParaRPr>
          </a:p>
          <a:p>
            <a:pPr marL="323215" marR="99695" indent="-15557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BridgeHand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Hand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261</a:t>
            </a:r>
            <a:endParaRPr sz="900">
              <a:latin typeface="Palatino Linotype"/>
              <a:cs typeface="Palatino Linotype"/>
            </a:endParaRPr>
          </a:p>
          <a:p>
            <a:pPr marL="12700" marR="231775" indent="1549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Hand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Deck,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259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hasattr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220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hash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201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80">
                <a:latin typeface="Palatino Linotype"/>
                <a:cs typeface="Palatino Linotype"/>
              </a:rPr>
              <a:t>HASH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202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hash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tables,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140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hashes,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144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hashlib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202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has_duplicates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270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!head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command,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117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header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(function),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27</a:t>
            </a:r>
            <a:endParaRPr sz="900">
              <a:latin typeface="Palatino Linotype"/>
              <a:cs typeface="Palatino Linotype"/>
            </a:endParaRPr>
          </a:p>
          <a:p>
            <a:pPr marL="12700" marR="32131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back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hexadecimal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210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hexdigest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202</a:t>
            </a:r>
            <a:endParaRPr sz="900">
              <a:latin typeface="Palatino Linotype"/>
              <a:cs typeface="Palatino Linotype"/>
            </a:endParaRPr>
          </a:p>
          <a:p>
            <a:pPr marL="12700" marR="3175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hyphen</a:t>
            </a:r>
            <a:r>
              <a:rPr dirty="0" sz="900">
                <a:latin typeface="Palatino Linotype"/>
                <a:cs typeface="Palatino Linotype"/>
              </a:rPr>
              <a:t> (-),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boundary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delimiter,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127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hypotenuse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right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triangle,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function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length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(exercise),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88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75" b="1">
                <a:latin typeface="Trebuchet MS"/>
                <a:cs typeface="Trebuchet MS"/>
              </a:rPr>
              <a:t>I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45">
                <a:latin typeface="Palatino Linotype"/>
                <a:cs typeface="Palatino Linotype"/>
              </a:rPr>
              <a:t>identical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versus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equivalent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129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identity,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238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keyword,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55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59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97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elif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clause,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60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else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clause,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67640" marR="29718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clause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comprehensions,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278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60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immutability</a:t>
            </a:r>
            <a:endParaRPr sz="900">
              <a:latin typeface="Palatino Linotype"/>
              <a:cs typeface="Palatino Linotype"/>
            </a:endParaRPr>
          </a:p>
          <a:p>
            <a:pPr marL="167640" marR="71628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namedtuple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281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108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155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implementation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(function),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47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import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19</a:t>
            </a:r>
            <a:endParaRPr sz="900">
              <a:latin typeface="Palatino Linotype"/>
              <a:cs typeface="Palatino Linotype"/>
            </a:endParaRPr>
          </a:p>
          <a:p>
            <a:pPr marL="323215" marR="9525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importing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jupyturtle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mod‐ </a:t>
            </a:r>
            <a:r>
              <a:rPr dirty="0" sz="900" spc="-45">
                <a:latin typeface="Palatino Linotype"/>
                <a:cs typeface="Palatino Linotype"/>
              </a:rPr>
              <a:t>ule,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237</a:t>
            </a:r>
            <a:endParaRPr sz="900">
              <a:latin typeface="Palatino Linotype"/>
              <a:cs typeface="Palatino Linotype"/>
            </a:endParaRPr>
          </a:p>
          <a:p>
            <a:pPr marL="12700" marR="463550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importing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jupyturtle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40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keyword,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31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96</a:t>
            </a:r>
            <a:endParaRPr sz="900">
              <a:latin typeface="Palatino Linotype"/>
              <a:cs typeface="Palatino Linotype"/>
            </a:endParaRPr>
          </a:p>
          <a:p>
            <a:pPr marL="167640" marR="508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key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appears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198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appears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132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validity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177</a:t>
            </a:r>
            <a:endParaRPr sz="900">
              <a:latin typeface="Palatino Linotype"/>
              <a:cs typeface="Palatino Linotype"/>
            </a:endParaRPr>
          </a:p>
          <a:p>
            <a:pPr marL="167640" marR="38735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finding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112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regular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expressions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115</a:t>
            </a:r>
            <a:r>
              <a:rPr dirty="0" sz="900" spc="4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dictionaries,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140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142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741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298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700" y="653326"/>
            <a:ext cx="2204085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01675" indent="154940">
              <a:lnSpc>
                <a:spcPct val="100000"/>
              </a:lnSpc>
              <a:spcBef>
                <a:spcPts val="100"/>
              </a:spcBef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123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incremental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development,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77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80</a:t>
            </a:r>
            <a:endParaRPr sz="900">
              <a:latin typeface="Palatino Linotype"/>
              <a:cs typeface="Palatino Linotype"/>
            </a:endParaRPr>
          </a:p>
          <a:p>
            <a:pPr marL="167640" marR="66230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factorial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82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key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aspects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80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increments,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IndentationError,</a:t>
            </a:r>
            <a:r>
              <a:rPr dirty="0" sz="900" spc="8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66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IndexError,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106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123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indexes,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105</a:t>
            </a:r>
            <a:endParaRPr sz="900">
              <a:latin typeface="Palatino Linotype"/>
              <a:cs typeface="Palatino Linotype"/>
            </a:endParaRPr>
          </a:p>
          <a:p>
            <a:pPr marL="167640" marR="76327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106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122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negative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123</a:t>
            </a:r>
            <a:endParaRPr sz="900">
              <a:latin typeface="Palatino Linotype"/>
              <a:cs typeface="Palatino Linotype"/>
            </a:endParaRPr>
          </a:p>
          <a:p>
            <a:pPr marL="323215" marR="142240" indent="-15557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negative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get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last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letter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107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infinite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recursion,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63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84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inheritance,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249</a:t>
            </a:r>
            <a:endParaRPr sz="900">
              <a:latin typeface="Palatino Linotype"/>
              <a:cs typeface="Palatino Linotype"/>
            </a:endParaRPr>
          </a:p>
          <a:p>
            <a:pPr marL="167640" marR="32956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advantages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disadvantages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262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attributes,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251</a:t>
            </a:r>
            <a:endParaRPr sz="900">
              <a:latin typeface="Palatino Linotype"/>
              <a:cs typeface="Palatino Linotype"/>
            </a:endParaRPr>
          </a:p>
          <a:p>
            <a:pPr marL="167640" marR="480059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252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255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debugging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programs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262</a:t>
            </a:r>
            <a:endParaRPr sz="900">
              <a:latin typeface="Palatino Linotype"/>
              <a:cs typeface="Palatino Linotype"/>
            </a:endParaRPr>
          </a:p>
          <a:p>
            <a:pPr marL="323215" marR="80010" indent="-15557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deck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adding,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removing,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shuffling,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257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259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representing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cards,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256</a:t>
            </a:r>
            <a:endParaRPr sz="900">
              <a:latin typeface="Palatino Linotype"/>
              <a:cs typeface="Palatino Linotype"/>
            </a:endParaRPr>
          </a:p>
          <a:p>
            <a:pPr marL="323215" marR="15240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demonstrating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classes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playing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cards,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249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251</a:t>
            </a:r>
            <a:endParaRPr sz="900">
              <a:latin typeface="Palatino Linotype"/>
              <a:cs typeface="Palatino Linotype"/>
            </a:endParaRPr>
          </a:p>
          <a:p>
            <a:pPr marL="167640" marR="6604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parents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children,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259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261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252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256</a:t>
            </a:r>
            <a:endParaRPr sz="900">
              <a:latin typeface="Palatino Linotype"/>
              <a:cs typeface="Palatino Linotype"/>
            </a:endParaRPr>
          </a:p>
          <a:p>
            <a:pPr marL="323215" marR="8064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specialization,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Bridgehand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Hand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261</a:t>
            </a:r>
            <a:endParaRPr sz="900">
              <a:latin typeface="Palatino Linotype"/>
              <a:cs typeface="Palatino Linotype"/>
            </a:endParaRPr>
          </a:p>
          <a:p>
            <a:pPr algn="just" marL="167640" marR="331470" indent="-155575">
              <a:lnSpc>
                <a:spcPct val="100000"/>
              </a:lnSpc>
            </a:pPr>
            <a:r>
              <a:rPr dirty="0" u="sng" sz="90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init</a:t>
            </a:r>
            <a:r>
              <a:rPr dirty="0" u="sng" sz="900" spc="3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228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230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235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239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251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classes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created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with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namedtuple,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256</a:t>
            </a:r>
            <a:endParaRPr sz="900">
              <a:latin typeface="Palatino Linotype"/>
              <a:cs typeface="Palatino Linotype"/>
            </a:endParaRPr>
          </a:p>
          <a:p>
            <a:pPr algn="just"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Hand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260</a:t>
            </a:r>
            <a:endParaRPr sz="900">
              <a:latin typeface="Palatino Linotype"/>
              <a:cs typeface="Palatino Linotype"/>
            </a:endParaRPr>
          </a:p>
          <a:p>
            <a:pPr algn="just" marL="323215" marR="304165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check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default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276</a:t>
            </a:r>
            <a:endParaRPr sz="900">
              <a:latin typeface="Palatino Linotype"/>
              <a:cs typeface="Palatino Linotype"/>
            </a:endParaRPr>
          </a:p>
          <a:p>
            <a:pPr algn="just" marL="323215" marR="346075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check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default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276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initializing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input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64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input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validation,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85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instance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226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instances,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210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252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instantiation,</a:t>
            </a:r>
            <a:r>
              <a:rPr dirty="0" sz="900" spc="4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7</a:t>
            </a:r>
            <a:r>
              <a:rPr dirty="0" sz="900" spc="-10">
                <a:latin typeface="Palatino Linotype"/>
                <a:cs typeface="Palatino Linotype"/>
              </a:rPr>
              <a:t>,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65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argument,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20</a:t>
            </a:r>
            <a:endParaRPr sz="900">
              <a:latin typeface="Palatino Linotype"/>
              <a:cs typeface="Palatino Linotype"/>
            </a:endParaRPr>
          </a:p>
          <a:p>
            <a:pPr marL="12700" marR="139065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digits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integer,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type,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7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variable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int,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24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03" y="653326"/>
            <a:ext cx="2200275" cy="6840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45">
                <a:latin typeface="Palatino Linotype"/>
                <a:cs typeface="Palatino Linotype"/>
              </a:rPr>
              <a:t>integer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division,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55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integer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division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(//)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integers,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 marR="33528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comma-</a:t>
            </a:r>
            <a:r>
              <a:rPr dirty="0" sz="900" spc="-50">
                <a:latin typeface="Palatino Linotype"/>
                <a:cs typeface="Palatino Linotype"/>
              </a:rPr>
              <a:t>separated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Time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218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floating-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Time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218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106</a:t>
            </a:r>
            <a:endParaRPr sz="900">
              <a:latin typeface="Palatino Linotype"/>
              <a:cs typeface="Palatino Linotype"/>
            </a:endParaRPr>
          </a:p>
          <a:p>
            <a:pPr marL="12700" marR="63690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interface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design,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47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49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interpreter,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calculator,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intersection,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273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invariants,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230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invocation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(method),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129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214</a:t>
            </a:r>
            <a:endParaRPr sz="900">
              <a:latin typeface="Palatino Linotype"/>
              <a:cs typeface="Palatino Linotype"/>
            </a:endParaRPr>
          </a:p>
          <a:p>
            <a:pPr marL="12700" marR="204470" indent="1549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showing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not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identical,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238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isdir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isfile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isinstance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84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219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items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(dictionary),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138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items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158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175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198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55" b="1">
                <a:latin typeface="Trebuchet MS"/>
                <a:cs typeface="Trebuchet MS"/>
              </a:rPr>
              <a:t>J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20">
                <a:latin typeface="Palatino Linotype"/>
                <a:cs typeface="Palatino Linotype"/>
              </a:rPr>
              <a:t>join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127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135</a:t>
            </a:r>
            <a:endParaRPr sz="900">
              <a:latin typeface="Palatino Linotype"/>
              <a:cs typeface="Palatino Linotype"/>
            </a:endParaRPr>
          </a:p>
          <a:p>
            <a:pPr marL="12700" marR="66548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128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jumpto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Jupyter</a:t>
            </a:r>
            <a:endParaRPr sz="900">
              <a:latin typeface="Palatino Linotype"/>
              <a:cs typeface="Palatino Linotype"/>
            </a:endParaRPr>
          </a:p>
          <a:p>
            <a:pPr marL="167640" marR="12065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displaying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73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representational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printable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versions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257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Jupyter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notebooks,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225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jupyturtle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39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41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exercise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70</a:t>
            </a:r>
            <a:endParaRPr sz="900">
              <a:latin typeface="Palatino Linotype"/>
              <a:cs typeface="Palatino Linotype"/>
            </a:endParaRPr>
          </a:p>
          <a:p>
            <a:pPr marL="167640" marR="508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exercise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drawing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Sierpiński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triangle,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square,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41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more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turtle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50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draw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lines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screen,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60" b="1">
                <a:latin typeface="Trebuchet MS"/>
                <a:cs typeface="Trebuchet MS"/>
              </a:rPr>
              <a:t>K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60">
                <a:latin typeface="Palatino Linotype"/>
                <a:cs typeface="Palatino Linotype"/>
              </a:rPr>
              <a:t>key-</a:t>
            </a:r>
            <a:r>
              <a:rPr dirty="0" sz="900" spc="-55">
                <a:latin typeface="Palatino Linotype"/>
                <a:cs typeface="Palatino Linotype"/>
              </a:rPr>
              <a:t>value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pairs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items,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138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139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choosing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random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key,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179</a:t>
            </a:r>
            <a:endParaRPr sz="900">
              <a:latin typeface="Palatino Linotype"/>
              <a:cs typeface="Palatino Linotype"/>
            </a:endParaRPr>
          </a:p>
          <a:p>
            <a:pPr marL="323215" marR="36830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finding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140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inverting,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165</a:t>
            </a:r>
            <a:endParaRPr sz="900">
              <a:latin typeface="Palatino Linotype"/>
              <a:cs typeface="Palatino Linotype"/>
            </a:endParaRPr>
          </a:p>
          <a:p>
            <a:pPr marL="323215" marR="10541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looking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up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key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getting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corresponding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138</a:t>
            </a:r>
            <a:endParaRPr sz="900">
              <a:latin typeface="Palatino Linotype"/>
              <a:cs typeface="Palatino Linotype"/>
            </a:endParaRPr>
          </a:p>
          <a:p>
            <a:pPr marL="167640" marR="17399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143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requirement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be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hashable,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144</a:t>
            </a:r>
            <a:endParaRPr sz="900">
              <a:latin typeface="Palatino Linotype"/>
              <a:cs typeface="Palatino Linotype"/>
            </a:endParaRPr>
          </a:p>
          <a:p>
            <a:pPr marL="12700" marR="35052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key-</a:t>
            </a:r>
            <a:r>
              <a:rPr dirty="0" sz="900" spc="-55">
                <a:latin typeface="Palatino Linotype"/>
                <a:cs typeface="Palatino Linotype"/>
              </a:rPr>
              <a:t>value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pairs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197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200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key-</a:t>
            </a:r>
            <a:r>
              <a:rPr dirty="0" sz="900" spc="-55">
                <a:latin typeface="Palatino Linotype"/>
                <a:cs typeface="Palatino Linotype"/>
              </a:rPr>
              <a:t>value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stores,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196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69833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Index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299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700" y="653326"/>
            <a:ext cx="2188845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5">
                <a:latin typeface="Palatino Linotype"/>
                <a:cs typeface="Palatino Linotype"/>
              </a:rPr>
              <a:t>keyboard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input,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64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KeyError,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138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keys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198</a:t>
            </a:r>
            <a:endParaRPr sz="900">
              <a:latin typeface="Palatino Linotype"/>
              <a:cs typeface="Palatino Linotype"/>
            </a:endParaRPr>
          </a:p>
          <a:p>
            <a:pPr marL="167640" marR="889000" indent="-155575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keyword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44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packing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281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keywords,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Koch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curve,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70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kwargs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282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65" b="1">
                <a:latin typeface="Trebuchet MS"/>
                <a:cs typeface="Trebuchet MS"/>
              </a:rPr>
              <a:t>L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5">
                <a:latin typeface="Palatino Linotype"/>
                <a:cs typeface="Palatino Linotype"/>
              </a:rPr>
              <a:t>Large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Language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Model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(LLM),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171</a:t>
            </a:r>
            <a:endParaRPr sz="900">
              <a:latin typeface="Palatino Linotype"/>
              <a:cs typeface="Palatino Linotype"/>
            </a:endParaRPr>
          </a:p>
          <a:p>
            <a:pPr marL="12700" marR="1262380">
              <a:lnSpc>
                <a:spcPct val="100000"/>
              </a:lnSpc>
            </a:pPr>
            <a:r>
              <a:rPr dirty="0" u="sng" sz="90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le</a:t>
            </a:r>
            <a:r>
              <a:rPr dirty="0" u="sng" sz="900" spc="2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leap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faith,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83</a:t>
            </a:r>
            <a:endParaRPr sz="900">
              <a:latin typeface="Palatino Linotype"/>
              <a:cs typeface="Palatino Linotype"/>
            </a:endParaRPr>
          </a:p>
          <a:p>
            <a:pPr marL="12700" marR="78168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fibonacci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84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left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40</a:t>
            </a:r>
            <a:endParaRPr sz="900">
              <a:latin typeface="Palatino Linotype"/>
              <a:cs typeface="Palatino Linotype"/>
            </a:endParaRPr>
          </a:p>
          <a:p>
            <a:pPr marL="167640" marR="840105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len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6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36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106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getting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length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122</a:t>
            </a:r>
            <a:endParaRPr sz="900">
              <a:latin typeface="Palatino Linotype"/>
              <a:cs typeface="Palatino Linotype"/>
            </a:endParaRPr>
          </a:p>
          <a:p>
            <a:pPr marL="167640" marR="7429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returning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items,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138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analysis,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172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less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>
                <a:latin typeface="Palatino Linotype"/>
                <a:cs typeface="Palatino Linotype"/>
              </a:rPr>
              <a:t> (&lt;),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57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163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254</a:t>
            </a:r>
            <a:endParaRPr sz="900">
              <a:latin typeface="Palatino Linotype"/>
              <a:cs typeface="Palatino Linotype"/>
            </a:endParaRPr>
          </a:p>
          <a:p>
            <a:pPr marL="167640" marR="3683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less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equal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(&lt;=),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57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255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subset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another,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271</a:t>
            </a:r>
            <a:endParaRPr sz="900">
              <a:latin typeface="Palatino Linotype"/>
              <a:cs typeface="Palatino Linotype"/>
            </a:endParaRPr>
          </a:p>
          <a:p>
            <a:pPr marL="12700" marR="151066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Line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235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Line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objects</a:t>
            </a:r>
            <a:endParaRPr sz="900">
              <a:latin typeface="Palatino Linotype"/>
              <a:cs typeface="Palatino Linotype"/>
            </a:endParaRPr>
          </a:p>
          <a:p>
            <a:pPr marL="323215" marR="5016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instantiating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displaying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x-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axis,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67640" marR="18288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rectangle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sides,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240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state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linear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search,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98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lines,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111</a:t>
            </a:r>
            <a:endParaRPr sz="900">
              <a:latin typeface="Palatino Linotype"/>
              <a:cs typeface="Palatino Linotype"/>
            </a:endParaRPr>
          </a:p>
          <a:p>
            <a:pPr marL="323215" marR="9906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line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segment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between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two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points,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235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237</a:t>
            </a:r>
            <a:endParaRPr sz="900">
              <a:latin typeface="Palatino Linotype"/>
              <a:cs typeface="Palatino Linotype"/>
            </a:endParaRPr>
          </a:p>
          <a:p>
            <a:pPr marL="12700" marR="63563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Liskov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substitution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principle,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261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Liskov,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Barbara,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261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comprehensions,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277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323215" marR="15875" indent="-155575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clause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determining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include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323215" marR="224154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words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appending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them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277</a:t>
            </a:r>
            <a:endParaRPr sz="900">
              <a:latin typeface="Palatino Linotype"/>
              <a:cs typeface="Palatino Linotype"/>
            </a:endParaRPr>
          </a:p>
          <a:p>
            <a:pPr marL="167640" marR="21336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used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argument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278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capitalize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words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277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124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126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135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listdir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192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203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121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aliasing,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130</a:t>
            </a:r>
            <a:endParaRPr sz="900">
              <a:latin typeface="Palatino Linotype"/>
              <a:cs typeface="Palatino Linotype"/>
            </a:endParaRPr>
          </a:p>
          <a:p>
            <a:pPr marL="167640" marR="32829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building,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144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146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128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defaultdict,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274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66" y="653326"/>
            <a:ext cx="2125980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 marR="401955">
              <a:lnSpc>
                <a:spcPct val="100000"/>
              </a:lnSpc>
              <a:spcBef>
                <a:spcPts val="100"/>
              </a:spcBef>
            </a:pPr>
            <a:r>
              <a:rPr dirty="0" sz="900" spc="-65">
                <a:latin typeface="Palatino Linotype"/>
                <a:cs typeface="Palatino Linotype"/>
              </a:rPr>
              <a:t>debugging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calls,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133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structshape,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166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defaultdict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new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274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dictionaries,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144</a:t>
            </a:r>
            <a:endParaRPr sz="900">
              <a:latin typeface="Palatino Linotype"/>
              <a:cs typeface="Palatino Linotype"/>
            </a:endParaRPr>
          </a:p>
          <a:p>
            <a:pPr marL="167640" marR="42672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expressions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195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pairs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zip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162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through,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127</a:t>
            </a:r>
            <a:endParaRPr sz="900">
              <a:latin typeface="Palatino Linotype"/>
              <a:cs typeface="Palatino Linotype"/>
            </a:endParaRPr>
          </a:p>
          <a:p>
            <a:pPr marL="167640" marR="88201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131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methods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125</a:t>
            </a:r>
            <a:endParaRPr sz="900">
              <a:latin typeface="Palatino Linotype"/>
              <a:cs typeface="Palatino Linotype"/>
            </a:endParaRPr>
          </a:p>
          <a:p>
            <a:pPr marL="167640" marR="829944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mutability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122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129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used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124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121</a:t>
            </a:r>
            <a:endParaRPr sz="900">
              <a:latin typeface="Palatino Linotype"/>
              <a:cs typeface="Palatino Linotype"/>
            </a:endParaRPr>
          </a:p>
          <a:p>
            <a:pPr marL="167640" marR="55372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similarity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153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155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slices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123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sorting,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128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strings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126</a:t>
            </a:r>
            <a:endParaRPr sz="900">
              <a:latin typeface="Palatino Linotype"/>
              <a:cs typeface="Palatino Linotype"/>
            </a:endParaRPr>
          </a:p>
          <a:p>
            <a:pPr marL="323215" marR="1079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concatenating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single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string,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127</a:t>
            </a:r>
            <a:endParaRPr sz="900">
              <a:latin typeface="Palatino Linotype"/>
              <a:cs typeface="Palatino Linotype"/>
            </a:endParaRPr>
          </a:p>
          <a:p>
            <a:pPr marL="167640" marR="53403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131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window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bigrams,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181</a:t>
            </a:r>
            <a:endParaRPr sz="900">
              <a:latin typeface="Palatino Linotype"/>
              <a:cs typeface="Palatino Linotype"/>
            </a:endParaRPr>
          </a:p>
          <a:p>
            <a:pPr marL="12700" marR="514984">
              <a:lnSpc>
                <a:spcPct val="100000"/>
              </a:lnSpc>
            </a:pPr>
            <a:r>
              <a:rPr dirty="0" sz="900" spc="-75">
                <a:latin typeface="Palatino Linotype"/>
                <a:cs typeface="Palatino Linotype"/>
              </a:rPr>
              <a:t>LLM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(Large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Language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Model),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local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32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75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logical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58</a:t>
            </a:r>
            <a:endParaRPr sz="900">
              <a:latin typeface="Palatino Linotype"/>
              <a:cs typeface="Palatino Linotype"/>
            </a:endParaRPr>
          </a:p>
          <a:p>
            <a:pPr marL="323215" marR="3429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simplify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state‐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61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92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277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loops,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31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encapsulating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92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comprehensions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generator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expres‐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sions,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advantages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over,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167640" marR="61658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counting,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95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dictionaries,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143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through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127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91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lower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97</a:t>
            </a:r>
            <a:endParaRPr sz="900">
              <a:latin typeface="Palatino Linotype"/>
              <a:cs typeface="Palatino Linotype"/>
            </a:endParaRPr>
          </a:p>
          <a:p>
            <a:pPr marL="167640" marR="6985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lowercase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uppercase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letters,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handling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Python,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109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u="sng" sz="900" spc="2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lt</a:t>
            </a:r>
            <a:r>
              <a:rPr dirty="0" u="sng" sz="900" spc="30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254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259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180" b="1">
                <a:latin typeface="Trebuchet MS"/>
                <a:cs typeface="Trebuchet MS"/>
              </a:rPr>
              <a:t>M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5">
                <a:latin typeface="Palatino Linotype"/>
                <a:cs typeface="Palatino Linotype"/>
              </a:rPr>
              <a:t>main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running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unittest,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284</a:t>
            </a:r>
            <a:endParaRPr sz="900">
              <a:latin typeface="Palatino Linotype"/>
              <a:cs typeface="Palatino Linotype"/>
            </a:endParaRPr>
          </a:p>
          <a:p>
            <a:pPr marL="12700" marR="69151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makedirs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197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make_cards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static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256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make_turtle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39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240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mapping,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138</a:t>
            </a:r>
            <a:endParaRPr sz="900">
              <a:latin typeface="Palatino Linotype"/>
              <a:cs typeface="Palatino Linotype"/>
            </a:endParaRPr>
          </a:p>
          <a:p>
            <a:pPr marL="167640" marR="427990" indent="-15557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Markov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chain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analysis,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183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185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results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generate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text,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185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Markov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generation,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171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178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717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300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700" y="653326"/>
            <a:ext cx="2115820" cy="6609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Match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114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math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math.pow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algn="ctr" marR="112331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20</a:t>
            </a:r>
            <a:endParaRPr sz="900">
              <a:latin typeface="Palatino Linotype"/>
              <a:cs typeface="Palatino Linotype"/>
            </a:endParaRPr>
          </a:p>
          <a:p>
            <a:pPr algn="ctr" marR="106172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math.sqrt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79</a:t>
            </a:r>
            <a:endParaRPr sz="900">
              <a:latin typeface="Palatino Linotype"/>
              <a:cs typeface="Palatino Linotype"/>
            </a:endParaRPr>
          </a:p>
          <a:p>
            <a:pPr algn="ctr" marR="105092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73</a:t>
            </a:r>
            <a:endParaRPr sz="900">
              <a:latin typeface="Palatino Linotype"/>
              <a:cs typeface="Palatino Linotype"/>
            </a:endParaRPr>
          </a:p>
          <a:p>
            <a:pPr algn="ctr" marR="125031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max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164</a:t>
            </a:r>
            <a:endParaRPr sz="900">
              <a:latin typeface="Palatino Linotype"/>
              <a:cs typeface="Palatino Linotype"/>
            </a:endParaRPr>
          </a:p>
          <a:p>
            <a:pPr marL="12700" marR="262890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find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largest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element,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125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md5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202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md5_digest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202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mean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160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282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memos,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147</a:t>
            </a:r>
            <a:endParaRPr sz="900">
              <a:latin typeface="Palatino Linotype"/>
              <a:cs typeface="Palatino Linotype"/>
            </a:endParaRPr>
          </a:p>
          <a:p>
            <a:pPr marL="12700" marR="6858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resolution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order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(mro)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263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323215" marR="25971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child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overriding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parent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261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223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224</a:t>
            </a:r>
            <a:endParaRPr sz="900">
              <a:latin typeface="Palatino Linotype"/>
              <a:cs typeface="Palatino Linotype"/>
            </a:endParaRPr>
          </a:p>
          <a:p>
            <a:pPr marL="323215" marR="9398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translate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adding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234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inheritance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260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261</a:t>
            </a:r>
            <a:endParaRPr sz="900">
              <a:latin typeface="Palatino Linotype"/>
              <a:cs typeface="Palatino Linotype"/>
            </a:endParaRPr>
          </a:p>
          <a:p>
            <a:pPr marL="167640" marR="11430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problems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finding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their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definitions,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262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invocation,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110</a:t>
            </a:r>
            <a:endParaRPr sz="900">
              <a:latin typeface="Palatino Linotype"/>
              <a:cs typeface="Palatino Linotype"/>
            </a:endParaRPr>
          </a:p>
          <a:p>
            <a:pPr marL="167640" marR="158623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125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special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u="sng" sz="900" spc="1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add</a:t>
            </a:r>
            <a:r>
              <a:rPr dirty="0" u="sng" sz="900" spc="2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229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u="sng" sz="9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init</a:t>
            </a:r>
            <a:r>
              <a:rPr dirty="0" u="sng" sz="900" spc="2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228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u="sng" sz="9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str</a:t>
            </a:r>
            <a:r>
              <a:rPr dirty="0" u="sng" sz="900" spc="2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227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static,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225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227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109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time_to_int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rewritten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225</a:t>
            </a:r>
            <a:endParaRPr sz="900">
              <a:latin typeface="Palatino Linotype"/>
              <a:cs typeface="Palatino Linotype"/>
            </a:endParaRPr>
          </a:p>
          <a:p>
            <a:pPr marL="323215" marR="762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translated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adding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235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min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164</a:t>
            </a:r>
            <a:endParaRPr sz="900">
              <a:latin typeface="Palatino Linotype"/>
              <a:cs typeface="Palatino Linotype"/>
            </a:endParaRPr>
          </a:p>
          <a:p>
            <a:pPr marL="12700" marR="194310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find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smallest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element,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125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min_max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159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160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modules,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marL="323215" marR="14605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importing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doctest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module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running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99</a:t>
            </a:r>
            <a:endParaRPr sz="900">
              <a:latin typeface="Palatino Linotype"/>
              <a:cs typeface="Palatino Linotype"/>
            </a:endParaRPr>
          </a:p>
          <a:p>
            <a:pPr marL="12700" marR="79502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modulus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(%),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56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most_common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273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moveto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move_cards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260</a:t>
            </a:r>
            <a:endParaRPr sz="900">
              <a:latin typeface="Palatino Linotype"/>
              <a:cs typeface="Palatino Linotype"/>
            </a:endParaRPr>
          </a:p>
          <a:p>
            <a:pPr marL="12700" marR="6858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mro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(method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resolution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order)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263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multiline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48</a:t>
            </a:r>
            <a:endParaRPr sz="900">
              <a:latin typeface="Palatino Linotype"/>
              <a:cs typeface="Palatino Linotype"/>
            </a:endParaRPr>
          </a:p>
          <a:p>
            <a:pPr marL="167640" marR="67246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multiplication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(*),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duplicating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repeating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124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16" y="653326"/>
            <a:ext cx="2169795" cy="6840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3215" marR="17780" indent="-155575">
              <a:lnSpc>
                <a:spcPct val="100000"/>
              </a:lnSpc>
              <a:spcBef>
                <a:spcPts val="100"/>
              </a:spcBef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make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multiple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copies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concatenating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them,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mutability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122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212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programmer-</a:t>
            </a:r>
            <a:r>
              <a:rPr dirty="0" sz="900" spc="-45">
                <a:latin typeface="Palatino Linotype"/>
                <a:cs typeface="Palatino Linotype"/>
              </a:rPr>
              <a:t>defined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types,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234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45" b="1">
                <a:latin typeface="Trebuchet MS"/>
                <a:cs typeface="Trebuchet MS"/>
              </a:rPr>
              <a:t>N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35">
                <a:latin typeface="Palatino Linotype"/>
                <a:cs typeface="Palatino Linotype"/>
              </a:rPr>
              <a:t>n-</a:t>
            </a:r>
            <a:r>
              <a:rPr dirty="0" sz="900" spc="-45">
                <a:latin typeface="Palatino Linotype"/>
                <a:cs typeface="Palatino Linotype"/>
              </a:rPr>
              <a:t>grams,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181</a:t>
            </a:r>
            <a:endParaRPr sz="900">
              <a:latin typeface="Palatino Linotype"/>
              <a:cs typeface="Palatino Linotype"/>
            </a:endParaRPr>
          </a:p>
          <a:p>
            <a:pPr marL="12700" marR="1422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named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arguments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keyword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arguments)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279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281</a:t>
            </a:r>
            <a:endParaRPr sz="900">
              <a:latin typeface="Palatino Linotype"/>
              <a:cs typeface="Palatino Linotype"/>
            </a:endParaRPr>
          </a:p>
          <a:p>
            <a:pPr marL="167640" marR="52197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accessing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simple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classes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279</a:t>
            </a:r>
            <a:endParaRPr sz="900">
              <a:latin typeface="Palatino Linotype"/>
              <a:cs typeface="Palatino Linotype"/>
            </a:endParaRPr>
          </a:p>
          <a:p>
            <a:pPr marL="167640" marR="31940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from,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281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immutability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281</a:t>
            </a:r>
            <a:endParaRPr sz="900">
              <a:latin typeface="Palatino Linotype"/>
              <a:cs typeface="Palatino Linotype"/>
            </a:endParaRPr>
          </a:p>
          <a:p>
            <a:pPr marL="12700" marR="968375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treating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281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natural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languages,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9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versus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formal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languages,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u="sng" sz="90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ne</a:t>
            </a:r>
            <a:r>
              <a:rPr dirty="0" u="sng" sz="900" spc="2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253</a:t>
            </a:r>
            <a:endParaRPr sz="900">
              <a:latin typeface="Palatino Linotype"/>
              <a:cs typeface="Palatino Linotype"/>
            </a:endParaRPr>
          </a:p>
          <a:p>
            <a:pPr marL="12700" marR="41211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negative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absolute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60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nested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122</a:t>
            </a:r>
            <a:endParaRPr sz="900">
              <a:latin typeface="Palatino Linotype"/>
              <a:cs typeface="Palatino Linotype"/>
            </a:endParaRPr>
          </a:p>
          <a:p>
            <a:pPr marL="12700" marR="568325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counting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single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element,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123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newline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(\n),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65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ending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newlines,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67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194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 marR="202565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differences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operating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systems,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204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nondeterministic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computer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179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None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75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114</a:t>
            </a:r>
            <a:endParaRPr sz="900">
              <a:latin typeface="Palatino Linotype"/>
              <a:cs typeface="Palatino Linotype"/>
            </a:endParaRPr>
          </a:p>
          <a:p>
            <a:pPr marL="167640" marR="59372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remove,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126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returned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133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NoneType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133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not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equal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>
                <a:latin typeface="Palatino Linotype"/>
                <a:cs typeface="Palatino Linotype"/>
              </a:rPr>
              <a:t> (!=),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57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253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not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58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number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sequence,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quotes,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35" b="1">
                <a:latin typeface="Trebuchet MS"/>
                <a:cs typeface="Trebuchet MS"/>
              </a:rPr>
              <a:t>O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30">
                <a:latin typeface="Palatino Linotype"/>
                <a:cs typeface="Palatino Linotype"/>
              </a:rPr>
              <a:t>object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diagrams,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object-</a:t>
            </a:r>
            <a:r>
              <a:rPr dirty="0" sz="900" spc="-40">
                <a:latin typeface="Palatino Linotype"/>
                <a:cs typeface="Palatino Linotype"/>
              </a:rPr>
              <a:t>oriented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languages,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223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object-</a:t>
            </a:r>
            <a:r>
              <a:rPr dirty="0" sz="900" spc="-40">
                <a:latin typeface="Palatino Linotype"/>
                <a:cs typeface="Palatino Linotype"/>
              </a:rPr>
              <a:t>oriented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programming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(OOP),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209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233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inheritance,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249</a:t>
            </a:r>
            <a:endParaRPr sz="900">
              <a:latin typeface="Palatino Linotype"/>
              <a:cs typeface="Palatino Linotype"/>
            </a:endParaRPr>
          </a:p>
          <a:p>
            <a:pPr marL="12700" marR="868044" indent="310515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inheritance)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209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aliased,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130</a:t>
            </a:r>
            <a:endParaRPr sz="900">
              <a:latin typeface="Palatino Linotype"/>
              <a:cs typeface="Palatino Linotype"/>
            </a:endParaRPr>
          </a:p>
          <a:p>
            <a:pPr marL="167640" marR="787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avoiding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sharing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modification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245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Time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227</a:t>
            </a:r>
            <a:endParaRPr sz="900">
              <a:latin typeface="Palatino Linotype"/>
              <a:cs typeface="Palatino Linotype"/>
            </a:endParaRPr>
          </a:p>
          <a:p>
            <a:pPr marL="167640" marR="83185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227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copying,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213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debugging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programs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work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219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69858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Index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301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50" y="653326"/>
            <a:ext cx="2209800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 marR="70104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equivalence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identity,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237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211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initializing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attributes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new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using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u="sng" sz="900" spc="1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init</a:t>
            </a:r>
            <a:r>
              <a:rPr dirty="0" u="sng" sz="900" spc="19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228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mutability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212</a:t>
            </a:r>
            <a:endParaRPr sz="900">
              <a:latin typeface="Palatino Linotype"/>
              <a:cs typeface="Palatino Linotype"/>
            </a:endParaRPr>
          </a:p>
          <a:p>
            <a:pPr marL="167640" marR="6731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passed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pure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215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instantiating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displaying,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234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polymorphism,</a:t>
            </a:r>
            <a:r>
              <a:rPr dirty="0" sz="900" spc="7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244</a:t>
            </a:r>
            <a:endParaRPr sz="900">
              <a:latin typeface="Palatino Linotype"/>
              <a:cs typeface="Palatino Linotype"/>
            </a:endParaRPr>
          </a:p>
          <a:p>
            <a:pPr marL="167640" marR="40132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receiver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invocations,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224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references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130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212</a:t>
            </a:r>
            <a:endParaRPr sz="900">
              <a:latin typeface="Palatino Linotype"/>
              <a:cs typeface="Palatino Linotype"/>
            </a:endParaRPr>
          </a:p>
          <a:p>
            <a:pPr marL="167640" marR="54673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serializing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deserializing,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196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108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129</a:t>
            </a:r>
            <a:endParaRPr sz="900">
              <a:latin typeface="Palatino Linotype"/>
              <a:cs typeface="Palatino Linotype"/>
            </a:endParaRPr>
          </a:p>
          <a:p>
            <a:pPr algn="ctr" marR="136715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open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algn="ctr" marR="13874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mode,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111</a:t>
            </a:r>
            <a:endParaRPr sz="900">
              <a:latin typeface="Palatino Linotype"/>
              <a:cs typeface="Palatino Linotype"/>
            </a:endParaRPr>
          </a:p>
          <a:p>
            <a:pPr marL="12700" marR="136906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operands,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8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operating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systems</a:t>
            </a:r>
            <a:endParaRPr sz="900">
              <a:latin typeface="Palatino Linotype"/>
              <a:cs typeface="Palatino Linotype"/>
            </a:endParaRPr>
          </a:p>
          <a:p>
            <a:pPr marL="167640" marR="61150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differences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filename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differences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operators</a:t>
            </a:r>
            <a:endParaRPr sz="900">
              <a:latin typeface="Palatino Linotype"/>
              <a:cs typeface="Palatino Linotype"/>
            </a:endParaRPr>
          </a:p>
          <a:p>
            <a:pPr marL="167640" marR="41783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contained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106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expressions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194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124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overloading,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229</a:t>
            </a:r>
            <a:endParaRPr sz="900">
              <a:latin typeface="Palatino Linotype"/>
              <a:cs typeface="Palatino Linotype"/>
            </a:endParaRPr>
          </a:p>
          <a:p>
            <a:pPr marL="167640" marR="5080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handling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276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176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58</a:t>
            </a:r>
            <a:endParaRPr sz="900">
              <a:latin typeface="Palatino Linotype"/>
              <a:cs typeface="Palatino Linotype"/>
            </a:endParaRPr>
          </a:p>
          <a:p>
            <a:pPr marL="167640" marR="97218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order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operations,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semantic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os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os.getcwd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191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os.listdir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192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203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os.makedirs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os.path.exists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192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os.path.isdir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os.path.isfile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os.path.join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20" b="1">
                <a:latin typeface="Trebuchet MS"/>
                <a:cs typeface="Trebuchet MS"/>
              </a:rPr>
              <a:t>P</a:t>
            </a:r>
            <a:endParaRPr sz="1400">
              <a:latin typeface="Trebuchet MS"/>
              <a:cs typeface="Trebuchet MS"/>
            </a:endParaRPr>
          </a:p>
          <a:p>
            <a:pPr algn="r" marR="553085">
              <a:lnSpc>
                <a:spcPts val="1019"/>
              </a:lnSpc>
            </a:pPr>
            <a:r>
              <a:rPr dirty="0" sz="900" spc="-55">
                <a:latin typeface="Palatino Linotype"/>
                <a:cs typeface="Palatino Linotype"/>
              </a:rPr>
              <a:t>packing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arguments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159</a:t>
            </a:r>
            <a:endParaRPr sz="900">
              <a:latin typeface="Palatino Linotype"/>
              <a:cs typeface="Palatino Linotype"/>
            </a:endParaRPr>
          </a:p>
          <a:p>
            <a:pPr algn="r" marR="52006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packing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keyword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281</a:t>
            </a:r>
            <a:endParaRPr sz="900">
              <a:latin typeface="Palatino Linotype"/>
              <a:cs typeface="Palatino Linotype"/>
            </a:endParaRPr>
          </a:p>
          <a:p>
            <a:pPr marL="167640" marR="13017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pairs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through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zip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161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palindromes,</a:t>
            </a:r>
            <a:r>
              <a:rPr dirty="0" sz="900" spc="4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135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finding,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135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51" y="653326"/>
            <a:ext cx="2209800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3215" marR="158750" indent="-155575">
              <a:lnSpc>
                <a:spcPct val="100000"/>
              </a:lnSpc>
              <a:spcBef>
                <a:spcPts val="100"/>
              </a:spcBef>
            </a:pPr>
            <a:r>
              <a:rPr dirty="0" sz="900" spc="-45">
                <a:latin typeface="Palatino Linotype"/>
                <a:cs typeface="Palatino Linotype"/>
              </a:rPr>
              <a:t>looping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through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words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144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146</a:t>
            </a:r>
            <a:endParaRPr sz="900">
              <a:latin typeface="Palatino Linotype"/>
              <a:cs typeface="Palatino Linotype"/>
            </a:endParaRPr>
          </a:p>
          <a:p>
            <a:pPr marL="323215" marR="17589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comprehension,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278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parameters,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28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adding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43</a:t>
            </a:r>
            <a:endParaRPr sz="900">
              <a:latin typeface="Palatino Linotype"/>
              <a:cs typeface="Palatino Linotype"/>
            </a:endParaRPr>
          </a:p>
          <a:p>
            <a:pPr marL="167640" marR="28384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right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types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85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local,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32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optional,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176</a:t>
            </a:r>
            <a:endParaRPr sz="900">
              <a:latin typeface="Palatino Linotype"/>
              <a:cs typeface="Palatino Linotype"/>
            </a:endParaRPr>
          </a:p>
          <a:p>
            <a:pPr marL="12700" marR="143891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parent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260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parentheses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()</a:t>
            </a:r>
            <a:endParaRPr sz="900">
              <a:latin typeface="Palatino Linotype"/>
              <a:cs typeface="Palatino Linotype"/>
            </a:endParaRPr>
          </a:p>
          <a:p>
            <a:pPr marL="167640" marR="96202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154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calls,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4</a:t>
            </a:r>
            <a:endParaRPr sz="900">
              <a:latin typeface="Palatino Linotype"/>
              <a:cs typeface="Palatino Linotype"/>
            </a:endParaRPr>
          </a:p>
          <a:p>
            <a:pPr marL="167640" marR="30099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grouping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regular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116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change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order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operations,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pass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patching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code,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215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217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paths,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192</a:t>
            </a:r>
            <a:endParaRPr sz="900">
              <a:latin typeface="Palatino Linotype"/>
              <a:cs typeface="Palatino Linotype"/>
            </a:endParaRPr>
          </a:p>
          <a:p>
            <a:pPr marL="323215" marR="1651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whether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refers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directory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323215" marR="9588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differences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on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different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operating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systems,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323215" marR="11557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that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includes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directory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name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name,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323215" marR="170180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walking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directories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paths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pattern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matching,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115</a:t>
            </a:r>
            <a:endParaRPr sz="900">
              <a:latin typeface="Palatino Linotype"/>
              <a:cs typeface="Palatino Linotype"/>
            </a:endParaRPr>
          </a:p>
          <a:p>
            <a:pPr marL="12700" marR="701040" indent="1549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regular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expressions)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patterns,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113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pendown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50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penup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50</a:t>
            </a:r>
            <a:endParaRPr sz="900">
              <a:latin typeface="Palatino Linotype"/>
              <a:cs typeface="Palatino Linotype"/>
            </a:endParaRPr>
          </a:p>
          <a:p>
            <a:pPr marL="12700" marR="106045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persistent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191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objects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equality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for,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238</a:t>
            </a:r>
            <a:endParaRPr sz="900">
              <a:latin typeface="Palatino Linotype"/>
              <a:cs typeface="Palatino Linotype"/>
            </a:endParaRPr>
          </a:p>
          <a:p>
            <a:pPr marL="323215" marR="7048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four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rec‐ </a:t>
            </a:r>
            <a:r>
              <a:rPr dirty="0" sz="900" spc="-55">
                <a:latin typeface="Palatino Linotype"/>
                <a:cs typeface="Palatino Linotype"/>
              </a:rPr>
              <a:t>tangle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corners,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239</a:t>
            </a:r>
            <a:endParaRPr sz="900">
              <a:latin typeface="Palatino Linotype"/>
              <a:cs typeface="Palatino Linotype"/>
            </a:endParaRPr>
          </a:p>
          <a:p>
            <a:pPr marL="167640" marR="31051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representing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corners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rectangle,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239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representation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points</a:t>
            </a:r>
            <a:endParaRPr sz="900">
              <a:latin typeface="Palatino Linotype"/>
              <a:cs typeface="Palatino Linotype"/>
            </a:endParaRPr>
          </a:p>
          <a:p>
            <a:pPr marL="323215" marR="120014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line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segment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between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two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points,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235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237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x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0">
                <a:latin typeface="Palatino Linotype"/>
                <a:cs typeface="Palatino Linotype"/>
              </a:rPr>
              <a:t>y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keys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unpack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operator,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283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234</a:t>
            </a:r>
            <a:endParaRPr sz="900">
              <a:latin typeface="Palatino Linotype"/>
              <a:cs typeface="Palatino Linotype"/>
            </a:endParaRPr>
          </a:p>
          <a:p>
            <a:pPr marL="167640" marR="7683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class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namedtuple,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280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translated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235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instantiating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234</a:t>
            </a:r>
            <a:r>
              <a:rPr dirty="0" sz="900" spc="4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representing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Python,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233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translate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Point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234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704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302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51" y="653326"/>
            <a:ext cx="2132330" cy="6840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0">
                <a:latin typeface="Palatino Linotype"/>
                <a:cs typeface="Palatino Linotype"/>
              </a:rPr>
              <a:t>polygon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44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polyline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45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polymorphism,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244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260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pop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125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257</a:t>
            </a:r>
            <a:endParaRPr sz="900">
              <a:latin typeface="Palatino Linotype"/>
              <a:cs typeface="Palatino Linotype"/>
            </a:endParaRPr>
          </a:p>
          <a:p>
            <a:pPr marL="12700" marR="3962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positive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absolute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postconditions,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49</a:t>
            </a:r>
            <a:endParaRPr sz="900">
              <a:latin typeface="Palatino Linotype"/>
              <a:cs typeface="Palatino Linotype"/>
            </a:endParaRPr>
          </a:p>
          <a:p>
            <a:pPr marL="167640" marR="13335" indent="-15557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pound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symbol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(#),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comments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beginning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21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90">
                <a:latin typeface="Palatino Linotype"/>
                <a:cs typeface="Palatino Linotype"/>
              </a:rPr>
              <a:t>pow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pprint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148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preconditions,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49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print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19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262</a:t>
            </a:r>
            <a:endParaRPr sz="900">
              <a:latin typeface="Palatino Linotype"/>
              <a:cs typeface="Palatino Linotype"/>
            </a:endParaRPr>
          </a:p>
          <a:p>
            <a:pPr marL="167640" marR="109156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21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line,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 marR="508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question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mark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unknown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33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print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statements</a:t>
            </a:r>
            <a:endParaRPr sz="900">
              <a:latin typeface="Palatino Linotype"/>
              <a:cs typeface="Palatino Linotype"/>
            </a:endParaRPr>
          </a:p>
          <a:p>
            <a:pPr marL="12700" marR="659130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debug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86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programmer-</a:t>
            </a:r>
            <a:r>
              <a:rPr dirty="0" sz="900" spc="-45">
                <a:latin typeface="Palatino Linotype"/>
                <a:cs typeface="Palatino Linotype"/>
              </a:rPr>
              <a:t>defined</a:t>
            </a:r>
            <a:r>
              <a:rPr dirty="0" sz="900" spc="8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types</a:t>
            </a:r>
            <a:endParaRPr sz="900">
              <a:latin typeface="Palatino Linotype"/>
              <a:cs typeface="Palatino Linotype"/>
            </a:endParaRPr>
          </a:p>
          <a:p>
            <a:pPr marL="12700" marR="71056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structshape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220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programming,</a:t>
            </a:r>
            <a:r>
              <a:rPr dirty="0" sz="900" spc="5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programming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languages,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prompt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(&gt;&gt;&gt;),</a:t>
            </a:r>
            <a:r>
              <a:rPr dirty="0" sz="900" spc="5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99</a:t>
            </a:r>
            <a:endParaRPr sz="900">
              <a:latin typeface="Palatino Linotype"/>
              <a:cs typeface="Palatino Linotype"/>
            </a:endParaRPr>
          </a:p>
          <a:p>
            <a:pPr marL="12700" marR="76263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prototype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patch,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215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217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pseudorandom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179</a:t>
            </a:r>
            <a:endParaRPr sz="900">
              <a:latin typeface="Palatino Linotype"/>
              <a:cs typeface="Palatino Linotype"/>
            </a:endParaRPr>
          </a:p>
          <a:p>
            <a:pPr marL="167640" marR="7620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punctuation,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identifying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removing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from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text,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172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175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pure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76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79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214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Pythagorean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theorem,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77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45" b="1">
                <a:latin typeface="Trebuchet MS"/>
                <a:cs typeface="Trebuchet MS"/>
              </a:rPr>
              <a:t>Q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45">
                <a:latin typeface="Palatino Linotype"/>
                <a:cs typeface="Palatino Linotype"/>
              </a:rPr>
              <a:t>question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mark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(?)</a:t>
            </a:r>
            <a:endParaRPr sz="900">
              <a:latin typeface="Palatino Linotype"/>
              <a:cs typeface="Palatino Linotype"/>
            </a:endParaRPr>
          </a:p>
          <a:p>
            <a:pPr marL="323215" marR="189865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matching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regular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116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quotation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marks,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double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("")</a:t>
            </a:r>
            <a:endParaRPr sz="900">
              <a:latin typeface="Palatino Linotype"/>
              <a:cs typeface="Palatino Linotype"/>
            </a:endParaRPr>
          </a:p>
          <a:p>
            <a:pPr marL="167640" marR="9017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"""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triple-</a:t>
            </a:r>
            <a:r>
              <a:rPr dirty="0" sz="900" spc="-50">
                <a:latin typeface="Palatino Linotype"/>
                <a:cs typeface="Palatino Linotype"/>
              </a:rPr>
              <a:t>quoted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docstrings,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48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5</a:t>
            </a:r>
            <a:endParaRPr sz="900">
              <a:latin typeface="Palatino Linotype"/>
              <a:cs typeface="Palatino Linotype"/>
            </a:endParaRPr>
          </a:p>
          <a:p>
            <a:pPr marL="167640" marR="461645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quotation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marks,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single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('')</a:t>
            </a:r>
            <a:r>
              <a:rPr dirty="0" sz="900" spc="2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enclosing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quotient,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158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35" b="1">
                <a:latin typeface="Trebuchet MS"/>
                <a:cs typeface="Trebuchet MS"/>
              </a:rPr>
              <a:t>R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0">
                <a:latin typeface="Palatino Linotype"/>
                <a:cs typeface="Palatino Linotype"/>
              </a:rPr>
              <a:t>random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179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258</a:t>
            </a:r>
            <a:endParaRPr sz="900">
              <a:latin typeface="Palatino Linotype"/>
              <a:cs typeface="Palatino Linotype"/>
            </a:endParaRPr>
          </a:p>
          <a:p>
            <a:pPr marL="12700" marR="12128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random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generating,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range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91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85">
                <a:latin typeface="Palatino Linotype"/>
                <a:cs typeface="Palatino Linotype"/>
              </a:rPr>
              <a:t>raw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118</a:t>
            </a:r>
            <a:endParaRPr sz="900">
              <a:latin typeface="Palatino Linotype"/>
              <a:cs typeface="Palatino Linotype"/>
            </a:endParaRPr>
          </a:p>
          <a:p>
            <a:pPr marL="12700" marR="438784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(regular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expressions)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114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read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132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readers,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111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01" y="653326"/>
            <a:ext cx="2202815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readline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93</a:t>
            </a:r>
            <a:endParaRPr sz="900">
              <a:latin typeface="Palatino Linotype"/>
              <a:cs typeface="Palatino Linotype"/>
            </a:endParaRPr>
          </a:p>
          <a:p>
            <a:pPr marL="12700" marR="16033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receiver,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224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rectangles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changing,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240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242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creating,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238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240</a:t>
            </a:r>
            <a:endParaRPr sz="900">
              <a:latin typeface="Palatino Linotype"/>
              <a:cs typeface="Palatino Linotype"/>
            </a:endParaRPr>
          </a:p>
          <a:p>
            <a:pPr marL="12700" marR="582930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deep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copies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242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244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recursion,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61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infinite,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63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84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RecursionError,</a:t>
            </a:r>
            <a:r>
              <a:rPr dirty="0" sz="900" spc="6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63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recursive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62</a:t>
            </a:r>
            <a:endParaRPr sz="900">
              <a:latin typeface="Palatino Linotype"/>
              <a:cs typeface="Palatino Linotype"/>
            </a:endParaRPr>
          </a:p>
          <a:p>
            <a:pPr marL="167640" marR="514984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assuming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they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work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correctly,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83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fibonacci,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84</a:t>
            </a:r>
            <a:endParaRPr sz="900">
              <a:latin typeface="Palatino Linotype"/>
              <a:cs typeface="Palatino Linotype"/>
            </a:endParaRPr>
          </a:p>
          <a:p>
            <a:pPr marL="167640" marR="88328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81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83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stack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diagrams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for,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63</a:t>
            </a:r>
            <a:endParaRPr sz="900">
              <a:latin typeface="Palatino Linotype"/>
              <a:cs typeface="Palatino Linotype"/>
            </a:endParaRPr>
          </a:p>
          <a:p>
            <a:pPr marL="12700" marR="102235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redirect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(&gt;),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117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refactoring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code,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46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references,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130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passing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reference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argu‐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ment,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131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regular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113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116</a:t>
            </a:r>
            <a:endParaRPr sz="900">
              <a:latin typeface="Palatino Linotype"/>
              <a:cs typeface="Palatino Linotype"/>
            </a:endParaRPr>
          </a:p>
          <a:p>
            <a:pPr marL="12700" marR="53276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substitution,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116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relational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57</a:t>
            </a:r>
            <a:endParaRPr sz="900">
              <a:latin typeface="Palatino Linotype"/>
              <a:cs typeface="Palatino Linotype"/>
            </a:endParaRPr>
          </a:p>
          <a:p>
            <a:pPr marL="167640" marR="50736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Card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253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255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comparisons,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109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163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relative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paths,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192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remainder,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56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158</a:t>
            </a:r>
            <a:endParaRPr sz="900">
              <a:latin typeface="Palatino Linotype"/>
              <a:cs typeface="Palatino Linotype"/>
            </a:endParaRPr>
          </a:p>
          <a:p>
            <a:pPr marL="12700" marR="63563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remove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126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133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160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repetition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(*),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36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repetition,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31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replace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112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repr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 marR="1036319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(\r),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204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74</a:t>
            </a:r>
            <a:endParaRPr sz="900">
              <a:latin typeface="Palatino Linotype"/>
              <a:cs typeface="Palatino Linotype"/>
            </a:endParaRPr>
          </a:p>
          <a:p>
            <a:pPr marL="167640" marR="27178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adding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print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before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each,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86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76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values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conditionals,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76</a:t>
            </a:r>
            <a:endParaRPr sz="900">
              <a:latin typeface="Palatino Linotype"/>
              <a:cs typeface="Palatino Linotype"/>
            </a:endParaRPr>
          </a:p>
          <a:p>
            <a:pPr marL="167640" marR="12827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example,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circle_area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74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having,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73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75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not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having,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75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76</a:t>
            </a:r>
            <a:endParaRPr sz="900">
              <a:latin typeface="Palatino Linotype"/>
              <a:cs typeface="Palatino Linotype"/>
            </a:endParaRPr>
          </a:p>
          <a:p>
            <a:pPr marL="167640" marR="26035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incorrect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ending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without,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87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7" action="ppaction://hlinksldjump"/>
              </a:rPr>
              <a:t>212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recursion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81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83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tuples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158</a:t>
            </a:r>
            <a:endParaRPr sz="900">
              <a:latin typeface="Palatino Linotype"/>
              <a:cs typeface="Palatino Linotype"/>
            </a:endParaRPr>
          </a:p>
          <a:p>
            <a:pPr marL="12700" marR="874394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reverse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order,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175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reversed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8" action="ppaction://hlinksldjump"/>
              </a:rPr>
              <a:t>135</a:t>
            </a:r>
            <a:endParaRPr sz="900">
              <a:latin typeface="Palatino Linotype"/>
              <a:cs typeface="Palatino Linotype"/>
            </a:endParaRPr>
          </a:p>
          <a:p>
            <a:pPr marL="12700" marR="102933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9" action="ppaction://hlinksldjump"/>
              </a:rPr>
              <a:t>155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right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solidFill>
                  <a:srgbClr val="990000"/>
                </a:solidFill>
                <a:latin typeface="Palatino Linotype"/>
                <a:cs typeface="Palatino Linotype"/>
                <a:hlinkClick r:id="rId80" action="ppaction://hlinksldjump"/>
              </a:rPr>
              <a:t>40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69806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Index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303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62" y="653326"/>
            <a:ext cx="2207260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377315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Palatino Linotype"/>
                <a:cs typeface="Palatino Linotype"/>
              </a:rPr>
              <a:t>round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4</a:t>
            </a:r>
            <a:endParaRPr sz="900">
              <a:latin typeface="Palatino Linotype"/>
              <a:cs typeface="Palatino Linotype"/>
            </a:endParaRPr>
          </a:p>
          <a:p>
            <a:pPr algn="r" marR="138303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20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exercise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12</a:t>
            </a:r>
            <a:endParaRPr sz="900">
              <a:latin typeface="Palatino Linotype"/>
              <a:cs typeface="Palatino Linotype"/>
            </a:endParaRPr>
          </a:p>
          <a:p>
            <a:pPr marL="12700" marR="56769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ndigits,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176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rubber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duck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187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runtime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66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tracebacks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33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run_doctests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99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run_unittest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284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190" b="1">
                <a:latin typeface="Trebuchet MS"/>
                <a:cs typeface="Trebuchet MS"/>
              </a:rPr>
              <a:t>S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0">
                <a:latin typeface="Palatino Linotype"/>
                <a:cs typeface="Palatino Linotype"/>
              </a:rPr>
              <a:t>scaffolding,</a:t>
            </a:r>
            <a:r>
              <a:rPr dirty="0" sz="900" spc="6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80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searches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looking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98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search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pattern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matching,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114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self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224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225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226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semantic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sequences,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105</a:t>
            </a:r>
            <a:endParaRPr sz="900">
              <a:latin typeface="Palatino Linotype"/>
              <a:cs typeface="Palatino Linotype"/>
            </a:endParaRPr>
          </a:p>
          <a:p>
            <a:pPr marL="167640" marR="116141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121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passing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270</a:t>
            </a:r>
            <a:endParaRPr sz="900">
              <a:latin typeface="Palatino Linotype"/>
              <a:cs typeface="Palatino Linotype"/>
            </a:endParaRPr>
          </a:p>
          <a:p>
            <a:pPr marL="167640" marR="33718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sorted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all,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128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105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107</a:t>
            </a:r>
            <a:endParaRPr sz="900">
              <a:latin typeface="Palatino Linotype"/>
              <a:cs typeface="Palatino Linotype"/>
            </a:endParaRPr>
          </a:p>
          <a:p>
            <a:pPr marL="12700" marR="876300" indent="15494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assignments,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157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serialization,</a:t>
            </a:r>
            <a:r>
              <a:rPr dirty="0" sz="900" spc="6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196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set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subtraction,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177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sets,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269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272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sexagesimal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217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shallow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copy,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243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shapes,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244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shelf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algn="just" marL="12700" marR="491490" indent="1549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store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data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structures,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199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commands,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!tail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and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!head,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117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shelve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196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199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shelve.open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197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shuffle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258</a:t>
            </a:r>
            <a:endParaRPr sz="900">
              <a:latin typeface="Palatino Linotype"/>
              <a:cs typeface="Palatino Linotype"/>
            </a:endParaRPr>
          </a:p>
          <a:p>
            <a:pPr marL="12700" marR="118872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Sierpiński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triangle,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slice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(:),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123</a:t>
            </a:r>
            <a:endParaRPr sz="900">
              <a:latin typeface="Palatino Linotype"/>
              <a:cs typeface="Palatino Linotype"/>
            </a:endParaRPr>
          </a:p>
          <a:p>
            <a:pPr marL="12700" marR="1033144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155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slices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123</a:t>
            </a:r>
            <a:endParaRPr sz="900">
              <a:latin typeface="Palatino Linotype"/>
              <a:cs typeface="Palatino Linotype"/>
            </a:endParaRPr>
          </a:p>
          <a:p>
            <a:pPr marL="167640" marR="741045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slice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sorted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172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107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sort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key,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164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sort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258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sorted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128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164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172</a:t>
            </a:r>
            <a:endParaRPr sz="900">
              <a:latin typeface="Palatino Linotype"/>
              <a:cs typeface="Palatino Linotype"/>
            </a:endParaRPr>
          </a:p>
          <a:p>
            <a:pPr marL="167640" marR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sorting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key-</a:t>
            </a:r>
            <a:r>
              <a:rPr dirty="0" sz="900" spc="-55">
                <a:latin typeface="Palatino Linotype"/>
                <a:cs typeface="Palatino Linotype"/>
              </a:rPr>
              <a:t>value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pairs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frequency,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175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128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77" y="653326"/>
            <a:ext cx="2199640" cy="674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155</a:t>
            </a:r>
            <a:endParaRPr sz="900">
              <a:latin typeface="Palatino Linotype"/>
              <a:cs typeface="Palatino Linotype"/>
            </a:endParaRPr>
          </a:p>
          <a:p>
            <a:pPr marL="167640" marR="698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space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controlling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indentation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out‐ </a:t>
            </a:r>
            <a:r>
              <a:rPr dirty="0" sz="900" spc="-45">
                <a:latin typeface="Palatino Linotype"/>
                <a:cs typeface="Palatino Linotype"/>
              </a:rPr>
              <a:t>put,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86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spaces,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span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114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special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228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specialization,</a:t>
            </a:r>
            <a:r>
              <a:rPr dirty="0" sz="900" spc="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262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spellcheck,</a:t>
            </a:r>
            <a:r>
              <a:rPr dirty="0" sz="900" spc="4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177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split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126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127</a:t>
            </a:r>
            <a:endParaRPr sz="900">
              <a:latin typeface="Palatino Linotype"/>
              <a:cs typeface="Palatino Linotype"/>
            </a:endParaRPr>
          </a:p>
          <a:p>
            <a:pPr marL="167640" marR="33972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dividing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lines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splitting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132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sqrt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79</a:t>
            </a:r>
            <a:endParaRPr sz="900">
              <a:latin typeface="Palatino Linotype"/>
              <a:cs typeface="Palatino Linotype"/>
            </a:endParaRPr>
          </a:p>
          <a:p>
            <a:pPr marL="12700" marR="1069340" indent="1549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value,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73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square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([]),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121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bracket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operator)</a:t>
            </a:r>
            <a:endParaRPr sz="900">
              <a:latin typeface="Palatino Linotype"/>
              <a:cs typeface="Palatino Linotype"/>
            </a:endParaRPr>
          </a:p>
          <a:p>
            <a:pPr marL="12700" marR="347345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80">
                <a:latin typeface="Palatino Linotype"/>
                <a:cs typeface="Palatino Linotype"/>
              </a:rPr>
              <a:t>add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items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dictionary,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138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square,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creating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make_turtle,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41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stack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diagrams,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33</a:t>
            </a:r>
            <a:endParaRPr sz="900">
              <a:latin typeface="Palatino Linotype"/>
              <a:cs typeface="Palatino Linotype"/>
            </a:endParaRPr>
          </a:p>
          <a:p>
            <a:pPr marL="167640" marR="635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circle,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arc,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polyline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47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drawing,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exercise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recurse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69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recursive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factorial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program,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83</a:t>
            </a:r>
            <a:endParaRPr sz="900">
              <a:latin typeface="Palatino Linotype"/>
              <a:cs typeface="Palatino Linotype"/>
            </a:endParaRPr>
          </a:p>
          <a:p>
            <a:pPr marL="12700" marR="867410" indent="1549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recursive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63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startswith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110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state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diagrams,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16</a:t>
            </a:r>
            <a:endParaRPr sz="900">
              <a:latin typeface="Palatino Linotype"/>
              <a:cs typeface="Palatino Linotype"/>
            </a:endParaRPr>
          </a:p>
          <a:p>
            <a:pPr marL="12700" marR="765175" indent="1549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dictionary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example,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139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19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static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225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227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8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type,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7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variable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or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str,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24</a:t>
            </a:r>
            <a:endParaRPr sz="900">
              <a:latin typeface="Palatino Linotype"/>
              <a:cs typeface="Palatino Linotype"/>
            </a:endParaRPr>
          </a:p>
          <a:p>
            <a:pPr algn="just" marL="167640" marR="342900" indent="-155575">
              <a:lnSpc>
                <a:spcPct val="100000"/>
              </a:lnSpc>
            </a:pPr>
            <a:r>
              <a:rPr dirty="0" u="sng" sz="900" spc="20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>
                <a:latin typeface="Palatino Linotype"/>
                <a:cs typeface="Palatino Linotype"/>
              </a:rPr>
              <a:t>str</a:t>
            </a:r>
            <a:r>
              <a:rPr dirty="0" u="sng" sz="900" spc="3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227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230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235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239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252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classes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created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with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namedtuple,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280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Deck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256</a:t>
            </a:r>
            <a:endParaRPr sz="900">
              <a:latin typeface="Palatino Linotype"/>
              <a:cs typeface="Palatino Linotype"/>
            </a:endParaRPr>
          </a:p>
          <a:p>
            <a:pPr algn="just" marL="323215" marR="12700" indent="-155575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using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</a:t>
            </a:r>
            <a:r>
              <a:rPr dirty="0" sz="900" spc="-45">
                <a:latin typeface="Palatino Linotype"/>
                <a:cs typeface="Palatino Linotype"/>
              </a:rPr>
              <a:t>string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create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string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representation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line,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substitution,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117</a:t>
            </a:r>
            <a:endParaRPr sz="90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strings,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5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 marR="413384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appears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96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comparisons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7" action="ppaction://hlinksldjump"/>
              </a:rPr>
              <a:t>109</a:t>
            </a:r>
            <a:endParaRPr sz="900">
              <a:latin typeface="Palatino Linotype"/>
              <a:cs typeface="Palatino Linotype"/>
            </a:endParaRPr>
          </a:p>
          <a:p>
            <a:pPr marL="167640" marR="35433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lowercase,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8" action="ppaction://hlinksldjump"/>
              </a:rPr>
              <a:t>97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converting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128</a:t>
            </a:r>
            <a:endParaRPr sz="900">
              <a:latin typeface="Palatino Linotype"/>
              <a:cs typeface="Palatino Linotype"/>
            </a:endParaRPr>
          </a:p>
          <a:p>
            <a:pPr marL="167640" marR="1016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f-</a:t>
            </a:r>
            <a:r>
              <a:rPr dirty="0" sz="900" spc="-35">
                <a:latin typeface="Palatino Linotype"/>
                <a:cs typeface="Palatino Linotype"/>
              </a:rPr>
              <a:t>string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expressions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converted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9" action="ppaction://hlinksldjump"/>
              </a:rPr>
              <a:t>195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finding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replacing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sequences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3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0" action="ppaction://hlinksldjump"/>
              </a:rPr>
              <a:t>112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finding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sequences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regular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81" action="ppaction://hlinksldjump"/>
              </a:rPr>
              <a:t>113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2" action="ppaction://hlinksldjump"/>
              </a:rPr>
              <a:t>116</a:t>
            </a:r>
            <a:endParaRPr sz="900">
              <a:latin typeface="Palatino Linotype"/>
              <a:cs typeface="Palatino Linotype"/>
            </a:endParaRPr>
          </a:p>
          <a:p>
            <a:pPr marL="167640" marR="57594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loop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displaying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3" action="ppaction://hlinksldjump"/>
              </a:rPr>
              <a:t>92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getting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last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letter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4" action="ppaction://hlinksldjump"/>
              </a:rPr>
              <a:t>106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immutability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5" action="ppaction://hlinksldjump"/>
              </a:rPr>
              <a:t>108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729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304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25" y="653326"/>
            <a:ext cx="2197735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126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121</a:t>
            </a:r>
            <a:endParaRPr sz="900">
              <a:latin typeface="Palatino Linotype"/>
              <a:cs typeface="Palatino Linotype"/>
            </a:endParaRPr>
          </a:p>
          <a:p>
            <a:pPr marL="167640" marR="2095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lists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concatenating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single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127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methods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109</a:t>
            </a:r>
            <a:endParaRPr sz="900">
              <a:latin typeface="Palatino Linotype"/>
              <a:cs typeface="Palatino Linotype"/>
            </a:endParaRPr>
          </a:p>
          <a:p>
            <a:pPr marL="167640" marR="27368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multiline,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enclosed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triple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quotes,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48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129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operators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writing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files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110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112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printing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19</a:t>
            </a:r>
            <a:endParaRPr sz="900">
              <a:latin typeface="Palatino Linotype"/>
              <a:cs typeface="Palatino Linotype"/>
            </a:endParaRPr>
          </a:p>
          <a:p>
            <a:pPr marL="167640" marR="50673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file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132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returned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readline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93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searching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98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selecting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character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from,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105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slices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107</a:t>
            </a:r>
            <a:endParaRPr sz="900">
              <a:latin typeface="Palatino Linotype"/>
              <a:cs typeface="Palatino Linotype"/>
            </a:endParaRPr>
          </a:p>
          <a:p>
            <a:pPr marL="167640" marR="2349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sorting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letters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in,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sorted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128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string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methods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versus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133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stripping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newline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whitespace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latin typeface="Palatino Linotype"/>
                <a:cs typeface="Palatino Linotype"/>
              </a:rPr>
              <a:t>from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94</a:t>
            </a:r>
            <a:endParaRPr sz="900">
              <a:latin typeface="Palatino Linotype"/>
              <a:cs typeface="Palatino Linotype"/>
            </a:endParaRPr>
          </a:p>
          <a:p>
            <a:pPr marL="323215" marR="15430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combination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strings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other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f-string,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194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strip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94</a:t>
            </a:r>
            <a:endParaRPr sz="900">
              <a:latin typeface="Palatino Linotype"/>
              <a:cs typeface="Palatino Linotype"/>
            </a:endParaRPr>
          </a:p>
          <a:p>
            <a:pPr marL="323215" marR="4953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removing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punctuation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from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beginning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end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173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structshape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166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structshape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220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sub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117</a:t>
            </a:r>
            <a:endParaRPr sz="900">
              <a:latin typeface="Palatino Linotype"/>
              <a:cs typeface="Palatino Linotype"/>
            </a:endParaRPr>
          </a:p>
          <a:p>
            <a:pPr marL="12700" marR="982344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subtract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177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subtraction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>
                <a:latin typeface="Palatino Linotype"/>
                <a:cs typeface="Palatino Linotype"/>
              </a:rPr>
              <a:t>(-),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2</a:t>
            </a:r>
            <a:endParaRPr sz="900">
              <a:latin typeface="Palatino Linotype"/>
              <a:cs typeface="Palatino Linotype"/>
            </a:endParaRPr>
          </a:p>
          <a:p>
            <a:pPr marL="12700" marR="658495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set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subtraction,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271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subtraction,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Counter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objects,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273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sum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125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syntax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errors,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5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10</a:t>
            </a:r>
            <a:r>
              <a:rPr dirty="0" sz="900" spc="-20">
                <a:latin typeface="Palatino Linotype"/>
                <a:cs typeface="Palatino Linotype"/>
              </a:rPr>
              <a:t>,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22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66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35" b="1">
                <a:latin typeface="Trebuchet MS"/>
                <a:cs typeface="Trebuchet MS"/>
              </a:rPr>
              <a:t>T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0">
                <a:latin typeface="Palatino Linotype"/>
                <a:cs typeface="Palatino Linotype"/>
              </a:rPr>
              <a:t>tabs,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!tail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command,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117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test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discovery,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284</a:t>
            </a:r>
            <a:endParaRPr sz="900">
              <a:latin typeface="Palatino Linotype"/>
              <a:cs typeface="Palatino Linotype"/>
            </a:endParaRPr>
          </a:p>
          <a:p>
            <a:pPr marL="12700" marR="98933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test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failing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unittest,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285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TestCase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284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testing</a:t>
            </a:r>
            <a:endParaRPr sz="900">
              <a:latin typeface="Palatino Linotype"/>
              <a:cs typeface="Palatino Linotype"/>
            </a:endParaRPr>
          </a:p>
          <a:p>
            <a:pPr marL="167640" marR="419734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incremental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development,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77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80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testing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doctest,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99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analysis</a:t>
            </a:r>
            <a:endParaRPr sz="900">
              <a:latin typeface="Palatino Linotype"/>
              <a:cs typeface="Palatino Linotype"/>
            </a:endParaRPr>
          </a:p>
          <a:p>
            <a:pPr marL="167640" marR="22288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counting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dealing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punctuation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identifying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172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175</a:t>
            </a:r>
            <a:endParaRPr sz="900">
              <a:latin typeface="Palatino Linotype"/>
              <a:cs typeface="Palatino Linotype"/>
            </a:endParaRPr>
          </a:p>
          <a:p>
            <a:pPr marL="167640" marR="17399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frequency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each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175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identifying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bigrams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their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frequency,</a:t>
            </a:r>
            <a:endParaRPr sz="900">
              <a:latin typeface="Palatino Linotype"/>
              <a:cs typeface="Palatino Linotype"/>
            </a:endParaRPr>
          </a:p>
          <a:p>
            <a:pPr marL="323215">
              <a:lnSpc>
                <a:spcPct val="100000"/>
              </a:lnSpc>
            </a:pP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181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54" y="653326"/>
            <a:ext cx="2123440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dirty="0" sz="900" spc="-60">
                <a:latin typeface="Palatino Linotype"/>
                <a:cs typeface="Palatino Linotype"/>
              </a:rPr>
              <a:t>Markov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analysis,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183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185</a:t>
            </a:r>
            <a:endParaRPr sz="900">
              <a:latin typeface="Palatino Linotype"/>
              <a:cs typeface="Palatino Linotype"/>
            </a:endParaRPr>
          </a:p>
          <a:p>
            <a:pPr marL="167640" marR="18796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optional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parameters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176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spellchecking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book,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177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text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generation</a:t>
            </a:r>
            <a:endParaRPr sz="900">
              <a:latin typeface="Palatino Linotype"/>
              <a:cs typeface="Palatino Linotype"/>
            </a:endParaRPr>
          </a:p>
          <a:p>
            <a:pPr marL="167640" marR="49403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random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sequence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178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bigrams,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182</a:t>
            </a:r>
            <a:endParaRPr sz="900">
              <a:latin typeface="Palatino Linotype"/>
              <a:cs typeface="Palatino Linotype"/>
            </a:endParaRPr>
          </a:p>
          <a:p>
            <a:pPr marL="12700" marR="266700" indent="1549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results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Markov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analysis,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185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thinking,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programming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110">
                <a:latin typeface="Palatino Linotype"/>
                <a:cs typeface="Palatino Linotype"/>
              </a:rPr>
              <a:t>way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</a:t>
            </a:r>
            <a:r>
              <a:rPr dirty="0" sz="900" spc="2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time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69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25">
                <a:latin typeface="Palatino Linotype"/>
                <a:cs typeface="Palatino Linotype"/>
              </a:rPr>
              <a:t>TODO </a:t>
            </a:r>
            <a:r>
              <a:rPr dirty="0" sz="900" spc="-10">
                <a:latin typeface="Palatino Linotype"/>
                <a:cs typeface="Palatino Linotype"/>
              </a:rPr>
              <a:t>(in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comments),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59</a:t>
            </a:r>
            <a:endParaRPr sz="900">
              <a:latin typeface="Palatino Linotype"/>
              <a:cs typeface="Palatino Linotype"/>
            </a:endParaRPr>
          </a:p>
          <a:p>
            <a:pPr marL="12700" marR="346075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total,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initializing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incrementing,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96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totally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ordered,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255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tracebacks,</a:t>
            </a:r>
            <a:r>
              <a:rPr dirty="0" sz="900" spc="3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33</a:t>
            </a:r>
            <a:endParaRPr sz="900">
              <a:latin typeface="Palatino Linotype"/>
              <a:cs typeface="Palatino Linotype"/>
            </a:endParaRPr>
          </a:p>
          <a:p>
            <a:pPr marL="323215" marR="348615" indent="-155575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infinitely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recursive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64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(see</a:t>
            </a:r>
            <a:r>
              <a:rPr dirty="0" sz="900" spc="-2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also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infinitely)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translate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240</a:t>
            </a:r>
            <a:endParaRPr sz="900">
              <a:latin typeface="Palatino Linotype"/>
              <a:cs typeface="Palatino Linotype"/>
            </a:endParaRPr>
          </a:p>
          <a:p>
            <a:pPr marL="12700" marR="213995" indent="15494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defining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adding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Rectangle,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241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trigrams,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181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trimmed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mean,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160</a:t>
            </a:r>
            <a:endParaRPr sz="900">
              <a:latin typeface="Palatino Linotype"/>
              <a:cs typeface="Palatino Linotype"/>
            </a:endParaRPr>
          </a:p>
          <a:p>
            <a:pPr marL="12700" marR="435609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True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False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(bool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type),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8" action="ppaction://hlinksldjump"/>
              </a:rPr>
              <a:t>57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9" action="ppaction://hlinksldjump"/>
              </a:rPr>
              <a:t>154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153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argument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packing,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1" action="ppaction://hlinksldjump"/>
              </a:rPr>
              <a:t>159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160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assignment,</a:t>
            </a:r>
            <a:r>
              <a:rPr dirty="0" sz="900" spc="5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2" action="ppaction://hlinksldjump"/>
              </a:rPr>
              <a:t>156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158</a:t>
            </a:r>
            <a:endParaRPr sz="900">
              <a:latin typeface="Palatino Linotype"/>
              <a:cs typeface="Palatino Linotype"/>
            </a:endParaRPr>
          </a:p>
          <a:p>
            <a:pPr marL="167640" marR="47879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comparing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sorting,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163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5" action="ppaction://hlinksldjump"/>
              </a:rPr>
              <a:t>164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comparisons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6" action="ppaction://hlinksldjump"/>
              </a:rPr>
              <a:t>254</a:t>
            </a:r>
            <a:endParaRPr sz="900">
              <a:latin typeface="Palatino Linotype"/>
              <a:cs typeface="Palatino Linotype"/>
            </a:endParaRPr>
          </a:p>
          <a:p>
            <a:pPr marL="167640" marR="39941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debugging,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structshape,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7" action="ppaction://hlinksldjump"/>
              </a:rPr>
              <a:t>167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immutability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155</a:t>
            </a:r>
            <a:endParaRPr sz="900">
              <a:latin typeface="Palatino Linotype"/>
              <a:cs typeface="Palatino Linotype"/>
            </a:endParaRPr>
          </a:p>
          <a:p>
            <a:pPr marL="167640" marR="64643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namedtuple,</a:t>
            </a:r>
            <a:r>
              <a:rPr dirty="0" sz="900" spc="2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9" action="ppaction://hlinksldjump"/>
              </a:rPr>
              <a:t>279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281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packing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arguments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into,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0" action="ppaction://hlinksldjump"/>
              </a:rPr>
              <a:t>281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return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3" action="ppaction://hlinksldjump"/>
              </a:rPr>
              <a:t>158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similarity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to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60" action="ppaction://hlinksldjump"/>
              </a:rPr>
              <a:t>153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8" action="ppaction://hlinksldjump"/>
              </a:rPr>
              <a:t>155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zip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1" action="ppaction://hlinksldjump"/>
              </a:rPr>
              <a:t>161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4" action="ppaction://hlinksldjump"/>
              </a:rPr>
              <a:t>163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Turing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complete,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2" action="ppaction://hlinksldjump"/>
              </a:rPr>
              <a:t>81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Turtle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3" action="ppaction://hlinksldjump"/>
              </a:rPr>
              <a:t>236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type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7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exercise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with,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5" action="ppaction://hlinksldjump"/>
              </a:rPr>
              <a:t>12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TypeError,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21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types,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4" action="ppaction://hlinksldjump"/>
              </a:rPr>
              <a:t>7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77" action="ppaction://hlinksldjump"/>
              </a:rPr>
              <a:t>9</a:t>
            </a:r>
            <a:r>
              <a:rPr dirty="0" sz="900" spc="-10">
                <a:latin typeface="Palatino Linotype"/>
                <a:cs typeface="Palatino Linotype"/>
              </a:rPr>
              <a:t>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 marR="508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argument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type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can't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handle,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6" action="ppaction://hlinksldjump"/>
              </a:rPr>
              <a:t>21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checking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for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8" action="ppaction://hlinksldjump"/>
              </a:rPr>
              <a:t>84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121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programmer-</a:t>
            </a:r>
            <a:r>
              <a:rPr dirty="0" sz="900" spc="-45">
                <a:latin typeface="Palatino Linotype"/>
                <a:cs typeface="Palatino Linotype"/>
              </a:rPr>
              <a:t>defined,</a:t>
            </a:r>
            <a:r>
              <a:rPr dirty="0" sz="900" spc="10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9" action="ppaction://hlinksldjump"/>
              </a:rPr>
              <a:t>209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unsupported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type,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0" action="ppaction://hlinksldjump"/>
              </a:rPr>
              <a:t>23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80" b="1">
                <a:latin typeface="Trebuchet MS"/>
                <a:cs typeface="Trebuchet MS"/>
              </a:rPr>
              <a:t>U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0">
                <a:latin typeface="Palatino Linotype"/>
                <a:cs typeface="Palatino Linotype"/>
              </a:rPr>
              <a:t>underscores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(_)</a:t>
            </a:r>
            <a:endParaRPr sz="900">
              <a:latin typeface="Palatino Linotype"/>
              <a:cs typeface="Palatino Linotype"/>
            </a:endParaRPr>
          </a:p>
          <a:p>
            <a:pPr marL="167640" marR="790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using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large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81" action="ppaction://hlinksldjump"/>
              </a:rPr>
              <a:t>8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names,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2" action="ppaction://hlinksldjump"/>
              </a:rPr>
              <a:t>17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69883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80" b="1">
                <a:latin typeface="Trebuchet MS"/>
                <a:cs typeface="Trebuchet MS"/>
              </a:rPr>
              <a:t>Index</a:t>
            </a:r>
            <a:r>
              <a:rPr dirty="0" sz="900" spc="484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90" b="1">
                <a:latin typeface="Trebuchet MS"/>
                <a:cs typeface="Trebuchet MS"/>
              </a:rPr>
              <a:t> </a:t>
            </a:r>
            <a:r>
              <a:rPr dirty="0" sz="900" spc="-140" b="1">
                <a:latin typeface="Trebuchet MS"/>
                <a:cs typeface="Trebuchet MS"/>
              </a:rPr>
              <a:t>305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624" y="653326"/>
            <a:ext cx="2143760" cy="5147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3215" marR="5080" indent="-155575">
              <a:lnSpc>
                <a:spcPct val="100000"/>
              </a:lnSpc>
              <a:spcBef>
                <a:spcPts val="100"/>
              </a:spcBef>
            </a:pPr>
            <a:r>
              <a:rPr dirty="0" u="sng" sz="900" spc="35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sz="900" spc="-55">
                <a:latin typeface="Palatino Linotype"/>
                <a:cs typeface="Palatino Linotype"/>
              </a:rPr>
              <a:t>double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underscores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beginning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end‐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special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method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names,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" action="ppaction://hlinksldjump"/>
              </a:rPr>
              <a:t>228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unicodedata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" action="ppaction://hlinksldjump"/>
              </a:rPr>
              <a:t>173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union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4" action="ppaction://hlinksldjump"/>
              </a:rPr>
              <a:t>271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273</a:t>
            </a:r>
            <a:endParaRPr sz="900">
              <a:latin typeface="Palatino Linotype"/>
              <a:cs typeface="Palatino Linotype"/>
            </a:endParaRPr>
          </a:p>
          <a:p>
            <a:pPr marL="12700" marR="953769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unittest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module,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6" action="ppaction://hlinksldjump"/>
              </a:rPr>
              <a:t>284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unpack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operator</a:t>
            </a:r>
            <a:r>
              <a:rPr dirty="0" sz="900">
                <a:latin typeface="Palatino Linotype"/>
                <a:cs typeface="Palatino Linotype"/>
              </a:rPr>
              <a:t> (**),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7" action="ppaction://hlinksldjump"/>
              </a:rPr>
              <a:t>283</a:t>
            </a:r>
            <a:endParaRPr sz="900">
              <a:latin typeface="Palatino Linotype"/>
              <a:cs typeface="Palatino Linotype"/>
            </a:endParaRPr>
          </a:p>
          <a:p>
            <a:pPr marL="12700" marR="49149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unpacking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arguments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8" action="ppaction://hlinksldjump"/>
              </a:rPr>
              <a:t>159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update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(HASH),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9" action="ppaction://hlinksldjump"/>
              </a:rPr>
              <a:t>202</a:t>
            </a:r>
            <a:endParaRPr sz="900">
              <a:latin typeface="Palatino Linotype"/>
              <a:cs typeface="Palatino Linotype"/>
            </a:endParaRPr>
          </a:p>
          <a:p>
            <a:pPr marL="167640" marR="33655" indent="-155575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updates,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updating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assignments,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60">
                <a:latin typeface="Palatino Linotype"/>
                <a:cs typeface="Palatino Linotype"/>
              </a:rPr>
              <a:t>upper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109</a:t>
            </a:r>
            <a:endParaRPr sz="900">
              <a:latin typeface="Palatino Linotype"/>
              <a:cs typeface="Palatino Linotype"/>
            </a:endParaRPr>
          </a:p>
          <a:p>
            <a:pPr marL="167640" marR="8763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uppercase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lowercase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letters,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handling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Python,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1" action="ppaction://hlinksldjump"/>
              </a:rPr>
              <a:t>109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UTC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(Coordinated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Universal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Time),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2" action="ppaction://hlinksldjump"/>
              </a:rPr>
              <a:t>69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60" b="1">
                <a:latin typeface="Trebuchet MS"/>
                <a:cs typeface="Trebuchet MS"/>
              </a:rPr>
              <a:t>V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5">
                <a:latin typeface="Palatino Linotype"/>
                <a:cs typeface="Palatino Linotype"/>
              </a:rPr>
              <a:t>value-frequency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pairs,</a:t>
            </a:r>
            <a:r>
              <a:rPr dirty="0" sz="900" spc="4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" action="ppaction://hlinksldjump"/>
              </a:rPr>
              <a:t>273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ValueError,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13" action="ppaction://hlinksldjump"/>
              </a:rPr>
              <a:t>65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4" action="ppaction://hlinksldjump"/>
              </a:rPr>
              <a:t>66</a:t>
            </a:r>
            <a:endParaRPr sz="900">
              <a:latin typeface="Palatino Linotype"/>
              <a:cs typeface="Palatino Linotype"/>
            </a:endParaRPr>
          </a:p>
          <a:p>
            <a:pPr marL="12700" marR="123189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returned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when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element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is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not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5" action="ppaction://hlinksldjump"/>
              </a:rPr>
              <a:t>126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values,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6" action="ppaction://hlinksldjump"/>
              </a:rPr>
              <a:t>10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objects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7" action="ppaction://hlinksldjump"/>
              </a:rPr>
              <a:t>129</a:t>
            </a:r>
            <a:endParaRPr sz="900">
              <a:latin typeface="Palatino Linotype"/>
              <a:cs typeface="Palatino Linotype"/>
            </a:endParaRPr>
          </a:p>
          <a:p>
            <a:pPr marL="167640" marR="812800">
              <a:lnSpc>
                <a:spcPct val="100000"/>
              </a:lnSpc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assignments,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156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types,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19" action="ppaction://hlinksldjump"/>
              </a:rPr>
              <a:t>6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0" action="ppaction://hlinksldjump"/>
              </a:rPr>
              <a:t>9</a:t>
            </a:r>
            <a:endParaRPr sz="900">
              <a:latin typeface="Palatino Linotype"/>
              <a:cs typeface="Palatino Linotype"/>
            </a:endParaRPr>
          </a:p>
          <a:p>
            <a:pPr marL="12700" marR="807085" indent="1549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value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solidFill>
                  <a:srgbClr val="990000"/>
                </a:solidFill>
                <a:latin typeface="Palatino Linotype"/>
                <a:cs typeface="Palatino Linotype"/>
                <a:hlinkClick r:id="rId21" action="ppaction://hlinksldjump"/>
              </a:rPr>
              <a:t>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2" action="ppaction://hlinksldjump"/>
              </a:rPr>
              <a:t>140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23" action="ppaction://hlinksldjump"/>
              </a:rPr>
              <a:t>143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4" action="ppaction://hlinksldjump"/>
              </a:rPr>
              <a:t>198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variables,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15</a:t>
            </a:r>
            <a:endParaRPr sz="900">
              <a:latin typeface="Palatino Linotype"/>
              <a:cs typeface="Palatino Linotype"/>
            </a:endParaRPr>
          </a:p>
          <a:p>
            <a:pPr marL="167640" marR="4381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association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(reference),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6" action="ppaction://hlinksldjump"/>
              </a:rPr>
              <a:t>130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class,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7" action="ppaction://hlinksldjump"/>
              </a:rPr>
              <a:t>250</a:t>
            </a:r>
            <a:endParaRPr sz="900">
              <a:latin typeface="Palatino Linotype"/>
              <a:cs typeface="Palatino Linotype"/>
            </a:endParaRPr>
          </a:p>
          <a:p>
            <a:pPr marL="167640" marR="352425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contained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106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created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by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running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statements,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5" action="ppaction://hlinksldjump"/>
              </a:rPr>
              <a:t>15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index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brackets,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8" action="ppaction://hlinksldjump"/>
              </a:rPr>
              <a:t>106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initializing,</a:t>
            </a:r>
            <a:r>
              <a:rPr dirty="0" sz="900" spc="4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0" action="ppaction://hlinksldjump"/>
              </a:rPr>
              <a:t>95</a:t>
            </a:r>
            <a:endParaRPr sz="900">
              <a:latin typeface="Palatino Linotype"/>
              <a:cs typeface="Palatino Linotype"/>
            </a:endParaRPr>
          </a:p>
          <a:p>
            <a:pPr marL="167640" marR="548640">
              <a:lnSpc>
                <a:spcPct val="100000"/>
              </a:lnSpc>
            </a:pPr>
            <a:r>
              <a:rPr dirty="0" sz="900" spc="-40">
                <a:latin typeface="Palatino Linotype"/>
                <a:cs typeface="Palatino Linotype"/>
              </a:rPr>
              <a:t>local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variables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29" action="ppaction://hlinksldjump"/>
              </a:rPr>
              <a:t>32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names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comments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and,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0" action="ppaction://hlinksldjump"/>
              </a:rPr>
              <a:t>22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naming,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16</a:t>
            </a:r>
            <a:endParaRPr sz="900">
              <a:latin typeface="Palatino Linotype"/>
              <a:cs typeface="Palatino Linotype"/>
            </a:endParaRPr>
          </a:p>
          <a:p>
            <a:pPr marL="167640" marR="3175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representing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state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diagrams,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1" action="ppaction://hlinksldjump"/>
              </a:rPr>
              <a:t>16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returned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values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assigned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to,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2" action="ppaction://hlinksldjump"/>
              </a:rPr>
              <a:t>73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902" y="653326"/>
            <a:ext cx="2156460" cy="5104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 marR="825500">
              <a:lnSpc>
                <a:spcPct val="100000"/>
              </a:lnSpc>
              <a:spcBef>
                <a:spcPts val="100"/>
              </a:spcBef>
            </a:pP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tuple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assignments,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18" action="ppaction://hlinksldjump"/>
              </a:rPr>
              <a:t>156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updating,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3" action="ppaction://hlinksldjump"/>
              </a:rPr>
              <a:t>94</a:t>
            </a:r>
            <a:endParaRPr sz="900">
              <a:latin typeface="Palatino Linotype"/>
              <a:cs typeface="Palatino Linotype"/>
            </a:endParaRPr>
          </a:p>
          <a:p>
            <a:pPr marL="12700" marR="619125" indent="154940">
              <a:lnSpc>
                <a:spcPct val="100000"/>
              </a:lnSpc>
            </a:pPr>
            <a:r>
              <a:rPr dirty="0" sz="900" spc="-65">
                <a:latin typeface="Palatino Linotype"/>
                <a:cs typeface="Palatino Linotype"/>
              </a:rPr>
              <a:t>use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as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arguments,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4" action="ppaction://hlinksldjump"/>
              </a:rPr>
              <a:t>29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vars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5" action="ppaction://hlinksldjump"/>
              </a:rPr>
              <a:t>220</a:t>
            </a:r>
            <a:endParaRPr sz="900">
              <a:latin typeface="Palatino Linotype"/>
              <a:cs typeface="Palatino Linotype"/>
            </a:endParaRPr>
          </a:p>
          <a:p>
            <a:pPr marL="12700" marR="2540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vertical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bar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75">
                <a:latin typeface="Palatino Linotype"/>
                <a:cs typeface="Palatino Linotype"/>
              </a:rPr>
              <a:t>(|)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regular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expressions,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0">
                <a:solidFill>
                  <a:srgbClr val="990000"/>
                </a:solidFill>
                <a:latin typeface="Palatino Linotype"/>
                <a:cs typeface="Palatino Linotype"/>
                <a:hlinkClick r:id="rId36" action="ppaction://hlinksldjump"/>
              </a:rPr>
              <a:t>115</a:t>
            </a:r>
            <a:r>
              <a:rPr dirty="0" sz="900" spc="-20">
                <a:latin typeface="Palatino Linotype"/>
                <a:cs typeface="Palatino Linotype"/>
              </a:rPr>
              <a:t>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7" action="ppaction://hlinksldjump"/>
              </a:rPr>
              <a:t>116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virtual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assistants</a:t>
            </a:r>
            <a:endParaRPr sz="900">
              <a:latin typeface="Palatino Linotype"/>
              <a:cs typeface="Palatino Linotype"/>
            </a:endParaRPr>
          </a:p>
          <a:p>
            <a:pPr marL="323215" marR="5080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asking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questions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about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incorrect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8" action="ppaction://hlinksldjump"/>
              </a:rPr>
              <a:t>87</a:t>
            </a:r>
            <a:endParaRPr sz="900">
              <a:latin typeface="Palatino Linotype"/>
              <a:cs typeface="Palatino Linotype"/>
            </a:endParaRPr>
          </a:p>
          <a:p>
            <a:pPr marL="167640" marR="41148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asking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questions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about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Python,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39" action="ppaction://hlinksldjump"/>
              </a:rPr>
              <a:t>11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assigning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role,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0" action="ppaction://hlinksldjump"/>
              </a:rPr>
              <a:t>134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debugging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functions,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1" action="ppaction://hlinksldjump"/>
              </a:rPr>
              <a:t>36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05" b="1">
                <a:latin typeface="Trebuchet MS"/>
                <a:cs typeface="Trebuchet MS"/>
              </a:rPr>
              <a:t>W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75">
                <a:latin typeface="Palatino Linotype"/>
                <a:cs typeface="Palatino Linotype"/>
              </a:rPr>
              <a:t>walk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2" action="ppaction://hlinksldjump"/>
              </a:rPr>
              <a:t>203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10">
                <a:latin typeface="Palatino Linotype"/>
                <a:cs typeface="Palatino Linotype"/>
              </a:rPr>
              <a:t>weights</a:t>
            </a:r>
            <a:endParaRPr sz="900">
              <a:latin typeface="Palatino Linotype"/>
              <a:cs typeface="Palatino Linotype"/>
            </a:endParaRPr>
          </a:p>
          <a:p>
            <a:pPr marL="167640" marR="604520">
              <a:lnSpc>
                <a:spcPct val="100000"/>
              </a:lnSpc>
            </a:pPr>
            <a:r>
              <a:rPr dirty="0" sz="900" spc="-35">
                <a:latin typeface="Palatino Linotype"/>
                <a:cs typeface="Palatino Linotype"/>
              </a:rPr>
              <a:t>list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bigram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frequencies,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3" action="ppaction://hlinksldjump"/>
              </a:rPr>
              <a:t>182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words,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4" action="ppaction://hlinksldjump"/>
              </a:rPr>
              <a:t>180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whitespace,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5" action="ppaction://hlinksldjump"/>
              </a:rPr>
              <a:t>194</a:t>
            </a:r>
            <a:endParaRPr sz="900">
              <a:latin typeface="Palatino Linotype"/>
              <a:cs typeface="Palatino Linotype"/>
            </a:endParaRPr>
          </a:p>
          <a:p>
            <a:pPr marL="323215" marR="30480" indent="-155575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problems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with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writing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files,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6" action="ppaction://hlinksldjump"/>
              </a:rPr>
              <a:t>204</a:t>
            </a:r>
            <a:endParaRPr sz="900">
              <a:latin typeface="Palatino Linotype"/>
              <a:cs typeface="Palatino Linotype"/>
            </a:endParaRPr>
          </a:p>
          <a:p>
            <a:pPr marL="12700" marR="999490">
              <a:lnSpc>
                <a:spcPct val="100000"/>
              </a:lnSpc>
            </a:pP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reading,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7" action="ppaction://hlinksldjump"/>
              </a:rPr>
              <a:t>93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word.upper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method,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solidFill>
                  <a:srgbClr val="990000"/>
                </a:solidFill>
                <a:latin typeface="Palatino Linotype"/>
                <a:cs typeface="Palatino Linotype"/>
                <a:hlinkClick r:id="rId48" action="ppaction://hlinksldjump"/>
              </a:rPr>
              <a:t>110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10">
                <a:latin typeface="Palatino Linotype"/>
                <a:cs typeface="Palatino Linotype"/>
              </a:rPr>
              <a:t>words</a:t>
            </a:r>
            <a:endParaRPr sz="900">
              <a:latin typeface="Palatino Linotype"/>
              <a:cs typeface="Palatino Linotype"/>
            </a:endParaRPr>
          </a:p>
          <a:p>
            <a:pPr marL="323215" marR="80645" indent="-155575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frequency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of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5">
                <a:latin typeface="Palatino Linotype"/>
                <a:cs typeface="Palatino Linotype"/>
              </a:rPr>
              <a:t>each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unique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25">
                <a:latin typeface="Palatino Linotype"/>
                <a:cs typeface="Palatino Linotype"/>
              </a:rPr>
              <a:t>book,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49" action="ppaction://hlinksldjump"/>
              </a:rPr>
              <a:t>175</a:t>
            </a:r>
            <a:endParaRPr sz="900">
              <a:latin typeface="Palatino Linotype"/>
              <a:cs typeface="Palatino Linotype"/>
            </a:endParaRPr>
          </a:p>
          <a:p>
            <a:pPr marL="167640">
              <a:lnSpc>
                <a:spcPct val="100000"/>
              </a:lnSpc>
            </a:pPr>
            <a:r>
              <a:rPr dirty="0" sz="900" spc="-55">
                <a:latin typeface="Palatino Linotype"/>
                <a:cs typeface="Palatino Linotype"/>
              </a:rPr>
              <a:t>making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70">
                <a:latin typeface="Palatino Linotype"/>
                <a:cs typeface="Palatino Linotype"/>
              </a:rPr>
              <a:t>word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list,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0" action="ppaction://hlinksldjump"/>
              </a:rPr>
              <a:t>131</a:t>
            </a:r>
            <a:endParaRPr sz="900">
              <a:latin typeface="Palatino Linotype"/>
              <a:cs typeface="Palatino Linotype"/>
            </a:endParaRPr>
          </a:p>
          <a:p>
            <a:pPr marL="12700" marR="138430" indent="154940">
              <a:lnSpc>
                <a:spcPct val="100000"/>
              </a:lnSpc>
            </a:pPr>
            <a:r>
              <a:rPr dirty="0" sz="900" spc="-45">
                <a:latin typeface="Palatino Linotype"/>
                <a:cs typeface="Palatino Linotype"/>
              </a:rPr>
              <a:t>unique,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counting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50">
                <a:latin typeface="Palatino Linotype"/>
                <a:cs typeface="Palatino Linotype"/>
              </a:rPr>
              <a:t>number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in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a</a:t>
            </a:r>
            <a:r>
              <a:rPr dirty="0" sz="900" spc="-20">
                <a:latin typeface="Palatino Linotype"/>
                <a:cs typeface="Palatino Linotype"/>
              </a:rPr>
              <a:t> </a:t>
            </a:r>
            <a:r>
              <a:rPr dirty="0" sz="900" spc="-40">
                <a:latin typeface="Palatino Linotype"/>
                <a:cs typeface="Palatino Linotype"/>
              </a:rPr>
              <a:t>book,</a:t>
            </a:r>
            <a:r>
              <a:rPr dirty="0" sz="900" spc="-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1" action="ppaction://hlinksldjump"/>
              </a:rPr>
              <a:t>171</a:t>
            </a:r>
            <a:r>
              <a:rPr dirty="0" sz="900">
                <a:solidFill>
                  <a:srgbClr val="990000"/>
                </a:solidFill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write</a:t>
            </a:r>
            <a:r>
              <a:rPr dirty="0" sz="900" spc="10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function,</a:t>
            </a:r>
            <a:r>
              <a:rPr dirty="0" sz="900" spc="1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2" action="ppaction://hlinksldjump"/>
              </a:rPr>
              <a:t>193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Palatino Linotype"/>
                <a:cs typeface="Palatino Linotype"/>
              </a:rPr>
              <a:t>writers,</a:t>
            </a:r>
            <a:r>
              <a:rPr dirty="0" sz="900" spc="5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3" action="ppaction://hlinksldjump"/>
              </a:rPr>
              <a:t>111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305" b="1">
                <a:latin typeface="Trebuchet MS"/>
                <a:cs typeface="Trebuchet MS"/>
              </a:rPr>
              <a:t>Y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50">
                <a:latin typeface="Palatino Linotype"/>
                <a:cs typeface="Palatino Linotype"/>
              </a:rPr>
              <a:t>y-</a:t>
            </a:r>
            <a:r>
              <a:rPr dirty="0" sz="900" spc="-45">
                <a:latin typeface="Palatino Linotype"/>
                <a:cs typeface="Palatino Linotype"/>
              </a:rPr>
              <a:t>axis,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line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45">
                <a:latin typeface="Palatino Linotype"/>
                <a:cs typeface="Palatino Linotype"/>
              </a:rPr>
              <a:t>representing,</a:t>
            </a:r>
            <a:r>
              <a:rPr dirty="0" sz="900" spc="2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4" action="ppaction://hlinksldjump"/>
              </a:rPr>
              <a:t>237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spc="-75">
                <a:latin typeface="Palatino Linotype"/>
                <a:cs typeface="Palatino Linotype"/>
              </a:rPr>
              <a:t>YAML,</a:t>
            </a:r>
            <a:r>
              <a:rPr dirty="0" sz="900" spc="-10">
                <a:latin typeface="Palatino Linotype"/>
                <a:cs typeface="Palatino Linotype"/>
              </a:rPr>
              <a:t> 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5" action="ppaction://hlinksldjump"/>
              </a:rPr>
              <a:t>195</a:t>
            </a: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ts val="1620"/>
              </a:lnSpc>
              <a:spcBef>
                <a:spcPts val="969"/>
              </a:spcBef>
            </a:pPr>
            <a:r>
              <a:rPr dirty="0" sz="1400" spc="-265" b="1">
                <a:latin typeface="Trebuchet MS"/>
                <a:cs typeface="Trebuchet MS"/>
              </a:rPr>
              <a:t>Z</a:t>
            </a:r>
            <a:endParaRPr sz="1400">
              <a:latin typeface="Trebuchet MS"/>
              <a:cs typeface="Trebuchet MS"/>
            </a:endParaRPr>
          </a:p>
          <a:p>
            <a:pPr marL="12700">
              <a:lnSpc>
                <a:spcPts val="1019"/>
              </a:lnSpc>
            </a:pPr>
            <a:r>
              <a:rPr dirty="0" sz="900" spc="-60">
                <a:latin typeface="Palatino Linotype"/>
                <a:cs typeface="Palatino Linotype"/>
              </a:rPr>
              <a:t>zip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5">
                <a:latin typeface="Palatino Linotype"/>
                <a:cs typeface="Palatino Linotype"/>
              </a:rPr>
              <a:t>function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65">
                <a:latin typeface="Palatino Linotype"/>
                <a:cs typeface="Palatino Linotype"/>
              </a:rPr>
              <a:t>and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60">
                <a:latin typeface="Palatino Linotype"/>
                <a:cs typeface="Palatino Linotype"/>
              </a:rPr>
              <a:t>zip</a:t>
            </a:r>
            <a:r>
              <a:rPr dirty="0" sz="900" spc="-5">
                <a:latin typeface="Palatino Linotype"/>
                <a:cs typeface="Palatino Linotype"/>
              </a:rPr>
              <a:t> </a:t>
            </a:r>
            <a:r>
              <a:rPr dirty="0" sz="900" spc="-30">
                <a:latin typeface="Palatino Linotype"/>
                <a:cs typeface="Palatino Linotype"/>
              </a:rPr>
              <a:t>object,</a:t>
            </a:r>
            <a:r>
              <a:rPr dirty="0" sz="900">
                <a:latin typeface="Palatino Linotype"/>
                <a:cs typeface="Palatino Linotype"/>
              </a:rPr>
              <a:t> </a:t>
            </a:r>
            <a:r>
              <a:rPr dirty="0" sz="900" spc="-10">
                <a:solidFill>
                  <a:srgbClr val="990000"/>
                </a:solidFill>
                <a:latin typeface="Palatino Linotype"/>
                <a:cs typeface="Palatino Linotype"/>
                <a:hlinkClick r:id="rId56" action="ppaction://hlinksldjump"/>
              </a:rPr>
              <a:t>161</a:t>
            </a:r>
            <a:r>
              <a:rPr dirty="0" sz="900" spc="-10">
                <a:latin typeface="Palatino Linotype"/>
                <a:cs typeface="Palatino Linotype"/>
              </a:rPr>
              <a:t>-</a:t>
            </a:r>
            <a:r>
              <a:rPr dirty="0" sz="900" spc="-25">
                <a:solidFill>
                  <a:srgbClr val="990000"/>
                </a:solidFill>
                <a:latin typeface="Palatino Linotype"/>
                <a:cs typeface="Palatino Linotype"/>
                <a:hlinkClick r:id="rId57" action="ppaction://hlinksldjump"/>
              </a:rPr>
              <a:t>163</a:t>
            </a:r>
            <a:endParaRPr sz="9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52" y="7731125"/>
            <a:ext cx="629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65" b="1">
                <a:latin typeface="Trebuchet MS"/>
                <a:cs typeface="Trebuchet MS"/>
              </a:rPr>
              <a:t>306</a:t>
            </a:r>
            <a:r>
              <a:rPr dirty="0" sz="900" spc="475" b="1">
                <a:latin typeface="Trebuchet MS"/>
                <a:cs typeface="Trebuchet MS"/>
              </a:rPr>
              <a:t> </a:t>
            </a:r>
            <a:r>
              <a:rPr dirty="0" sz="900" spc="-345" b="1">
                <a:latin typeface="Trebuchet MS"/>
                <a:cs typeface="Trebuchet MS"/>
              </a:rPr>
              <a:t>|</a:t>
            </a:r>
            <a:r>
              <a:rPr dirty="0" sz="900" spc="480" b="1">
                <a:latin typeface="Trebuchet MS"/>
                <a:cs typeface="Trebuchet MS"/>
              </a:rPr>
              <a:t> </a:t>
            </a:r>
            <a:r>
              <a:rPr dirty="0" sz="900" spc="-125" b="1">
                <a:latin typeface="Trebuchet MS"/>
                <a:cs typeface="Trebuchet MS"/>
              </a:rPr>
              <a:t>Index</a:t>
            </a:r>
            <a:endParaRPr sz="9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914400" y="1042511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914400" y="2104389"/>
            <a:ext cx="4572000" cy="0"/>
          </a:xfrm>
          <a:custGeom>
            <a:avLst/>
            <a:gdLst/>
            <a:ahLst/>
            <a:cxnLst/>
            <a:rect l="l" t="t" r="r" b="b"/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901634" y="615034"/>
            <a:ext cx="4598035" cy="5369560"/>
          </a:xfrm>
          <a:prstGeom prst="rect">
            <a:avLst/>
          </a:prstGeom>
        </p:spPr>
        <p:txBody>
          <a:bodyPr wrap="square" lIns="0" tIns="1460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0"/>
              </a:spcBef>
            </a:pPr>
            <a:r>
              <a:rPr dirty="0" sz="1550" spc="-240" b="1">
                <a:latin typeface="Trebuchet MS"/>
                <a:cs typeface="Trebuchet MS"/>
              </a:rPr>
              <a:t>About</a:t>
            </a:r>
            <a:r>
              <a:rPr dirty="0" sz="1550" spc="-190" b="1">
                <a:latin typeface="Trebuchet MS"/>
                <a:cs typeface="Trebuchet MS"/>
              </a:rPr>
              <a:t> </a:t>
            </a:r>
            <a:r>
              <a:rPr dirty="0" sz="1550" spc="-235" b="1">
                <a:latin typeface="Trebuchet MS"/>
                <a:cs typeface="Trebuchet MS"/>
              </a:rPr>
              <a:t>the</a:t>
            </a:r>
            <a:r>
              <a:rPr dirty="0" sz="1550" spc="-185" b="1">
                <a:latin typeface="Trebuchet MS"/>
                <a:cs typeface="Trebuchet MS"/>
              </a:rPr>
              <a:t> </a:t>
            </a:r>
            <a:r>
              <a:rPr dirty="0" sz="1550" spc="-75" b="1">
                <a:latin typeface="Trebuchet MS"/>
                <a:cs typeface="Trebuchet MS"/>
              </a:rPr>
              <a:t>Author</a:t>
            </a:r>
            <a:endParaRPr sz="155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685"/>
              </a:spcBef>
            </a:pPr>
            <a:r>
              <a:rPr dirty="0" sz="1050" spc="-60" b="1">
                <a:latin typeface="Palatino Linotype"/>
                <a:cs typeface="Palatino Linotype"/>
              </a:rPr>
              <a:t>Allen</a:t>
            </a:r>
            <a:r>
              <a:rPr dirty="0" sz="1050" spc="-10" b="1">
                <a:latin typeface="Palatino Linotype"/>
                <a:cs typeface="Palatino Linotype"/>
              </a:rPr>
              <a:t> </a:t>
            </a:r>
            <a:r>
              <a:rPr dirty="0" sz="1050" spc="-80" b="1">
                <a:latin typeface="Palatino Linotype"/>
                <a:cs typeface="Palatino Linotype"/>
              </a:rPr>
              <a:t>Downey</a:t>
            </a:r>
            <a:r>
              <a:rPr dirty="0" sz="1050" spc="15" b="1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5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staff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producer</a:t>
            </a:r>
            <a:r>
              <a:rPr dirty="0" sz="1050" spc="-10">
                <a:latin typeface="Palatino Linotype"/>
                <a:cs typeface="Palatino Linotype"/>
              </a:rPr>
              <a:t> at </a:t>
            </a:r>
            <a:r>
              <a:rPr dirty="0" sz="1050" spc="-35">
                <a:latin typeface="Palatino Linotype"/>
                <a:cs typeface="Palatino Linotype"/>
              </a:rPr>
              <a:t>Brilliant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professor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emeritus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 </a:t>
            </a:r>
            <a:r>
              <a:rPr dirty="0" sz="1050" spc="-20">
                <a:latin typeface="Palatino Linotype"/>
                <a:cs typeface="Palatino Linotype"/>
              </a:rPr>
              <a:t>Olin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College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Engineering.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has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taught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computer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science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at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Wellesley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College,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Colby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College,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UC</a:t>
            </a:r>
            <a:r>
              <a:rPr dirty="0" sz="1050" spc="-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Berkeley.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has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Ph.D.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in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computer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science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from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UC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Berkeley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and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mas‐ </a:t>
            </a:r>
            <a:r>
              <a:rPr dirty="0" sz="1050" spc="-75">
                <a:latin typeface="Palatino Linotype"/>
                <a:cs typeface="Palatino Linotype"/>
              </a:rPr>
              <a:t>ter’s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degree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from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MIT.</a:t>
            </a: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75"/>
              </a:spcBef>
            </a:pPr>
            <a:r>
              <a:rPr dirty="0" sz="1550" spc="-120" b="1">
                <a:latin typeface="Trebuchet MS"/>
                <a:cs typeface="Trebuchet MS"/>
              </a:rPr>
              <a:t>Colophon</a:t>
            </a:r>
            <a:endParaRPr sz="1550">
              <a:latin typeface="Trebuchet MS"/>
              <a:cs typeface="Trebuchet MS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85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45">
                <a:latin typeface="Palatino Linotype"/>
                <a:cs typeface="Palatino Linotype"/>
              </a:rPr>
              <a:t> animal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20">
                <a:latin typeface="Palatino Linotype"/>
                <a:cs typeface="Palatino Linotype"/>
              </a:rPr>
              <a:t> 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cover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i="1">
                <a:latin typeface="Palatino Linotype"/>
                <a:cs typeface="Palatino Linotype"/>
              </a:rPr>
              <a:t>Think</a:t>
            </a:r>
            <a:r>
              <a:rPr dirty="0" sz="1050" spc="-20" i="1">
                <a:latin typeface="Palatino Linotype"/>
                <a:cs typeface="Palatino Linotype"/>
              </a:rPr>
              <a:t> Python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plum-</a:t>
            </a:r>
            <a:r>
              <a:rPr dirty="0" sz="1050" spc="-55">
                <a:latin typeface="Palatino Linotype"/>
                <a:cs typeface="Palatino Linotype"/>
              </a:rPr>
              <a:t>headed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parakeet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(</a:t>
            </a:r>
            <a:r>
              <a:rPr dirty="0" sz="1050" spc="-20" i="1">
                <a:latin typeface="Palatino Linotype"/>
                <a:cs typeface="Palatino Linotype"/>
              </a:rPr>
              <a:t>Psittacula cya‐</a:t>
            </a:r>
            <a:r>
              <a:rPr dirty="0" sz="1050" spc="-20" i="1">
                <a:latin typeface="Palatino Linotype"/>
                <a:cs typeface="Palatino Linotype"/>
              </a:rPr>
              <a:t> </a:t>
            </a:r>
            <a:r>
              <a:rPr dirty="0" sz="1050" spc="-10" i="1">
                <a:latin typeface="Palatino Linotype"/>
                <a:cs typeface="Palatino Linotype"/>
              </a:rPr>
              <a:t>nocephala</a:t>
            </a:r>
            <a:r>
              <a:rPr dirty="0" sz="1050" spc="-10">
                <a:latin typeface="Palatino Linotype"/>
                <a:cs typeface="Palatino Linotype"/>
              </a:rPr>
              <a:t>),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vibrant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bird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native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Indian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subcontinent.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latin typeface="Palatino Linotype"/>
                <a:cs typeface="Palatino Linotype"/>
              </a:rPr>
              <a:t>This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medium-sized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parrot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known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for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mal</a:t>
            </a:r>
            <a:r>
              <a:rPr dirty="0" sz="1050" spc="-120">
                <a:latin typeface="Palatino Linotype"/>
                <a:cs typeface="Palatino Linotype"/>
              </a:rPr>
              <a:t>e</a:t>
            </a:r>
            <a:r>
              <a:rPr dirty="0" sz="1050" spc="-160">
                <a:latin typeface="Palatino Linotype"/>
                <a:cs typeface="Palatino Linotype"/>
              </a:rPr>
              <a:t>’</a:t>
            </a:r>
            <a:r>
              <a:rPr dirty="0" sz="1050" spc="-60">
                <a:latin typeface="Palatino Linotype"/>
                <a:cs typeface="Palatino Linotype"/>
              </a:rPr>
              <a:t>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dazzling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plum-colored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head,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while </a:t>
            </a:r>
            <a:r>
              <a:rPr dirty="0" sz="1050" spc="-55">
                <a:latin typeface="Palatino Linotype"/>
                <a:cs typeface="Palatino Linotype"/>
              </a:rPr>
              <a:t>females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gr</a:t>
            </a:r>
            <a:r>
              <a:rPr dirty="0" sz="1050" spc="-85">
                <a:latin typeface="Palatino Linotype"/>
                <a:cs typeface="Palatino Linotype"/>
              </a:rPr>
              <a:t>a</a:t>
            </a:r>
            <a:r>
              <a:rPr dirty="0" sz="1050" spc="-50">
                <a:latin typeface="Palatino Linotype"/>
                <a:cs typeface="Palatino Linotype"/>
              </a:rPr>
              <a:t>yish-blue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head,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both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sexes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differe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shades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green</a:t>
            </a:r>
            <a:r>
              <a:rPr dirty="0" sz="1050" spc="7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on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chest,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bell</a:t>
            </a:r>
            <a:r>
              <a:rPr dirty="0" sz="1050" spc="-155">
                <a:latin typeface="Palatino Linotype"/>
                <a:cs typeface="Palatino Linotype"/>
              </a:rPr>
              <a:t>y</a:t>
            </a:r>
            <a:r>
              <a:rPr dirty="0" sz="1050" spc="-25">
                <a:latin typeface="Palatino Linotype"/>
                <a:cs typeface="Palatino Linotype"/>
              </a:rPr>
              <a:t>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wings,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back.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long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tails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cool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bluish-green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tipped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with </a:t>
            </a:r>
            <a:r>
              <a:rPr dirty="0" sz="1050" spc="-60">
                <a:latin typeface="Palatino Linotype"/>
                <a:cs typeface="Palatino Linotype"/>
              </a:rPr>
              <a:t>white,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adding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touch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elegance.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seen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in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cover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image,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males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black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chin </a:t>
            </a:r>
            <a:r>
              <a:rPr dirty="0" sz="1050" spc="-45">
                <a:latin typeface="Palatino Linotype"/>
                <a:cs typeface="Palatino Linotype"/>
              </a:rPr>
              <a:t>stripe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narrow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black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band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around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neck,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bordered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by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vibra</a:t>
            </a:r>
            <a:r>
              <a:rPr dirty="0" sz="1050" spc="-85">
                <a:latin typeface="Palatino Linotype"/>
                <a:cs typeface="Palatino Linotype"/>
              </a:rPr>
              <a:t>n</a:t>
            </a:r>
            <a:r>
              <a:rPr dirty="0" sz="1050" spc="-25">
                <a:latin typeface="Palatino Linotype"/>
                <a:cs typeface="Palatino Linotype"/>
              </a:rPr>
              <a:t>t</a:t>
            </a:r>
            <a:r>
              <a:rPr dirty="0" sz="1050" spc="6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turquoise, </a:t>
            </a:r>
            <a:r>
              <a:rPr dirty="0" sz="1050" spc="-65">
                <a:latin typeface="Palatino Linotype"/>
                <a:cs typeface="Palatino Linotype"/>
              </a:rPr>
              <a:t>with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distinctive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red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shoulder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p</a:t>
            </a:r>
            <a:r>
              <a:rPr dirty="0" sz="1050" spc="-90">
                <a:latin typeface="Palatino Linotype"/>
                <a:cs typeface="Palatino Linotype"/>
              </a:rPr>
              <a:t>a</a:t>
            </a:r>
            <a:r>
              <a:rPr dirty="0" sz="1050" spc="-30">
                <a:latin typeface="Palatino Linotype"/>
                <a:cs typeface="Palatino Linotype"/>
              </a:rPr>
              <a:t>tch.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</a:t>
            </a:r>
            <a:r>
              <a:rPr dirty="0" sz="1050" spc="-60">
                <a:latin typeface="Palatino Linotype"/>
                <a:cs typeface="Palatino Linotype"/>
              </a:rPr>
              <a:t>emales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lack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these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markings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and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often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h</a:t>
            </a:r>
            <a:r>
              <a:rPr dirty="0" sz="1050" spc="-75">
                <a:latin typeface="Palatino Linotype"/>
                <a:cs typeface="Palatino Linotype"/>
              </a:rPr>
              <a:t>a</a:t>
            </a:r>
            <a:r>
              <a:rPr dirty="0" sz="1050" spc="-85">
                <a:latin typeface="Palatino Linotype"/>
                <a:cs typeface="Palatino Linotype"/>
              </a:rPr>
              <a:t>ve</a:t>
            </a:r>
            <a:r>
              <a:rPr dirty="0" sz="1050" spc="6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75">
                <a:latin typeface="Palatino Linotype"/>
                <a:cs typeface="Palatino Linotype"/>
              </a:rPr>
              <a:t>yellow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collar</a:t>
            </a:r>
            <a:r>
              <a:rPr dirty="0" sz="1050" spc="-2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instead.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latin typeface="Palatino Linotype"/>
                <a:cs typeface="Palatino Linotype"/>
              </a:rPr>
              <a:t>These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social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birds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flit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through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well-</a:t>
            </a:r>
            <a:r>
              <a:rPr dirty="0" sz="1050" spc="-90">
                <a:latin typeface="Palatino Linotype"/>
                <a:cs typeface="Palatino Linotype"/>
              </a:rPr>
              <a:t>wooded</a:t>
            </a:r>
            <a:r>
              <a:rPr dirty="0" sz="1050" spc="2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areas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in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large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flocks,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flight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patterns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a </a:t>
            </a:r>
            <a:r>
              <a:rPr dirty="0" sz="1050" spc="-40">
                <a:latin typeface="Palatino Linotype"/>
                <a:cs typeface="Palatino Linotype"/>
              </a:rPr>
              <a:t>flurry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twists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turns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accompanied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high-</a:t>
            </a:r>
            <a:r>
              <a:rPr dirty="0" sz="1050" spc="-45">
                <a:latin typeface="Palatino Linotype"/>
                <a:cs typeface="Palatino Linotype"/>
              </a:rPr>
              <a:t>pitched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calls.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are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also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acrobatic </a:t>
            </a:r>
            <a:r>
              <a:rPr dirty="0" sz="1050" spc="-40">
                <a:latin typeface="Palatino Linotype"/>
                <a:cs typeface="Palatino Linotype"/>
              </a:rPr>
              <a:t>climbers,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adept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at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navigating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branches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using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their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strong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beaks</a:t>
            </a:r>
            <a:r>
              <a:rPr dirty="0" sz="1050">
                <a:latin typeface="Palatino Linotype"/>
                <a:cs typeface="Palatino Linotype"/>
              </a:rPr>
              <a:t> to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explore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nooks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crannies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for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food;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their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diet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consists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mainly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of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fruits,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seeds,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blossoms.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plum-</a:t>
            </a:r>
            <a:r>
              <a:rPr dirty="0" sz="1050" spc="-40">
                <a:latin typeface="Palatino Linotype"/>
                <a:cs typeface="Palatino Linotype"/>
              </a:rPr>
              <a:t>headed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parakeet’s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population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considered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Least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Concern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IUCN but </a:t>
            </a:r>
            <a:r>
              <a:rPr dirty="0" sz="1050" spc="-50">
                <a:latin typeface="Palatino Linotype"/>
                <a:cs typeface="Palatino Linotype"/>
              </a:rPr>
              <a:t>with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decreasing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trend,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highlighting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the </a:t>
            </a:r>
            <a:r>
              <a:rPr dirty="0" sz="1050" spc="-50">
                <a:latin typeface="Palatino Linotype"/>
                <a:cs typeface="Palatino Linotype"/>
              </a:rPr>
              <a:t>need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for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conservation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efforts.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Many</a:t>
            </a:r>
            <a:r>
              <a:rPr dirty="0" sz="105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of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animals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O’Reilly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covers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endangered;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all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of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them</a:t>
            </a:r>
            <a:r>
              <a:rPr dirty="0" sz="1050" spc="3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important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to</a:t>
            </a:r>
            <a:r>
              <a:rPr dirty="0" sz="1050" spc="4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 </a:t>
            </a:r>
            <a:r>
              <a:rPr dirty="0" sz="1050" spc="-10">
                <a:latin typeface="Palatino Linotype"/>
                <a:cs typeface="Palatino Linotype"/>
              </a:rPr>
              <a:t>world.</a:t>
            </a:r>
            <a:endParaRPr sz="10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2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color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illustration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by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30">
                <a:latin typeface="Palatino Linotype"/>
                <a:cs typeface="Palatino Linotype"/>
              </a:rPr>
              <a:t>Karen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Montgomery,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based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on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antique</a:t>
            </a:r>
            <a:r>
              <a:rPr dirty="0" sz="1050" spc="-1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line </a:t>
            </a:r>
            <a:r>
              <a:rPr dirty="0" sz="1050" spc="-55">
                <a:latin typeface="Palatino Linotype"/>
                <a:cs typeface="Palatino Linotype"/>
              </a:rPr>
              <a:t>engraving </a:t>
            </a:r>
            <a:r>
              <a:rPr dirty="0" sz="1050">
                <a:latin typeface="Palatino Linotype"/>
                <a:cs typeface="Palatino Linotype"/>
              </a:rPr>
              <a:t>from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</a:t>
            </a:r>
            <a:r>
              <a:rPr dirty="0" sz="1050" spc="-10">
                <a:latin typeface="Palatino Linotype"/>
                <a:cs typeface="Palatino Linotype"/>
              </a:rPr>
              <a:t> loose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plate,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source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unknown.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series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design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is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by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Edie</a:t>
            </a:r>
            <a:r>
              <a:rPr dirty="0" sz="1050" spc="-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Freedman,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0">
                <a:latin typeface="Palatino Linotype"/>
                <a:cs typeface="Palatino Linotype"/>
              </a:rPr>
              <a:t>Ellie </a:t>
            </a:r>
            <a:r>
              <a:rPr dirty="0" sz="1050" spc="-45">
                <a:latin typeface="Palatino Linotype"/>
                <a:cs typeface="Palatino Linotype"/>
              </a:rPr>
              <a:t>Volckhausen,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and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Karen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Montgomery.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The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cover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fonts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>
                <a:latin typeface="Palatino Linotype"/>
                <a:cs typeface="Palatino Linotype"/>
              </a:rPr>
              <a:t>are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Gilroy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Semibold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and </a:t>
            </a:r>
            <a:r>
              <a:rPr dirty="0" sz="1050" spc="-65">
                <a:latin typeface="Palatino Linotype"/>
                <a:cs typeface="Palatino Linotype"/>
              </a:rPr>
              <a:t>Guardian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Sans.</a:t>
            </a:r>
            <a:r>
              <a:rPr dirty="0" sz="1050" spc="-5">
                <a:latin typeface="Palatino Linotype"/>
                <a:cs typeface="Palatino Linotype"/>
              </a:rPr>
              <a:t> </a:t>
            </a:r>
            <a:r>
              <a:rPr dirty="0" sz="1050" spc="-2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text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Adobe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40">
                <a:latin typeface="Palatino Linotype"/>
                <a:cs typeface="Palatino Linotype"/>
              </a:rPr>
              <a:t>Minion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Pro;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the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70">
                <a:latin typeface="Palatino Linotype"/>
                <a:cs typeface="Palatino Linotype"/>
              </a:rPr>
              <a:t>heading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font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35">
                <a:latin typeface="Palatino Linotype"/>
                <a:cs typeface="Palatino Linotype"/>
              </a:rPr>
              <a:t>is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80">
                <a:latin typeface="Palatino Linotype"/>
                <a:cs typeface="Palatino Linotype"/>
              </a:rPr>
              <a:t>Adobe</a:t>
            </a:r>
            <a:r>
              <a:rPr dirty="0" sz="1050" spc="15">
                <a:latin typeface="Palatino Linotype"/>
                <a:cs typeface="Palatino Linotype"/>
              </a:rPr>
              <a:t> </a:t>
            </a:r>
            <a:r>
              <a:rPr dirty="0" sz="1050" spc="-55">
                <a:latin typeface="Palatino Linotype"/>
                <a:cs typeface="Palatino Linotype"/>
              </a:rPr>
              <a:t>Myriad </a:t>
            </a:r>
            <a:r>
              <a:rPr dirty="0" sz="1050" spc="-60">
                <a:latin typeface="Palatino Linotype"/>
                <a:cs typeface="Palatino Linotype"/>
              </a:rPr>
              <a:t>Condensed;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75">
                <a:latin typeface="Palatino Linotype"/>
                <a:cs typeface="Palatino Linotype"/>
              </a:rPr>
              <a:t>and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the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0">
                <a:latin typeface="Palatino Linotype"/>
                <a:cs typeface="Palatino Linotype"/>
              </a:rPr>
              <a:t>code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font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50">
                <a:latin typeface="Palatino Linotype"/>
                <a:cs typeface="Palatino Linotype"/>
              </a:rPr>
              <a:t>is</a:t>
            </a:r>
            <a:r>
              <a:rPr dirty="0" sz="1050" spc="10">
                <a:latin typeface="Palatino Linotype"/>
                <a:cs typeface="Palatino Linotype"/>
              </a:rPr>
              <a:t> </a:t>
            </a:r>
            <a:r>
              <a:rPr dirty="0" sz="1050" spc="-45">
                <a:latin typeface="Palatino Linotype"/>
                <a:cs typeface="Palatino Linotype"/>
              </a:rPr>
              <a:t>Dalton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0">
                <a:latin typeface="Palatino Linotype"/>
                <a:cs typeface="Palatino Linotype"/>
              </a:rPr>
              <a:t>Maag’s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65">
                <a:latin typeface="Palatino Linotype"/>
                <a:cs typeface="Palatino Linotype"/>
              </a:rPr>
              <a:t>Ubuntu</a:t>
            </a:r>
            <a:r>
              <a:rPr dirty="0" sz="1050" spc="5">
                <a:latin typeface="Palatino Linotype"/>
                <a:cs typeface="Palatino Linotype"/>
              </a:rPr>
              <a:t> </a:t>
            </a:r>
            <a:r>
              <a:rPr dirty="0" sz="1050" spc="-10">
                <a:latin typeface="Palatino Linotype"/>
                <a:cs typeface="Palatino Linotype"/>
              </a:rPr>
              <a:t>Mono.</a:t>
            </a:r>
            <a:endParaRPr sz="10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457200" y="469709"/>
            <a:ext cx="5486400" cy="7461884"/>
            <a:chOff x="457200" y="469709"/>
            <a:chExt cx="5486400" cy="7461884"/>
          </a:xfrm>
        </p:grpSpPr>
        <p:pic>
          <p:nvPicPr>
            <p:cNvPr id="3" name="object 3" descr="">
              <a:hlinkClick r:id="rId2"/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7200" y="470306"/>
              <a:ext cx="5486400" cy="7461034"/>
            </a:xfrm>
            <a:prstGeom prst="rect">
              <a:avLst/>
            </a:prstGeom>
          </p:spPr>
        </p:pic>
        <p:sp>
          <p:nvSpPr>
            <p:cNvPr id="4" name="object 4" descr="">
              <a:hlinkClick r:id="rId2"/>
            </p:cNvPr>
            <p:cNvSpPr/>
            <p:nvPr/>
          </p:nvSpPr>
          <p:spPr>
            <a:xfrm>
              <a:off x="457200" y="469721"/>
              <a:ext cx="5486400" cy="7461250"/>
            </a:xfrm>
            <a:custGeom>
              <a:avLst/>
              <a:gdLst/>
              <a:ahLst/>
              <a:cxnLst/>
              <a:rect l="l" t="t" r="r" b="b"/>
              <a:pathLst>
                <a:path w="5486400" h="7461250">
                  <a:moveTo>
                    <a:pt x="4381309" y="3739934"/>
                  </a:moveTo>
                  <a:lnTo>
                    <a:pt x="4380992" y="3689134"/>
                  </a:lnTo>
                  <a:lnTo>
                    <a:pt x="4380077" y="3638334"/>
                  </a:lnTo>
                  <a:lnTo>
                    <a:pt x="4378566" y="3587534"/>
                  </a:lnTo>
                  <a:lnTo>
                    <a:pt x="4376458" y="3536734"/>
                  </a:lnTo>
                  <a:lnTo>
                    <a:pt x="4373765" y="3498634"/>
                  </a:lnTo>
                  <a:lnTo>
                    <a:pt x="4370489" y="3447834"/>
                  </a:lnTo>
                  <a:lnTo>
                    <a:pt x="4366615" y="3397034"/>
                  </a:lnTo>
                  <a:lnTo>
                    <a:pt x="4362183" y="3346234"/>
                  </a:lnTo>
                  <a:lnTo>
                    <a:pt x="4357167" y="3308134"/>
                  </a:lnTo>
                  <a:lnTo>
                    <a:pt x="4351579" y="3257334"/>
                  </a:lnTo>
                  <a:lnTo>
                    <a:pt x="4345419" y="3206534"/>
                  </a:lnTo>
                  <a:lnTo>
                    <a:pt x="4338701" y="3168434"/>
                  </a:lnTo>
                  <a:lnTo>
                    <a:pt x="4331411" y="3117634"/>
                  </a:lnTo>
                  <a:lnTo>
                    <a:pt x="4323575" y="3066834"/>
                  </a:lnTo>
                  <a:lnTo>
                    <a:pt x="4315180" y="3028734"/>
                  </a:lnTo>
                  <a:lnTo>
                    <a:pt x="4306240" y="2977934"/>
                  </a:lnTo>
                  <a:lnTo>
                    <a:pt x="4296753" y="2939834"/>
                  </a:lnTo>
                  <a:lnTo>
                    <a:pt x="4286720" y="2889034"/>
                  </a:lnTo>
                  <a:lnTo>
                    <a:pt x="4276153" y="2838234"/>
                  </a:lnTo>
                  <a:lnTo>
                    <a:pt x="4265041" y="2800134"/>
                  </a:lnTo>
                  <a:lnTo>
                    <a:pt x="4253395" y="2749334"/>
                  </a:lnTo>
                  <a:lnTo>
                    <a:pt x="4241228" y="2711234"/>
                  </a:lnTo>
                  <a:lnTo>
                    <a:pt x="4228541" y="2660434"/>
                  </a:lnTo>
                  <a:lnTo>
                    <a:pt x="4215320" y="2622334"/>
                  </a:lnTo>
                  <a:lnTo>
                    <a:pt x="4201579" y="2571534"/>
                  </a:lnTo>
                  <a:lnTo>
                    <a:pt x="4187329" y="2533434"/>
                  </a:lnTo>
                  <a:lnTo>
                    <a:pt x="4172572" y="2495334"/>
                  </a:lnTo>
                  <a:lnTo>
                    <a:pt x="4157307" y="2444534"/>
                  </a:lnTo>
                  <a:lnTo>
                    <a:pt x="4141533" y="2406434"/>
                  </a:lnTo>
                  <a:lnTo>
                    <a:pt x="4125264" y="2355634"/>
                  </a:lnTo>
                  <a:lnTo>
                    <a:pt x="4108488" y="2317534"/>
                  </a:lnTo>
                  <a:lnTo>
                    <a:pt x="4091228" y="2279434"/>
                  </a:lnTo>
                  <a:lnTo>
                    <a:pt x="4073474" y="2228634"/>
                  </a:lnTo>
                  <a:lnTo>
                    <a:pt x="4055237" y="2190534"/>
                  </a:lnTo>
                  <a:lnTo>
                    <a:pt x="4036517" y="2152434"/>
                  </a:lnTo>
                  <a:lnTo>
                    <a:pt x="4017314" y="2114334"/>
                  </a:lnTo>
                  <a:lnTo>
                    <a:pt x="3997629" y="2063534"/>
                  </a:lnTo>
                  <a:lnTo>
                    <a:pt x="3977487" y="2025434"/>
                  </a:lnTo>
                  <a:lnTo>
                    <a:pt x="3956875" y="1987334"/>
                  </a:lnTo>
                  <a:lnTo>
                    <a:pt x="3935793" y="1949234"/>
                  </a:lnTo>
                  <a:lnTo>
                    <a:pt x="3914241" y="1911134"/>
                  </a:lnTo>
                  <a:lnTo>
                    <a:pt x="3892245" y="1873034"/>
                  </a:lnTo>
                  <a:lnTo>
                    <a:pt x="3869791" y="1834934"/>
                  </a:lnTo>
                  <a:lnTo>
                    <a:pt x="3846880" y="1784134"/>
                  </a:lnTo>
                  <a:lnTo>
                    <a:pt x="3823525" y="1746034"/>
                  </a:lnTo>
                  <a:lnTo>
                    <a:pt x="3799725" y="1707934"/>
                  </a:lnTo>
                  <a:lnTo>
                    <a:pt x="3775494" y="1669834"/>
                  </a:lnTo>
                  <a:lnTo>
                    <a:pt x="3750818" y="1631734"/>
                  </a:lnTo>
                  <a:lnTo>
                    <a:pt x="3725710" y="1606334"/>
                  </a:lnTo>
                  <a:lnTo>
                    <a:pt x="3700183" y="1568234"/>
                  </a:lnTo>
                  <a:lnTo>
                    <a:pt x="3674211" y="1530134"/>
                  </a:lnTo>
                  <a:lnTo>
                    <a:pt x="3647833" y="1492034"/>
                  </a:lnTo>
                  <a:lnTo>
                    <a:pt x="3621024" y="1453934"/>
                  </a:lnTo>
                  <a:lnTo>
                    <a:pt x="3593808" y="1415834"/>
                  </a:lnTo>
                  <a:lnTo>
                    <a:pt x="3566185" y="1377734"/>
                  </a:lnTo>
                  <a:lnTo>
                    <a:pt x="3538143" y="1352334"/>
                  </a:lnTo>
                  <a:lnTo>
                    <a:pt x="3509708" y="1314234"/>
                  </a:lnTo>
                  <a:lnTo>
                    <a:pt x="3480854" y="1276134"/>
                  </a:lnTo>
                  <a:lnTo>
                    <a:pt x="3451618" y="1238034"/>
                  </a:lnTo>
                  <a:lnTo>
                    <a:pt x="3421989" y="1212634"/>
                  </a:lnTo>
                  <a:lnTo>
                    <a:pt x="3391954" y="1174534"/>
                  </a:lnTo>
                  <a:lnTo>
                    <a:pt x="3361550" y="1149134"/>
                  </a:lnTo>
                  <a:lnTo>
                    <a:pt x="3330752" y="1111034"/>
                  </a:lnTo>
                  <a:lnTo>
                    <a:pt x="3299574" y="1072934"/>
                  </a:lnTo>
                  <a:lnTo>
                    <a:pt x="3268027" y="1047534"/>
                  </a:lnTo>
                  <a:lnTo>
                    <a:pt x="3236112" y="1009434"/>
                  </a:lnTo>
                  <a:lnTo>
                    <a:pt x="3171152" y="958634"/>
                  </a:lnTo>
                  <a:lnTo>
                    <a:pt x="3138144" y="920534"/>
                  </a:lnTo>
                  <a:lnTo>
                    <a:pt x="3071025" y="869734"/>
                  </a:lnTo>
                  <a:lnTo>
                    <a:pt x="3036951" y="831634"/>
                  </a:lnTo>
                  <a:lnTo>
                    <a:pt x="2967736" y="780834"/>
                  </a:lnTo>
                  <a:lnTo>
                    <a:pt x="2932620" y="742734"/>
                  </a:lnTo>
                  <a:lnTo>
                    <a:pt x="2825267" y="666534"/>
                  </a:lnTo>
                  <a:lnTo>
                    <a:pt x="2714980" y="590334"/>
                  </a:lnTo>
                  <a:lnTo>
                    <a:pt x="2601849" y="514134"/>
                  </a:lnTo>
                  <a:lnTo>
                    <a:pt x="2524887" y="463334"/>
                  </a:lnTo>
                  <a:lnTo>
                    <a:pt x="2485961" y="450634"/>
                  </a:lnTo>
                  <a:lnTo>
                    <a:pt x="2367445" y="374434"/>
                  </a:lnTo>
                  <a:lnTo>
                    <a:pt x="2327364" y="361734"/>
                  </a:lnTo>
                  <a:lnTo>
                    <a:pt x="2287003" y="336334"/>
                  </a:lnTo>
                  <a:lnTo>
                    <a:pt x="2246363" y="323634"/>
                  </a:lnTo>
                  <a:lnTo>
                    <a:pt x="2164270" y="272834"/>
                  </a:lnTo>
                  <a:lnTo>
                    <a:pt x="2081110" y="247434"/>
                  </a:lnTo>
                  <a:lnTo>
                    <a:pt x="2039150" y="222034"/>
                  </a:lnTo>
                  <a:lnTo>
                    <a:pt x="1996922" y="209334"/>
                  </a:lnTo>
                  <a:lnTo>
                    <a:pt x="1954453" y="183934"/>
                  </a:lnTo>
                  <a:lnTo>
                    <a:pt x="1782114" y="133134"/>
                  </a:lnTo>
                  <a:lnTo>
                    <a:pt x="1738426" y="107734"/>
                  </a:lnTo>
                  <a:lnTo>
                    <a:pt x="1516646" y="44234"/>
                  </a:lnTo>
                  <a:lnTo>
                    <a:pt x="1471637" y="44234"/>
                  </a:lnTo>
                  <a:lnTo>
                    <a:pt x="1335379" y="6134"/>
                  </a:lnTo>
                  <a:lnTo>
                    <a:pt x="0" y="6134"/>
                  </a:lnTo>
                  <a:lnTo>
                    <a:pt x="0" y="1212634"/>
                  </a:lnTo>
                  <a:lnTo>
                    <a:pt x="22580" y="1212634"/>
                  </a:lnTo>
                  <a:lnTo>
                    <a:pt x="121208" y="1187234"/>
                  </a:lnTo>
                  <a:lnTo>
                    <a:pt x="171030" y="1187234"/>
                  </a:lnTo>
                  <a:lnTo>
                    <a:pt x="221183" y="1174534"/>
                  </a:lnTo>
                  <a:lnTo>
                    <a:pt x="271665" y="1174534"/>
                  </a:lnTo>
                  <a:lnTo>
                    <a:pt x="322465" y="1161834"/>
                  </a:lnTo>
                  <a:lnTo>
                    <a:pt x="373557" y="1161834"/>
                  </a:lnTo>
                  <a:lnTo>
                    <a:pt x="424954" y="1149134"/>
                  </a:lnTo>
                  <a:lnTo>
                    <a:pt x="736663" y="1149134"/>
                  </a:lnTo>
                  <a:lnTo>
                    <a:pt x="788047" y="1161834"/>
                  </a:lnTo>
                  <a:lnTo>
                    <a:pt x="839139" y="1161834"/>
                  </a:lnTo>
                  <a:lnTo>
                    <a:pt x="889914" y="1174534"/>
                  </a:lnTo>
                  <a:lnTo>
                    <a:pt x="940384" y="1174534"/>
                  </a:lnTo>
                  <a:lnTo>
                    <a:pt x="990536" y="1187234"/>
                  </a:lnTo>
                  <a:lnTo>
                    <a:pt x="1040345" y="1187234"/>
                  </a:lnTo>
                  <a:lnTo>
                    <a:pt x="1472361" y="1301534"/>
                  </a:lnTo>
                  <a:lnTo>
                    <a:pt x="1518386" y="1326934"/>
                  </a:lnTo>
                  <a:lnTo>
                    <a:pt x="1563992" y="1339634"/>
                  </a:lnTo>
                  <a:lnTo>
                    <a:pt x="1609166" y="1365034"/>
                  </a:lnTo>
                  <a:lnTo>
                    <a:pt x="1653895" y="1377734"/>
                  </a:lnTo>
                  <a:lnTo>
                    <a:pt x="1741982" y="1428534"/>
                  </a:lnTo>
                  <a:lnTo>
                    <a:pt x="1785327" y="1441234"/>
                  </a:lnTo>
                  <a:lnTo>
                    <a:pt x="1870583" y="1492034"/>
                  </a:lnTo>
                  <a:lnTo>
                    <a:pt x="1953856" y="1542834"/>
                  </a:lnTo>
                  <a:lnTo>
                    <a:pt x="2035086" y="1593634"/>
                  </a:lnTo>
                  <a:lnTo>
                    <a:pt x="2074913" y="1631734"/>
                  </a:lnTo>
                  <a:lnTo>
                    <a:pt x="2114194" y="1657134"/>
                  </a:lnTo>
                  <a:lnTo>
                    <a:pt x="2191118" y="1707934"/>
                  </a:lnTo>
                  <a:lnTo>
                    <a:pt x="2228735" y="1746034"/>
                  </a:lnTo>
                  <a:lnTo>
                    <a:pt x="2265794" y="1771434"/>
                  </a:lnTo>
                  <a:lnTo>
                    <a:pt x="2302256" y="1809534"/>
                  </a:lnTo>
                  <a:lnTo>
                    <a:pt x="2338133" y="1834934"/>
                  </a:lnTo>
                  <a:lnTo>
                    <a:pt x="2373426" y="1873034"/>
                  </a:lnTo>
                  <a:lnTo>
                    <a:pt x="2408097" y="1911134"/>
                  </a:lnTo>
                  <a:lnTo>
                    <a:pt x="2442070" y="1936534"/>
                  </a:lnTo>
                  <a:lnTo>
                    <a:pt x="2475395" y="1974634"/>
                  </a:lnTo>
                  <a:lnTo>
                    <a:pt x="2508046" y="2012734"/>
                  </a:lnTo>
                  <a:lnTo>
                    <a:pt x="2540038" y="2050834"/>
                  </a:lnTo>
                  <a:lnTo>
                    <a:pt x="2571343" y="2088934"/>
                  </a:lnTo>
                  <a:lnTo>
                    <a:pt x="2601950" y="2127034"/>
                  </a:lnTo>
                  <a:lnTo>
                    <a:pt x="2631859" y="2165134"/>
                  </a:lnTo>
                  <a:lnTo>
                    <a:pt x="2661056" y="2203234"/>
                  </a:lnTo>
                  <a:lnTo>
                    <a:pt x="2689529" y="2241334"/>
                  </a:lnTo>
                  <a:lnTo>
                    <a:pt x="2717279" y="2279434"/>
                  </a:lnTo>
                  <a:lnTo>
                    <a:pt x="2744292" y="2317534"/>
                  </a:lnTo>
                  <a:lnTo>
                    <a:pt x="2770543" y="2355634"/>
                  </a:lnTo>
                  <a:lnTo>
                    <a:pt x="2796044" y="2406434"/>
                  </a:lnTo>
                  <a:lnTo>
                    <a:pt x="2820784" y="2444534"/>
                  </a:lnTo>
                  <a:lnTo>
                    <a:pt x="2844749" y="2482634"/>
                  </a:lnTo>
                  <a:lnTo>
                    <a:pt x="2867926" y="2533434"/>
                  </a:lnTo>
                  <a:lnTo>
                    <a:pt x="2890304" y="2571534"/>
                  </a:lnTo>
                  <a:lnTo>
                    <a:pt x="2911881" y="2622334"/>
                  </a:lnTo>
                  <a:lnTo>
                    <a:pt x="2932646" y="2660434"/>
                  </a:lnTo>
                  <a:lnTo>
                    <a:pt x="2952585" y="2711234"/>
                  </a:lnTo>
                  <a:lnTo>
                    <a:pt x="2971685" y="2749334"/>
                  </a:lnTo>
                  <a:lnTo>
                    <a:pt x="2989961" y="2800134"/>
                  </a:lnTo>
                  <a:lnTo>
                    <a:pt x="3007372" y="2838234"/>
                  </a:lnTo>
                  <a:lnTo>
                    <a:pt x="3023933" y="2889034"/>
                  </a:lnTo>
                  <a:lnTo>
                    <a:pt x="3039618" y="2939834"/>
                  </a:lnTo>
                  <a:lnTo>
                    <a:pt x="3054426" y="2977934"/>
                  </a:lnTo>
                  <a:lnTo>
                    <a:pt x="3068345" y="3028734"/>
                  </a:lnTo>
                  <a:lnTo>
                    <a:pt x="3081375" y="3079534"/>
                  </a:lnTo>
                  <a:lnTo>
                    <a:pt x="3093491" y="3130334"/>
                  </a:lnTo>
                  <a:lnTo>
                    <a:pt x="3104692" y="3181134"/>
                  </a:lnTo>
                  <a:lnTo>
                    <a:pt x="3114967" y="3219234"/>
                  </a:lnTo>
                  <a:lnTo>
                    <a:pt x="3124314" y="3270034"/>
                  </a:lnTo>
                  <a:lnTo>
                    <a:pt x="3132709" y="3320834"/>
                  </a:lnTo>
                  <a:lnTo>
                    <a:pt x="3140151" y="3371634"/>
                  </a:lnTo>
                  <a:lnTo>
                    <a:pt x="3146641" y="3422434"/>
                  </a:lnTo>
                  <a:lnTo>
                    <a:pt x="3152152" y="3473234"/>
                  </a:lnTo>
                  <a:lnTo>
                    <a:pt x="3156674" y="3524034"/>
                  </a:lnTo>
                  <a:lnTo>
                    <a:pt x="3160217" y="3574834"/>
                  </a:lnTo>
                  <a:lnTo>
                    <a:pt x="3162757" y="3625634"/>
                  </a:lnTo>
                  <a:lnTo>
                    <a:pt x="3164294" y="3676434"/>
                  </a:lnTo>
                  <a:lnTo>
                    <a:pt x="3164802" y="3739934"/>
                  </a:lnTo>
                  <a:lnTo>
                    <a:pt x="3164294" y="3790734"/>
                  </a:lnTo>
                  <a:lnTo>
                    <a:pt x="3162757" y="3841534"/>
                  </a:lnTo>
                  <a:lnTo>
                    <a:pt x="3160217" y="3892334"/>
                  </a:lnTo>
                  <a:lnTo>
                    <a:pt x="3156674" y="3943134"/>
                  </a:lnTo>
                  <a:lnTo>
                    <a:pt x="3152152" y="3993934"/>
                  </a:lnTo>
                  <a:lnTo>
                    <a:pt x="3146641" y="4044734"/>
                  </a:lnTo>
                  <a:lnTo>
                    <a:pt x="3140151" y="4095534"/>
                  </a:lnTo>
                  <a:lnTo>
                    <a:pt x="3132709" y="4146334"/>
                  </a:lnTo>
                  <a:lnTo>
                    <a:pt x="3124314" y="4197134"/>
                  </a:lnTo>
                  <a:lnTo>
                    <a:pt x="3114967" y="4247934"/>
                  </a:lnTo>
                  <a:lnTo>
                    <a:pt x="3104692" y="4298734"/>
                  </a:lnTo>
                  <a:lnTo>
                    <a:pt x="3093491" y="4336834"/>
                  </a:lnTo>
                  <a:lnTo>
                    <a:pt x="3081375" y="4387634"/>
                  </a:lnTo>
                  <a:lnTo>
                    <a:pt x="3068345" y="4438434"/>
                  </a:lnTo>
                  <a:lnTo>
                    <a:pt x="3054426" y="4489234"/>
                  </a:lnTo>
                  <a:lnTo>
                    <a:pt x="3039618" y="4527334"/>
                  </a:lnTo>
                  <a:lnTo>
                    <a:pt x="3023933" y="4578134"/>
                  </a:lnTo>
                  <a:lnTo>
                    <a:pt x="3007372" y="4628934"/>
                  </a:lnTo>
                  <a:lnTo>
                    <a:pt x="2989961" y="4667034"/>
                  </a:lnTo>
                  <a:lnTo>
                    <a:pt x="2971685" y="4717834"/>
                  </a:lnTo>
                  <a:lnTo>
                    <a:pt x="2952585" y="4768634"/>
                  </a:lnTo>
                  <a:lnTo>
                    <a:pt x="2932646" y="4806734"/>
                  </a:lnTo>
                  <a:lnTo>
                    <a:pt x="2911881" y="4857534"/>
                  </a:lnTo>
                  <a:lnTo>
                    <a:pt x="2890304" y="4895634"/>
                  </a:lnTo>
                  <a:lnTo>
                    <a:pt x="2867926" y="4933734"/>
                  </a:lnTo>
                  <a:lnTo>
                    <a:pt x="2844749" y="4984534"/>
                  </a:lnTo>
                  <a:lnTo>
                    <a:pt x="2820784" y="5022634"/>
                  </a:lnTo>
                  <a:lnTo>
                    <a:pt x="2796044" y="5060734"/>
                  </a:lnTo>
                  <a:lnTo>
                    <a:pt x="2770543" y="5111534"/>
                  </a:lnTo>
                  <a:lnTo>
                    <a:pt x="2744292" y="5149634"/>
                  </a:lnTo>
                  <a:lnTo>
                    <a:pt x="2717279" y="5187734"/>
                  </a:lnTo>
                  <a:lnTo>
                    <a:pt x="2689529" y="5225834"/>
                  </a:lnTo>
                  <a:lnTo>
                    <a:pt x="2661056" y="5263934"/>
                  </a:lnTo>
                  <a:lnTo>
                    <a:pt x="2631859" y="5302034"/>
                  </a:lnTo>
                  <a:lnTo>
                    <a:pt x="2601950" y="5340134"/>
                  </a:lnTo>
                  <a:lnTo>
                    <a:pt x="2571343" y="5378234"/>
                  </a:lnTo>
                  <a:lnTo>
                    <a:pt x="2540038" y="5416334"/>
                  </a:lnTo>
                  <a:lnTo>
                    <a:pt x="2508046" y="5454434"/>
                  </a:lnTo>
                  <a:lnTo>
                    <a:pt x="2475395" y="5492534"/>
                  </a:lnTo>
                  <a:lnTo>
                    <a:pt x="2442070" y="5530634"/>
                  </a:lnTo>
                  <a:lnTo>
                    <a:pt x="2408097" y="5556034"/>
                  </a:lnTo>
                  <a:lnTo>
                    <a:pt x="2373426" y="5594134"/>
                  </a:lnTo>
                  <a:lnTo>
                    <a:pt x="2338133" y="5632234"/>
                  </a:lnTo>
                  <a:lnTo>
                    <a:pt x="2302256" y="5657634"/>
                  </a:lnTo>
                  <a:lnTo>
                    <a:pt x="2265794" y="5695734"/>
                  </a:lnTo>
                  <a:lnTo>
                    <a:pt x="2228735" y="5721134"/>
                  </a:lnTo>
                  <a:lnTo>
                    <a:pt x="2191118" y="5759234"/>
                  </a:lnTo>
                  <a:lnTo>
                    <a:pt x="2114194" y="5810034"/>
                  </a:lnTo>
                  <a:lnTo>
                    <a:pt x="2074913" y="5848134"/>
                  </a:lnTo>
                  <a:lnTo>
                    <a:pt x="2035086" y="5873534"/>
                  </a:lnTo>
                  <a:lnTo>
                    <a:pt x="1953856" y="5924334"/>
                  </a:lnTo>
                  <a:lnTo>
                    <a:pt x="1870583" y="5975134"/>
                  </a:lnTo>
                  <a:lnTo>
                    <a:pt x="1785327" y="6025934"/>
                  </a:lnTo>
                  <a:lnTo>
                    <a:pt x="1741982" y="6038634"/>
                  </a:lnTo>
                  <a:lnTo>
                    <a:pt x="1653895" y="6089434"/>
                  </a:lnTo>
                  <a:lnTo>
                    <a:pt x="1609166" y="6102134"/>
                  </a:lnTo>
                  <a:lnTo>
                    <a:pt x="1563992" y="6127534"/>
                  </a:lnTo>
                  <a:lnTo>
                    <a:pt x="1518386" y="6140234"/>
                  </a:lnTo>
                  <a:lnTo>
                    <a:pt x="1472361" y="6165634"/>
                  </a:lnTo>
                  <a:lnTo>
                    <a:pt x="1040345" y="6279934"/>
                  </a:lnTo>
                  <a:lnTo>
                    <a:pt x="990536" y="6279934"/>
                  </a:lnTo>
                  <a:lnTo>
                    <a:pt x="889914" y="6305334"/>
                  </a:lnTo>
                  <a:lnTo>
                    <a:pt x="788047" y="6305334"/>
                  </a:lnTo>
                  <a:lnTo>
                    <a:pt x="736663" y="6318034"/>
                  </a:lnTo>
                  <a:lnTo>
                    <a:pt x="424954" y="6318034"/>
                  </a:lnTo>
                  <a:lnTo>
                    <a:pt x="373557" y="6305334"/>
                  </a:lnTo>
                  <a:lnTo>
                    <a:pt x="271665" y="6305334"/>
                  </a:lnTo>
                  <a:lnTo>
                    <a:pt x="171030" y="6279934"/>
                  </a:lnTo>
                  <a:lnTo>
                    <a:pt x="121208" y="6279934"/>
                  </a:lnTo>
                  <a:lnTo>
                    <a:pt x="22580" y="6254534"/>
                  </a:lnTo>
                  <a:lnTo>
                    <a:pt x="0" y="6254534"/>
                  </a:lnTo>
                  <a:lnTo>
                    <a:pt x="0" y="7461034"/>
                  </a:lnTo>
                  <a:lnTo>
                    <a:pt x="1335379" y="7461034"/>
                  </a:lnTo>
                  <a:lnTo>
                    <a:pt x="1426425" y="7435634"/>
                  </a:lnTo>
                  <a:lnTo>
                    <a:pt x="1471637" y="7435634"/>
                  </a:lnTo>
                  <a:lnTo>
                    <a:pt x="1782114" y="7346734"/>
                  </a:lnTo>
                  <a:lnTo>
                    <a:pt x="1825561" y="7321334"/>
                  </a:lnTo>
                  <a:lnTo>
                    <a:pt x="1954453" y="7283234"/>
                  </a:lnTo>
                  <a:lnTo>
                    <a:pt x="1996922" y="7257834"/>
                  </a:lnTo>
                  <a:lnTo>
                    <a:pt x="2081110" y="7232434"/>
                  </a:lnTo>
                  <a:lnTo>
                    <a:pt x="2122830" y="7207034"/>
                  </a:lnTo>
                  <a:lnTo>
                    <a:pt x="2164270" y="7194334"/>
                  </a:lnTo>
                  <a:lnTo>
                    <a:pt x="2205456" y="7168934"/>
                  </a:lnTo>
                  <a:lnTo>
                    <a:pt x="2246363" y="7156234"/>
                  </a:lnTo>
                  <a:lnTo>
                    <a:pt x="2327364" y="7105434"/>
                  </a:lnTo>
                  <a:lnTo>
                    <a:pt x="2367445" y="7092734"/>
                  </a:lnTo>
                  <a:lnTo>
                    <a:pt x="2446744" y="7041934"/>
                  </a:lnTo>
                  <a:lnTo>
                    <a:pt x="2485961" y="7029234"/>
                  </a:lnTo>
                  <a:lnTo>
                    <a:pt x="2601849" y="6953034"/>
                  </a:lnTo>
                  <a:lnTo>
                    <a:pt x="2714980" y="6876834"/>
                  </a:lnTo>
                  <a:lnTo>
                    <a:pt x="2825267" y="6800634"/>
                  </a:lnTo>
                  <a:lnTo>
                    <a:pt x="2932620" y="6724434"/>
                  </a:lnTo>
                  <a:lnTo>
                    <a:pt x="2967736" y="6686334"/>
                  </a:lnTo>
                  <a:lnTo>
                    <a:pt x="3036951" y="6635534"/>
                  </a:lnTo>
                  <a:lnTo>
                    <a:pt x="3071025" y="6610134"/>
                  </a:lnTo>
                  <a:lnTo>
                    <a:pt x="3104756" y="6572034"/>
                  </a:lnTo>
                  <a:lnTo>
                    <a:pt x="3171152" y="6521234"/>
                  </a:lnTo>
                  <a:lnTo>
                    <a:pt x="3203816" y="6483134"/>
                  </a:lnTo>
                  <a:lnTo>
                    <a:pt x="3236112" y="6457734"/>
                  </a:lnTo>
                  <a:lnTo>
                    <a:pt x="3268027" y="6419634"/>
                  </a:lnTo>
                  <a:lnTo>
                    <a:pt x="3299574" y="6394234"/>
                  </a:lnTo>
                  <a:lnTo>
                    <a:pt x="3330752" y="6356134"/>
                  </a:lnTo>
                  <a:lnTo>
                    <a:pt x="3361550" y="6330734"/>
                  </a:lnTo>
                  <a:lnTo>
                    <a:pt x="3371685" y="6318034"/>
                  </a:lnTo>
                  <a:lnTo>
                    <a:pt x="3391954" y="6292634"/>
                  </a:lnTo>
                  <a:lnTo>
                    <a:pt x="3421989" y="6254534"/>
                  </a:lnTo>
                  <a:lnTo>
                    <a:pt x="3451618" y="6229134"/>
                  </a:lnTo>
                  <a:lnTo>
                    <a:pt x="3480854" y="6191034"/>
                  </a:lnTo>
                  <a:lnTo>
                    <a:pt x="3509708" y="6152934"/>
                  </a:lnTo>
                  <a:lnTo>
                    <a:pt x="3538143" y="6127534"/>
                  </a:lnTo>
                  <a:lnTo>
                    <a:pt x="3566185" y="6089434"/>
                  </a:lnTo>
                  <a:lnTo>
                    <a:pt x="3593808" y="6051334"/>
                  </a:lnTo>
                  <a:lnTo>
                    <a:pt x="3621024" y="6013234"/>
                  </a:lnTo>
                  <a:lnTo>
                    <a:pt x="3647833" y="5975134"/>
                  </a:lnTo>
                  <a:lnTo>
                    <a:pt x="3674211" y="5937034"/>
                  </a:lnTo>
                  <a:lnTo>
                    <a:pt x="3700183" y="5911634"/>
                  </a:lnTo>
                  <a:lnTo>
                    <a:pt x="3725710" y="5873534"/>
                  </a:lnTo>
                  <a:lnTo>
                    <a:pt x="3750818" y="5835434"/>
                  </a:lnTo>
                  <a:lnTo>
                    <a:pt x="3775494" y="5797334"/>
                  </a:lnTo>
                  <a:lnTo>
                    <a:pt x="3799725" y="5759234"/>
                  </a:lnTo>
                  <a:lnTo>
                    <a:pt x="3823525" y="5721134"/>
                  </a:lnTo>
                  <a:lnTo>
                    <a:pt x="3846880" y="5683034"/>
                  </a:lnTo>
                  <a:lnTo>
                    <a:pt x="3869791" y="5644934"/>
                  </a:lnTo>
                  <a:lnTo>
                    <a:pt x="3892245" y="5594134"/>
                  </a:lnTo>
                  <a:lnTo>
                    <a:pt x="3914241" y="5556034"/>
                  </a:lnTo>
                  <a:lnTo>
                    <a:pt x="3935793" y="5517934"/>
                  </a:lnTo>
                  <a:lnTo>
                    <a:pt x="3956875" y="5479834"/>
                  </a:lnTo>
                  <a:lnTo>
                    <a:pt x="3977487" y="5441734"/>
                  </a:lnTo>
                  <a:lnTo>
                    <a:pt x="3997629" y="5403634"/>
                  </a:lnTo>
                  <a:lnTo>
                    <a:pt x="4017314" y="5352834"/>
                  </a:lnTo>
                  <a:lnTo>
                    <a:pt x="4036517" y="5314734"/>
                  </a:lnTo>
                  <a:lnTo>
                    <a:pt x="4055237" y="5276634"/>
                  </a:lnTo>
                  <a:lnTo>
                    <a:pt x="4073474" y="5238534"/>
                  </a:lnTo>
                  <a:lnTo>
                    <a:pt x="4091228" y="5187734"/>
                  </a:lnTo>
                  <a:lnTo>
                    <a:pt x="4108488" y="5149634"/>
                  </a:lnTo>
                  <a:lnTo>
                    <a:pt x="4125264" y="5111534"/>
                  </a:lnTo>
                  <a:lnTo>
                    <a:pt x="4141533" y="5060734"/>
                  </a:lnTo>
                  <a:lnTo>
                    <a:pt x="4157307" y="5022634"/>
                  </a:lnTo>
                  <a:lnTo>
                    <a:pt x="4172572" y="4984534"/>
                  </a:lnTo>
                  <a:lnTo>
                    <a:pt x="4187329" y="4933734"/>
                  </a:lnTo>
                  <a:lnTo>
                    <a:pt x="4201579" y="4895634"/>
                  </a:lnTo>
                  <a:lnTo>
                    <a:pt x="4215320" y="4844834"/>
                  </a:lnTo>
                  <a:lnTo>
                    <a:pt x="4228541" y="4806734"/>
                  </a:lnTo>
                  <a:lnTo>
                    <a:pt x="4241228" y="4755934"/>
                  </a:lnTo>
                  <a:lnTo>
                    <a:pt x="4253395" y="4717834"/>
                  </a:lnTo>
                  <a:lnTo>
                    <a:pt x="4265041" y="4667034"/>
                  </a:lnTo>
                  <a:lnTo>
                    <a:pt x="4276153" y="4628934"/>
                  </a:lnTo>
                  <a:lnTo>
                    <a:pt x="4286720" y="4578134"/>
                  </a:lnTo>
                  <a:lnTo>
                    <a:pt x="4296753" y="4540034"/>
                  </a:lnTo>
                  <a:lnTo>
                    <a:pt x="4306240" y="4489234"/>
                  </a:lnTo>
                  <a:lnTo>
                    <a:pt x="4315180" y="4438434"/>
                  </a:lnTo>
                  <a:lnTo>
                    <a:pt x="4323575" y="4400334"/>
                  </a:lnTo>
                  <a:lnTo>
                    <a:pt x="4331411" y="4349534"/>
                  </a:lnTo>
                  <a:lnTo>
                    <a:pt x="4338701" y="4298734"/>
                  </a:lnTo>
                  <a:lnTo>
                    <a:pt x="4345419" y="4260634"/>
                  </a:lnTo>
                  <a:lnTo>
                    <a:pt x="4351579" y="4209834"/>
                  </a:lnTo>
                  <a:lnTo>
                    <a:pt x="4357167" y="4159034"/>
                  </a:lnTo>
                  <a:lnTo>
                    <a:pt x="4362183" y="4120934"/>
                  </a:lnTo>
                  <a:lnTo>
                    <a:pt x="4366615" y="4070134"/>
                  </a:lnTo>
                  <a:lnTo>
                    <a:pt x="4370489" y="4019334"/>
                  </a:lnTo>
                  <a:lnTo>
                    <a:pt x="4373765" y="3968534"/>
                  </a:lnTo>
                  <a:lnTo>
                    <a:pt x="4376458" y="3930434"/>
                  </a:lnTo>
                  <a:lnTo>
                    <a:pt x="4378566" y="3879634"/>
                  </a:lnTo>
                  <a:lnTo>
                    <a:pt x="4380077" y="3828834"/>
                  </a:lnTo>
                  <a:lnTo>
                    <a:pt x="4380992" y="3778034"/>
                  </a:lnTo>
                  <a:lnTo>
                    <a:pt x="4381309" y="3739934"/>
                  </a:lnTo>
                  <a:close/>
                </a:path>
                <a:path w="5486400" h="7461250">
                  <a:moveTo>
                    <a:pt x="5486387" y="0"/>
                  </a:moveTo>
                  <a:lnTo>
                    <a:pt x="4813617" y="0"/>
                  </a:lnTo>
                  <a:lnTo>
                    <a:pt x="4808017" y="2273"/>
                  </a:lnTo>
                  <a:lnTo>
                    <a:pt x="4767364" y="21310"/>
                  </a:lnTo>
                  <a:lnTo>
                    <a:pt x="4727854" y="42278"/>
                  </a:lnTo>
                  <a:lnTo>
                    <a:pt x="4689551" y="65138"/>
                  </a:lnTo>
                  <a:lnTo>
                    <a:pt x="4652518" y="89814"/>
                  </a:lnTo>
                  <a:lnTo>
                    <a:pt x="4616818" y="116243"/>
                  </a:lnTo>
                  <a:lnTo>
                    <a:pt x="4582490" y="144373"/>
                  </a:lnTo>
                  <a:lnTo>
                    <a:pt x="4549622" y="174155"/>
                  </a:lnTo>
                  <a:lnTo>
                    <a:pt x="4518266" y="205498"/>
                  </a:lnTo>
                  <a:lnTo>
                    <a:pt x="4488485" y="238353"/>
                  </a:lnTo>
                  <a:lnTo>
                    <a:pt x="4460341" y="272656"/>
                  </a:lnTo>
                  <a:lnTo>
                    <a:pt x="4433900" y="308356"/>
                  </a:lnTo>
                  <a:lnTo>
                    <a:pt x="4409211" y="345389"/>
                  </a:lnTo>
                  <a:lnTo>
                    <a:pt x="4386351" y="383679"/>
                  </a:lnTo>
                  <a:lnTo>
                    <a:pt x="4365371" y="423164"/>
                  </a:lnTo>
                  <a:lnTo>
                    <a:pt x="4346346" y="463804"/>
                  </a:lnTo>
                  <a:lnTo>
                    <a:pt x="4329315" y="505523"/>
                  </a:lnTo>
                  <a:lnTo>
                    <a:pt x="4314368" y="548259"/>
                  </a:lnTo>
                  <a:lnTo>
                    <a:pt x="4301541" y="591947"/>
                  </a:lnTo>
                  <a:lnTo>
                    <a:pt x="4290911" y="636524"/>
                  </a:lnTo>
                  <a:lnTo>
                    <a:pt x="4282529" y="681951"/>
                  </a:lnTo>
                  <a:lnTo>
                    <a:pt x="4276471" y="728129"/>
                  </a:lnTo>
                  <a:lnTo>
                    <a:pt x="4272788" y="775030"/>
                  </a:lnTo>
                  <a:lnTo>
                    <a:pt x="4271543" y="822579"/>
                  </a:lnTo>
                  <a:lnTo>
                    <a:pt x="4272788" y="870153"/>
                  </a:lnTo>
                  <a:lnTo>
                    <a:pt x="4276471" y="917079"/>
                  </a:lnTo>
                  <a:lnTo>
                    <a:pt x="4282529" y="963295"/>
                  </a:lnTo>
                  <a:lnTo>
                    <a:pt x="4290911" y="1008735"/>
                  </a:lnTo>
                  <a:lnTo>
                    <a:pt x="4301541" y="1053350"/>
                  </a:lnTo>
                  <a:lnTo>
                    <a:pt x="4314368" y="1097064"/>
                  </a:lnTo>
                  <a:lnTo>
                    <a:pt x="4329315" y="1139825"/>
                  </a:lnTo>
                  <a:lnTo>
                    <a:pt x="4346346" y="1181569"/>
                  </a:lnTo>
                  <a:lnTo>
                    <a:pt x="4365371" y="1222235"/>
                  </a:lnTo>
                  <a:lnTo>
                    <a:pt x="4386351" y="1261757"/>
                  </a:lnTo>
                  <a:lnTo>
                    <a:pt x="4409211" y="1300073"/>
                  </a:lnTo>
                  <a:lnTo>
                    <a:pt x="4433900" y="1337119"/>
                  </a:lnTo>
                  <a:lnTo>
                    <a:pt x="4460341" y="1372844"/>
                  </a:lnTo>
                  <a:lnTo>
                    <a:pt x="4488485" y="1407185"/>
                  </a:lnTo>
                  <a:lnTo>
                    <a:pt x="4518266" y="1440065"/>
                  </a:lnTo>
                  <a:lnTo>
                    <a:pt x="4549622" y="1471434"/>
                  </a:lnTo>
                  <a:lnTo>
                    <a:pt x="4582490" y="1501228"/>
                  </a:lnTo>
                  <a:lnTo>
                    <a:pt x="4616818" y="1529397"/>
                  </a:lnTo>
                  <a:lnTo>
                    <a:pt x="4652518" y="1555851"/>
                  </a:lnTo>
                  <a:lnTo>
                    <a:pt x="4689551" y="1580553"/>
                  </a:lnTo>
                  <a:lnTo>
                    <a:pt x="4727854" y="1603425"/>
                  </a:lnTo>
                  <a:lnTo>
                    <a:pt x="4767364" y="1624418"/>
                  </a:lnTo>
                  <a:lnTo>
                    <a:pt x="4808017" y="1643456"/>
                  </a:lnTo>
                  <a:lnTo>
                    <a:pt x="4849736" y="1660486"/>
                  </a:lnTo>
                  <a:lnTo>
                    <a:pt x="4892484" y="1675460"/>
                  </a:lnTo>
                  <a:lnTo>
                    <a:pt x="4936185" y="1688287"/>
                  </a:lnTo>
                  <a:lnTo>
                    <a:pt x="4980787" y="1698929"/>
                  </a:lnTo>
                  <a:lnTo>
                    <a:pt x="5026215" y="1707311"/>
                  </a:lnTo>
                  <a:lnTo>
                    <a:pt x="5072418" y="1713369"/>
                  </a:lnTo>
                  <a:lnTo>
                    <a:pt x="5119332" y="1717052"/>
                  </a:lnTo>
                  <a:lnTo>
                    <a:pt x="5166880" y="1718297"/>
                  </a:lnTo>
                  <a:lnTo>
                    <a:pt x="5214417" y="1717052"/>
                  </a:lnTo>
                  <a:lnTo>
                    <a:pt x="5261305" y="1713369"/>
                  </a:lnTo>
                  <a:lnTo>
                    <a:pt x="5307482" y="1707311"/>
                  </a:lnTo>
                  <a:lnTo>
                    <a:pt x="5352885" y="1698929"/>
                  </a:lnTo>
                  <a:lnTo>
                    <a:pt x="5397462" y="1688287"/>
                  </a:lnTo>
                  <a:lnTo>
                    <a:pt x="5441150" y="1675460"/>
                  </a:lnTo>
                  <a:lnTo>
                    <a:pt x="5483885" y="1660486"/>
                  </a:lnTo>
                  <a:lnTo>
                    <a:pt x="5486387" y="1659470"/>
                  </a:lnTo>
                  <a:lnTo>
                    <a:pt x="5486387" y="0"/>
                  </a:lnTo>
                  <a:close/>
                </a:path>
              </a:pathLst>
            </a:custGeom>
            <a:solidFill>
              <a:srgbClr val="FFFFFF">
                <a:alpha val="11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154019" y="3291209"/>
            <a:ext cx="3181985" cy="756920"/>
          </a:xfrm>
          <a:prstGeom prst="rect"/>
        </p:spPr>
        <p:txBody>
          <a:bodyPr wrap="square" lIns="0" tIns="62230" rIns="0" bIns="0" rtlCol="0" vert="horz">
            <a:spAutoFit/>
          </a:bodyPr>
          <a:lstStyle/>
          <a:p>
            <a:pPr marL="12700" marR="5080">
              <a:lnSpc>
                <a:spcPts val="2700"/>
              </a:lnSpc>
              <a:spcBef>
                <a:spcPts val="490"/>
              </a:spcBef>
            </a:pPr>
            <a:r>
              <a:rPr dirty="0" sz="2550" spc="125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Learn</a:t>
            </a:r>
            <a:r>
              <a:rPr dirty="0" sz="2550" spc="13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255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from</a:t>
            </a:r>
            <a:r>
              <a:rPr dirty="0" sz="2550" spc="13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2550" spc="8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experts. </a:t>
            </a:r>
            <a:r>
              <a:rPr dirty="0" sz="2550" spc="16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Become</a:t>
            </a:r>
            <a:r>
              <a:rPr dirty="0" sz="2550" spc="6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2550" spc="125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one</a:t>
            </a:r>
            <a:r>
              <a:rPr dirty="0" sz="2550" spc="6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2550" spc="-1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yourself.</a:t>
            </a:r>
            <a:endParaRPr sz="255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61620" y="4135773"/>
            <a:ext cx="2334895" cy="732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8900"/>
              </a:lnSpc>
              <a:spcBef>
                <a:spcPts val="95"/>
              </a:spcBef>
            </a:pP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Books</a:t>
            </a:r>
            <a:r>
              <a:rPr dirty="0" sz="1300" spc="-35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 spc="-2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|</a:t>
            </a:r>
            <a:r>
              <a:rPr dirty="0" sz="1300" spc="-3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Live</a:t>
            </a:r>
            <a:r>
              <a:rPr dirty="0" sz="1300" spc="-35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online</a:t>
            </a:r>
            <a:r>
              <a:rPr dirty="0" sz="1300" spc="-3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 spc="-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courses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Instant</a:t>
            </a:r>
            <a:r>
              <a:rPr dirty="0" sz="1300" spc="-5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answers</a:t>
            </a:r>
            <a:r>
              <a:rPr dirty="0" sz="1300" spc="-5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 spc="-2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|</a:t>
            </a:r>
            <a:r>
              <a:rPr dirty="0" sz="1300" spc="-5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Virtual</a:t>
            </a:r>
            <a:r>
              <a:rPr dirty="0" sz="1300" spc="-5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 spc="-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events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Videos</a:t>
            </a:r>
            <a:r>
              <a:rPr dirty="0" sz="1300" spc="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 spc="-2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|</a:t>
            </a:r>
            <a:r>
              <a:rPr dirty="0" sz="1300" spc="15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Interactive</a:t>
            </a:r>
            <a:r>
              <a:rPr dirty="0" sz="1300" spc="15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 </a:t>
            </a:r>
            <a:r>
              <a:rPr dirty="0" sz="1300" spc="-10">
                <a:solidFill>
                  <a:srgbClr val="FFFFFF"/>
                </a:solidFill>
                <a:latin typeface="Tahoma"/>
                <a:cs typeface="Tahoma"/>
                <a:hlinkClick r:id="rId2"/>
              </a:rPr>
              <a:t>learning</a:t>
            </a:r>
            <a:endParaRPr sz="1300">
              <a:latin typeface="Tahoma"/>
              <a:cs typeface="Tahom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61622" y="5429594"/>
            <a:ext cx="255397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 spc="16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Get</a:t>
            </a:r>
            <a:r>
              <a:rPr dirty="0" sz="1650" spc="55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1650" spc="105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started</a:t>
            </a:r>
            <a:r>
              <a:rPr dirty="0" sz="1650" spc="55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1650" spc="17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at</a:t>
            </a:r>
            <a:r>
              <a:rPr dirty="0" sz="1650" spc="6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 </a:t>
            </a:r>
            <a:r>
              <a:rPr dirty="0" sz="1650" spc="-1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oreilly.com.</a:t>
            </a:r>
            <a:endParaRPr sz="1650">
              <a:latin typeface="Calibri"/>
              <a:cs typeface="Calibri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169744" y="2763742"/>
            <a:ext cx="1242695" cy="215265"/>
            <a:chOff x="1169744" y="2763742"/>
            <a:chExt cx="1242695" cy="215265"/>
          </a:xfrm>
        </p:grpSpPr>
        <p:sp>
          <p:nvSpPr>
            <p:cNvPr id="9" name="object 9" descr="">
              <a:hlinkClick r:id="rId2"/>
            </p:cNvPr>
            <p:cNvSpPr/>
            <p:nvPr/>
          </p:nvSpPr>
          <p:spPr>
            <a:xfrm>
              <a:off x="1169733" y="2764980"/>
              <a:ext cx="1024890" cy="213995"/>
            </a:xfrm>
            <a:custGeom>
              <a:avLst/>
              <a:gdLst/>
              <a:ahLst/>
              <a:cxnLst/>
              <a:rect l="l" t="t" r="r" b="b"/>
              <a:pathLst>
                <a:path w="1024889" h="213994">
                  <a:moveTo>
                    <a:pt x="213690" y="106845"/>
                  </a:moveTo>
                  <a:lnTo>
                    <a:pt x="205295" y="65265"/>
                  </a:lnTo>
                  <a:lnTo>
                    <a:pt x="184353" y="34201"/>
                  </a:lnTo>
                  <a:lnTo>
                    <a:pt x="182397" y="31305"/>
                  </a:lnTo>
                  <a:lnTo>
                    <a:pt x="179489" y="29349"/>
                  </a:lnTo>
                  <a:lnTo>
                    <a:pt x="179489" y="106845"/>
                  </a:lnTo>
                  <a:lnTo>
                    <a:pt x="178028" y="121513"/>
                  </a:lnTo>
                  <a:lnTo>
                    <a:pt x="158216" y="158216"/>
                  </a:lnTo>
                  <a:lnTo>
                    <a:pt x="121500" y="178028"/>
                  </a:lnTo>
                  <a:lnTo>
                    <a:pt x="106845" y="179501"/>
                  </a:lnTo>
                  <a:lnTo>
                    <a:pt x="92189" y="178028"/>
                  </a:lnTo>
                  <a:lnTo>
                    <a:pt x="55460" y="158216"/>
                  </a:lnTo>
                  <a:lnTo>
                    <a:pt x="35674" y="121513"/>
                  </a:lnTo>
                  <a:lnTo>
                    <a:pt x="34188" y="106845"/>
                  </a:lnTo>
                  <a:lnTo>
                    <a:pt x="35674" y="92189"/>
                  </a:lnTo>
                  <a:lnTo>
                    <a:pt x="55460" y="55460"/>
                  </a:lnTo>
                  <a:lnTo>
                    <a:pt x="92189" y="35687"/>
                  </a:lnTo>
                  <a:lnTo>
                    <a:pt x="106845" y="34201"/>
                  </a:lnTo>
                  <a:lnTo>
                    <a:pt x="121500" y="35687"/>
                  </a:lnTo>
                  <a:lnTo>
                    <a:pt x="158216" y="55460"/>
                  </a:lnTo>
                  <a:lnTo>
                    <a:pt x="178028" y="92189"/>
                  </a:lnTo>
                  <a:lnTo>
                    <a:pt x="179489" y="106845"/>
                  </a:lnTo>
                  <a:lnTo>
                    <a:pt x="179489" y="29349"/>
                  </a:lnTo>
                  <a:lnTo>
                    <a:pt x="148437" y="8407"/>
                  </a:lnTo>
                  <a:lnTo>
                    <a:pt x="106845" y="0"/>
                  </a:lnTo>
                  <a:lnTo>
                    <a:pt x="65265" y="8407"/>
                  </a:lnTo>
                  <a:lnTo>
                    <a:pt x="31305" y="31305"/>
                  </a:lnTo>
                  <a:lnTo>
                    <a:pt x="8407" y="65265"/>
                  </a:lnTo>
                  <a:lnTo>
                    <a:pt x="0" y="106845"/>
                  </a:lnTo>
                  <a:lnTo>
                    <a:pt x="8407" y="148437"/>
                  </a:lnTo>
                  <a:lnTo>
                    <a:pt x="31305" y="182397"/>
                  </a:lnTo>
                  <a:lnTo>
                    <a:pt x="65265" y="205295"/>
                  </a:lnTo>
                  <a:lnTo>
                    <a:pt x="106845" y="213690"/>
                  </a:lnTo>
                  <a:lnTo>
                    <a:pt x="148437" y="205295"/>
                  </a:lnTo>
                  <a:lnTo>
                    <a:pt x="182397" y="182397"/>
                  </a:lnTo>
                  <a:lnTo>
                    <a:pt x="184340" y="179501"/>
                  </a:lnTo>
                  <a:lnTo>
                    <a:pt x="205295" y="148437"/>
                  </a:lnTo>
                  <a:lnTo>
                    <a:pt x="213690" y="106845"/>
                  </a:lnTo>
                  <a:close/>
                </a:path>
                <a:path w="1024889" h="213994">
                  <a:moveTo>
                    <a:pt x="624979" y="3238"/>
                  </a:moveTo>
                  <a:lnTo>
                    <a:pt x="482371" y="3238"/>
                  </a:lnTo>
                  <a:lnTo>
                    <a:pt x="482371" y="37528"/>
                  </a:lnTo>
                  <a:lnTo>
                    <a:pt x="482371" y="88328"/>
                  </a:lnTo>
                  <a:lnTo>
                    <a:pt x="482371" y="122618"/>
                  </a:lnTo>
                  <a:lnTo>
                    <a:pt x="482371" y="174688"/>
                  </a:lnTo>
                  <a:lnTo>
                    <a:pt x="482371" y="208978"/>
                  </a:lnTo>
                  <a:lnTo>
                    <a:pt x="624979" y="208978"/>
                  </a:lnTo>
                  <a:lnTo>
                    <a:pt x="624979" y="174688"/>
                  </a:lnTo>
                  <a:lnTo>
                    <a:pt x="516547" y="174688"/>
                  </a:lnTo>
                  <a:lnTo>
                    <a:pt x="516547" y="122618"/>
                  </a:lnTo>
                  <a:lnTo>
                    <a:pt x="619747" y="122618"/>
                  </a:lnTo>
                  <a:lnTo>
                    <a:pt x="619747" y="88328"/>
                  </a:lnTo>
                  <a:lnTo>
                    <a:pt x="516547" y="88328"/>
                  </a:lnTo>
                  <a:lnTo>
                    <a:pt x="516547" y="37528"/>
                  </a:lnTo>
                  <a:lnTo>
                    <a:pt x="624979" y="37528"/>
                  </a:lnTo>
                  <a:lnTo>
                    <a:pt x="624979" y="3238"/>
                  </a:lnTo>
                  <a:close/>
                </a:path>
                <a:path w="1024889" h="213994">
                  <a:moveTo>
                    <a:pt x="695045" y="3340"/>
                  </a:moveTo>
                  <a:lnTo>
                    <a:pt x="660869" y="3340"/>
                  </a:lnTo>
                  <a:lnTo>
                    <a:pt x="660869" y="208470"/>
                  </a:lnTo>
                  <a:lnTo>
                    <a:pt x="695045" y="208470"/>
                  </a:lnTo>
                  <a:lnTo>
                    <a:pt x="695045" y="3340"/>
                  </a:lnTo>
                  <a:close/>
                </a:path>
                <a:path w="1024889" h="213994">
                  <a:moveTo>
                    <a:pt x="863612" y="174193"/>
                  </a:moveTo>
                  <a:lnTo>
                    <a:pt x="764984" y="174193"/>
                  </a:lnTo>
                  <a:lnTo>
                    <a:pt x="764984" y="2743"/>
                  </a:lnTo>
                  <a:lnTo>
                    <a:pt x="730796" y="2743"/>
                  </a:lnTo>
                  <a:lnTo>
                    <a:pt x="730796" y="174193"/>
                  </a:lnTo>
                  <a:lnTo>
                    <a:pt x="730796" y="208483"/>
                  </a:lnTo>
                  <a:lnTo>
                    <a:pt x="863612" y="208483"/>
                  </a:lnTo>
                  <a:lnTo>
                    <a:pt x="863612" y="174193"/>
                  </a:lnTo>
                  <a:close/>
                </a:path>
                <a:path w="1024889" h="213994">
                  <a:moveTo>
                    <a:pt x="1024318" y="174193"/>
                  </a:moveTo>
                  <a:lnTo>
                    <a:pt x="925690" y="174193"/>
                  </a:lnTo>
                  <a:lnTo>
                    <a:pt x="925690" y="2743"/>
                  </a:lnTo>
                  <a:lnTo>
                    <a:pt x="891489" y="2743"/>
                  </a:lnTo>
                  <a:lnTo>
                    <a:pt x="891489" y="174193"/>
                  </a:lnTo>
                  <a:lnTo>
                    <a:pt x="891489" y="208483"/>
                  </a:lnTo>
                  <a:lnTo>
                    <a:pt x="1024318" y="208483"/>
                  </a:lnTo>
                  <a:lnTo>
                    <a:pt x="1024318" y="1741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>
              <a:hlinkClick r:id="rId2"/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54914" y="2768312"/>
              <a:ext cx="173266" cy="205143"/>
            </a:xfrm>
            <a:prstGeom prst="rect">
              <a:avLst/>
            </a:prstGeom>
          </p:spPr>
        </p:pic>
        <p:sp>
          <p:nvSpPr>
            <p:cNvPr id="11" name="object 11" descr="">
              <a:hlinkClick r:id="rId2"/>
            </p:cNvPr>
            <p:cNvSpPr/>
            <p:nvPr/>
          </p:nvSpPr>
          <p:spPr>
            <a:xfrm>
              <a:off x="1380350" y="2763748"/>
              <a:ext cx="1031875" cy="210185"/>
            </a:xfrm>
            <a:custGeom>
              <a:avLst/>
              <a:gdLst/>
              <a:ahLst/>
              <a:cxnLst/>
              <a:rect l="l" t="t" r="r" b="b"/>
              <a:pathLst>
                <a:path w="1031875" h="210185">
                  <a:moveTo>
                    <a:pt x="50330" y="26403"/>
                  </a:moveTo>
                  <a:lnTo>
                    <a:pt x="48348" y="16611"/>
                  </a:lnTo>
                  <a:lnTo>
                    <a:pt x="42951" y="8610"/>
                  </a:lnTo>
                  <a:lnTo>
                    <a:pt x="34963" y="3225"/>
                  </a:lnTo>
                  <a:lnTo>
                    <a:pt x="25171" y="1244"/>
                  </a:lnTo>
                  <a:lnTo>
                    <a:pt x="15367" y="3225"/>
                  </a:lnTo>
                  <a:lnTo>
                    <a:pt x="7366" y="8610"/>
                  </a:lnTo>
                  <a:lnTo>
                    <a:pt x="1968" y="16611"/>
                  </a:lnTo>
                  <a:lnTo>
                    <a:pt x="0" y="26403"/>
                  </a:lnTo>
                  <a:lnTo>
                    <a:pt x="1968" y="36207"/>
                  </a:lnTo>
                  <a:lnTo>
                    <a:pt x="7366" y="44208"/>
                  </a:lnTo>
                  <a:lnTo>
                    <a:pt x="15367" y="49606"/>
                  </a:lnTo>
                  <a:lnTo>
                    <a:pt x="25171" y="51587"/>
                  </a:lnTo>
                  <a:lnTo>
                    <a:pt x="34963" y="49606"/>
                  </a:lnTo>
                  <a:lnTo>
                    <a:pt x="42951" y="44208"/>
                  </a:lnTo>
                  <a:lnTo>
                    <a:pt x="48348" y="36207"/>
                  </a:lnTo>
                  <a:lnTo>
                    <a:pt x="50330" y="26403"/>
                  </a:lnTo>
                  <a:close/>
                </a:path>
                <a:path w="1031875" h="210185">
                  <a:moveTo>
                    <a:pt x="966114" y="4572"/>
                  </a:moveTo>
                  <a:lnTo>
                    <a:pt x="924560" y="4572"/>
                  </a:lnTo>
                  <a:lnTo>
                    <a:pt x="871943" y="80733"/>
                  </a:lnTo>
                  <a:lnTo>
                    <a:pt x="819327" y="4572"/>
                  </a:lnTo>
                  <a:lnTo>
                    <a:pt x="777773" y="4572"/>
                  </a:lnTo>
                  <a:lnTo>
                    <a:pt x="854811" y="116103"/>
                  </a:lnTo>
                  <a:lnTo>
                    <a:pt x="854811" y="209702"/>
                  </a:lnTo>
                  <a:lnTo>
                    <a:pt x="889012" y="209702"/>
                  </a:lnTo>
                  <a:lnTo>
                    <a:pt x="889012" y="116192"/>
                  </a:lnTo>
                  <a:lnTo>
                    <a:pt x="966114" y="4572"/>
                  </a:lnTo>
                  <a:close/>
                </a:path>
                <a:path w="1031875" h="210185">
                  <a:moveTo>
                    <a:pt x="1017917" y="15582"/>
                  </a:moveTo>
                  <a:lnTo>
                    <a:pt x="1014564" y="12230"/>
                  </a:lnTo>
                  <a:lnTo>
                    <a:pt x="1013625" y="12230"/>
                  </a:lnTo>
                  <a:lnTo>
                    <a:pt x="1013625" y="17957"/>
                  </a:lnTo>
                  <a:lnTo>
                    <a:pt x="1013625" y="21526"/>
                  </a:lnTo>
                  <a:lnTo>
                    <a:pt x="1012202" y="22961"/>
                  </a:lnTo>
                  <a:lnTo>
                    <a:pt x="1000442" y="22961"/>
                  </a:lnTo>
                  <a:lnTo>
                    <a:pt x="1000442" y="16522"/>
                  </a:lnTo>
                  <a:lnTo>
                    <a:pt x="1012202" y="16522"/>
                  </a:lnTo>
                  <a:lnTo>
                    <a:pt x="1013625" y="17957"/>
                  </a:lnTo>
                  <a:lnTo>
                    <a:pt x="1013625" y="12230"/>
                  </a:lnTo>
                  <a:lnTo>
                    <a:pt x="996162" y="12230"/>
                  </a:lnTo>
                  <a:lnTo>
                    <a:pt x="996162" y="37998"/>
                  </a:lnTo>
                  <a:lnTo>
                    <a:pt x="1000442" y="37998"/>
                  </a:lnTo>
                  <a:lnTo>
                    <a:pt x="1000442" y="27266"/>
                  </a:lnTo>
                  <a:lnTo>
                    <a:pt x="1007668" y="27266"/>
                  </a:lnTo>
                  <a:lnTo>
                    <a:pt x="1012837" y="37998"/>
                  </a:lnTo>
                  <a:lnTo>
                    <a:pt x="1017612" y="37998"/>
                  </a:lnTo>
                  <a:lnTo>
                    <a:pt x="1012444" y="27266"/>
                  </a:lnTo>
                  <a:lnTo>
                    <a:pt x="1012329" y="27012"/>
                  </a:lnTo>
                  <a:lnTo>
                    <a:pt x="1015555" y="26174"/>
                  </a:lnTo>
                  <a:lnTo>
                    <a:pt x="1017917" y="23241"/>
                  </a:lnTo>
                  <a:lnTo>
                    <a:pt x="1017917" y="22961"/>
                  </a:lnTo>
                  <a:lnTo>
                    <a:pt x="1017917" y="16522"/>
                  </a:lnTo>
                  <a:lnTo>
                    <a:pt x="1017917" y="15582"/>
                  </a:lnTo>
                  <a:close/>
                </a:path>
                <a:path w="1031875" h="210185">
                  <a:moveTo>
                    <a:pt x="1031862" y="25298"/>
                  </a:moveTo>
                  <a:lnTo>
                    <a:pt x="1029868" y="15455"/>
                  </a:lnTo>
                  <a:lnTo>
                    <a:pt x="1027798" y="12382"/>
                  </a:lnTo>
                  <a:lnTo>
                    <a:pt x="1027798" y="25298"/>
                  </a:lnTo>
                  <a:lnTo>
                    <a:pt x="1026134" y="33566"/>
                  </a:lnTo>
                  <a:lnTo>
                    <a:pt x="1021575" y="40322"/>
                  </a:lnTo>
                  <a:lnTo>
                    <a:pt x="1014818" y="44881"/>
                  </a:lnTo>
                  <a:lnTo>
                    <a:pt x="1006563" y="46545"/>
                  </a:lnTo>
                  <a:lnTo>
                    <a:pt x="998296" y="44881"/>
                  </a:lnTo>
                  <a:lnTo>
                    <a:pt x="991539" y="40322"/>
                  </a:lnTo>
                  <a:lnTo>
                    <a:pt x="986980" y="33566"/>
                  </a:lnTo>
                  <a:lnTo>
                    <a:pt x="985304" y="25298"/>
                  </a:lnTo>
                  <a:lnTo>
                    <a:pt x="986980" y="17030"/>
                  </a:lnTo>
                  <a:lnTo>
                    <a:pt x="991539" y="10261"/>
                  </a:lnTo>
                  <a:lnTo>
                    <a:pt x="998296" y="5715"/>
                  </a:lnTo>
                  <a:lnTo>
                    <a:pt x="1006563" y="4038"/>
                  </a:lnTo>
                  <a:lnTo>
                    <a:pt x="1014818" y="5715"/>
                  </a:lnTo>
                  <a:lnTo>
                    <a:pt x="1021575" y="10261"/>
                  </a:lnTo>
                  <a:lnTo>
                    <a:pt x="1026134" y="17030"/>
                  </a:lnTo>
                  <a:lnTo>
                    <a:pt x="1027798" y="25298"/>
                  </a:lnTo>
                  <a:lnTo>
                    <a:pt x="1027798" y="12382"/>
                  </a:lnTo>
                  <a:lnTo>
                    <a:pt x="1024445" y="7404"/>
                  </a:lnTo>
                  <a:lnTo>
                    <a:pt x="1019454" y="4038"/>
                  </a:lnTo>
                  <a:lnTo>
                    <a:pt x="1016406" y="1993"/>
                  </a:lnTo>
                  <a:lnTo>
                    <a:pt x="1006563" y="0"/>
                  </a:lnTo>
                  <a:lnTo>
                    <a:pt x="996721" y="1993"/>
                  </a:lnTo>
                  <a:lnTo>
                    <a:pt x="988669" y="7404"/>
                  </a:lnTo>
                  <a:lnTo>
                    <a:pt x="983246" y="15455"/>
                  </a:lnTo>
                  <a:lnTo>
                    <a:pt x="981252" y="25298"/>
                  </a:lnTo>
                  <a:lnTo>
                    <a:pt x="983246" y="35140"/>
                  </a:lnTo>
                  <a:lnTo>
                    <a:pt x="988669" y="43180"/>
                  </a:lnTo>
                  <a:lnTo>
                    <a:pt x="996721" y="48602"/>
                  </a:lnTo>
                  <a:lnTo>
                    <a:pt x="1006563" y="50596"/>
                  </a:lnTo>
                  <a:lnTo>
                    <a:pt x="1016406" y="48602"/>
                  </a:lnTo>
                  <a:lnTo>
                    <a:pt x="1019467" y="46545"/>
                  </a:lnTo>
                  <a:lnTo>
                    <a:pt x="1024445" y="43180"/>
                  </a:lnTo>
                  <a:lnTo>
                    <a:pt x="1029868" y="35140"/>
                  </a:lnTo>
                  <a:lnTo>
                    <a:pt x="1031862" y="252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5947706" y="6122793"/>
            <a:ext cx="83820" cy="1814195"/>
          </a:xfrm>
          <a:prstGeom prst="rect">
            <a:avLst/>
          </a:prstGeom>
        </p:spPr>
        <p:txBody>
          <a:bodyPr wrap="square" lIns="0" tIns="158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©2023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O’Reilly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Media,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30">
                <a:solidFill>
                  <a:srgbClr val="6D6E71"/>
                </a:solidFill>
                <a:latin typeface="Tahoma"/>
                <a:cs typeface="Tahoma"/>
              </a:rPr>
              <a:t>Inc.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O’Reilly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20">
                <a:solidFill>
                  <a:srgbClr val="6D6E71"/>
                </a:solidFill>
                <a:latin typeface="Tahoma"/>
                <a:cs typeface="Tahoma"/>
              </a:rPr>
              <a:t>is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30">
                <a:solidFill>
                  <a:srgbClr val="6D6E71"/>
                </a:solidFill>
                <a:latin typeface="Tahoma"/>
                <a:cs typeface="Tahoma"/>
              </a:rPr>
              <a:t>a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registered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trademark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of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O’Reilly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Media,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Inc.</a:t>
            </a:r>
            <a:r>
              <a:rPr dirty="0" sz="350" spc="5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25">
                <a:solidFill>
                  <a:srgbClr val="6D6E71"/>
                </a:solidFill>
                <a:latin typeface="Tahoma"/>
                <a:cs typeface="Tahoma"/>
              </a:rPr>
              <a:t>175</a:t>
            </a:r>
            <a:r>
              <a:rPr dirty="0" sz="350" spc="55">
                <a:solidFill>
                  <a:srgbClr val="6D6E71"/>
                </a:solidFill>
                <a:latin typeface="Tahoma"/>
                <a:cs typeface="Tahoma"/>
              </a:rPr>
              <a:t> </a:t>
            </a:r>
            <a:r>
              <a:rPr dirty="0" sz="350" spc="-10">
                <a:solidFill>
                  <a:srgbClr val="6D6E71"/>
                </a:solidFill>
                <a:latin typeface="Tahoma"/>
                <a:cs typeface="Tahoma"/>
              </a:rPr>
              <a:t>7x9.1975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Allen B. Downey;</dc:creator>
  <dc:title>Think Python</dc:title>
  <dcterms:created xsi:type="dcterms:W3CDTF">2026-07-23T12:34:37Z</dcterms:created>
  <dcterms:modified xsi:type="dcterms:W3CDTF">2026-07-23T12:34:37Z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2024-05-24T00:00:00Z</vt:filetime>
  </property>
  <property fmtid="{D5CDD505-2E9C-101B-9397-08002B2CF9AE}" pid="3" name="Creator">
    <vt:lpwstr>AH CSS Formatter V6.2 MR4 for Linux64 : 6.2.6.18551 (2014/09/24 15:00JST)</vt:lpwstr>
  </property>
  <property fmtid="{D5CDD505-2E9C-101B-9397-08002B2CF9AE}" pid="4" name="LastSaved">
    <vt:filetime>2026-07-23T00:00:00Z</vt:filetime>
  </property>
</Properties>
</file>